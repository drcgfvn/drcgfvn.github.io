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1"/>
    <p:sldMasterId id="2147483686" r:id="rId2"/>
  </p:sldMasterIdLst>
  <p:notesMasterIdLst>
    <p:notesMasterId r:id="rId29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7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지은 배" initials="지배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90" autoAdjust="0"/>
    <p:restoredTop sz="94660"/>
  </p:normalViewPr>
  <p:slideViewPr>
    <p:cSldViewPr snapToGrid="0">
      <p:cViewPr varScale="1">
        <p:scale>
          <a:sx n="85" d="100"/>
          <a:sy n="85" d="100"/>
        </p:scale>
        <p:origin x="90" y="762"/>
      </p:cViewPr>
      <p:guideLst>
        <p:guide orient="horz" pos="2157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E2B2BC9D-A816-4D0A-858B-1D023B3A8ACA}" type="datetime1">
              <a:rPr lang="ko-KR" altLang="en-US"/>
              <a:pPr lvl="0">
                <a:defRPr/>
              </a:pPr>
              <a:t>2025-11-05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93BA600-B22B-4EC8-B748-4FA7631373DE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498924-7AD6-45ED-BF78-72BB29470C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220B42B-E29A-429D-B679-9D004DCF3C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5210B0-4419-43B2-BF46-D58C8B295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4D12A-9D1C-42AB-AA4A-8C1C016E5C93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084C2E-6F47-4679-84EF-61BEC2A50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E9CC562-CA37-4F01-BFE0-BD302D1FA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09398-A41F-453C-B362-FD5BAF162D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7483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9D53F9-D3A2-4999-887B-923F49159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EF4AF93-DF16-4747-9CD5-9CE740032A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872F3FB-9965-4CDF-8D24-3ED4539BB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4D12A-9D1C-42AB-AA4A-8C1C016E5C93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2B4D92-DADC-46FA-B624-B21EA96B7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074439-2192-456E-8704-605B7DE80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09398-A41F-453C-B362-FD5BAF162D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12217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264CDD-0F6D-4973-AF5B-738546DCA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09ACC0B-E66D-4262-8B40-270C148CC0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9D5B7C7-F37F-4B82-893C-F63B5A7E1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4D12A-9D1C-42AB-AA4A-8C1C016E5C93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1938E38-509B-40A0-959A-6425A9415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4D86410-AB27-4418-BCEC-D5A5B04B0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09398-A41F-453C-B362-FD5BAF162D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5025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276642-1419-4E5E-B381-DC0737DFF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36B27E-008B-4FF3-AD10-72CCD6008A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9D16DE4-C981-4271-8A41-F3BCEACB28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92B9FBA-BBDC-4B4A-B806-40C05234A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4D12A-9D1C-42AB-AA4A-8C1C016E5C93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7EFC7F8-1A1C-468B-BEF2-D1686A14B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991B608-8DA3-477B-94DB-E9AF04958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09398-A41F-453C-B362-FD5BAF162D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61905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7A354F-FDD0-4538-8E66-554171A90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60FE1F6-9473-45E3-A41C-A1B5B4CD6F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97639C0-093B-403F-8D79-A7B51014FD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C1B10EB-0C6A-4317-A195-135F01F431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DA735CF-38D5-44EC-860F-8FEFA558E0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8151DD8-5858-4988-B132-90FFBB858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4D12A-9D1C-42AB-AA4A-8C1C016E5C93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DDF060E-3C81-485B-8E5C-1F009FBA8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73633F4-E343-4960-9C48-9A6CA6812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09398-A41F-453C-B362-FD5BAF162D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6266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D0E09C-3B11-4DEF-9929-BF5D542E4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35A8BC8-C357-477C-B0F2-044CDC7AA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4D12A-9D1C-42AB-AA4A-8C1C016E5C93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512E878-5C35-4366-97F8-4AB65BDD8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063A064-CDA4-434E-BF39-7F124CF4D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09398-A41F-453C-B362-FD5BAF162D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6129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5DFBFFF-476E-4901-BB60-490A45A8F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4D12A-9D1C-42AB-AA4A-8C1C016E5C93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E1CA005-A5D3-4633-8DCF-5AFD4D574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4DEE25B-3B12-45D9-992E-149BDC139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09398-A41F-453C-B362-FD5BAF162D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60967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778ABB-32F6-473D-99C4-83A1135AC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03BFFCB-AFD2-4F6E-8857-C801C00F47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04EAA4C-977E-4800-8F6E-695694516A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0739232-02D2-4C42-9225-DCAC5FDDE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4D12A-9D1C-42AB-AA4A-8C1C016E5C93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883D73C-63C2-424D-90A7-03F745D17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144529A-CBF4-4970-A78A-D048B4D71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09398-A41F-453C-B362-FD5BAF162D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27354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F062F0-4E00-43BC-87D3-FEB34A99F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AFE9E15-3CFB-461E-9971-6D34A6874A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0FF2881-0EEB-4FA4-B10E-19952932A7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A1E9CE3-9411-4556-9C08-61667DEEA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4D12A-9D1C-42AB-AA4A-8C1C016E5C93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5BEA710-C909-4930-90CF-02CF448D8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67C6DBA-84BB-48FF-BC46-374B5F26D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09398-A41F-453C-B362-FD5BAF162D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97572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6F6AFB-4323-490A-A79A-A3E3EA720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E993A24-AB1D-4E3F-B811-25C07E850D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86B39B2-0C80-47FE-9546-F762ECB4E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4D12A-9D1C-42AB-AA4A-8C1C016E5C93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15D4B27-3CAC-4F33-B97A-457396145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06F6B0B-09C6-4F43-ADA5-ADCA49CA3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09398-A41F-453C-B362-FD5BAF162D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6201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9A9E9C3-67B7-4B0F-82A2-E0CC74176B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3DDEAC9-34AD-4C76-A8CB-782E7E7898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AE1216-DEE2-4EBB-AE93-FF0D8F621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4D12A-9D1C-42AB-AA4A-8C1C016E5C93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2CC2453-71BF-46DC-A901-A8901C51E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5CBC29-3953-4871-99AF-D271F55BF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09398-A41F-453C-B362-FD5BAF162D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0416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F732152-61B4-4339-907D-BC118BFDA189}" type="datetime1">
              <a:rPr lang="ko-KR" altLang="en-US"/>
              <a:pPr lvl="0">
                <a:defRPr/>
              </a:pPr>
              <a:t>2025-11-05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E3B4D3E2-09C1-4CC7-9AAA-43A4D2040CC5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F732152-61B4-4339-907D-BC118BFDA189}" type="datetime1">
              <a:rPr lang="ko-KR" altLang="en-US"/>
              <a:pPr lvl="0">
                <a:defRPr/>
              </a:pPr>
              <a:t>2025-11-05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E3B4D3E2-09C1-4CC7-9AAA-43A4D2040CC5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  <p:sp>
        <p:nvSpPr>
          <p:cNvPr id="8" name="사각형: 둥근 모서리 7"/>
          <p:cNvSpPr/>
          <p:nvPr userDrawn="1"/>
        </p:nvSpPr>
        <p:spPr>
          <a:xfrm>
            <a:off x="179400" y="304800"/>
            <a:ext cx="11657000" cy="6116320"/>
          </a:xfrm>
          <a:prstGeom prst="roundRect">
            <a:avLst>
              <a:gd name="adj" fmla="val 2267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F732152-61B4-4339-907D-BC118BFDA189}" type="datetime1">
              <a:rPr lang="ko-KR" altLang="en-US"/>
              <a:pPr lvl="0">
                <a:defRPr/>
              </a:pPr>
              <a:t>2025-11-05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E3B4D3E2-09C1-4CC7-9AAA-43A4D2040CC5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  <p:sp>
        <p:nvSpPr>
          <p:cNvPr id="6" name="사각형: 둥근 모서리 5"/>
          <p:cNvSpPr/>
          <p:nvPr userDrawn="1"/>
        </p:nvSpPr>
        <p:spPr>
          <a:xfrm>
            <a:off x="179400" y="180000"/>
            <a:ext cx="11833200" cy="6383360"/>
          </a:xfrm>
          <a:prstGeom prst="roundRect">
            <a:avLst>
              <a:gd name="adj" fmla="val 2267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F732152-61B4-4339-907D-BC118BFDA189}" type="datetime1">
              <a:rPr lang="ko-KR" altLang="en-US"/>
              <a:pPr lvl="0">
                <a:defRPr/>
              </a:pPr>
              <a:t>2025-11-05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E3B4D3E2-09C1-4CC7-9AAA-43A4D2040CC5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  <p:sp>
        <p:nvSpPr>
          <p:cNvPr id="5" name="사각형: 둥근 모서리 4"/>
          <p:cNvSpPr/>
          <p:nvPr userDrawn="1"/>
        </p:nvSpPr>
        <p:spPr>
          <a:xfrm>
            <a:off x="179400" y="180000"/>
            <a:ext cx="11833200" cy="6302080"/>
          </a:xfrm>
          <a:prstGeom prst="roundRect">
            <a:avLst>
              <a:gd name="adj" fmla="val 2267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제목 및 내용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/>
          <p:cNvGrpSpPr/>
          <p:nvPr userDrawn="1"/>
        </p:nvGrpSpPr>
        <p:grpSpPr>
          <a:xfrm>
            <a:off x="293968" y="6554918"/>
            <a:ext cx="11755791" cy="229470"/>
            <a:chOff x="293968" y="6554918"/>
            <a:chExt cx="11755791" cy="229470"/>
          </a:xfrm>
        </p:grpSpPr>
        <p:grpSp>
          <p:nvGrpSpPr>
            <p:cNvPr id="8" name="그룹 7"/>
            <p:cNvGrpSpPr/>
            <p:nvPr/>
          </p:nvGrpSpPr>
          <p:grpSpPr>
            <a:xfrm>
              <a:off x="650240" y="6557524"/>
              <a:ext cx="11399519" cy="205787"/>
              <a:chOff x="650240" y="6557524"/>
              <a:chExt cx="11399519" cy="205787"/>
            </a:xfrm>
          </p:grpSpPr>
          <p:sp>
            <p:nvSpPr>
              <p:cNvPr id="10" name="TextBox 9"/>
              <p:cNvSpPr txBox="1"/>
              <p:nvPr/>
            </p:nvSpPr>
            <p:spPr>
              <a:xfrm>
                <a:off x="7792084" y="6557524"/>
                <a:ext cx="4257675" cy="2057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 eaLnBrk="1" hangingPunct="1">
                  <a:defRPr/>
                </a:pPr>
                <a:r>
                  <a:rPr lang="en-US" altLang="ko-KR" sz="750">
                    <a:ln w="9525">
                      <a:solidFill>
                        <a:schemeClr val="bg1">
                          <a:lumMod val="85000"/>
                          <a:alpha val="60000"/>
                        </a:schemeClr>
                      </a:solidFill>
                    </a:ln>
                    <a:solidFill>
                      <a:schemeClr val="bg1">
                        <a:lumMod val="85000"/>
                      </a:schemeClr>
                    </a:solidFill>
                    <a:latin typeface="G마켓 산스 TTF Medium"/>
                    <a:ea typeface="G마켓 산스 TTF Medium"/>
                    <a:cs typeface="Arial"/>
                  </a:rPr>
                  <a:t>Copyright ⓒ 2024 B&amp;, All rights reserved. Terms of Use I Privacy Policy.</a:t>
                </a:r>
                <a:endParaRPr lang="en-US" altLang="ko-KR" sz="750">
                  <a:solidFill>
                    <a:schemeClr val="bg1">
                      <a:lumMod val="85000"/>
                    </a:schemeClr>
                  </a:solidFill>
                  <a:latin typeface="G마켓 산스 TTF Medium"/>
                  <a:ea typeface="G마켓 산스 TTF Medium"/>
                  <a:cs typeface="Arial"/>
                </a:endParaRPr>
              </a:p>
            </p:txBody>
          </p:sp>
          <p:cxnSp>
            <p:nvCxnSpPr>
              <p:cNvPr id="11" name="직선 연결선 10"/>
              <p:cNvCxnSpPr/>
              <p:nvPr/>
            </p:nvCxnSpPr>
            <p:spPr>
              <a:xfrm>
                <a:off x="650240" y="6660417"/>
                <a:ext cx="7470140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9" name="그림 8"/>
            <p:cNvPicPr>
              <a:picLocks noChangeAspect="1"/>
            </p:cNvPicPr>
            <p:nvPr/>
          </p:nvPicPr>
          <p:blipFill rotWithShape="1">
            <a:blip r:embed="rId2"/>
            <a:srcRect l="42820" t="44730" r="43380" b="42160"/>
            <a:stretch>
              <a:fillRect/>
            </a:stretch>
          </p:blipFill>
          <p:spPr>
            <a:xfrm>
              <a:off x="293968" y="6554918"/>
              <a:ext cx="341746" cy="229470"/>
            </a:xfrm>
            <a:prstGeom prst="rect">
              <a:avLst/>
            </a:prstGeom>
          </p:spPr>
        </p:pic>
      </p:grpSp>
      <p:sp>
        <p:nvSpPr>
          <p:cNvPr id="4" name="사각형: 둥근 모서리 3"/>
          <p:cNvSpPr/>
          <p:nvPr userDrawn="1"/>
        </p:nvSpPr>
        <p:spPr>
          <a:xfrm>
            <a:off x="179400" y="180000"/>
            <a:ext cx="11833200" cy="6302080"/>
          </a:xfrm>
          <a:prstGeom prst="roundRect">
            <a:avLst>
              <a:gd name="adj" fmla="val 2267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테마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10A4D12A-9D1C-42AB-AA4A-8C1C016E5C93}" type="datetime1">
              <a:rPr lang="ko-KR" altLang="en-US"/>
              <a:pPr lvl="0">
                <a:defRPr/>
              </a:pPr>
              <a:t>2025-11-05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12109398-A41F-453C-B362-FD5BAF162DD6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transition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 name="1_Office 테마">
    <p:bg>
      <p:bgPr>
        <a:solidFill>
          <a:schemeClr val="tx2">
            <a:lumMod val="50000"/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0F732152-61B4-4339-907D-BC118BFDA189}" type="datetime1">
              <a:rPr lang="ko-KR" altLang="en-US"/>
              <a:pPr lvl="0">
                <a:defRPr/>
              </a:pPr>
              <a:t>2025-11-05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E3B4D3E2-09C1-4CC7-9AAA-43A4D2040CC5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</p:sldLayoutIdLst>
  <p:transition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5.png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jpeg"/><Relationship Id="rId10" Type="http://schemas.openxmlformats.org/officeDocument/2006/relationships/image" Target="../media/image1.png"/><Relationship Id="rId4" Type="http://schemas.openxmlformats.org/officeDocument/2006/relationships/image" Target="../media/image12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7.jpeg"/><Relationship Id="rId7" Type="http://schemas.openxmlformats.org/officeDocument/2006/relationships/image" Target="../media/image2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2.jpe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image" Target="../media/image31.jpeg"/><Relationship Id="rId17" Type="http://schemas.openxmlformats.org/officeDocument/2006/relationships/image" Target="../media/image1.png"/><Relationship Id="rId2" Type="http://schemas.openxmlformats.org/officeDocument/2006/relationships/image" Target="../media/image9.png"/><Relationship Id="rId16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11" Type="http://schemas.openxmlformats.org/officeDocument/2006/relationships/image" Target="../media/image30.jpeg"/><Relationship Id="rId5" Type="http://schemas.openxmlformats.org/officeDocument/2006/relationships/image" Target="../media/image24.jpeg"/><Relationship Id="rId15" Type="http://schemas.openxmlformats.org/officeDocument/2006/relationships/image" Target="../media/image34.jpeg"/><Relationship Id="rId10" Type="http://schemas.openxmlformats.org/officeDocument/2006/relationships/image" Target="../media/image29.jpeg"/><Relationship Id="rId4" Type="http://schemas.openxmlformats.org/officeDocument/2006/relationships/image" Target="../media/image23.jpeg"/><Relationship Id="rId9" Type="http://schemas.openxmlformats.org/officeDocument/2006/relationships/image" Target="../media/image28.png"/><Relationship Id="rId14" Type="http://schemas.openxmlformats.org/officeDocument/2006/relationships/image" Target="../media/image33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jpeg"/><Relationship Id="rId3" Type="http://schemas.openxmlformats.org/officeDocument/2006/relationships/image" Target="../media/image37.jpeg"/><Relationship Id="rId7" Type="http://schemas.openxmlformats.org/officeDocument/2006/relationships/image" Target="../media/image4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40.png"/><Relationship Id="rId11" Type="http://schemas.openxmlformats.org/officeDocument/2006/relationships/image" Target="../media/image1.png"/><Relationship Id="rId5" Type="http://schemas.openxmlformats.org/officeDocument/2006/relationships/image" Target="../media/image39.png"/><Relationship Id="rId10" Type="http://schemas.openxmlformats.org/officeDocument/2006/relationships/image" Target="../media/image9.png"/><Relationship Id="rId4" Type="http://schemas.openxmlformats.org/officeDocument/2006/relationships/image" Target="../media/image38.jpeg"/><Relationship Id="rId9" Type="http://schemas.openxmlformats.org/officeDocument/2006/relationships/image" Target="../media/image43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39.png"/><Relationship Id="rId7" Type="http://schemas.openxmlformats.org/officeDocument/2006/relationships/image" Target="../media/image46.png"/><Relationship Id="rId12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45.png"/><Relationship Id="rId11" Type="http://schemas.openxmlformats.org/officeDocument/2006/relationships/image" Target="../media/image9.png"/><Relationship Id="rId5" Type="http://schemas.openxmlformats.org/officeDocument/2006/relationships/image" Target="../media/image44.jpeg"/><Relationship Id="rId10" Type="http://schemas.openxmlformats.org/officeDocument/2006/relationships/image" Target="../media/image49.png"/><Relationship Id="rId4" Type="http://schemas.openxmlformats.org/officeDocument/2006/relationships/image" Target="../media/image41.png"/><Relationship Id="rId9" Type="http://schemas.openxmlformats.org/officeDocument/2006/relationships/image" Target="../media/image4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jpeg"/><Relationship Id="rId13" Type="http://schemas.openxmlformats.org/officeDocument/2006/relationships/image" Target="../media/image65.png"/><Relationship Id="rId3" Type="http://schemas.openxmlformats.org/officeDocument/2006/relationships/image" Target="../media/image55.jpeg"/><Relationship Id="rId7" Type="http://schemas.openxmlformats.org/officeDocument/2006/relationships/image" Target="../media/image59.jpeg"/><Relationship Id="rId12" Type="http://schemas.openxmlformats.org/officeDocument/2006/relationships/image" Target="../media/image64.png"/><Relationship Id="rId2" Type="http://schemas.openxmlformats.org/officeDocument/2006/relationships/image" Target="../media/image54.png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58.png"/><Relationship Id="rId11" Type="http://schemas.openxmlformats.org/officeDocument/2006/relationships/image" Target="../media/image63.png"/><Relationship Id="rId5" Type="http://schemas.openxmlformats.org/officeDocument/2006/relationships/image" Target="../media/image57.png"/><Relationship Id="rId15" Type="http://schemas.openxmlformats.org/officeDocument/2006/relationships/image" Target="../media/image9.png"/><Relationship Id="rId10" Type="http://schemas.openxmlformats.org/officeDocument/2006/relationships/image" Target="../media/image62.png"/><Relationship Id="rId4" Type="http://schemas.openxmlformats.org/officeDocument/2006/relationships/image" Target="../media/image56.png"/><Relationship Id="rId9" Type="http://schemas.openxmlformats.org/officeDocument/2006/relationships/image" Target="../media/image61.jpeg"/><Relationship Id="rId14" Type="http://schemas.openxmlformats.org/officeDocument/2006/relationships/image" Target="../media/image6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jpe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1.png"/><Relationship Id="rId4" Type="http://schemas.microsoft.com/office/2007/relationships/hdphoto" Target="../media/hdphoto1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6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3.png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13" Type="http://schemas.openxmlformats.org/officeDocument/2006/relationships/image" Target="../media/image83.jpeg"/><Relationship Id="rId3" Type="http://schemas.microsoft.com/office/2007/relationships/hdphoto" Target="../media/hdphoto3.wdp"/><Relationship Id="rId7" Type="http://schemas.microsoft.com/office/2007/relationships/hdphoto" Target="../media/hdphoto5.wdp"/><Relationship Id="rId12" Type="http://schemas.openxmlformats.org/officeDocument/2006/relationships/image" Target="../media/image82.jpe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.png"/><Relationship Id="rId11" Type="http://schemas.microsoft.com/office/2007/relationships/hdphoto" Target="../media/hdphoto7.wdp"/><Relationship Id="rId5" Type="http://schemas.microsoft.com/office/2007/relationships/hdphoto" Target="../media/hdphoto4.wdp"/><Relationship Id="rId15" Type="http://schemas.openxmlformats.org/officeDocument/2006/relationships/image" Target="../media/image85.jpeg"/><Relationship Id="rId10" Type="http://schemas.openxmlformats.org/officeDocument/2006/relationships/image" Target="../media/image81.png"/><Relationship Id="rId4" Type="http://schemas.openxmlformats.org/officeDocument/2006/relationships/image" Target="../media/image78.png"/><Relationship Id="rId9" Type="http://schemas.microsoft.com/office/2007/relationships/hdphoto" Target="../media/hdphoto6.wdp"/><Relationship Id="rId14" Type="http://schemas.openxmlformats.org/officeDocument/2006/relationships/image" Target="../media/image84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jpe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png"/><Relationship Id="rId5" Type="http://schemas.openxmlformats.org/officeDocument/2006/relationships/image" Target="../media/image89.png"/><Relationship Id="rId4" Type="http://schemas.openxmlformats.org/officeDocument/2006/relationships/image" Target="../media/image88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jpeg"/><Relationship Id="rId3" Type="http://schemas.openxmlformats.org/officeDocument/2006/relationships/image" Target="../media/image96.png"/><Relationship Id="rId7" Type="http://schemas.openxmlformats.org/officeDocument/2006/relationships/image" Target="../media/image100.jpeg"/><Relationship Id="rId2" Type="http://schemas.openxmlformats.org/officeDocument/2006/relationships/image" Target="../media/image9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9.jpeg"/><Relationship Id="rId5" Type="http://schemas.openxmlformats.org/officeDocument/2006/relationships/image" Target="../media/image98.jpeg"/><Relationship Id="rId4" Type="http://schemas.openxmlformats.org/officeDocument/2006/relationships/image" Target="../media/image9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5.jpeg"/><Relationship Id="rId4" Type="http://schemas.openxmlformats.org/officeDocument/2006/relationships/image" Target="../media/image104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jpeg"/><Relationship Id="rId2" Type="http://schemas.openxmlformats.org/officeDocument/2006/relationships/image" Target="../media/image10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3.png"/><Relationship Id="rId5" Type="http://schemas.openxmlformats.org/officeDocument/2006/relationships/image" Target="../media/image109.png"/><Relationship Id="rId4" Type="http://schemas.openxmlformats.org/officeDocument/2006/relationships/image" Target="../media/image108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110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image" Target="../media/image112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microsoft.com/office/2007/relationships/hdphoto" Target="../media/hdphoto9.wdp"/><Relationship Id="rId13" Type="http://schemas.openxmlformats.org/officeDocument/2006/relationships/image" Target="../media/image120.png"/><Relationship Id="rId18" Type="http://schemas.openxmlformats.org/officeDocument/2006/relationships/image" Target="../media/image125.jpeg"/><Relationship Id="rId26" Type="http://schemas.openxmlformats.org/officeDocument/2006/relationships/image" Target="../media/image131.png"/><Relationship Id="rId3" Type="http://schemas.openxmlformats.org/officeDocument/2006/relationships/image" Target="../media/image77.png"/><Relationship Id="rId21" Type="http://schemas.openxmlformats.org/officeDocument/2006/relationships/image" Target="../media/image109.png"/><Relationship Id="rId7" Type="http://schemas.openxmlformats.org/officeDocument/2006/relationships/image" Target="../media/image115.png"/><Relationship Id="rId12" Type="http://schemas.openxmlformats.org/officeDocument/2006/relationships/image" Target="../media/image119.jpeg"/><Relationship Id="rId17" Type="http://schemas.openxmlformats.org/officeDocument/2006/relationships/image" Target="../media/image124.jpeg"/><Relationship Id="rId25" Type="http://schemas.microsoft.com/office/2007/relationships/hdphoto" Target="../media/hdphoto10.wdp"/><Relationship Id="rId2" Type="http://schemas.openxmlformats.org/officeDocument/2006/relationships/image" Target="../media/image68.jpeg"/><Relationship Id="rId16" Type="http://schemas.openxmlformats.org/officeDocument/2006/relationships/image" Target="../media/image123.jpeg"/><Relationship Id="rId20" Type="http://schemas.openxmlformats.org/officeDocument/2006/relationships/image" Target="../media/image127.jpeg"/><Relationship Id="rId1" Type="http://schemas.openxmlformats.org/officeDocument/2006/relationships/slideLayout" Target="../slideLayouts/slideLayout2.xml"/><Relationship Id="rId6" Type="http://schemas.microsoft.com/office/2007/relationships/hdphoto" Target="../media/hdphoto8.wdp"/><Relationship Id="rId11" Type="http://schemas.openxmlformats.org/officeDocument/2006/relationships/image" Target="../media/image118.jpeg"/><Relationship Id="rId24" Type="http://schemas.openxmlformats.org/officeDocument/2006/relationships/image" Target="../media/image130.png"/><Relationship Id="rId5" Type="http://schemas.openxmlformats.org/officeDocument/2006/relationships/image" Target="../media/image114.png"/><Relationship Id="rId15" Type="http://schemas.openxmlformats.org/officeDocument/2006/relationships/image" Target="../media/image122.jpeg"/><Relationship Id="rId23" Type="http://schemas.openxmlformats.org/officeDocument/2006/relationships/image" Target="../media/image129.jpeg"/><Relationship Id="rId10" Type="http://schemas.openxmlformats.org/officeDocument/2006/relationships/image" Target="../media/image117.jpeg"/><Relationship Id="rId19" Type="http://schemas.openxmlformats.org/officeDocument/2006/relationships/image" Target="../media/image126.jpeg"/><Relationship Id="rId4" Type="http://schemas.microsoft.com/office/2007/relationships/hdphoto" Target="../media/hdphoto3.wdp"/><Relationship Id="rId9" Type="http://schemas.openxmlformats.org/officeDocument/2006/relationships/image" Target="../media/image116.png"/><Relationship Id="rId14" Type="http://schemas.openxmlformats.org/officeDocument/2006/relationships/image" Target="../media/image121.jpeg"/><Relationship Id="rId22" Type="http://schemas.openxmlformats.org/officeDocument/2006/relationships/image" Target="../media/image128.jpeg"/><Relationship Id="rId27" Type="http://schemas.microsoft.com/office/2007/relationships/hdphoto" Target="../media/hdphoto11.wdp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4.png"/><Relationship Id="rId5" Type="http://schemas.openxmlformats.org/officeDocument/2006/relationships/image" Target="../media/image133.jpeg"/><Relationship Id="rId4" Type="http://schemas.openxmlformats.org/officeDocument/2006/relationships/image" Target="../media/image132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5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9511" y="2626895"/>
            <a:ext cx="10522356" cy="118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600" dirty="0">
                <a:effectLst>
                  <a:outerShdw blurRad="38100" dist="38100" dir="2700000" algn="tl">
                    <a:srgbClr val="000000">
                      <a:alpha val="43140"/>
                    </a:srgbClr>
                  </a:outerShdw>
                </a:effectLst>
              </a:rPr>
              <a:t>THUAN HOA GROUP</a:t>
            </a:r>
            <a:endParaRPr lang="ko-KR" altLang="en-US" sz="3600" b="1" dirty="0">
              <a:effectLst>
                <a:outerShdw blurRad="38100" dist="38100" dir="2700000" algn="tl">
                  <a:srgbClr val="000000">
                    <a:alpha val="43140"/>
                  </a:srgbClr>
                </a:outerShdw>
              </a:effectLst>
            </a:endParaRPr>
          </a:p>
          <a:p>
            <a:pPr lvl="0">
              <a:defRPr/>
            </a:pPr>
            <a:r>
              <a:rPr lang="en-US" altLang="ko-KR" sz="3600" b="1" dirty="0">
                <a:effectLst>
                  <a:outerShdw blurRad="38100" dist="38100" dir="2700000" algn="tl">
                    <a:srgbClr val="000000">
                      <a:alpha val="43140"/>
                    </a:srgbClr>
                  </a:outerShdw>
                </a:effectLst>
              </a:rPr>
              <a:t>DR.CGF MELA EXOSOME SPICULE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9512" y="224619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/>
              <a:t>PRODUCT PROPOSAL</a:t>
            </a:r>
            <a:endParaRPr lang="ko-KR" altLang="en-US"/>
          </a:p>
        </p:txBody>
      </p:sp>
      <p:cxnSp>
        <p:nvCxnSpPr>
          <p:cNvPr id="4" name="직선 연결선 3"/>
          <p:cNvCxnSpPr/>
          <p:nvPr/>
        </p:nvCxnSpPr>
        <p:spPr>
          <a:xfrm>
            <a:off x="251519" y="2627634"/>
            <a:ext cx="11628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79512" y="388438"/>
            <a:ext cx="531231" cy="369333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1" y="6741368"/>
            <a:ext cx="12204000" cy="11663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-6576" y="6392414"/>
            <a:ext cx="4572000" cy="235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US" altLang="ko-KR" sz="1000"/>
              <a:t>*</a:t>
            </a:r>
            <a:r>
              <a:rPr lang="ko-KR" altLang="en-US" sz="1000"/>
              <a:t>본 자료는 제안용 대외비 자료이며 화장품법령에 의해 검토되지 않았습니다</a:t>
            </a:r>
            <a:r>
              <a:rPr lang="en-US" altLang="ko-KR" sz="1000"/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이등변 삼각형 15"/>
          <p:cNvSpPr/>
          <p:nvPr/>
        </p:nvSpPr>
        <p:spPr>
          <a:xfrm>
            <a:off x="0" y="4440968"/>
            <a:ext cx="5478815" cy="2417032"/>
          </a:xfrm>
          <a:prstGeom prst="triangle">
            <a:avLst>
              <a:gd name="adj" fmla="val 0"/>
            </a:avLst>
          </a:prstGeom>
          <a:solidFill>
            <a:srgbClr val="F8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75" name="Picture 3"/>
          <p:cNvPicPr>
            <a:picLocks noChangeAspect="1" noChangeArrowheads="1"/>
          </p:cNvPicPr>
          <p:nvPr/>
        </p:nvPicPr>
        <p:blipFill rotWithShape="1">
          <a:blip r:embed="rId2"/>
          <a:srcRect l="1950" t="11350" r="420" b="9960"/>
          <a:stretch>
            <a:fillRect/>
          </a:stretch>
        </p:blipFill>
        <p:spPr>
          <a:xfrm>
            <a:off x="9603686" y="1265357"/>
            <a:ext cx="1651566" cy="922864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</p:pic>
      <p:pic>
        <p:nvPicPr>
          <p:cNvPr id="74" name="Picture 2"/>
          <p:cNvPicPr>
            <a:picLocks noChangeAspect="1" noChangeArrowheads="1"/>
          </p:cNvPicPr>
          <p:nvPr/>
        </p:nvPicPr>
        <p:blipFill rotWithShape="1">
          <a:blip r:embed="rId3"/>
          <a:srcRect l="940" t="3970" r="-290" b="5330"/>
          <a:stretch>
            <a:fillRect/>
          </a:stretch>
        </p:blipFill>
        <p:spPr>
          <a:xfrm>
            <a:off x="7397061" y="1265357"/>
            <a:ext cx="1664937" cy="92870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</p:pic>
      <p:pic>
        <p:nvPicPr>
          <p:cNvPr id="73" name="Picture 2"/>
          <p:cNvPicPr>
            <a:picLocks noChangeAspect="1" noChangeArrowheads="1"/>
          </p:cNvPicPr>
          <p:nvPr/>
        </p:nvPicPr>
        <p:blipFill rotWithShape="1">
          <a:blip r:embed="rId4"/>
          <a:srcRect l="300" t="4530" r="1180" b="4480"/>
          <a:stretch>
            <a:fillRect/>
          </a:stretch>
        </p:blipFill>
        <p:spPr>
          <a:xfrm>
            <a:off x="5213985" y="1275817"/>
            <a:ext cx="1654760" cy="918244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</p:pic>
      <p:pic>
        <p:nvPicPr>
          <p:cNvPr id="68" name="Picture 3" descr="D:\3_케이엔\각종이미지\제품사진\1410751310211.jpeg"/>
          <p:cNvPicPr>
            <a:picLocks noChangeAspect="1" noChangeArrowheads="1"/>
          </p:cNvPicPr>
          <p:nvPr/>
        </p:nvPicPr>
        <p:blipFill rotWithShape="1">
          <a:blip r:embed="rId5"/>
          <a:srcRect l="4170" t="7810" r="4420" b="8330"/>
          <a:stretch>
            <a:fillRect/>
          </a:stretch>
        </p:blipFill>
        <p:spPr>
          <a:xfrm>
            <a:off x="3005744" y="1277500"/>
            <a:ext cx="1665202" cy="916561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</p:pic>
      <p:sp>
        <p:nvSpPr>
          <p:cNvPr id="24" name="TextBox 23"/>
          <p:cNvSpPr txBox="1"/>
          <p:nvPr/>
        </p:nvSpPr>
        <p:spPr>
          <a:xfrm>
            <a:off x="524639" y="2846147"/>
            <a:ext cx="2402531" cy="819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20000"/>
              </a:lnSpc>
              <a:buFontTx/>
              <a:buChar char="-"/>
              <a:defRPr/>
            </a:pPr>
            <a:r>
              <a:rPr lang="ko-KR" altLang="en-US" sz="1000">
                <a:ln w="9525">
                  <a:solidFill>
                    <a:schemeClr val="tx1">
                      <a:lumMod val="85000"/>
                      <a:lumOff val="15000"/>
                      <a:alpha val="3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Light"/>
                <a:ea typeface="G마켓 산스 TTF Light"/>
              </a:rPr>
              <a:t>비엔 창립</a:t>
            </a:r>
          </a:p>
          <a:p>
            <a:pPr marL="171450" indent="-171450">
              <a:lnSpc>
                <a:spcPct val="120000"/>
              </a:lnSpc>
              <a:buFontTx/>
              <a:buChar char="-"/>
              <a:defRPr/>
            </a:pPr>
            <a:r>
              <a:rPr lang="ko-KR" altLang="en-US" sz="1000">
                <a:ln w="9525">
                  <a:solidFill>
                    <a:schemeClr val="tx1">
                      <a:lumMod val="85000"/>
                      <a:lumOff val="15000"/>
                      <a:alpha val="3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Light"/>
                <a:ea typeface="G마켓 산스 TTF Light"/>
              </a:rPr>
              <a:t>화장품 제조 및 제조판매업자 등록</a:t>
            </a:r>
          </a:p>
          <a:p>
            <a:pPr marL="171450" indent="-171450">
              <a:lnSpc>
                <a:spcPct val="120000"/>
              </a:lnSpc>
              <a:buFontTx/>
              <a:buChar char="-"/>
              <a:defRPr/>
            </a:pPr>
            <a:r>
              <a:rPr lang="ko-KR" altLang="en-US" sz="1000">
                <a:ln w="9525">
                  <a:solidFill>
                    <a:schemeClr val="tx1">
                      <a:lumMod val="85000"/>
                      <a:lumOff val="15000"/>
                      <a:alpha val="3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Light"/>
                <a:ea typeface="G마켓 산스 TTF Light"/>
              </a:rPr>
              <a:t>피부관리 전문시장</a:t>
            </a:r>
            <a:r>
              <a:rPr lang="en-US" altLang="ko-KR" sz="1000">
                <a:ln w="9525">
                  <a:solidFill>
                    <a:schemeClr val="tx1">
                      <a:lumMod val="85000"/>
                      <a:lumOff val="15000"/>
                      <a:alpha val="3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Light"/>
                <a:ea typeface="G마켓 산스 TTF Light"/>
              </a:rPr>
              <a:t>SPICUELS </a:t>
            </a:r>
            <a:r>
              <a:rPr lang="ko-KR" altLang="en-US" sz="1000">
                <a:ln w="9525">
                  <a:solidFill>
                    <a:schemeClr val="tx1">
                      <a:lumMod val="85000"/>
                      <a:lumOff val="15000"/>
                      <a:alpha val="3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Light"/>
                <a:ea typeface="G마켓 산스 TTF Light"/>
              </a:rPr>
              <a:t>솔루션 </a:t>
            </a:r>
            <a:r>
              <a:rPr lang="en-US" altLang="ko-KR" sz="1000">
                <a:ln w="9525">
                  <a:solidFill>
                    <a:schemeClr val="tx1">
                      <a:lumMod val="85000"/>
                      <a:lumOff val="15000"/>
                      <a:alpha val="3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Light"/>
                <a:ea typeface="G마켓 산스 TTF Light"/>
              </a:rPr>
              <a:t>IMPLA - X </a:t>
            </a:r>
            <a:r>
              <a:rPr lang="ko-KR" altLang="en-US" sz="1000">
                <a:ln w="9525">
                  <a:solidFill>
                    <a:schemeClr val="tx1">
                      <a:lumMod val="85000"/>
                      <a:lumOff val="15000"/>
                      <a:alpha val="3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Light"/>
                <a:ea typeface="G마켓 산스 TTF Light"/>
              </a:rPr>
              <a:t>출시</a:t>
            </a:r>
            <a:endParaRPr lang="en-US" altLang="ko-KR" sz="1000">
              <a:ln w="9525">
                <a:solidFill>
                  <a:schemeClr val="tx1">
                    <a:lumMod val="85000"/>
                    <a:lumOff val="15000"/>
                    <a:alpha val="3500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G마켓 산스 TTF Light"/>
              <a:ea typeface="G마켓 산스 TTF Light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832295" y="2841242"/>
            <a:ext cx="2280917" cy="1185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20000"/>
              </a:lnSpc>
              <a:buFontTx/>
              <a:buChar char="-"/>
              <a:defRPr/>
            </a:pPr>
            <a:r>
              <a:rPr lang="ko-KR" altLang="en-US" sz="1000">
                <a:ln w="9525">
                  <a:solidFill>
                    <a:schemeClr val="tx1">
                      <a:lumMod val="85000"/>
                      <a:lumOff val="15000"/>
                      <a:alpha val="3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Light"/>
                <a:ea typeface="G마켓 산스 TTF Light"/>
              </a:rPr>
              <a:t>중국 수출 </a:t>
            </a:r>
            <a:r>
              <a:rPr lang="en-US" altLang="ko-KR" sz="1000">
                <a:ln w="9525">
                  <a:solidFill>
                    <a:schemeClr val="tx1">
                      <a:lumMod val="85000"/>
                      <a:lumOff val="15000"/>
                      <a:alpha val="3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Light"/>
                <a:ea typeface="G마켓 산스 TTF Light"/>
              </a:rPr>
              <a:t>100</a:t>
            </a:r>
            <a:r>
              <a:rPr lang="ko-KR" altLang="en-US" sz="1000">
                <a:ln w="9525">
                  <a:solidFill>
                    <a:schemeClr val="tx1">
                      <a:lumMod val="85000"/>
                      <a:lumOff val="15000"/>
                      <a:alpha val="3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Light"/>
                <a:ea typeface="G마켓 산스 TTF Light"/>
              </a:rPr>
              <a:t>만불달성</a:t>
            </a:r>
          </a:p>
          <a:p>
            <a:pPr marL="171450" indent="-171450">
              <a:lnSpc>
                <a:spcPct val="120000"/>
              </a:lnSpc>
              <a:buFontTx/>
              <a:buChar char="-"/>
              <a:defRPr/>
            </a:pPr>
            <a:r>
              <a:rPr lang="ko-KR" altLang="en-US" sz="1000">
                <a:ln w="9525">
                  <a:solidFill>
                    <a:schemeClr val="tx1">
                      <a:lumMod val="85000"/>
                      <a:lumOff val="15000"/>
                      <a:alpha val="3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Light"/>
                <a:ea typeface="G마켓 산스 TTF Light"/>
              </a:rPr>
              <a:t>국내 유수 네트워크 방문판매 </a:t>
            </a:r>
            <a:r>
              <a:rPr lang="en-US" altLang="ko-KR" sz="1000">
                <a:ln w="9525">
                  <a:solidFill>
                    <a:schemeClr val="tx1">
                      <a:lumMod val="85000"/>
                      <a:lumOff val="15000"/>
                      <a:alpha val="3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Light"/>
                <a:ea typeface="G마켓 산스 TTF Light"/>
              </a:rPr>
              <a:t>ODM </a:t>
            </a:r>
            <a:r>
              <a:rPr lang="ko-KR" altLang="en-US" sz="1000">
                <a:ln w="9525">
                  <a:solidFill>
                    <a:schemeClr val="tx1">
                      <a:lumMod val="85000"/>
                      <a:lumOff val="15000"/>
                      <a:alpha val="3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Light"/>
                <a:ea typeface="G마켓 산스 TTF Light"/>
              </a:rPr>
              <a:t>계약</a:t>
            </a:r>
          </a:p>
          <a:p>
            <a:pPr marL="171450" indent="-171450">
              <a:lnSpc>
                <a:spcPct val="120000"/>
              </a:lnSpc>
              <a:buFontTx/>
              <a:buChar char="-"/>
              <a:defRPr/>
            </a:pPr>
            <a:r>
              <a:rPr lang="en-US" altLang="ko-KR" sz="1000">
                <a:ln w="9525">
                  <a:solidFill>
                    <a:schemeClr val="tx1">
                      <a:lumMod val="85000"/>
                      <a:lumOff val="15000"/>
                      <a:alpha val="3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Light"/>
                <a:ea typeface="G마켓 산스 TTF Light"/>
              </a:rPr>
              <a:t>ISO 9001:2008 </a:t>
            </a:r>
            <a:r>
              <a:rPr lang="ko-KR" altLang="en-US" sz="1000">
                <a:ln w="9525">
                  <a:solidFill>
                    <a:schemeClr val="tx1">
                      <a:lumMod val="85000"/>
                      <a:lumOff val="15000"/>
                      <a:alpha val="3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Light"/>
                <a:ea typeface="G마켓 산스 TTF Light"/>
              </a:rPr>
              <a:t>품경영시스템</a:t>
            </a:r>
          </a:p>
          <a:p>
            <a:pPr marL="171450" indent="-171450">
              <a:lnSpc>
                <a:spcPct val="120000"/>
              </a:lnSpc>
              <a:buFontTx/>
              <a:buChar char="-"/>
              <a:defRPr/>
            </a:pPr>
            <a:r>
              <a:rPr lang="en-US" altLang="ko-KR" sz="1000">
                <a:ln w="9525">
                  <a:solidFill>
                    <a:schemeClr val="tx1">
                      <a:lumMod val="85000"/>
                      <a:lumOff val="15000"/>
                      <a:alpha val="3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Light"/>
                <a:ea typeface="G마켓 산스 TTF Light"/>
              </a:rPr>
              <a:t>ISO 4001:2004 </a:t>
            </a:r>
            <a:r>
              <a:rPr lang="ko-KR" altLang="en-US" sz="1000">
                <a:ln w="9525">
                  <a:solidFill>
                    <a:schemeClr val="tx1">
                      <a:lumMod val="85000"/>
                      <a:lumOff val="15000"/>
                      <a:alpha val="3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Light"/>
                <a:ea typeface="G마켓 산스 TTF Light"/>
              </a:rPr>
              <a:t>환경 경영시스템</a:t>
            </a:r>
          </a:p>
          <a:p>
            <a:pPr marL="171450" indent="-171450">
              <a:lnSpc>
                <a:spcPct val="120000"/>
              </a:lnSpc>
              <a:buFontTx/>
              <a:buChar char="-"/>
              <a:defRPr/>
            </a:pPr>
            <a:r>
              <a:rPr lang="en-US" altLang="ko-KR" sz="1000">
                <a:ln w="9525">
                  <a:solidFill>
                    <a:schemeClr val="tx1">
                      <a:lumMod val="85000"/>
                      <a:lumOff val="15000"/>
                      <a:alpha val="3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Light"/>
                <a:ea typeface="G마켓 산스 TTF Light"/>
              </a:rPr>
              <a:t>SPICUELS </a:t>
            </a:r>
            <a:r>
              <a:rPr lang="ko-KR" altLang="en-US" sz="1000">
                <a:ln w="9525">
                  <a:solidFill>
                    <a:schemeClr val="tx1">
                      <a:lumMod val="85000"/>
                      <a:lumOff val="15000"/>
                      <a:alpha val="3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Light"/>
                <a:ea typeface="G마켓 산스 TTF Light"/>
              </a:rPr>
              <a:t>특허 출원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20423" y="2844604"/>
            <a:ext cx="2186041" cy="11825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20000"/>
              </a:lnSpc>
              <a:buFontTx/>
              <a:buChar char="-"/>
              <a:defRPr/>
            </a:pPr>
            <a:r>
              <a:rPr lang="ko-KR" altLang="en-US" sz="1000">
                <a:ln w="9525">
                  <a:solidFill>
                    <a:schemeClr val="tx1">
                      <a:lumMod val="85000"/>
                      <a:lumOff val="15000"/>
                      <a:alpha val="3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Light"/>
                <a:ea typeface="G마켓 산스 TTF Light"/>
              </a:rPr>
              <a:t>중국</a:t>
            </a:r>
            <a:r>
              <a:rPr lang="en-US" altLang="ko-KR" sz="1000">
                <a:ln w="9525">
                  <a:solidFill>
                    <a:schemeClr val="tx1">
                      <a:lumMod val="85000"/>
                      <a:lumOff val="15000"/>
                      <a:alpha val="3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Light"/>
                <a:ea typeface="G마켓 산스 TTF Light"/>
              </a:rPr>
              <a:t>&amp;</a:t>
            </a:r>
            <a:r>
              <a:rPr lang="ko-KR" altLang="en-US" sz="1000">
                <a:ln w="9525">
                  <a:solidFill>
                    <a:schemeClr val="tx1">
                      <a:lumMod val="85000"/>
                      <a:lumOff val="15000"/>
                      <a:alpha val="3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Light"/>
                <a:ea typeface="G마켓 산스 TTF Light"/>
              </a:rPr>
              <a:t>미주 </a:t>
            </a:r>
            <a:r>
              <a:rPr lang="en-US" altLang="ko-KR" sz="1000">
                <a:ln w="9525">
                  <a:solidFill>
                    <a:schemeClr val="tx1">
                      <a:lumMod val="85000"/>
                      <a:lumOff val="15000"/>
                      <a:alpha val="3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Light"/>
                <a:ea typeface="G마켓 산스 TTF Light"/>
              </a:rPr>
              <a:t>1,000</a:t>
            </a:r>
            <a:r>
              <a:rPr lang="ko-KR" altLang="en-US" sz="1000">
                <a:ln w="9525">
                  <a:solidFill>
                    <a:schemeClr val="tx1">
                      <a:lumMod val="85000"/>
                      <a:lumOff val="15000"/>
                      <a:alpha val="3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Light"/>
                <a:ea typeface="G마켓 산스 TTF Light"/>
              </a:rPr>
              <a:t>만불 달성</a:t>
            </a:r>
          </a:p>
          <a:p>
            <a:pPr marL="171450" indent="-171450">
              <a:lnSpc>
                <a:spcPct val="120000"/>
              </a:lnSpc>
              <a:buFontTx/>
              <a:buChar char="-"/>
              <a:defRPr/>
            </a:pPr>
            <a:r>
              <a:rPr lang="ko-KR" altLang="en-US" sz="1000">
                <a:ln w="9525">
                  <a:solidFill>
                    <a:schemeClr val="tx1">
                      <a:lumMod val="85000"/>
                      <a:lumOff val="15000"/>
                      <a:alpha val="3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Light"/>
                <a:ea typeface="G마켓 산스 TTF Light"/>
              </a:rPr>
              <a:t>국내 </a:t>
            </a:r>
            <a:r>
              <a:rPr lang="en-US" altLang="ko-KR" sz="1000">
                <a:ln w="9525">
                  <a:solidFill>
                    <a:schemeClr val="tx1">
                      <a:lumMod val="85000"/>
                      <a:lumOff val="15000"/>
                      <a:alpha val="3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Light"/>
                <a:ea typeface="G마켓 산스 TTF Light"/>
              </a:rPr>
              <a:t>300</a:t>
            </a:r>
            <a:r>
              <a:rPr lang="ko-KR" altLang="en-US" sz="1000">
                <a:ln w="9525">
                  <a:solidFill>
                    <a:schemeClr val="tx1">
                      <a:lumMod val="85000"/>
                      <a:lumOff val="15000"/>
                      <a:alpha val="3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Light"/>
                <a:ea typeface="G마켓 산스 TTF Light"/>
              </a:rPr>
              <a:t>개 에스테틱 공급계약</a:t>
            </a:r>
          </a:p>
          <a:p>
            <a:pPr marL="171450" indent="-171450">
              <a:lnSpc>
                <a:spcPct val="120000"/>
              </a:lnSpc>
              <a:buFontTx/>
              <a:buChar char="-"/>
              <a:defRPr/>
            </a:pPr>
            <a:r>
              <a:rPr lang="en-US" altLang="ko-KR" sz="1000">
                <a:ln w="9525">
                  <a:solidFill>
                    <a:schemeClr val="tx1">
                      <a:lumMod val="85000"/>
                      <a:lumOff val="15000"/>
                      <a:alpha val="3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Light"/>
                <a:ea typeface="G마켓 산스 TTF Light"/>
              </a:rPr>
              <a:t>SPICUEL</a:t>
            </a:r>
            <a:r>
              <a:rPr lang="ko-KR" altLang="en-US" sz="1000">
                <a:ln w="9525">
                  <a:solidFill>
                    <a:schemeClr val="tx1">
                      <a:lumMod val="85000"/>
                      <a:lumOff val="15000"/>
                      <a:alpha val="3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Light"/>
                <a:ea typeface="G마켓 산스 TTF Light"/>
              </a:rPr>
              <a:t>을 이용한 홈케어 전문 브랜드 론칭</a:t>
            </a:r>
          </a:p>
          <a:p>
            <a:pPr marL="171450" indent="-171450">
              <a:lnSpc>
                <a:spcPct val="120000"/>
              </a:lnSpc>
              <a:buFontTx/>
              <a:buChar char="-"/>
              <a:defRPr/>
            </a:pPr>
            <a:r>
              <a:rPr lang="ko-KR" altLang="en-US" sz="1000">
                <a:ln w="9525">
                  <a:solidFill>
                    <a:schemeClr val="tx1">
                      <a:lumMod val="85000"/>
                      <a:lumOff val="15000"/>
                      <a:alpha val="3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Light"/>
                <a:ea typeface="G마켓 산스 TTF Light"/>
              </a:rPr>
              <a:t>벤처기업 등록</a:t>
            </a:r>
          </a:p>
          <a:p>
            <a:pPr marL="171450" indent="-171450">
              <a:lnSpc>
                <a:spcPct val="120000"/>
              </a:lnSpc>
              <a:buFontTx/>
              <a:buChar char="-"/>
              <a:defRPr/>
            </a:pPr>
            <a:r>
              <a:rPr lang="ko-KR" altLang="en-US" sz="1000">
                <a:ln w="9525">
                  <a:solidFill>
                    <a:schemeClr val="tx1">
                      <a:lumMod val="85000"/>
                      <a:lumOff val="15000"/>
                      <a:alpha val="3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Light"/>
                <a:ea typeface="G마켓 산스 TTF Light"/>
              </a:rPr>
              <a:t>스피큘 특허 출원</a:t>
            </a:r>
            <a:endParaRPr lang="en-US" altLang="ko-KR" sz="1000">
              <a:ln w="9525">
                <a:solidFill>
                  <a:schemeClr val="tx1">
                    <a:lumMod val="85000"/>
                    <a:lumOff val="15000"/>
                    <a:alpha val="3500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G마켓 산스 TTF Light"/>
              <a:ea typeface="G마켓 산스 TTF Light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7313678" y="2841242"/>
            <a:ext cx="21932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20000"/>
              </a:lnSpc>
              <a:buFontTx/>
              <a:buChar char="-"/>
              <a:defRPr/>
            </a:pPr>
            <a:r>
              <a:rPr lang="ko-KR" altLang="en-US" sz="1000">
                <a:ln w="9525">
                  <a:solidFill>
                    <a:schemeClr val="tx1">
                      <a:lumMod val="85000"/>
                      <a:lumOff val="15000"/>
                      <a:alpha val="3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Light"/>
                <a:ea typeface="G마켓 산스 TTF Light"/>
              </a:rPr>
              <a:t>메이저 홈쇼핑 런칭</a:t>
            </a:r>
          </a:p>
          <a:p>
            <a:pPr marL="171450" indent="-171450">
              <a:lnSpc>
                <a:spcPct val="120000"/>
              </a:lnSpc>
              <a:buFontTx/>
              <a:buChar char="-"/>
              <a:defRPr/>
            </a:pPr>
            <a:r>
              <a:rPr lang="ko-KR" altLang="en-US" sz="1000">
                <a:ln w="9525">
                  <a:solidFill>
                    <a:schemeClr val="tx1">
                      <a:lumMod val="85000"/>
                      <a:lumOff val="15000"/>
                      <a:alpha val="3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Light"/>
                <a:ea typeface="G마켓 산스 TTF Light"/>
              </a:rPr>
              <a:t>전문가를 위한 </a:t>
            </a:r>
            <a:r>
              <a:rPr lang="en-US" altLang="ko-KR" sz="1000">
                <a:ln w="9525">
                  <a:solidFill>
                    <a:schemeClr val="tx1">
                      <a:lumMod val="85000"/>
                      <a:lumOff val="15000"/>
                      <a:alpha val="3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Light"/>
                <a:ea typeface="G마켓 산스 TTF Light"/>
              </a:rPr>
              <a:t>VOT </a:t>
            </a:r>
            <a:r>
              <a:rPr lang="ko-KR" altLang="en-US" sz="1000">
                <a:ln w="9525">
                  <a:solidFill>
                    <a:schemeClr val="tx1">
                      <a:lumMod val="85000"/>
                      <a:lumOff val="15000"/>
                      <a:alpha val="3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Light"/>
                <a:ea typeface="G마켓 산스 TTF Light"/>
              </a:rPr>
              <a:t>브랜드 론칭</a:t>
            </a:r>
          </a:p>
          <a:p>
            <a:pPr marL="171450" indent="-171450">
              <a:lnSpc>
                <a:spcPct val="120000"/>
              </a:lnSpc>
              <a:buFontTx/>
              <a:buChar char="-"/>
              <a:defRPr/>
            </a:pPr>
            <a:r>
              <a:rPr lang="ko-KR" altLang="en-US" sz="1000">
                <a:ln w="9525">
                  <a:solidFill>
                    <a:schemeClr val="tx1">
                      <a:lumMod val="85000"/>
                      <a:lumOff val="15000"/>
                      <a:alpha val="3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Light"/>
                <a:ea typeface="G마켓 산스 TTF Light"/>
              </a:rPr>
              <a:t>바디 </a:t>
            </a:r>
            <a:r>
              <a:rPr lang="en-US" altLang="ko-KR" sz="1000">
                <a:ln w="9525">
                  <a:solidFill>
                    <a:schemeClr val="tx1">
                      <a:lumMod val="85000"/>
                      <a:lumOff val="15000"/>
                      <a:alpha val="3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Light"/>
                <a:ea typeface="G마켓 산스 TTF Light"/>
              </a:rPr>
              <a:t>&amp; </a:t>
            </a:r>
            <a:r>
              <a:rPr lang="ko-KR" altLang="en-US" sz="1000">
                <a:ln w="9525">
                  <a:solidFill>
                    <a:schemeClr val="tx1">
                      <a:lumMod val="85000"/>
                      <a:lumOff val="15000"/>
                      <a:alpha val="3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Light"/>
                <a:ea typeface="G마켓 산스 TTF Light"/>
              </a:rPr>
              <a:t>헤어라인 출시 </a:t>
            </a:r>
            <a:endParaRPr lang="en-US" altLang="ko-KR" sz="1000">
              <a:ln w="9525">
                <a:solidFill>
                  <a:schemeClr val="tx1">
                    <a:lumMod val="85000"/>
                    <a:lumOff val="15000"/>
                    <a:alpha val="3500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G마켓 산스 TTF Light"/>
              <a:ea typeface="G마켓 산스 TTF Light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9506931" y="2841242"/>
            <a:ext cx="21932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20000"/>
              </a:lnSpc>
              <a:buFontTx/>
              <a:buChar char="-"/>
              <a:defRPr/>
            </a:pPr>
            <a:r>
              <a:rPr lang="ko-KR" altLang="en-US" sz="1000">
                <a:ln w="9525">
                  <a:solidFill>
                    <a:srgbClr val="DB2128">
                      <a:alpha val="35000"/>
                    </a:srgbClr>
                  </a:solidFill>
                </a:ln>
                <a:solidFill>
                  <a:srgbClr val="DB2128"/>
                </a:solidFill>
                <a:latin typeface="G마켓 산스 TTF Medium"/>
                <a:ea typeface="G마켓 산스 TTF Medium"/>
              </a:rPr>
              <a:t>수출  </a:t>
            </a:r>
            <a:r>
              <a:rPr lang="en-US" altLang="ko-KR" sz="1000">
                <a:ln w="9525">
                  <a:solidFill>
                    <a:srgbClr val="DB2128">
                      <a:alpha val="35000"/>
                    </a:srgbClr>
                  </a:solidFill>
                </a:ln>
                <a:solidFill>
                  <a:srgbClr val="DB2128"/>
                </a:solidFill>
                <a:latin typeface="G마켓 산스 TTF Medium"/>
                <a:ea typeface="G마켓 산스 TTF Medium"/>
              </a:rPr>
              <a:t>3,000</a:t>
            </a:r>
            <a:r>
              <a:rPr lang="ko-KR" altLang="en-US" sz="1000">
                <a:ln w="9525">
                  <a:solidFill>
                    <a:srgbClr val="DB2128">
                      <a:alpha val="35000"/>
                    </a:srgbClr>
                  </a:solidFill>
                </a:ln>
                <a:solidFill>
                  <a:srgbClr val="DB2128"/>
                </a:solidFill>
                <a:latin typeface="G마켓 산스 TTF Medium"/>
                <a:ea typeface="G마켓 산스 TTF Medium"/>
              </a:rPr>
              <a:t>만불 달성</a:t>
            </a:r>
          </a:p>
          <a:p>
            <a:pPr marL="171450" indent="-171450">
              <a:lnSpc>
                <a:spcPct val="120000"/>
              </a:lnSpc>
              <a:buFontTx/>
              <a:buChar char="-"/>
              <a:defRPr/>
            </a:pPr>
            <a:r>
              <a:rPr lang="en-US" altLang="ko-KR" sz="1000">
                <a:ln w="9525">
                  <a:solidFill>
                    <a:srgbClr val="DB2128">
                      <a:alpha val="35000"/>
                    </a:srgbClr>
                  </a:solidFill>
                </a:ln>
                <a:solidFill>
                  <a:srgbClr val="DB2128"/>
                </a:solidFill>
                <a:latin typeface="G마켓 산스 TTF Medium"/>
                <a:ea typeface="G마켓 산스 TTF Medium"/>
              </a:rPr>
              <a:t>SPICUELS </a:t>
            </a:r>
            <a:r>
              <a:rPr lang="ko-KR" altLang="en-US" sz="1000">
                <a:ln w="9525">
                  <a:solidFill>
                    <a:srgbClr val="DB2128">
                      <a:alpha val="35000"/>
                    </a:srgbClr>
                  </a:solidFill>
                </a:ln>
                <a:solidFill>
                  <a:srgbClr val="DB2128"/>
                </a:solidFill>
                <a:latin typeface="G마켓 산스 TTF Medium"/>
                <a:ea typeface="G마켓 산스 TTF Medium"/>
              </a:rPr>
              <a:t>관련 특허 </a:t>
            </a:r>
            <a:r>
              <a:rPr lang="en-US" altLang="ko-KR" sz="1000">
                <a:ln w="9525">
                  <a:solidFill>
                    <a:srgbClr val="DB2128">
                      <a:alpha val="35000"/>
                    </a:srgbClr>
                  </a:solidFill>
                </a:ln>
                <a:solidFill>
                  <a:srgbClr val="DB2128"/>
                </a:solidFill>
                <a:latin typeface="G마켓 산스 TTF Medium"/>
                <a:ea typeface="G마켓 산스 TTF Medium"/>
              </a:rPr>
              <a:t>3</a:t>
            </a:r>
            <a:r>
              <a:rPr lang="ko-KR" altLang="en-US" sz="1000">
                <a:ln w="9525">
                  <a:solidFill>
                    <a:srgbClr val="DB2128">
                      <a:alpha val="35000"/>
                    </a:srgbClr>
                  </a:solidFill>
                </a:ln>
                <a:solidFill>
                  <a:srgbClr val="DB2128"/>
                </a:solidFill>
                <a:latin typeface="G마켓 산스 TTF Medium"/>
                <a:ea typeface="G마켓 산스 TTF Medium"/>
              </a:rPr>
              <a:t>개 출원</a:t>
            </a:r>
          </a:p>
          <a:p>
            <a:pPr marL="171450" indent="-171450">
              <a:lnSpc>
                <a:spcPct val="120000"/>
              </a:lnSpc>
              <a:buFontTx/>
              <a:buChar char="-"/>
              <a:defRPr/>
            </a:pPr>
            <a:r>
              <a:rPr lang="ko-KR" altLang="en-US" sz="1000">
                <a:ln w="9525">
                  <a:solidFill>
                    <a:srgbClr val="DB2128">
                      <a:alpha val="35000"/>
                    </a:srgbClr>
                  </a:solidFill>
                </a:ln>
                <a:solidFill>
                  <a:srgbClr val="DB2128"/>
                </a:solidFill>
                <a:latin typeface="G마켓 산스 TTF Medium"/>
                <a:ea typeface="G마켓 산스 TTF Medium"/>
              </a:rPr>
              <a:t>신규 법인 설립 </a:t>
            </a:r>
            <a:r>
              <a:rPr lang="en-US" altLang="ko-KR" sz="1000">
                <a:ln w="9525">
                  <a:solidFill>
                    <a:srgbClr val="DB2128">
                      <a:alpha val="35000"/>
                    </a:srgbClr>
                  </a:solidFill>
                </a:ln>
                <a:solidFill>
                  <a:srgbClr val="DB2128"/>
                </a:solidFill>
                <a:latin typeface="G마켓 산스 TTF Medium"/>
                <a:ea typeface="G마켓 산스 TTF Medium"/>
              </a:rPr>
              <a:t>(</a:t>
            </a:r>
            <a:r>
              <a:rPr lang="ko-KR" altLang="en-US" sz="1000">
                <a:ln w="9525">
                  <a:solidFill>
                    <a:srgbClr val="DB2128">
                      <a:alpha val="35000"/>
                    </a:srgbClr>
                  </a:solidFill>
                </a:ln>
                <a:solidFill>
                  <a:srgbClr val="DB2128"/>
                </a:solidFill>
                <a:latin typeface="G마켓 산스 TTF Medium"/>
                <a:ea typeface="G마켓 산스 TTF Medium"/>
              </a:rPr>
              <a:t>색조브랜드</a:t>
            </a:r>
            <a:r>
              <a:rPr lang="en-US" altLang="ko-KR" sz="1000">
                <a:ln w="9525">
                  <a:solidFill>
                    <a:srgbClr val="DB2128">
                      <a:alpha val="35000"/>
                    </a:srgbClr>
                  </a:solidFill>
                </a:ln>
                <a:solidFill>
                  <a:srgbClr val="DB2128"/>
                </a:solidFill>
                <a:latin typeface="G마켓 산스 TTF Medium"/>
                <a:ea typeface="G마켓 산스 TTF Medium"/>
              </a:rPr>
              <a:t>) </a:t>
            </a:r>
          </a:p>
        </p:txBody>
      </p:sp>
      <p:grpSp>
        <p:nvGrpSpPr>
          <p:cNvPr id="66" name="그룹 65"/>
          <p:cNvGrpSpPr/>
          <p:nvPr/>
        </p:nvGrpSpPr>
        <p:grpSpPr>
          <a:xfrm>
            <a:off x="645158" y="2437972"/>
            <a:ext cx="10950585" cy="272981"/>
            <a:chOff x="645158" y="1549515"/>
            <a:chExt cx="10950585" cy="272981"/>
          </a:xfrm>
        </p:grpSpPr>
        <p:cxnSp>
          <p:nvCxnSpPr>
            <p:cNvPr id="13" name="직선 연결선 12"/>
            <p:cNvCxnSpPr/>
            <p:nvPr/>
          </p:nvCxnSpPr>
          <p:spPr>
            <a:xfrm>
              <a:off x="777733" y="1687686"/>
              <a:ext cx="10742153" cy="0"/>
            </a:xfrm>
            <a:prstGeom prst="line">
              <a:avLst/>
            </a:prstGeom>
            <a:ln w="19050">
              <a:solidFill>
                <a:srgbClr val="222A35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타원 1"/>
            <p:cNvSpPr/>
            <p:nvPr/>
          </p:nvSpPr>
          <p:spPr>
            <a:xfrm>
              <a:off x="645158" y="1621398"/>
              <a:ext cx="132575" cy="132575"/>
            </a:xfrm>
            <a:prstGeom prst="ellipse">
              <a:avLst/>
            </a:prstGeom>
            <a:solidFill>
              <a:srgbClr val="181E26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21" name="Text Box 58"/>
            <p:cNvSpPr txBox="1">
              <a:spLocks noChangeArrowheads="1"/>
            </p:cNvSpPr>
            <p:nvPr/>
          </p:nvSpPr>
          <p:spPr>
            <a:xfrm>
              <a:off x="1145123" y="1552877"/>
              <a:ext cx="1001622" cy="2696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square" bIns="38030" anchor="ctr">
              <a:spAutoFit/>
            </a:bodyPr>
            <a:lstStyle>
              <a:lvl1pPr eaLnBrk="0" hangingPunct="0">
                <a:defRPr kumimoji="1" sz="2200">
                  <a:solidFill>
                    <a:schemeClr val="tx1"/>
                  </a:solidFill>
                  <a:latin typeface="굴림"/>
                  <a:ea typeface="굴림"/>
                </a:defRPr>
              </a:lvl1pPr>
              <a:lvl2pPr marL="742950" indent="-285750" eaLnBrk="0" hangingPunct="0">
                <a:defRPr kumimoji="1" sz="2200">
                  <a:solidFill>
                    <a:schemeClr val="tx1"/>
                  </a:solidFill>
                  <a:latin typeface="굴림"/>
                  <a:ea typeface="굴림"/>
                </a:defRPr>
              </a:lvl2pPr>
              <a:lvl3pPr marL="1143000" indent="-228600" eaLnBrk="0" hangingPunct="0">
                <a:defRPr kumimoji="1" sz="2200">
                  <a:solidFill>
                    <a:schemeClr val="tx1"/>
                  </a:solidFill>
                  <a:latin typeface="굴림"/>
                  <a:ea typeface="굴림"/>
                </a:defRPr>
              </a:lvl3pPr>
              <a:lvl4pPr marL="1600200" indent="-228600" eaLnBrk="0" hangingPunct="0">
                <a:defRPr kumimoji="1" sz="2200">
                  <a:solidFill>
                    <a:schemeClr val="tx1"/>
                  </a:solidFill>
                  <a:latin typeface="굴림"/>
                  <a:ea typeface="굴림"/>
                </a:defRPr>
              </a:lvl4pPr>
              <a:lvl5pPr marL="2057400" indent="-228600" eaLnBrk="0" hangingPunct="0">
                <a:defRPr kumimoji="1" sz="2200">
                  <a:solidFill>
                    <a:schemeClr val="tx1"/>
                  </a:solidFill>
                  <a:latin typeface="굴림"/>
                  <a:ea typeface="굴림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200">
                  <a:solidFill>
                    <a:schemeClr val="tx1"/>
                  </a:solidFill>
                  <a:latin typeface="굴림"/>
                  <a:ea typeface="굴림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200">
                  <a:solidFill>
                    <a:schemeClr val="tx1"/>
                  </a:solidFill>
                  <a:latin typeface="굴림"/>
                  <a:ea typeface="굴림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200">
                  <a:solidFill>
                    <a:schemeClr val="tx1"/>
                  </a:solidFill>
                  <a:latin typeface="굴림"/>
                  <a:ea typeface="굴림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200">
                  <a:solidFill>
                    <a:schemeClr val="tx1"/>
                  </a:solidFill>
                  <a:latin typeface="굴림"/>
                  <a:ea typeface="굴림"/>
                </a:defRPr>
              </a:lvl9pPr>
            </a:lstStyle>
            <a:p>
              <a:pPr algn="ctr">
                <a:lnSpc>
                  <a:spcPct val="90000"/>
                </a:lnSpc>
                <a:defRPr/>
              </a:pPr>
              <a:r>
                <a:rPr kumimoji="0" lang="en-US" altLang="ko-KR" sz="1300" b="0" spc="120">
                  <a:ln w="9525">
                    <a:solidFill>
                      <a:srgbClr val="222A36">
                        <a:alpha val="57000"/>
                      </a:srgbClr>
                    </a:solidFill>
                  </a:ln>
                  <a:solidFill>
                    <a:srgbClr val="181E26"/>
                  </a:solidFill>
                  <a:latin typeface="G마켓 산스 TTF Bold"/>
                  <a:ea typeface="G마켓 산스 TTF Bold"/>
                  <a:cs typeface="Verdana"/>
                </a:rPr>
                <a:t>2013</a:t>
              </a:r>
              <a:endParaRPr kumimoji="0" lang="ko-KR" altLang="en-US" sz="1300" b="0" spc="120">
                <a:ln w="9525">
                  <a:solidFill>
                    <a:srgbClr val="222A36">
                      <a:alpha val="57000"/>
                    </a:srgbClr>
                  </a:solidFill>
                </a:ln>
                <a:solidFill>
                  <a:srgbClr val="181E26"/>
                </a:solidFill>
                <a:latin typeface="G마켓 산스 TTF Bold"/>
                <a:ea typeface="G마켓 산스 TTF Bold"/>
                <a:cs typeface="Verdana"/>
              </a:endParaRPr>
            </a:p>
          </p:txBody>
        </p:sp>
        <p:sp>
          <p:nvSpPr>
            <p:cNvPr id="31" name="Text Box 58"/>
            <p:cNvSpPr txBox="1">
              <a:spLocks noChangeArrowheads="1"/>
            </p:cNvSpPr>
            <p:nvPr/>
          </p:nvSpPr>
          <p:spPr>
            <a:xfrm>
              <a:off x="3342922" y="1551848"/>
              <a:ext cx="1001622" cy="2672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square" bIns="38030" anchor="ctr">
              <a:spAutoFit/>
            </a:bodyPr>
            <a:lstStyle>
              <a:lvl1pPr eaLnBrk="0" hangingPunct="0">
                <a:defRPr kumimoji="1" sz="2200">
                  <a:solidFill>
                    <a:schemeClr val="tx1"/>
                  </a:solidFill>
                  <a:latin typeface="굴림"/>
                  <a:ea typeface="굴림"/>
                </a:defRPr>
              </a:lvl1pPr>
              <a:lvl2pPr marL="742950" indent="-285750" eaLnBrk="0" hangingPunct="0">
                <a:defRPr kumimoji="1" sz="2200">
                  <a:solidFill>
                    <a:schemeClr val="tx1"/>
                  </a:solidFill>
                  <a:latin typeface="굴림"/>
                  <a:ea typeface="굴림"/>
                </a:defRPr>
              </a:lvl2pPr>
              <a:lvl3pPr marL="1143000" indent="-228600" eaLnBrk="0" hangingPunct="0">
                <a:defRPr kumimoji="1" sz="2200">
                  <a:solidFill>
                    <a:schemeClr val="tx1"/>
                  </a:solidFill>
                  <a:latin typeface="굴림"/>
                  <a:ea typeface="굴림"/>
                </a:defRPr>
              </a:lvl3pPr>
              <a:lvl4pPr marL="1600200" indent="-228600" eaLnBrk="0" hangingPunct="0">
                <a:defRPr kumimoji="1" sz="2200">
                  <a:solidFill>
                    <a:schemeClr val="tx1"/>
                  </a:solidFill>
                  <a:latin typeface="굴림"/>
                  <a:ea typeface="굴림"/>
                </a:defRPr>
              </a:lvl4pPr>
              <a:lvl5pPr marL="2057400" indent="-228600" eaLnBrk="0" hangingPunct="0">
                <a:defRPr kumimoji="1" sz="2200">
                  <a:solidFill>
                    <a:schemeClr val="tx1"/>
                  </a:solidFill>
                  <a:latin typeface="굴림"/>
                  <a:ea typeface="굴림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200">
                  <a:solidFill>
                    <a:schemeClr val="tx1"/>
                  </a:solidFill>
                  <a:latin typeface="굴림"/>
                  <a:ea typeface="굴림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200">
                  <a:solidFill>
                    <a:schemeClr val="tx1"/>
                  </a:solidFill>
                  <a:latin typeface="굴림"/>
                  <a:ea typeface="굴림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200">
                  <a:solidFill>
                    <a:schemeClr val="tx1"/>
                  </a:solidFill>
                  <a:latin typeface="굴림"/>
                  <a:ea typeface="굴림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200">
                  <a:solidFill>
                    <a:schemeClr val="tx1"/>
                  </a:solidFill>
                  <a:latin typeface="굴림"/>
                  <a:ea typeface="굴림"/>
                </a:defRPr>
              </a:lvl9pPr>
            </a:lstStyle>
            <a:p>
              <a:pPr algn="ctr">
                <a:lnSpc>
                  <a:spcPct val="90000"/>
                </a:lnSpc>
                <a:defRPr/>
              </a:pPr>
              <a:r>
                <a:rPr kumimoji="0" lang="en-US" altLang="ko-KR" sz="1300" b="0" spc="120">
                  <a:ln w="9525">
                    <a:solidFill>
                      <a:srgbClr val="222A36">
                        <a:alpha val="57000"/>
                      </a:srgbClr>
                    </a:solidFill>
                  </a:ln>
                  <a:solidFill>
                    <a:srgbClr val="181E26"/>
                  </a:solidFill>
                  <a:latin typeface="G마켓 산스 TTF Bold"/>
                  <a:ea typeface="G마켓 산스 TTF Bold"/>
                  <a:cs typeface="Verdana"/>
                </a:rPr>
                <a:t>2015</a:t>
              </a:r>
              <a:endParaRPr kumimoji="0" lang="ko-KR" altLang="en-US" sz="1300" b="0" spc="120">
                <a:ln w="9525">
                  <a:solidFill>
                    <a:srgbClr val="222A36">
                      <a:alpha val="57000"/>
                    </a:srgbClr>
                  </a:solidFill>
                </a:ln>
                <a:solidFill>
                  <a:srgbClr val="181E26"/>
                </a:solidFill>
                <a:latin typeface="G마켓 산스 TTF Bold"/>
                <a:ea typeface="G마켓 산스 TTF Bold"/>
                <a:cs typeface="Verdana"/>
              </a:endParaRPr>
            </a:p>
          </p:txBody>
        </p:sp>
        <p:sp>
          <p:nvSpPr>
            <p:cNvPr id="38" name="Text Box 58"/>
            <p:cNvSpPr txBox="1">
              <a:spLocks noChangeArrowheads="1"/>
            </p:cNvSpPr>
            <p:nvPr/>
          </p:nvSpPr>
          <p:spPr>
            <a:xfrm>
              <a:off x="5540721" y="1552877"/>
              <a:ext cx="1001622" cy="2696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square" bIns="38030" anchor="ctr">
              <a:spAutoFit/>
            </a:bodyPr>
            <a:lstStyle>
              <a:lvl1pPr eaLnBrk="0" hangingPunct="0">
                <a:defRPr kumimoji="1" sz="2200">
                  <a:solidFill>
                    <a:schemeClr val="tx1"/>
                  </a:solidFill>
                  <a:latin typeface="굴림"/>
                  <a:ea typeface="굴림"/>
                </a:defRPr>
              </a:lvl1pPr>
              <a:lvl2pPr marL="742950" indent="-285750" eaLnBrk="0" hangingPunct="0">
                <a:defRPr kumimoji="1" sz="2200">
                  <a:solidFill>
                    <a:schemeClr val="tx1"/>
                  </a:solidFill>
                  <a:latin typeface="굴림"/>
                  <a:ea typeface="굴림"/>
                </a:defRPr>
              </a:lvl2pPr>
              <a:lvl3pPr marL="1143000" indent="-228600" eaLnBrk="0" hangingPunct="0">
                <a:defRPr kumimoji="1" sz="2200">
                  <a:solidFill>
                    <a:schemeClr val="tx1"/>
                  </a:solidFill>
                  <a:latin typeface="굴림"/>
                  <a:ea typeface="굴림"/>
                </a:defRPr>
              </a:lvl3pPr>
              <a:lvl4pPr marL="1600200" indent="-228600" eaLnBrk="0" hangingPunct="0">
                <a:defRPr kumimoji="1" sz="2200">
                  <a:solidFill>
                    <a:schemeClr val="tx1"/>
                  </a:solidFill>
                  <a:latin typeface="굴림"/>
                  <a:ea typeface="굴림"/>
                </a:defRPr>
              </a:lvl4pPr>
              <a:lvl5pPr marL="2057400" indent="-228600" eaLnBrk="0" hangingPunct="0">
                <a:defRPr kumimoji="1" sz="2200">
                  <a:solidFill>
                    <a:schemeClr val="tx1"/>
                  </a:solidFill>
                  <a:latin typeface="굴림"/>
                  <a:ea typeface="굴림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200">
                  <a:solidFill>
                    <a:schemeClr val="tx1"/>
                  </a:solidFill>
                  <a:latin typeface="굴림"/>
                  <a:ea typeface="굴림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200">
                  <a:solidFill>
                    <a:schemeClr val="tx1"/>
                  </a:solidFill>
                  <a:latin typeface="굴림"/>
                  <a:ea typeface="굴림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200">
                  <a:solidFill>
                    <a:schemeClr val="tx1"/>
                  </a:solidFill>
                  <a:latin typeface="굴림"/>
                  <a:ea typeface="굴림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200">
                  <a:solidFill>
                    <a:schemeClr val="tx1"/>
                  </a:solidFill>
                  <a:latin typeface="굴림"/>
                  <a:ea typeface="굴림"/>
                </a:defRPr>
              </a:lvl9pPr>
            </a:lstStyle>
            <a:p>
              <a:pPr algn="ctr">
                <a:lnSpc>
                  <a:spcPct val="90000"/>
                </a:lnSpc>
                <a:defRPr/>
              </a:pPr>
              <a:r>
                <a:rPr kumimoji="0" lang="en-US" altLang="ko-KR" sz="1300" b="0" spc="120">
                  <a:ln w="9525">
                    <a:solidFill>
                      <a:srgbClr val="222A36">
                        <a:alpha val="57000"/>
                      </a:srgbClr>
                    </a:solidFill>
                  </a:ln>
                  <a:solidFill>
                    <a:srgbClr val="181E26"/>
                  </a:solidFill>
                  <a:latin typeface="G마켓 산스 TTF Bold"/>
                  <a:ea typeface="G마켓 산스 TTF Bold"/>
                  <a:cs typeface="Verdana"/>
                </a:rPr>
                <a:t>2017</a:t>
              </a:r>
              <a:endParaRPr kumimoji="0" lang="ko-KR" altLang="en-US" sz="1300" b="0" spc="120">
                <a:ln w="9525">
                  <a:solidFill>
                    <a:srgbClr val="222A36">
                      <a:alpha val="57000"/>
                    </a:srgbClr>
                  </a:solidFill>
                </a:ln>
                <a:solidFill>
                  <a:srgbClr val="181E26"/>
                </a:solidFill>
                <a:latin typeface="G마켓 산스 TTF Bold"/>
                <a:ea typeface="G마켓 산스 TTF Bold"/>
                <a:cs typeface="Verdana"/>
              </a:endParaRPr>
            </a:p>
          </p:txBody>
        </p:sp>
        <p:sp>
          <p:nvSpPr>
            <p:cNvPr id="47" name="Text Box 58"/>
            <p:cNvSpPr txBox="1">
              <a:spLocks noChangeArrowheads="1"/>
            </p:cNvSpPr>
            <p:nvPr/>
          </p:nvSpPr>
          <p:spPr>
            <a:xfrm>
              <a:off x="7733975" y="1551848"/>
              <a:ext cx="1001622" cy="2672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square" bIns="38030" anchor="ctr">
              <a:spAutoFit/>
            </a:bodyPr>
            <a:lstStyle>
              <a:lvl1pPr eaLnBrk="0" hangingPunct="0">
                <a:defRPr kumimoji="1" sz="2200">
                  <a:solidFill>
                    <a:schemeClr val="tx1"/>
                  </a:solidFill>
                  <a:latin typeface="굴림"/>
                  <a:ea typeface="굴림"/>
                </a:defRPr>
              </a:lvl1pPr>
              <a:lvl2pPr marL="742950" indent="-285750" eaLnBrk="0" hangingPunct="0">
                <a:defRPr kumimoji="1" sz="2200">
                  <a:solidFill>
                    <a:schemeClr val="tx1"/>
                  </a:solidFill>
                  <a:latin typeface="굴림"/>
                  <a:ea typeface="굴림"/>
                </a:defRPr>
              </a:lvl2pPr>
              <a:lvl3pPr marL="1143000" indent="-228600" eaLnBrk="0" hangingPunct="0">
                <a:defRPr kumimoji="1" sz="2200">
                  <a:solidFill>
                    <a:schemeClr val="tx1"/>
                  </a:solidFill>
                  <a:latin typeface="굴림"/>
                  <a:ea typeface="굴림"/>
                </a:defRPr>
              </a:lvl3pPr>
              <a:lvl4pPr marL="1600200" indent="-228600" eaLnBrk="0" hangingPunct="0">
                <a:defRPr kumimoji="1" sz="2200">
                  <a:solidFill>
                    <a:schemeClr val="tx1"/>
                  </a:solidFill>
                  <a:latin typeface="굴림"/>
                  <a:ea typeface="굴림"/>
                </a:defRPr>
              </a:lvl4pPr>
              <a:lvl5pPr marL="2057400" indent="-228600" eaLnBrk="0" hangingPunct="0">
                <a:defRPr kumimoji="1" sz="2200">
                  <a:solidFill>
                    <a:schemeClr val="tx1"/>
                  </a:solidFill>
                  <a:latin typeface="굴림"/>
                  <a:ea typeface="굴림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200">
                  <a:solidFill>
                    <a:schemeClr val="tx1"/>
                  </a:solidFill>
                  <a:latin typeface="굴림"/>
                  <a:ea typeface="굴림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200">
                  <a:solidFill>
                    <a:schemeClr val="tx1"/>
                  </a:solidFill>
                  <a:latin typeface="굴림"/>
                  <a:ea typeface="굴림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200">
                  <a:solidFill>
                    <a:schemeClr val="tx1"/>
                  </a:solidFill>
                  <a:latin typeface="굴림"/>
                  <a:ea typeface="굴림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200">
                  <a:solidFill>
                    <a:schemeClr val="tx1"/>
                  </a:solidFill>
                  <a:latin typeface="굴림"/>
                  <a:ea typeface="굴림"/>
                </a:defRPr>
              </a:lvl9pPr>
            </a:lstStyle>
            <a:p>
              <a:pPr algn="ctr">
                <a:lnSpc>
                  <a:spcPct val="90000"/>
                </a:lnSpc>
                <a:defRPr/>
              </a:pPr>
              <a:r>
                <a:rPr kumimoji="0" lang="en-US" altLang="ko-KR" sz="1300" b="0" spc="120">
                  <a:ln w="9525">
                    <a:solidFill>
                      <a:srgbClr val="222A36">
                        <a:alpha val="57000"/>
                      </a:srgbClr>
                    </a:solidFill>
                  </a:ln>
                  <a:solidFill>
                    <a:srgbClr val="181E26"/>
                  </a:solidFill>
                  <a:latin typeface="G마켓 산스 TTF Bold"/>
                  <a:ea typeface="G마켓 산스 TTF Bold"/>
                  <a:cs typeface="Verdana"/>
                </a:rPr>
                <a:t>2019</a:t>
              </a:r>
              <a:endParaRPr kumimoji="0" lang="ko-KR" altLang="en-US" sz="1300" b="0" spc="120">
                <a:ln w="9525">
                  <a:solidFill>
                    <a:srgbClr val="222A36">
                      <a:alpha val="57000"/>
                    </a:srgbClr>
                  </a:solidFill>
                </a:ln>
                <a:solidFill>
                  <a:srgbClr val="181E26"/>
                </a:solidFill>
                <a:latin typeface="G마켓 산스 TTF Bold"/>
                <a:ea typeface="G마켓 산스 TTF Bold"/>
                <a:cs typeface="Verdana"/>
              </a:endParaRPr>
            </a:p>
          </p:txBody>
        </p:sp>
        <p:sp>
          <p:nvSpPr>
            <p:cNvPr id="51" name="Text Box 58"/>
            <p:cNvSpPr txBox="1">
              <a:spLocks noChangeArrowheads="1"/>
            </p:cNvSpPr>
            <p:nvPr/>
          </p:nvSpPr>
          <p:spPr>
            <a:xfrm>
              <a:off x="9761461" y="1551848"/>
              <a:ext cx="1333158" cy="2672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square" bIns="38030" anchor="ctr">
              <a:spAutoFit/>
            </a:bodyPr>
            <a:lstStyle>
              <a:lvl1pPr eaLnBrk="0" hangingPunct="0">
                <a:defRPr kumimoji="1" sz="2200">
                  <a:solidFill>
                    <a:schemeClr val="tx1"/>
                  </a:solidFill>
                  <a:latin typeface="굴림"/>
                  <a:ea typeface="굴림"/>
                </a:defRPr>
              </a:lvl1pPr>
              <a:lvl2pPr marL="742950" indent="-285750" eaLnBrk="0" hangingPunct="0">
                <a:defRPr kumimoji="1" sz="2200">
                  <a:solidFill>
                    <a:schemeClr val="tx1"/>
                  </a:solidFill>
                  <a:latin typeface="굴림"/>
                  <a:ea typeface="굴림"/>
                </a:defRPr>
              </a:lvl2pPr>
              <a:lvl3pPr marL="1143000" indent="-228600" eaLnBrk="0" hangingPunct="0">
                <a:defRPr kumimoji="1" sz="2200">
                  <a:solidFill>
                    <a:schemeClr val="tx1"/>
                  </a:solidFill>
                  <a:latin typeface="굴림"/>
                  <a:ea typeface="굴림"/>
                </a:defRPr>
              </a:lvl3pPr>
              <a:lvl4pPr marL="1600200" indent="-228600" eaLnBrk="0" hangingPunct="0">
                <a:defRPr kumimoji="1" sz="2200">
                  <a:solidFill>
                    <a:schemeClr val="tx1"/>
                  </a:solidFill>
                  <a:latin typeface="굴림"/>
                  <a:ea typeface="굴림"/>
                </a:defRPr>
              </a:lvl4pPr>
              <a:lvl5pPr marL="2057400" indent="-228600" eaLnBrk="0" hangingPunct="0">
                <a:defRPr kumimoji="1" sz="2200">
                  <a:solidFill>
                    <a:schemeClr val="tx1"/>
                  </a:solidFill>
                  <a:latin typeface="굴림"/>
                  <a:ea typeface="굴림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200">
                  <a:solidFill>
                    <a:schemeClr val="tx1"/>
                  </a:solidFill>
                  <a:latin typeface="굴림"/>
                  <a:ea typeface="굴림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200">
                  <a:solidFill>
                    <a:schemeClr val="tx1"/>
                  </a:solidFill>
                  <a:latin typeface="굴림"/>
                  <a:ea typeface="굴림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200">
                  <a:solidFill>
                    <a:schemeClr val="tx1"/>
                  </a:solidFill>
                  <a:latin typeface="굴림"/>
                  <a:ea typeface="굴림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200">
                  <a:solidFill>
                    <a:schemeClr val="tx1"/>
                  </a:solidFill>
                  <a:latin typeface="굴림"/>
                  <a:ea typeface="굴림"/>
                </a:defRPr>
              </a:lvl9pPr>
            </a:lstStyle>
            <a:p>
              <a:pPr algn="ctr">
                <a:lnSpc>
                  <a:spcPct val="90000"/>
                </a:lnSpc>
                <a:defRPr/>
              </a:pPr>
              <a:r>
                <a:rPr kumimoji="0" lang="en-US" altLang="ko-KR" sz="1300" b="0" spc="120">
                  <a:ln w="9525">
                    <a:solidFill>
                      <a:srgbClr val="222A36">
                        <a:alpha val="57000"/>
                      </a:srgbClr>
                    </a:solidFill>
                  </a:ln>
                  <a:solidFill>
                    <a:srgbClr val="181E26"/>
                  </a:solidFill>
                  <a:latin typeface="G마켓 산스 TTF Bold"/>
                  <a:ea typeface="G마켓 산스 TTF Bold"/>
                  <a:cs typeface="Verdana"/>
                </a:rPr>
                <a:t>2020~23</a:t>
              </a:r>
              <a:endParaRPr kumimoji="0" lang="ko-KR" altLang="en-US" sz="1300" b="0" spc="120">
                <a:ln w="9525">
                  <a:solidFill>
                    <a:srgbClr val="222A36">
                      <a:alpha val="57000"/>
                    </a:srgbClr>
                  </a:solidFill>
                </a:ln>
                <a:solidFill>
                  <a:srgbClr val="181E26"/>
                </a:solidFill>
                <a:latin typeface="G마켓 산스 TTF Bold"/>
                <a:ea typeface="G마켓 산스 TTF Bold"/>
                <a:cs typeface="Verdana"/>
              </a:endParaRPr>
            </a:p>
          </p:txBody>
        </p:sp>
        <p:sp>
          <p:nvSpPr>
            <p:cNvPr id="63" name="L 도형 62"/>
            <p:cNvSpPr/>
            <p:nvPr/>
          </p:nvSpPr>
          <p:spPr>
            <a:xfrm rot="13500000">
              <a:off x="11433668" y="1603286"/>
              <a:ext cx="162075" cy="162075"/>
            </a:xfrm>
            <a:prstGeom prst="corner">
              <a:avLst>
                <a:gd name="adj1" fmla="val 35153"/>
                <a:gd name="adj2" fmla="val 34835"/>
              </a:avLst>
            </a:prstGeom>
            <a:solidFill>
              <a:srgbClr val="181E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</p:grpSp>
      <p:pic>
        <p:nvPicPr>
          <p:cNvPr id="67" name="Picture 2" descr="D:\3_케이엔\각종이미지\z_임플라X copy.png"/>
          <p:cNvPicPr>
            <a:picLocks noChangeAspect="1" noChangeArrowheads="1"/>
          </p:cNvPicPr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1102136" y="1424767"/>
            <a:ext cx="1127667" cy="7078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" name="그룹 3"/>
          <p:cNvGrpSpPr/>
          <p:nvPr/>
        </p:nvGrpSpPr>
        <p:grpSpPr>
          <a:xfrm>
            <a:off x="812491" y="1271767"/>
            <a:ext cx="10442761" cy="926569"/>
            <a:chOff x="812491" y="1698492"/>
            <a:chExt cx="10442761" cy="926569"/>
          </a:xfrm>
        </p:grpSpPr>
        <p:sp>
          <p:nvSpPr>
            <p:cNvPr id="22" name="사각형: 둥근 모서리 25"/>
            <p:cNvSpPr/>
            <p:nvPr/>
          </p:nvSpPr>
          <p:spPr>
            <a:xfrm>
              <a:off x="812491" y="1703496"/>
              <a:ext cx="1660656" cy="921565"/>
            </a:xfrm>
            <a:prstGeom prst="roundRect">
              <a:avLst>
                <a:gd name="adj" fmla="val 50000"/>
              </a:avLst>
            </a:prstGeom>
            <a:noFill/>
            <a:ln w="3810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69" name="사각형: 둥근 모서리 25"/>
            <p:cNvSpPr/>
            <p:nvPr/>
          </p:nvSpPr>
          <p:spPr>
            <a:xfrm>
              <a:off x="3010289" y="1698492"/>
              <a:ext cx="1660656" cy="921565"/>
            </a:xfrm>
            <a:prstGeom prst="roundRect">
              <a:avLst>
                <a:gd name="adj" fmla="val 50000"/>
              </a:avLst>
            </a:prstGeom>
            <a:noFill/>
            <a:ln w="3810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70" name="사각형: 둥근 모서리 25"/>
            <p:cNvSpPr/>
            <p:nvPr/>
          </p:nvSpPr>
          <p:spPr>
            <a:xfrm>
              <a:off x="5208088" y="1701854"/>
              <a:ext cx="1660656" cy="921565"/>
            </a:xfrm>
            <a:prstGeom prst="roundRect">
              <a:avLst>
                <a:gd name="adj" fmla="val 50000"/>
              </a:avLst>
            </a:prstGeom>
            <a:noFill/>
            <a:ln w="3810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71" name="사각형: 둥근 모서리 25"/>
            <p:cNvSpPr/>
            <p:nvPr/>
          </p:nvSpPr>
          <p:spPr>
            <a:xfrm>
              <a:off x="7401342" y="1698492"/>
              <a:ext cx="1660656" cy="921565"/>
            </a:xfrm>
            <a:prstGeom prst="roundRect">
              <a:avLst>
                <a:gd name="adj" fmla="val 50000"/>
              </a:avLst>
            </a:prstGeom>
            <a:noFill/>
            <a:ln w="3810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72" name="사각형: 둥근 모서리 25"/>
            <p:cNvSpPr/>
            <p:nvPr/>
          </p:nvSpPr>
          <p:spPr>
            <a:xfrm>
              <a:off x="9594596" y="1698492"/>
              <a:ext cx="1660656" cy="921565"/>
            </a:xfrm>
            <a:prstGeom prst="roundRect">
              <a:avLst>
                <a:gd name="adj" fmla="val 50000"/>
              </a:avLst>
            </a:prstGeom>
            <a:noFill/>
            <a:ln w="3810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562689" y="4850540"/>
            <a:ext cx="8081777" cy="891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ko-KR" altLang="en-US" sz="1350">
                <a:ln w="9525"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Light"/>
                <a:ea typeface="G마켓 산스 TTF Light"/>
              </a:rPr>
              <a:t>㈜비엔은 고기능성 특수 화장품</a:t>
            </a:r>
            <a:r>
              <a:rPr lang="en-US" altLang="ko-KR" sz="1350">
                <a:ln w="9525"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Light"/>
                <a:ea typeface="G마켓 산스 TTF Light"/>
              </a:rPr>
              <a:t>(</a:t>
            </a:r>
            <a:r>
              <a:rPr lang="ko-KR" altLang="en-US" sz="1350">
                <a:ln w="9525"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Light"/>
                <a:ea typeface="G마켓 산스 TTF Light"/>
              </a:rPr>
              <a:t>필링</a:t>
            </a:r>
            <a:r>
              <a:rPr lang="en-US" altLang="ko-KR" sz="1350">
                <a:ln w="9525"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Light"/>
                <a:ea typeface="G마켓 산스 TTF Light"/>
              </a:rPr>
              <a:t>)</a:t>
            </a:r>
            <a:r>
              <a:rPr lang="ko-KR" altLang="en-US" sz="1350">
                <a:ln w="9525"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Light"/>
                <a:ea typeface="G마켓 산스 TTF Light"/>
              </a:rPr>
              <a:t>시장에서 독보적인 기술력과 다양한 유통라인을 토대로</a:t>
            </a:r>
          </a:p>
          <a:p>
            <a:pPr>
              <a:lnSpc>
                <a:spcPct val="130000"/>
              </a:lnSpc>
              <a:defRPr/>
            </a:pPr>
            <a:r>
              <a:rPr lang="en-US" altLang="ko-KR" sz="1350">
                <a:ln w="9525"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Medium"/>
                <a:ea typeface="G마켓 산스 TTF Medium"/>
              </a:rPr>
              <a:t>2020</a:t>
            </a:r>
            <a:r>
              <a:rPr lang="ko-KR" altLang="en-US" sz="1350">
                <a:ln w="9525"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Medium"/>
                <a:ea typeface="G마켓 산스 TTF Medium"/>
              </a:rPr>
              <a:t>년</a:t>
            </a:r>
            <a:r>
              <a:rPr lang="en-US" altLang="ko-KR" sz="1350">
                <a:ln w="9525"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Medium"/>
                <a:ea typeface="G마켓 산스 TTF Medium"/>
              </a:rPr>
              <a:t>, 2021</a:t>
            </a:r>
            <a:r>
              <a:rPr lang="ko-KR" altLang="en-US" sz="1350">
                <a:ln w="9525"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Medium"/>
                <a:ea typeface="G마켓 산스 TTF Medium"/>
              </a:rPr>
              <a:t>년 매해 </a:t>
            </a:r>
            <a:r>
              <a:rPr lang="en-US" altLang="ko-KR" sz="1350">
                <a:ln w="9525"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Medium"/>
                <a:ea typeface="G마켓 산스 TTF Medium"/>
              </a:rPr>
              <a:t>3,000</a:t>
            </a:r>
            <a:r>
              <a:rPr lang="ko-KR" altLang="en-US" sz="1350">
                <a:ln w="9525"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Medium"/>
                <a:ea typeface="G마켓 산스 TTF Medium"/>
              </a:rPr>
              <a:t>만불 수출을 달성</a:t>
            </a:r>
            <a:r>
              <a:rPr lang="ko-KR" altLang="en-US" sz="1350">
                <a:ln w="9525"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Light"/>
                <a:ea typeface="G마켓 산스 TTF Light"/>
              </a:rPr>
              <a:t> 했으며</a:t>
            </a:r>
            <a:r>
              <a:rPr lang="en-US" altLang="ko-KR" sz="1350">
                <a:ln w="9525"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Light"/>
                <a:ea typeface="G마켓 산스 TTF Light"/>
              </a:rPr>
              <a:t>,  </a:t>
            </a:r>
            <a:r>
              <a:rPr lang="ko-KR" altLang="en-US" sz="1350">
                <a:ln w="9525"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Light"/>
                <a:ea typeface="G마켓 산스 TTF Light"/>
              </a:rPr>
              <a:t>다수의 특허와</a:t>
            </a:r>
            <a:r>
              <a:rPr lang="en-US" altLang="ko-KR" sz="1350">
                <a:ln w="9525"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Light"/>
                <a:ea typeface="G마켓 산스 TTF Light"/>
              </a:rPr>
              <a:t> </a:t>
            </a:r>
            <a:r>
              <a:rPr lang="ko-KR" altLang="en-US" sz="1350">
                <a:ln w="9525"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Light"/>
                <a:ea typeface="G마켓 산스 TTF Light"/>
              </a:rPr>
              <a:t>상표등록 등의 지적 재산권을</a:t>
            </a:r>
          </a:p>
          <a:p>
            <a:pPr>
              <a:lnSpc>
                <a:spcPct val="130000"/>
              </a:lnSpc>
              <a:defRPr/>
            </a:pPr>
            <a:r>
              <a:rPr lang="ko-KR" altLang="en-US" sz="1350">
                <a:ln w="9525"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Light"/>
                <a:ea typeface="G마켓 산스 TTF Light"/>
              </a:rPr>
              <a:t>보유 하고 있어</a:t>
            </a:r>
            <a:r>
              <a:rPr lang="en-US" altLang="ko-KR" sz="1350">
                <a:ln w="9525"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Light"/>
                <a:ea typeface="G마켓 산스 TTF Light"/>
              </a:rPr>
              <a:t> </a:t>
            </a:r>
            <a:r>
              <a:rPr lang="ko-KR" altLang="en-US" sz="1350">
                <a:ln w="9525"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Light"/>
                <a:ea typeface="G마켓 산스 TTF Light"/>
              </a:rPr>
              <a:t>이를 기반으로 세계시장에서 한국화장품의 위상을 높이는 것을 목표로 하고 있습니다</a:t>
            </a:r>
            <a:r>
              <a:rPr lang="en-US" altLang="ko-KR" sz="1350">
                <a:ln w="9525"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Light"/>
                <a:ea typeface="G마켓 산스 TTF Light"/>
              </a:rPr>
              <a:t>.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47750" y="5558554"/>
            <a:ext cx="3181559" cy="802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/>
            </a:pPr>
            <a:r>
              <a:rPr lang="ko-KR" altLang="en-US" sz="1300">
                <a:ln w="9525">
                  <a:solidFill>
                    <a:srgbClr val="222A36">
                      <a:alpha val="60000"/>
                    </a:srgbClr>
                  </a:solidFill>
                </a:ln>
                <a:solidFill>
                  <a:srgbClr val="222A36"/>
                </a:solidFill>
                <a:latin typeface="G마켓 산스 TTF Medium"/>
                <a:ea typeface="G마켓 산스 TTF Medium"/>
              </a:rPr>
              <a:t>대통령상</a:t>
            </a:r>
            <a:r>
              <a:rPr lang="ko-KR" altLang="en-US" sz="1300">
                <a:ln w="9525">
                  <a:solidFill>
                    <a:srgbClr val="222A36">
                      <a:alpha val="60000"/>
                    </a:srgbClr>
                  </a:solidFill>
                </a:ln>
                <a:solidFill>
                  <a:srgbClr val="222A36"/>
                </a:solidFill>
                <a:latin typeface="G마켓 산스 TTF Light"/>
                <a:ea typeface="G마켓 산스 TTF Light"/>
              </a:rPr>
              <a:t> 대표 전무성</a:t>
            </a:r>
          </a:p>
          <a:p>
            <a:pPr algn="r">
              <a:lnSpc>
                <a:spcPct val="120000"/>
              </a:lnSpc>
              <a:defRPr/>
            </a:pPr>
            <a:r>
              <a:rPr lang="ko-KR" altLang="en-US" sz="1300">
                <a:ln w="9525">
                  <a:solidFill>
                    <a:srgbClr val="222A36">
                      <a:alpha val="60000"/>
                    </a:srgbClr>
                  </a:solidFill>
                </a:ln>
                <a:solidFill>
                  <a:srgbClr val="222A36"/>
                </a:solidFill>
                <a:latin typeface="G마켓 산스 Medium"/>
                <a:ea typeface="G마켓 산스 Medium"/>
              </a:rPr>
              <a:t>국무총리상</a:t>
            </a:r>
            <a:r>
              <a:rPr lang="ko-KR" altLang="en-US" sz="1300">
                <a:ln w="9525">
                  <a:solidFill>
                    <a:srgbClr val="222A36">
                      <a:alpha val="60000"/>
                    </a:srgbClr>
                  </a:solidFill>
                </a:ln>
                <a:solidFill>
                  <a:srgbClr val="222A36"/>
                </a:solidFill>
                <a:latin typeface="G마켓 산스 TTF Light"/>
                <a:ea typeface="G마켓 산스 TTF Light"/>
              </a:rPr>
              <a:t> 상무 최학렬</a:t>
            </a:r>
          </a:p>
          <a:p>
            <a:pPr algn="r">
              <a:lnSpc>
                <a:spcPct val="120000"/>
              </a:lnSpc>
              <a:defRPr/>
            </a:pPr>
            <a:r>
              <a:rPr lang="ko-KR" altLang="en-US" sz="1300">
                <a:ln w="9525">
                  <a:solidFill>
                    <a:srgbClr val="222A36">
                      <a:alpha val="60000"/>
                    </a:srgbClr>
                  </a:solidFill>
                </a:ln>
                <a:solidFill>
                  <a:srgbClr val="222A36"/>
                </a:solidFill>
                <a:latin typeface="G마켓 산스 Medium"/>
                <a:ea typeface="G마켓 산스 Medium"/>
              </a:rPr>
              <a:t>산업통상자원부 장관상 </a:t>
            </a:r>
            <a:r>
              <a:rPr lang="ko-KR" altLang="en-US" sz="1300">
                <a:ln w="9525">
                  <a:solidFill>
                    <a:srgbClr val="222A36">
                      <a:alpha val="60000"/>
                    </a:srgbClr>
                  </a:solidFill>
                </a:ln>
                <a:solidFill>
                  <a:srgbClr val="222A36"/>
                </a:solidFill>
                <a:latin typeface="G마켓 산스 TTF Light"/>
                <a:ea typeface="G마켓 산스 TTF Light"/>
              </a:rPr>
              <a:t>주임 김복자</a:t>
            </a:r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7"/>
          <a:srcRect l="5270" t="1590" r="6080" b="4660"/>
          <a:stretch>
            <a:fillRect/>
          </a:stretch>
        </p:blipFill>
        <p:spPr>
          <a:xfrm>
            <a:off x="9506931" y="3709054"/>
            <a:ext cx="2084245" cy="165480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10375235" y="12866"/>
            <a:ext cx="1816765" cy="37798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6339" y="305995"/>
            <a:ext cx="4685898" cy="51125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3600">
                <a:solidFill>
                  <a:srgbClr val="CF8C67"/>
                </a:solidFill>
                <a:latin typeface="HY헤드라인M"/>
                <a:ea typeface="HY헤드라인M"/>
                <a:cs typeface="Aharoni"/>
              </a:defRPr>
            </a:lvl1pPr>
          </a:lstStyle>
          <a:p>
            <a:pPr lvl="0">
              <a:defRPr/>
            </a:pPr>
            <a:r>
              <a:rPr lang="ko-KR" altLang="en-US" sz="2800"/>
              <a:t>회사 연혁</a:t>
            </a:r>
          </a:p>
        </p:txBody>
      </p:sp>
      <p:cxnSp>
        <p:nvCxnSpPr>
          <p:cNvPr id="7" name="직선 연결선 6"/>
          <p:cNvCxnSpPr/>
          <p:nvPr/>
        </p:nvCxnSpPr>
        <p:spPr>
          <a:xfrm>
            <a:off x="497840" y="808007"/>
            <a:ext cx="11043920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그룹 5"/>
          <p:cNvGrpSpPr/>
          <p:nvPr/>
        </p:nvGrpSpPr>
        <p:grpSpPr>
          <a:xfrm>
            <a:off x="293968" y="6554918"/>
            <a:ext cx="11755791" cy="229470"/>
            <a:chOff x="293968" y="6554918"/>
            <a:chExt cx="11755791" cy="229470"/>
          </a:xfrm>
        </p:grpSpPr>
        <p:grpSp>
          <p:nvGrpSpPr>
            <p:cNvPr id="15" name="그룹 14"/>
            <p:cNvGrpSpPr/>
            <p:nvPr/>
          </p:nvGrpSpPr>
          <p:grpSpPr>
            <a:xfrm>
              <a:off x="650240" y="6557524"/>
              <a:ext cx="11399519" cy="205787"/>
              <a:chOff x="650240" y="6557524"/>
              <a:chExt cx="11399519" cy="205787"/>
            </a:xfrm>
          </p:grpSpPr>
          <p:sp>
            <p:nvSpPr>
              <p:cNvPr id="19" name="TextBox 18"/>
              <p:cNvSpPr txBox="1"/>
              <p:nvPr/>
            </p:nvSpPr>
            <p:spPr>
              <a:xfrm>
                <a:off x="7792084" y="6557524"/>
                <a:ext cx="4257676" cy="2057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 eaLnBrk="1" hangingPunct="1">
                  <a:defRPr/>
                </a:pPr>
                <a:r>
                  <a:rPr lang="en-US" altLang="ko-KR" sz="750">
                    <a:ln w="9525">
                      <a:solidFill>
                        <a:schemeClr val="bg1">
                          <a:lumMod val="85000"/>
                          <a:alpha val="60000"/>
                        </a:schemeClr>
                      </a:solidFill>
                    </a:ln>
                    <a:solidFill>
                      <a:schemeClr val="bg1">
                        <a:lumMod val="85000"/>
                      </a:schemeClr>
                    </a:solidFill>
                    <a:latin typeface="+mj-lt"/>
                  </a:rPr>
                  <a:t>Copyright ⓒ 2024 B&amp;, All rights reserved. Terms of Use I Privacy Policy.</a:t>
                </a:r>
                <a:endParaRPr lang="en-US" altLang="ko-KR" sz="750">
                  <a:solidFill>
                    <a:schemeClr val="bg1">
                      <a:lumMod val="85000"/>
                    </a:schemeClr>
                  </a:solidFill>
                  <a:latin typeface="+mj-lt"/>
                </a:endParaRPr>
              </a:p>
            </p:txBody>
          </p:sp>
          <p:cxnSp>
            <p:nvCxnSpPr>
              <p:cNvPr id="20" name="직선 연결선 19"/>
              <p:cNvCxnSpPr/>
              <p:nvPr/>
            </p:nvCxnSpPr>
            <p:spPr>
              <a:xfrm>
                <a:off x="650240" y="6660417"/>
                <a:ext cx="7470140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8" name="그림 17"/>
            <p:cNvPicPr>
              <a:picLocks noChangeAspect="1"/>
            </p:cNvPicPr>
            <p:nvPr/>
          </p:nvPicPr>
          <p:blipFill rotWithShape="1">
            <a:blip r:embed="rId9"/>
            <a:srcRect l="42820" t="44730" r="43380" b="42160"/>
            <a:stretch>
              <a:fillRect/>
            </a:stretch>
          </p:blipFill>
          <p:spPr>
            <a:xfrm>
              <a:off x="293968" y="6554918"/>
              <a:ext cx="341746" cy="22947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이등변 삼각형 4"/>
          <p:cNvSpPr/>
          <p:nvPr/>
        </p:nvSpPr>
        <p:spPr>
          <a:xfrm>
            <a:off x="11402" y="5773782"/>
            <a:ext cx="4257676" cy="1084217"/>
          </a:xfrm>
          <a:prstGeom prst="triangle">
            <a:avLst>
              <a:gd name="adj" fmla="val 0"/>
            </a:avLst>
          </a:prstGeom>
          <a:solidFill>
            <a:srgbClr val="F8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4205409" y="4184512"/>
            <a:ext cx="1851629" cy="766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ko-KR" altLang="en-US" sz="1400">
                <a:ln w="9525">
                  <a:solidFill>
                    <a:srgbClr val="222A36">
                      <a:alpha val="3500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/>
                <a:ea typeface="G마켓 산스 TTF Medium"/>
              </a:rPr>
              <a:t>지하</a:t>
            </a:r>
            <a:r>
              <a:rPr lang="en-US" altLang="ko-KR" sz="1400">
                <a:ln w="9525">
                  <a:solidFill>
                    <a:srgbClr val="222A36">
                      <a:alpha val="3500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/>
                <a:ea typeface="G마켓 산스 TTF Medium"/>
              </a:rPr>
              <a:t> </a:t>
            </a:r>
            <a:r>
              <a:rPr lang="ko-KR" altLang="en-US" sz="1400">
                <a:ln w="9525">
                  <a:solidFill>
                    <a:srgbClr val="222A36">
                      <a:alpha val="3500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/>
                <a:ea typeface="G마켓 산스 TTF Medium"/>
              </a:rPr>
              <a:t>층</a:t>
            </a:r>
          </a:p>
          <a:p>
            <a:pPr>
              <a:lnSpc>
                <a:spcPct val="130000"/>
              </a:lnSpc>
              <a:defRPr/>
            </a:pPr>
            <a:r>
              <a:rPr lang="en-US" altLang="ko-KR" sz="1000">
                <a:ln w="9525">
                  <a:solidFill>
                    <a:srgbClr val="222A36">
                      <a:alpha val="3500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  <a:cs typeface="+mn-cs"/>
              </a:rPr>
              <a:t>• </a:t>
            </a:r>
            <a:r>
              <a:rPr lang="ko-KR" altLang="en-US" sz="1000">
                <a:ln w="9525">
                  <a:solidFill>
                    <a:srgbClr val="222A36">
                      <a:alpha val="3500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/>
                <a:ea typeface="G마켓 산스 TTF Medium"/>
              </a:rPr>
              <a:t>세미나</a:t>
            </a:r>
            <a:r>
              <a:rPr lang="en-US" altLang="ko-KR" sz="1000">
                <a:ln w="9525">
                  <a:solidFill>
                    <a:srgbClr val="222A36">
                      <a:alpha val="3500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/>
                <a:ea typeface="G마켓 산스 TTF Medium"/>
              </a:rPr>
              <a:t>/</a:t>
            </a:r>
            <a:r>
              <a:rPr lang="ko-KR" altLang="en-US" sz="1000">
                <a:ln w="9525">
                  <a:solidFill>
                    <a:srgbClr val="222A36">
                      <a:alpha val="3500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/>
                <a:ea typeface="G마켓 산스 TTF Medium"/>
              </a:rPr>
              <a:t>교육장</a:t>
            </a:r>
          </a:p>
          <a:p>
            <a:pPr>
              <a:lnSpc>
                <a:spcPct val="130000"/>
              </a:lnSpc>
              <a:defRPr/>
            </a:pPr>
            <a:r>
              <a:rPr lang="en-US" altLang="ko-KR" sz="1000">
                <a:ln w="9525">
                  <a:solidFill>
                    <a:srgbClr val="222A36">
                      <a:alpha val="3500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  <a:cs typeface="+mn-cs"/>
              </a:rPr>
              <a:t>• </a:t>
            </a:r>
            <a:r>
              <a:rPr lang="en-US" altLang="ko-KR" sz="1000">
                <a:ln w="9525">
                  <a:solidFill>
                    <a:srgbClr val="222A36">
                      <a:alpha val="3500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/>
                <a:ea typeface="G마켓 산스 TTF Medium"/>
              </a:rPr>
              <a:t>1:1 </a:t>
            </a:r>
            <a:r>
              <a:rPr lang="ko-KR" altLang="en-US" sz="1000">
                <a:ln w="9525">
                  <a:solidFill>
                    <a:srgbClr val="222A36">
                      <a:alpha val="3500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/>
                <a:ea typeface="G마켓 산스 TTF Medium"/>
              </a:rPr>
              <a:t>맞춤 프리미엄 에스테룸</a:t>
            </a:r>
            <a:r>
              <a:rPr lang="en-US" altLang="ko-KR" sz="1000">
                <a:ln w="9525">
                  <a:solidFill>
                    <a:srgbClr val="222A36">
                      <a:alpha val="3500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/>
                <a:ea typeface="G마켓 산스 TTF Medium"/>
              </a:rPr>
              <a:t>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5409" y="2744512"/>
            <a:ext cx="2028337" cy="760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ko-KR" sz="1400">
                <a:ln w="9525">
                  <a:solidFill>
                    <a:srgbClr val="222A36">
                      <a:alpha val="3500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/>
                <a:ea typeface="G마켓 산스 TTF Medium"/>
              </a:rPr>
              <a:t>1</a:t>
            </a:r>
            <a:r>
              <a:rPr lang="ko-KR" altLang="en-US" sz="1400">
                <a:ln w="9525">
                  <a:solidFill>
                    <a:srgbClr val="222A36">
                      <a:alpha val="3500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/>
                <a:ea typeface="G마켓 산스 TTF Medium"/>
              </a:rPr>
              <a:t>층</a:t>
            </a:r>
          </a:p>
          <a:p>
            <a:pPr>
              <a:lnSpc>
                <a:spcPct val="130000"/>
              </a:lnSpc>
              <a:defRPr/>
            </a:pPr>
            <a:r>
              <a:rPr lang="en-US" altLang="ko-KR" sz="1000">
                <a:ln w="9525">
                  <a:solidFill>
                    <a:srgbClr val="222A36">
                      <a:alpha val="3500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  <a:cs typeface="+mn-cs"/>
              </a:rPr>
              <a:t>• </a:t>
            </a:r>
            <a:r>
              <a:rPr lang="ko-KR" altLang="en-US" sz="1000">
                <a:ln w="9525">
                  <a:solidFill>
                    <a:srgbClr val="222A36">
                      <a:alpha val="3500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/>
                <a:ea typeface="G마켓 산스 TTF Medium"/>
              </a:rPr>
              <a:t>누디크 브랜드 플래그샵</a:t>
            </a:r>
          </a:p>
          <a:p>
            <a:pPr>
              <a:lnSpc>
                <a:spcPct val="130000"/>
              </a:lnSpc>
              <a:defRPr/>
            </a:pPr>
            <a:r>
              <a:rPr lang="en-US" altLang="ko-KR" sz="1000">
                <a:ln w="9525">
                  <a:solidFill>
                    <a:srgbClr val="222A36">
                      <a:alpha val="3500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/>
                <a:ea typeface="G마켓 산스 TTF Medium"/>
              </a:rPr>
              <a:t>- </a:t>
            </a:r>
            <a:r>
              <a:rPr lang="ko-KR" altLang="en-US" sz="1000">
                <a:ln w="9525">
                  <a:solidFill>
                    <a:srgbClr val="222A36">
                      <a:alpha val="3500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/>
                <a:ea typeface="G마켓 산스 TTF Medium"/>
              </a:rPr>
              <a:t>카페</a:t>
            </a:r>
            <a:r>
              <a:rPr lang="en-US" altLang="ko-KR" sz="1000">
                <a:ln w="9525">
                  <a:solidFill>
                    <a:srgbClr val="222A36">
                      <a:alpha val="3500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/>
                <a:ea typeface="G마켓 산스 TTF Medium"/>
              </a:rPr>
              <a:t>, </a:t>
            </a:r>
            <a:r>
              <a:rPr lang="ko-KR" altLang="en-US" sz="1000">
                <a:ln w="9525">
                  <a:solidFill>
                    <a:srgbClr val="222A36">
                      <a:alpha val="3500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/>
                <a:ea typeface="G마켓 산스 TTF Medium"/>
              </a:rPr>
              <a:t>쇼룸</a:t>
            </a:r>
            <a:r>
              <a:rPr lang="en-US" altLang="ko-KR" sz="1000">
                <a:ln w="9525">
                  <a:solidFill>
                    <a:srgbClr val="222A36">
                      <a:alpha val="3500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/>
                <a:ea typeface="G마켓 산스 TTF Medium"/>
              </a:rPr>
              <a:t>, </a:t>
            </a:r>
            <a:r>
              <a:rPr lang="ko-KR" altLang="en-US" sz="1000">
                <a:ln w="9525">
                  <a:solidFill>
                    <a:srgbClr val="222A36">
                      <a:alpha val="3500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/>
                <a:ea typeface="G마켓 산스 TTF Medium"/>
              </a:rPr>
              <a:t>인플루언서 공간</a:t>
            </a:r>
            <a:endParaRPr lang="ko-KR" altLang="en-US" sz="1000">
              <a:ln w="9525">
                <a:solidFill>
                  <a:srgbClr val="DB2128">
                    <a:alpha val="3500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G마켓 산스 TTF Bold"/>
              <a:ea typeface="G마켓 산스 TTF Bold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244370" y="1271082"/>
            <a:ext cx="1851630" cy="765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ko-KR" sz="1400">
                <a:ln w="9525">
                  <a:solidFill>
                    <a:srgbClr val="222A36">
                      <a:alpha val="3500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/>
                <a:ea typeface="G마켓 산스 TTF Medium"/>
              </a:rPr>
              <a:t>2</a:t>
            </a:r>
            <a:r>
              <a:rPr lang="ko-KR" altLang="en-US" sz="1400">
                <a:ln w="9525">
                  <a:solidFill>
                    <a:srgbClr val="222A36">
                      <a:alpha val="3500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/>
                <a:ea typeface="G마켓 산스 TTF Medium"/>
              </a:rPr>
              <a:t>층 </a:t>
            </a:r>
            <a:r>
              <a:rPr lang="en-US" altLang="ko-KR" sz="1400">
                <a:ln w="9525">
                  <a:solidFill>
                    <a:srgbClr val="222A36">
                      <a:alpha val="3500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/>
                <a:ea typeface="G마켓 산스 TTF Medium"/>
              </a:rPr>
              <a:t>~ 4</a:t>
            </a:r>
            <a:r>
              <a:rPr lang="ko-KR" altLang="en-US" sz="1400">
                <a:ln w="9525">
                  <a:solidFill>
                    <a:srgbClr val="222A36">
                      <a:alpha val="3500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/>
                <a:ea typeface="G마켓 산스 TTF Medium"/>
              </a:rPr>
              <a:t>층</a:t>
            </a:r>
          </a:p>
          <a:p>
            <a:pPr>
              <a:lnSpc>
                <a:spcPct val="130000"/>
              </a:lnSpc>
              <a:defRPr/>
            </a:pPr>
            <a:r>
              <a:rPr lang="en-US" altLang="ko-KR" sz="1000">
                <a:ln w="9525">
                  <a:solidFill>
                    <a:srgbClr val="222A36">
                      <a:alpha val="3500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  <a:cs typeface="+mn-cs"/>
              </a:rPr>
              <a:t>• </a:t>
            </a:r>
            <a:r>
              <a:rPr lang="en-US" altLang="ko-KR" sz="1000">
                <a:ln w="9525">
                  <a:solidFill>
                    <a:srgbClr val="222A36">
                      <a:alpha val="3500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/>
                <a:ea typeface="G마켓 산스 TTF Medium"/>
              </a:rPr>
              <a:t>Office</a:t>
            </a:r>
          </a:p>
          <a:p>
            <a:pPr>
              <a:lnSpc>
                <a:spcPct val="130000"/>
              </a:lnSpc>
              <a:defRPr/>
            </a:pPr>
            <a:r>
              <a:rPr lang="en-US" altLang="ko-KR" sz="1000">
                <a:ln w="9525">
                  <a:solidFill>
                    <a:srgbClr val="222A36">
                      <a:alpha val="3500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  <a:cs typeface="+mn-cs"/>
              </a:rPr>
              <a:t>•</a:t>
            </a:r>
            <a:r>
              <a:rPr lang="en-US" altLang="ko-KR" sz="1000">
                <a:ln w="9525">
                  <a:solidFill>
                    <a:srgbClr val="222A36">
                      <a:alpha val="3500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/>
                <a:ea typeface="G마켓 산스 TTF Medium"/>
              </a:rPr>
              <a:t> R&amp;D </a:t>
            </a:r>
            <a:r>
              <a:rPr lang="ko-KR" altLang="en-US" sz="1000">
                <a:ln w="9525">
                  <a:solidFill>
                    <a:srgbClr val="222A36">
                      <a:alpha val="3500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/>
                <a:ea typeface="G마켓 산스 TTF Medium"/>
              </a:rPr>
              <a:t>연구소</a:t>
            </a:r>
            <a:endParaRPr lang="ko-KR" altLang="en-US" sz="1000">
              <a:ln w="9525">
                <a:solidFill>
                  <a:srgbClr val="DB2128">
                    <a:alpha val="3500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G마켓 산스 TTF Bold"/>
              <a:ea typeface="G마켓 산스 TTF Bold"/>
            </a:endParaRPr>
          </a:p>
        </p:txBody>
      </p:sp>
      <p:pic>
        <p:nvPicPr>
          <p:cNvPr id="26" name="그림 25"/>
          <p:cNvPicPr>
            <a:picLocks noChangeAspect="1"/>
          </p:cNvPicPr>
          <p:nvPr/>
        </p:nvPicPr>
        <p:blipFill rotWithShape="1">
          <a:blip r:embed="rId2"/>
          <a:srcRect t="23650" b="1350"/>
          <a:stretch>
            <a:fillRect/>
          </a:stretch>
        </p:blipFill>
        <p:spPr>
          <a:xfrm>
            <a:off x="8707452" y="3954497"/>
            <a:ext cx="2560000" cy="1440000"/>
          </a:xfrm>
          <a:prstGeom prst="rect">
            <a:avLst/>
          </a:prstGeom>
        </p:spPr>
      </p:pic>
      <p:pic>
        <p:nvPicPr>
          <p:cNvPr id="29" name="그림 28"/>
          <p:cNvPicPr>
            <a:picLocks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057039" y="912263"/>
            <a:ext cx="2560001" cy="1440000"/>
          </a:xfrm>
          <a:prstGeom prst="rect">
            <a:avLst/>
          </a:prstGeom>
        </p:spPr>
      </p:pic>
      <p:pic>
        <p:nvPicPr>
          <p:cNvPr id="31" name="그림 30"/>
          <p:cNvPicPr>
            <a:picLocks noChangeAspect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8707452" y="2433380"/>
            <a:ext cx="2560000" cy="1440000"/>
          </a:xfrm>
          <a:prstGeom prst="rect">
            <a:avLst/>
          </a:prstGeom>
        </p:spPr>
      </p:pic>
      <p:pic>
        <p:nvPicPr>
          <p:cNvPr id="33" name="그림 32"/>
          <p:cNvPicPr>
            <a:picLocks noChangeAspect="1"/>
          </p:cNvPicPr>
          <p:nvPr/>
        </p:nvPicPr>
        <p:blipFill rotWithShape="1">
          <a:blip r:embed="rId5"/>
          <a:srcRect t="15390" b="9610"/>
          <a:stretch>
            <a:fillRect/>
          </a:stretch>
        </p:blipFill>
        <p:spPr>
          <a:xfrm>
            <a:off x="6061787" y="2433380"/>
            <a:ext cx="2560000" cy="1440000"/>
          </a:xfrm>
          <a:prstGeom prst="rect">
            <a:avLst/>
          </a:prstGeom>
        </p:spPr>
      </p:pic>
      <p:pic>
        <p:nvPicPr>
          <p:cNvPr id="35" name="그림 34"/>
          <p:cNvPicPr>
            <a:picLocks noChangeAspect="1"/>
          </p:cNvPicPr>
          <p:nvPr/>
        </p:nvPicPr>
        <p:blipFill rotWithShape="1">
          <a:blip r:embed="rId6"/>
          <a:srcRect t="23270" b="1730"/>
          <a:stretch>
            <a:fillRect/>
          </a:stretch>
        </p:blipFill>
        <p:spPr>
          <a:xfrm>
            <a:off x="8702704" y="912263"/>
            <a:ext cx="2559999" cy="1440000"/>
          </a:xfrm>
          <a:prstGeom prst="rect">
            <a:avLst/>
          </a:prstGeom>
        </p:spPr>
      </p:pic>
      <p:pic>
        <p:nvPicPr>
          <p:cNvPr id="37" name="그림 36"/>
          <p:cNvPicPr>
            <a:picLocks noChangeAspect="1"/>
          </p:cNvPicPr>
          <p:nvPr/>
        </p:nvPicPr>
        <p:blipFill rotWithShape="1">
          <a:blip r:embed="rId7"/>
          <a:srcRect t="12500" b="12500"/>
          <a:stretch>
            <a:fillRect/>
          </a:stretch>
        </p:blipFill>
        <p:spPr>
          <a:xfrm>
            <a:off x="6061787" y="3954497"/>
            <a:ext cx="2560000" cy="144000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8"/>
          <a:srcRect l="9550" t="7430" r="27760" b="8980"/>
          <a:stretch>
            <a:fillRect/>
          </a:stretch>
        </p:blipFill>
        <p:spPr>
          <a:xfrm>
            <a:off x="368100" y="1610759"/>
            <a:ext cx="3544279" cy="354427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93968" y="1151615"/>
            <a:ext cx="2958114" cy="360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ko-KR" altLang="en-US" sz="1400">
                <a:ln w="9525">
                  <a:solidFill>
                    <a:srgbClr val="222A36">
                      <a:alpha val="3500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  <a:cs typeface="+mn-cs"/>
              </a:rPr>
              <a:t>■ </a:t>
            </a:r>
            <a:r>
              <a:rPr lang="ko-KR" altLang="en-US" sz="1400">
                <a:ln w="9525">
                  <a:solidFill>
                    <a:srgbClr val="222A36">
                      <a:alpha val="3500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/>
                <a:ea typeface="G마켓 산스 TTF Medium"/>
              </a:rPr>
              <a:t>서울 강남 사옥</a:t>
            </a:r>
            <a:r>
              <a:rPr lang="en-US" altLang="ko-KR" sz="1400">
                <a:ln w="9525">
                  <a:solidFill>
                    <a:srgbClr val="222A36">
                      <a:alpha val="3500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/>
                <a:ea typeface="G마켓 산스 TTF Medium"/>
              </a:rPr>
              <a:t> </a:t>
            </a:r>
            <a:r>
              <a:rPr lang="ko-KR" altLang="en-US" sz="1400">
                <a:ln w="9525">
                  <a:solidFill>
                    <a:srgbClr val="222A36">
                      <a:alpha val="3500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/>
                <a:ea typeface="G마켓 산스 TTF Medium"/>
              </a:rPr>
              <a:t>및 </a:t>
            </a:r>
            <a:r>
              <a:rPr lang="en-US" altLang="ko-KR" sz="1400">
                <a:ln w="9525">
                  <a:solidFill>
                    <a:srgbClr val="222A36">
                      <a:alpha val="3500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/>
                <a:ea typeface="G마켓 산스 TTF Medium"/>
              </a:rPr>
              <a:t>R&amp;D</a:t>
            </a:r>
            <a:r>
              <a:rPr lang="ko-KR" altLang="en-US" sz="1400">
                <a:ln w="9525">
                  <a:solidFill>
                    <a:srgbClr val="222A36">
                      <a:alpha val="3500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/>
                <a:ea typeface="G마켓 산스 TTF Medium"/>
              </a:rPr>
              <a:t>센터</a:t>
            </a:r>
            <a:endParaRPr lang="ko-KR" altLang="en-US" sz="1000">
              <a:ln w="9525">
                <a:solidFill>
                  <a:srgbClr val="DB2128">
                    <a:alpha val="3500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G마켓 산스 TTF Bold"/>
              <a:ea typeface="G마켓 산스 TTF Bold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522519" y="5739898"/>
            <a:ext cx="7168342" cy="297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400">
                <a:latin typeface="KoPubWorld돋움체 Medium"/>
                <a:ea typeface="KoPubWorld돋움체 Medium"/>
                <a:cs typeface="KoPubWorld돋움체 Medium"/>
              </a:rPr>
              <a:t>소재 개발에서 제형 개발</a:t>
            </a:r>
            <a:r>
              <a:rPr lang="en-US" altLang="ko-KR" sz="1400">
                <a:latin typeface="KoPubWorld돋움체 Medium"/>
                <a:ea typeface="KoPubWorld돋움체 Medium"/>
                <a:cs typeface="KoPubWorld돋움체 Medium"/>
              </a:rPr>
              <a:t>, </a:t>
            </a:r>
            <a:r>
              <a:rPr lang="ko-KR" altLang="en-US" sz="1400">
                <a:latin typeface="KoPubWorld돋움체 Medium"/>
                <a:ea typeface="KoPubWorld돋움체 Medium"/>
                <a:cs typeface="KoPubWorld돋움체 Medium"/>
              </a:rPr>
              <a:t>디자인 및 마케팅 지원까지 원스톱 서비스가 가능함  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2291053" y="5822220"/>
            <a:ext cx="143131" cy="143131"/>
          </a:xfrm>
          <a:prstGeom prst="rect">
            <a:avLst/>
          </a:prstGeom>
          <a:solidFill>
            <a:srgbClr val="DB21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8904962" y="5804816"/>
            <a:ext cx="143131" cy="143131"/>
          </a:xfrm>
          <a:prstGeom prst="rect">
            <a:avLst/>
          </a:prstGeom>
          <a:solidFill>
            <a:srgbClr val="DB21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10375235" y="12866"/>
            <a:ext cx="1816765" cy="37798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16339" y="305995"/>
            <a:ext cx="4685898" cy="51125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3600">
                <a:solidFill>
                  <a:srgbClr val="CF8C67"/>
                </a:solidFill>
                <a:latin typeface="HY헤드라인M"/>
                <a:ea typeface="HY헤드라인M"/>
                <a:cs typeface="Aharoni"/>
              </a:defRPr>
            </a:lvl1pPr>
          </a:lstStyle>
          <a:p>
            <a:pPr lvl="0">
              <a:defRPr/>
            </a:pPr>
            <a:r>
              <a:rPr lang="ko-KR" altLang="en-US" sz="2800"/>
              <a:t>강남 사옥 및 </a:t>
            </a:r>
            <a:r>
              <a:rPr lang="en-US" altLang="ko-KR" sz="2800"/>
              <a:t>R&amp;D </a:t>
            </a:r>
            <a:r>
              <a:rPr lang="ko-KR" altLang="en-US" sz="2800"/>
              <a:t>센터</a:t>
            </a:r>
          </a:p>
        </p:txBody>
      </p:sp>
      <p:cxnSp>
        <p:nvCxnSpPr>
          <p:cNvPr id="17" name="직선 연결선 16"/>
          <p:cNvCxnSpPr/>
          <p:nvPr/>
        </p:nvCxnSpPr>
        <p:spPr>
          <a:xfrm>
            <a:off x="497840" y="808007"/>
            <a:ext cx="11043920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그룹 18"/>
          <p:cNvGrpSpPr/>
          <p:nvPr/>
        </p:nvGrpSpPr>
        <p:grpSpPr>
          <a:xfrm>
            <a:off x="293968" y="6554918"/>
            <a:ext cx="11755791" cy="229470"/>
            <a:chOff x="293968" y="6554918"/>
            <a:chExt cx="11755791" cy="229470"/>
          </a:xfrm>
        </p:grpSpPr>
        <p:grpSp>
          <p:nvGrpSpPr>
            <p:cNvPr id="20" name="그룹 19"/>
            <p:cNvGrpSpPr/>
            <p:nvPr/>
          </p:nvGrpSpPr>
          <p:grpSpPr>
            <a:xfrm>
              <a:off x="650240" y="6557524"/>
              <a:ext cx="11399519" cy="205787"/>
              <a:chOff x="650240" y="6557524"/>
              <a:chExt cx="11399519" cy="205787"/>
            </a:xfrm>
          </p:grpSpPr>
          <p:sp>
            <p:nvSpPr>
              <p:cNvPr id="22" name="TextBox 21"/>
              <p:cNvSpPr txBox="1"/>
              <p:nvPr/>
            </p:nvSpPr>
            <p:spPr>
              <a:xfrm>
                <a:off x="7792084" y="6557524"/>
                <a:ext cx="4257676" cy="2057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 eaLnBrk="1" hangingPunct="1">
                  <a:defRPr/>
                </a:pPr>
                <a:r>
                  <a:rPr lang="en-US" altLang="ko-KR" sz="750">
                    <a:ln w="9525">
                      <a:solidFill>
                        <a:schemeClr val="bg1">
                          <a:lumMod val="85000"/>
                          <a:alpha val="60000"/>
                        </a:schemeClr>
                      </a:solidFill>
                    </a:ln>
                    <a:solidFill>
                      <a:schemeClr val="bg1">
                        <a:lumMod val="85000"/>
                      </a:schemeClr>
                    </a:solidFill>
                    <a:latin typeface="+mj-lt"/>
                  </a:rPr>
                  <a:t>Copyright ⓒ 2024 B&amp;, All rights reserved. Terms of Use I Privacy Policy.</a:t>
                </a:r>
                <a:endParaRPr lang="en-US" altLang="ko-KR" sz="750">
                  <a:solidFill>
                    <a:schemeClr val="bg1">
                      <a:lumMod val="85000"/>
                    </a:schemeClr>
                  </a:solidFill>
                  <a:latin typeface="+mj-lt"/>
                </a:endParaRPr>
              </a:p>
            </p:txBody>
          </p:sp>
          <p:cxnSp>
            <p:nvCxnSpPr>
              <p:cNvPr id="23" name="직선 연결선 22"/>
              <p:cNvCxnSpPr/>
              <p:nvPr/>
            </p:nvCxnSpPr>
            <p:spPr>
              <a:xfrm>
                <a:off x="650240" y="6660417"/>
                <a:ext cx="7470140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21" name="그림 20"/>
            <p:cNvPicPr>
              <a:picLocks noChangeAspect="1"/>
            </p:cNvPicPr>
            <p:nvPr/>
          </p:nvPicPr>
          <p:blipFill rotWithShape="1">
            <a:blip r:embed="rId10"/>
            <a:srcRect l="42820" t="44730" r="43380" b="42160"/>
            <a:stretch>
              <a:fillRect/>
            </a:stretch>
          </p:blipFill>
          <p:spPr>
            <a:xfrm>
              <a:off x="293968" y="6554918"/>
              <a:ext cx="341746" cy="22947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375235" y="12866"/>
            <a:ext cx="1816765" cy="37798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16338" y="305995"/>
            <a:ext cx="6126701" cy="4445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3600">
                <a:solidFill>
                  <a:srgbClr val="CF8C67"/>
                </a:solidFill>
                <a:latin typeface="HY헤드라인M"/>
                <a:ea typeface="HY헤드라인M"/>
                <a:cs typeface="Aharoni"/>
              </a:defRPr>
            </a:lvl1pPr>
          </a:lstStyle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2400" b="0" i="0" u="none" strike="noStrike" kern="1200" cap="none" spc="0" normalizeH="0" baseline="0">
                <a:solidFill>
                  <a:srgbClr val="CF8C67"/>
                </a:solidFill>
                <a:effectLst/>
                <a:uLnTx/>
                <a:uFillTx/>
                <a:latin typeface="HY헤드라인M"/>
                <a:ea typeface="HY헤드라인M"/>
                <a:cs typeface="Aharoni"/>
              </a:rPr>
              <a:t>비엔코스</a:t>
            </a:r>
            <a:r>
              <a:rPr kumimoji="0" lang="en-US" altLang="ko-KR" sz="2400" b="0" i="0" u="none" strike="noStrike" kern="1200" cap="none" spc="0" normalizeH="0" baseline="0">
                <a:solidFill>
                  <a:srgbClr val="CF8C67"/>
                </a:solidFill>
                <a:effectLst/>
                <a:uLnTx/>
                <a:uFillTx/>
                <a:latin typeface="HY헤드라인M"/>
                <a:ea typeface="HY헤드라인M"/>
                <a:cs typeface="Aharoni"/>
              </a:rPr>
              <a:t>(</a:t>
            </a:r>
            <a:r>
              <a:rPr kumimoji="0" lang="ko-KR" altLang="en-US" sz="2400" b="0" i="0" u="none" strike="noStrike" kern="1200" cap="none" spc="0" normalizeH="0" baseline="0">
                <a:solidFill>
                  <a:srgbClr val="CF8C67"/>
                </a:solidFill>
                <a:effectLst/>
                <a:uLnTx/>
                <a:uFillTx/>
                <a:latin typeface="HY헤드라인M"/>
                <a:ea typeface="HY헤드라인M"/>
                <a:cs typeface="Aharoni"/>
              </a:rPr>
              <a:t>계열사</a:t>
            </a:r>
            <a:r>
              <a:rPr kumimoji="0" lang="en-US" altLang="ko-KR" sz="2400" b="0" i="0" u="none" strike="noStrike" kern="1200" cap="none" spc="0" normalizeH="0" baseline="0">
                <a:solidFill>
                  <a:srgbClr val="CF8C67"/>
                </a:solidFill>
                <a:effectLst/>
                <a:uLnTx/>
                <a:uFillTx/>
                <a:latin typeface="HY헤드라인M"/>
                <a:ea typeface="HY헤드라인M"/>
                <a:cs typeface="Aharoni"/>
              </a:rPr>
              <a:t>, </a:t>
            </a:r>
            <a:r>
              <a:rPr kumimoji="0" lang="ko-KR" altLang="en-US" sz="2400" b="0" i="0" u="none" strike="noStrike" kern="1200" cap="none" spc="0" normalizeH="0" baseline="0">
                <a:solidFill>
                  <a:srgbClr val="CF8C67"/>
                </a:solidFill>
                <a:effectLst/>
                <a:uLnTx/>
                <a:uFillTx/>
                <a:latin typeface="HY헤드라인M"/>
                <a:ea typeface="HY헤드라인M"/>
                <a:cs typeface="Aharoni"/>
              </a:rPr>
              <a:t>제조공장</a:t>
            </a:r>
            <a:r>
              <a:rPr kumimoji="0" lang="en-US" altLang="ko-KR" sz="2400" b="0" i="0" u="none" strike="noStrike" kern="1200" cap="none" spc="0" normalizeH="0" baseline="0">
                <a:solidFill>
                  <a:srgbClr val="CF8C67"/>
                </a:solidFill>
                <a:effectLst/>
                <a:uLnTx/>
                <a:uFillTx/>
                <a:latin typeface="HY헤드라인M"/>
                <a:ea typeface="HY헤드라인M"/>
                <a:cs typeface="Aharoni"/>
              </a:rPr>
              <a:t>)</a:t>
            </a:r>
          </a:p>
        </p:txBody>
      </p:sp>
      <p:cxnSp>
        <p:nvCxnSpPr>
          <p:cNvPr id="18" name="직선 연결선 17"/>
          <p:cNvCxnSpPr/>
          <p:nvPr/>
        </p:nvCxnSpPr>
        <p:spPr>
          <a:xfrm>
            <a:off x="497840" y="808007"/>
            <a:ext cx="11043920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23259" y="792287"/>
            <a:ext cx="5958221" cy="815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Ø"/>
              <a:defRPr/>
            </a:pPr>
            <a:r>
              <a:rPr lang="ko-KR" altLang="en-US" sz="1600">
                <a:latin typeface="+mn-ea"/>
                <a:cs typeface="KoPubWorld돋움체 Medium"/>
              </a:rPr>
              <a:t>화장품 기업 최초 스마트 팩토리 구축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  <a:defRPr/>
            </a:pPr>
            <a:r>
              <a:rPr lang="ko-KR" altLang="en-US" sz="1600">
                <a:latin typeface="+mn-ea"/>
                <a:cs typeface="KoPubWorld돋움체 Medium"/>
              </a:rPr>
              <a:t>제조 공정 인공지능 </a:t>
            </a:r>
            <a:r>
              <a:rPr lang="en-US" altLang="ko-KR" sz="1600">
                <a:latin typeface="+mn-ea"/>
                <a:cs typeface="KoPubWorld돋움체 Medium"/>
              </a:rPr>
              <a:t>(AI) </a:t>
            </a:r>
            <a:r>
              <a:rPr lang="ko-KR" altLang="en-US" sz="1600">
                <a:latin typeface="+mn-ea"/>
                <a:cs typeface="KoPubWorld돋움체 Medium"/>
              </a:rPr>
              <a:t>도입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24743" y="6131335"/>
            <a:ext cx="802984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b="1">
                <a:latin typeface="+mn-ea"/>
                <a:cs typeface="KoPubWorld돋움체 Medium"/>
              </a:rPr>
              <a:t>강남 사옥과 연계하여 생산 과정과 공정 조건 </a:t>
            </a:r>
            <a:r>
              <a:rPr lang="en-US" altLang="ko-KR" b="1">
                <a:latin typeface="+mn-ea"/>
                <a:cs typeface="KoPubWorld돋움체 Medium"/>
              </a:rPr>
              <a:t>control </a:t>
            </a:r>
            <a:r>
              <a:rPr lang="ko-KR" altLang="en-US" b="1">
                <a:latin typeface="+mn-ea"/>
                <a:cs typeface="KoPubWorld돋움체 Medium"/>
              </a:rPr>
              <a:t>및 모니터링이 가능함 </a:t>
            </a:r>
          </a:p>
        </p:txBody>
      </p:sp>
      <p:sp>
        <p:nvSpPr>
          <p:cNvPr id="15" name="직사각형 14"/>
          <p:cNvSpPr/>
          <p:nvPr/>
        </p:nvSpPr>
        <p:spPr>
          <a:xfrm>
            <a:off x="1881612" y="6244435"/>
            <a:ext cx="143131" cy="143131"/>
          </a:xfrm>
          <a:prstGeom prst="rect">
            <a:avLst/>
          </a:prstGeom>
          <a:solidFill>
            <a:srgbClr val="8E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9927859" y="6244434"/>
            <a:ext cx="143131" cy="143131"/>
          </a:xfrm>
          <a:prstGeom prst="rect">
            <a:avLst/>
          </a:prstGeom>
          <a:solidFill>
            <a:srgbClr val="8E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29" name="그림 2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02877" y="1622613"/>
            <a:ext cx="3583640" cy="2389094"/>
          </a:xfrm>
          <a:prstGeom prst="rect">
            <a:avLst/>
          </a:prstGeom>
        </p:spPr>
      </p:pic>
      <p:pic>
        <p:nvPicPr>
          <p:cNvPr id="31" name="그림 30"/>
          <p:cNvPicPr>
            <a:picLocks noChangeAspect="1"/>
          </p:cNvPicPr>
          <p:nvPr/>
        </p:nvPicPr>
        <p:blipFill rotWithShape="1">
          <a:blip r:embed="rId4"/>
          <a:srcRect l="23310" t="44050" r="13230" b="18430"/>
          <a:stretch>
            <a:fillRect/>
          </a:stretch>
        </p:blipFill>
        <p:spPr>
          <a:xfrm>
            <a:off x="4652682" y="1586753"/>
            <a:ext cx="6400799" cy="215213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495515" y="1255593"/>
            <a:ext cx="7400649" cy="43873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marR="0" lvl="0" indent="0" defTabSz="91440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400" b="1" i="0" u="none" strike="noStrike" kern="0" cap="none" spc="0" normalizeH="0" baseline="0">
                <a:effectLst/>
                <a:uLnTx/>
                <a:uFillTx/>
                <a:latin typeface="+mn-ea"/>
              </a:rPr>
              <a:t>[</a:t>
            </a:r>
            <a:r>
              <a:rPr lang="en-US" altLang="ko-KR" sz="1400" b="1" kern="0">
                <a:latin typeface="+mn-ea"/>
              </a:rPr>
              <a:t>CGMP,</a:t>
            </a:r>
            <a:r>
              <a:rPr lang="ko-KR" altLang="en-US" sz="1400" b="1" kern="0">
                <a:latin typeface="+mn-ea"/>
              </a:rPr>
              <a:t> </a:t>
            </a:r>
            <a:r>
              <a:rPr lang="en-US" altLang="ko-KR" sz="1400" b="1" kern="0">
                <a:latin typeface="+mn-ea"/>
              </a:rPr>
              <a:t>ISO9001, 14001, 22716 </a:t>
            </a:r>
            <a:r>
              <a:rPr lang="ko-KR" altLang="en-US" sz="1400" b="1" kern="0">
                <a:latin typeface="+mn-ea"/>
              </a:rPr>
              <a:t>인증을 통한 국제 기준의 품질 및 환경경영시스템 운영</a:t>
            </a:r>
            <a:r>
              <a:rPr lang="en-US" altLang="ko-KR" sz="1400" b="1" kern="0">
                <a:latin typeface="+mn-ea"/>
              </a:rPr>
              <a:t>]</a:t>
            </a:r>
            <a:endParaRPr kumimoji="0" lang="en-US" altLang="ko-KR" sz="1400" b="0" i="0" u="none" strike="noStrike" kern="0" cap="none" spc="0" normalizeH="0" baseline="0">
              <a:effectLst/>
              <a:uLnTx/>
              <a:uFillTx/>
              <a:latin typeface="+mn-ea"/>
            </a:endParaRPr>
          </a:p>
        </p:txBody>
      </p:sp>
      <p:pic>
        <p:nvPicPr>
          <p:cNvPr id="34" name="그림 33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9563848" y="4118543"/>
            <a:ext cx="1491344" cy="2058142"/>
          </a:xfrm>
          <a:prstGeom prst="rect">
            <a:avLst/>
          </a:prstGeom>
        </p:spPr>
      </p:pic>
      <p:pic>
        <p:nvPicPr>
          <p:cNvPr id="35" name="_x208375560" descr="EMB00031a8c06dd"/>
          <p:cNvPicPr>
            <a:picLocks noChangeAspect="1" noChangeArrowheads="1"/>
          </p:cNvPicPr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4695908" y="4127112"/>
            <a:ext cx="4788749" cy="1986820"/>
          </a:xfrm>
          <a:prstGeom prst="rect">
            <a:avLst/>
          </a:prstGeom>
          <a:noFill/>
        </p:spPr>
      </p:pic>
      <p:sp>
        <p:nvSpPr>
          <p:cNvPr id="36" name="사각형: 둥근 모서리 35"/>
          <p:cNvSpPr/>
          <p:nvPr/>
        </p:nvSpPr>
        <p:spPr>
          <a:xfrm>
            <a:off x="4706720" y="3800746"/>
            <a:ext cx="1501200" cy="338400"/>
          </a:xfrm>
          <a:prstGeom prst="roundRect">
            <a:avLst>
              <a:gd name="adj" fmla="val 16667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500" b="1">
                <a:solidFill>
                  <a:schemeClr val="tx1"/>
                </a:solidFill>
                <a:latin typeface="+mn-ea"/>
              </a:rPr>
              <a:t>ISO</a:t>
            </a:r>
            <a:r>
              <a:rPr lang="ko-KR" altLang="en-US" sz="1500" b="1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500" b="1">
                <a:solidFill>
                  <a:schemeClr val="tx1"/>
                </a:solidFill>
                <a:latin typeface="+mn-ea"/>
              </a:rPr>
              <a:t>9001</a:t>
            </a:r>
            <a:endParaRPr lang="ko-KR" altLang="en-US" sz="1500" b="1">
              <a:solidFill>
                <a:schemeClr val="tx1"/>
              </a:solidFill>
              <a:latin typeface="+mn-ea"/>
            </a:endParaRPr>
          </a:p>
        </p:txBody>
      </p:sp>
      <p:sp>
        <p:nvSpPr>
          <p:cNvPr id="37" name="사각형: 둥근 모서리 36"/>
          <p:cNvSpPr/>
          <p:nvPr/>
        </p:nvSpPr>
        <p:spPr>
          <a:xfrm>
            <a:off x="7957462" y="3773852"/>
            <a:ext cx="1501200" cy="338400"/>
          </a:xfrm>
          <a:prstGeom prst="roundRect">
            <a:avLst>
              <a:gd name="adj" fmla="val 16667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500" b="1">
                <a:solidFill>
                  <a:schemeClr val="tx1"/>
                </a:solidFill>
                <a:latin typeface="+mn-ea"/>
              </a:rPr>
              <a:t>ISO</a:t>
            </a:r>
            <a:r>
              <a:rPr lang="ko-KR" altLang="en-US" sz="1500" b="1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500" b="1">
                <a:solidFill>
                  <a:schemeClr val="tx1"/>
                </a:solidFill>
                <a:latin typeface="+mn-ea"/>
              </a:rPr>
              <a:t>22716</a:t>
            </a:r>
          </a:p>
        </p:txBody>
      </p:sp>
      <p:sp>
        <p:nvSpPr>
          <p:cNvPr id="38" name="사각형: 둥근 모서리 37"/>
          <p:cNvSpPr/>
          <p:nvPr/>
        </p:nvSpPr>
        <p:spPr>
          <a:xfrm>
            <a:off x="6363660" y="3801834"/>
            <a:ext cx="1501200" cy="338400"/>
          </a:xfrm>
          <a:prstGeom prst="roundRect">
            <a:avLst>
              <a:gd name="adj" fmla="val 16667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500" b="1">
                <a:solidFill>
                  <a:schemeClr val="tx1"/>
                </a:solidFill>
                <a:latin typeface="+mn-ea"/>
              </a:rPr>
              <a:t>ISO</a:t>
            </a:r>
            <a:r>
              <a:rPr lang="ko-KR" altLang="en-US" sz="1500" b="1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500" b="1">
                <a:solidFill>
                  <a:schemeClr val="tx1"/>
                </a:solidFill>
                <a:latin typeface="+mn-ea"/>
              </a:rPr>
              <a:t>14001</a:t>
            </a:r>
            <a:endParaRPr lang="ko-KR" altLang="en-US" sz="1500" b="1">
              <a:solidFill>
                <a:schemeClr val="tx1"/>
              </a:solidFill>
              <a:latin typeface="+mn-ea"/>
            </a:endParaRPr>
          </a:p>
        </p:txBody>
      </p:sp>
      <p:sp>
        <p:nvSpPr>
          <p:cNvPr id="39" name="사각형: 둥근 모서리 38"/>
          <p:cNvSpPr/>
          <p:nvPr/>
        </p:nvSpPr>
        <p:spPr>
          <a:xfrm>
            <a:off x="9574307" y="3783904"/>
            <a:ext cx="1461246" cy="339862"/>
          </a:xfrm>
          <a:prstGeom prst="roundRect">
            <a:avLst>
              <a:gd name="adj" fmla="val 16667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500" b="1">
                <a:solidFill>
                  <a:schemeClr val="tx1"/>
                </a:solidFill>
                <a:latin typeface="+mn-ea"/>
              </a:rPr>
              <a:t>KFDA CGMP</a:t>
            </a:r>
          </a:p>
        </p:txBody>
      </p:sp>
      <p:pic>
        <p:nvPicPr>
          <p:cNvPr id="40" name="그림 39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622443" y="4149811"/>
            <a:ext cx="3582004" cy="1873723"/>
          </a:xfrm>
          <a:prstGeom prst="rect">
            <a:avLst/>
          </a:prstGeom>
        </p:spPr>
      </p:pic>
      <p:grpSp>
        <p:nvGrpSpPr>
          <p:cNvPr id="3" name="그룹 2"/>
          <p:cNvGrpSpPr/>
          <p:nvPr/>
        </p:nvGrpSpPr>
        <p:grpSpPr>
          <a:xfrm>
            <a:off x="293968" y="6554918"/>
            <a:ext cx="11755791" cy="229470"/>
            <a:chOff x="293968" y="6554918"/>
            <a:chExt cx="11755791" cy="229470"/>
          </a:xfrm>
        </p:grpSpPr>
        <p:grpSp>
          <p:nvGrpSpPr>
            <p:cNvPr id="4" name="그룹 3"/>
            <p:cNvGrpSpPr/>
            <p:nvPr/>
          </p:nvGrpSpPr>
          <p:grpSpPr>
            <a:xfrm>
              <a:off x="650240" y="6557524"/>
              <a:ext cx="11399519" cy="205787"/>
              <a:chOff x="650240" y="6557524"/>
              <a:chExt cx="11399519" cy="205787"/>
            </a:xfrm>
          </p:grpSpPr>
          <p:sp>
            <p:nvSpPr>
              <p:cNvPr id="6" name="TextBox 5"/>
              <p:cNvSpPr txBox="1"/>
              <p:nvPr/>
            </p:nvSpPr>
            <p:spPr>
              <a:xfrm>
                <a:off x="7792084" y="6557524"/>
                <a:ext cx="4257676" cy="2057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 eaLnBrk="1" hangingPunct="1">
                  <a:defRPr/>
                </a:pPr>
                <a:r>
                  <a:rPr lang="en-US" altLang="ko-KR" sz="750">
                    <a:ln w="9525">
                      <a:solidFill>
                        <a:schemeClr val="bg1">
                          <a:lumMod val="85000"/>
                          <a:alpha val="60000"/>
                        </a:schemeClr>
                      </a:solidFill>
                    </a:ln>
                    <a:solidFill>
                      <a:schemeClr val="bg1">
                        <a:lumMod val="85000"/>
                      </a:schemeClr>
                    </a:solidFill>
                    <a:latin typeface="+mj-lt"/>
                  </a:rPr>
                  <a:t>Copyright ⓒ 2024 B&amp;, All rights reserved. Terms of Use I Privacy Policy.</a:t>
                </a:r>
                <a:endParaRPr lang="en-US" altLang="ko-KR" sz="750">
                  <a:solidFill>
                    <a:schemeClr val="bg1">
                      <a:lumMod val="85000"/>
                    </a:schemeClr>
                  </a:solidFill>
                  <a:latin typeface="+mj-lt"/>
                </a:endParaRPr>
              </a:p>
            </p:txBody>
          </p:sp>
          <p:cxnSp>
            <p:nvCxnSpPr>
              <p:cNvPr id="7" name="직선 연결선 6"/>
              <p:cNvCxnSpPr/>
              <p:nvPr/>
            </p:nvCxnSpPr>
            <p:spPr>
              <a:xfrm>
                <a:off x="650240" y="6660417"/>
                <a:ext cx="7470140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5" name="그림 4"/>
            <p:cNvPicPr>
              <a:picLocks noChangeAspect="1"/>
            </p:cNvPicPr>
            <p:nvPr/>
          </p:nvPicPr>
          <p:blipFill rotWithShape="1">
            <a:blip r:embed="rId8"/>
            <a:srcRect l="42820" t="44730" r="43380" b="42160"/>
            <a:stretch>
              <a:fillRect/>
            </a:stretch>
          </p:blipFill>
          <p:spPr>
            <a:xfrm>
              <a:off x="293968" y="6554918"/>
              <a:ext cx="341746" cy="22947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375235" y="12866"/>
            <a:ext cx="1816765" cy="37798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67139" y="457200"/>
            <a:ext cx="4685898" cy="51244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3600">
                <a:solidFill>
                  <a:srgbClr val="CF8C67"/>
                </a:solidFill>
                <a:latin typeface="HY헤드라인M"/>
                <a:ea typeface="HY헤드라인M"/>
                <a:cs typeface="Aharoni"/>
              </a:defRPr>
            </a:lvl1pPr>
          </a:lstStyle>
          <a:p>
            <a:pPr lvl="0">
              <a:defRPr/>
            </a:pPr>
            <a:r>
              <a:rPr lang="en-US" altLang="ko-KR" sz="2800"/>
              <a:t>Investment Highlight</a:t>
            </a:r>
            <a:endParaRPr lang="ko-KR" altLang="en-US" sz="2800"/>
          </a:p>
        </p:txBody>
      </p:sp>
      <p:sp>
        <p:nvSpPr>
          <p:cNvPr id="4" name="TextBox 3"/>
          <p:cNvSpPr txBox="1"/>
          <p:nvPr/>
        </p:nvSpPr>
        <p:spPr>
          <a:xfrm>
            <a:off x="546653" y="1143002"/>
            <a:ext cx="79680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b="1">
                <a:solidFill>
                  <a:srgbClr val="0000FF"/>
                </a:solidFill>
              </a:rPr>
              <a:t>[</a:t>
            </a:r>
            <a:r>
              <a:rPr lang="ko-KR" altLang="en-US" b="1">
                <a:solidFill>
                  <a:srgbClr val="0000FF"/>
                </a:solidFill>
              </a:rPr>
              <a:t>일본 시장에서 안정적 고객 및 화장품 </a:t>
            </a:r>
            <a:r>
              <a:rPr lang="en-US" altLang="ko-KR" b="1">
                <a:solidFill>
                  <a:srgbClr val="0000FF"/>
                </a:solidFill>
              </a:rPr>
              <a:t>Hit </a:t>
            </a:r>
            <a:r>
              <a:rPr lang="ko-KR" altLang="en-US" b="1">
                <a:solidFill>
                  <a:srgbClr val="0000FF"/>
                </a:solidFill>
              </a:rPr>
              <a:t>경험 보유</a:t>
            </a:r>
            <a:r>
              <a:rPr lang="en-US" altLang="ko-KR" b="1">
                <a:solidFill>
                  <a:srgbClr val="0000FF"/>
                </a:solidFill>
              </a:rPr>
              <a:t>]</a:t>
            </a:r>
            <a:endParaRPr lang="ko-KR" altLang="en-US" b="1">
              <a:solidFill>
                <a:srgbClr val="0000FF"/>
              </a:solidFill>
            </a:endParaRPr>
          </a:p>
        </p:txBody>
      </p:sp>
      <p:cxnSp>
        <p:nvCxnSpPr>
          <p:cNvPr id="10" name="직선 연결선 9"/>
          <p:cNvCxnSpPr/>
          <p:nvPr/>
        </p:nvCxnSpPr>
        <p:spPr>
          <a:xfrm>
            <a:off x="508000" y="960402"/>
            <a:ext cx="4917440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961953" y="3426178"/>
            <a:ext cx="487614" cy="495809"/>
          </a:xfrm>
          <a:prstGeom prst="rect">
            <a:avLst/>
          </a:prstGeom>
        </p:spPr>
      </p:pic>
      <p:grpSp>
        <p:nvGrpSpPr>
          <p:cNvPr id="12" name="그룹 11"/>
          <p:cNvGrpSpPr/>
          <p:nvPr/>
        </p:nvGrpSpPr>
        <p:grpSpPr>
          <a:xfrm>
            <a:off x="5164496" y="1860610"/>
            <a:ext cx="1808851" cy="1064945"/>
            <a:chOff x="8219958" y="115417"/>
            <a:chExt cx="1879081" cy="1106293"/>
          </a:xfrm>
        </p:grpSpPr>
        <p:pic>
          <p:nvPicPr>
            <p:cNvPr id="13" name="그림 28"/>
            <p:cNvPicPr>
              <a:picLocks noChangeAspect="1" noChangeArrowheads="1"/>
            </p:cNvPicPr>
            <p:nvPr/>
          </p:nvPicPr>
          <p:blipFill rotWithShape="1">
            <a:blip r:embed="rId4"/>
            <a:srcRect l="5450" r="5450" b="10860"/>
            <a:stretch>
              <a:fillRect/>
            </a:stretch>
          </p:blipFill>
          <p:spPr>
            <a:xfrm>
              <a:off x="9214879" y="115417"/>
              <a:ext cx="884160" cy="1105200"/>
            </a:xfrm>
            <a:prstGeom prst="roundRect">
              <a:avLst>
                <a:gd name="adj" fmla="val 4514"/>
              </a:avLst>
            </a:prstGeom>
            <a:noFill/>
            <a:ln>
              <a:noFill/>
            </a:ln>
          </p:spPr>
        </p:pic>
        <p:pic>
          <p:nvPicPr>
            <p:cNvPr id="14" name="그림 29"/>
            <p:cNvPicPr>
              <a:picLocks noChangeAspect="1" noChangeArrowheads="1"/>
            </p:cNvPicPr>
            <p:nvPr/>
          </p:nvPicPr>
          <p:blipFill rotWithShape="1">
            <a:blip r:embed="rId5"/>
            <a:srcRect l="15590" t="1420" r="6760" b="2050"/>
            <a:stretch>
              <a:fillRect/>
            </a:stretch>
          </p:blipFill>
          <p:spPr>
            <a:xfrm>
              <a:off x="8219958" y="115417"/>
              <a:ext cx="885034" cy="1106293"/>
            </a:xfrm>
            <a:prstGeom prst="roundRect">
              <a:avLst>
                <a:gd name="adj" fmla="val 4129"/>
              </a:avLst>
            </a:prstGeom>
            <a:noFill/>
            <a:ln>
              <a:noFill/>
            </a:ln>
          </p:spPr>
        </p:pic>
      </p:grpSp>
      <p:sp>
        <p:nvSpPr>
          <p:cNvPr id="15" name="TextBox 14"/>
          <p:cNvSpPr txBox="1"/>
          <p:nvPr/>
        </p:nvSpPr>
        <p:spPr>
          <a:xfrm>
            <a:off x="564195" y="1557965"/>
            <a:ext cx="4291978" cy="2380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  <a:defRPr/>
            </a:pPr>
            <a:r>
              <a:rPr lang="ko-KR" altLang="en-US" sz="1100">
                <a:ln w="9525">
                  <a:solidFill>
                    <a:schemeClr val="tx1">
                      <a:lumMod val="85000"/>
                      <a:lumOff val="15000"/>
                      <a:alpha val="3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Light"/>
                <a:ea typeface="G마켓 산스 TTF Light"/>
              </a:rPr>
              <a:t>㈜비엔은 일본시장내 최고의 화장품으로 ㈜비엔의 제품이 인정 받았으며  </a:t>
            </a:r>
            <a:r>
              <a:rPr lang="ko-KR" altLang="en-US" sz="1600" u="sng">
                <a:ln w="9525">
                  <a:solidFill>
                    <a:srgbClr val="DB2128">
                      <a:alpha val="35000"/>
                    </a:srgbClr>
                  </a:solidFill>
                </a:ln>
                <a:solidFill>
                  <a:srgbClr val="DB2128"/>
                </a:solidFill>
                <a:latin typeface="G마켓 산스 TTF Medium"/>
                <a:ea typeface="G마켓 산스 TTF Medium"/>
              </a:rPr>
              <a:t>야후 재팬 선정  </a:t>
            </a:r>
            <a:r>
              <a:rPr lang="en-US" altLang="ko-KR" sz="1600" u="sng">
                <a:ln w="9525">
                  <a:solidFill>
                    <a:srgbClr val="DB2128">
                      <a:alpha val="35000"/>
                    </a:srgbClr>
                  </a:solidFill>
                </a:ln>
                <a:solidFill>
                  <a:srgbClr val="DB2128"/>
                </a:solidFill>
                <a:latin typeface="G마켓 산스 TTF Medium"/>
                <a:ea typeface="G마켓 산스 TTF Medium"/>
              </a:rPr>
              <a:t>2020</a:t>
            </a:r>
            <a:r>
              <a:rPr lang="ko-KR" altLang="en-US" sz="1600" u="sng">
                <a:ln w="9525">
                  <a:solidFill>
                    <a:srgbClr val="DB2128">
                      <a:alpha val="35000"/>
                    </a:srgbClr>
                  </a:solidFill>
                </a:ln>
                <a:solidFill>
                  <a:srgbClr val="DB2128"/>
                </a:solidFill>
                <a:latin typeface="G마켓 산스 TTF Medium"/>
                <a:ea typeface="G마켓 산스 TTF Medium"/>
              </a:rPr>
              <a:t>년 올해의 히트상품 및 소비자 만족도 </a:t>
            </a:r>
            <a:r>
              <a:rPr lang="en-US" altLang="ko-KR" sz="1600" u="sng">
                <a:ln w="9525">
                  <a:solidFill>
                    <a:srgbClr val="DB2128">
                      <a:alpha val="35000"/>
                    </a:srgbClr>
                  </a:solidFill>
                </a:ln>
                <a:solidFill>
                  <a:srgbClr val="DB2128"/>
                </a:solidFill>
                <a:latin typeface="G마켓 산스 TTF Medium"/>
                <a:ea typeface="G마켓 산스 TTF Medium"/>
              </a:rPr>
              <a:t>1</a:t>
            </a:r>
            <a:r>
              <a:rPr lang="ko-KR" altLang="en-US" sz="1600" u="sng">
                <a:ln w="9525">
                  <a:solidFill>
                    <a:srgbClr val="DB2128">
                      <a:alpha val="35000"/>
                    </a:srgbClr>
                  </a:solidFill>
                </a:ln>
                <a:solidFill>
                  <a:srgbClr val="DB2128"/>
                </a:solidFill>
                <a:latin typeface="G마켓 산스 TTF Medium"/>
                <a:ea typeface="G마켓 산스 TTF Medium"/>
              </a:rPr>
              <a:t>위를 차지하였다</a:t>
            </a:r>
            <a:r>
              <a:rPr lang="en-US" altLang="ko-KR" sz="1600" u="sng">
                <a:ln w="9525">
                  <a:solidFill>
                    <a:srgbClr val="DB2128">
                      <a:alpha val="35000"/>
                    </a:srgbClr>
                  </a:solidFill>
                </a:ln>
                <a:solidFill>
                  <a:srgbClr val="DB2128"/>
                </a:solidFill>
                <a:latin typeface="G마켓 산스 TTF Medium"/>
                <a:ea typeface="G마켓 산스 TTF Medium"/>
              </a:rPr>
              <a:t>.</a:t>
            </a:r>
          </a:p>
          <a:p>
            <a:pPr algn="just">
              <a:lnSpc>
                <a:spcPct val="120000"/>
              </a:lnSpc>
              <a:defRPr/>
            </a:pPr>
            <a:endParaRPr lang="ko-KR" altLang="en-US" sz="1100">
              <a:ln w="9525">
                <a:solidFill>
                  <a:srgbClr val="222A35">
                    <a:alpha val="35000"/>
                  </a:srgbClr>
                </a:solidFill>
              </a:ln>
              <a:solidFill>
                <a:srgbClr val="222A35"/>
              </a:solidFill>
              <a:latin typeface="G마켓 산스 TTF Medium"/>
              <a:ea typeface="G마켓 산스 TTF Medium"/>
            </a:endParaRPr>
          </a:p>
          <a:p>
            <a:pPr algn="just">
              <a:lnSpc>
                <a:spcPct val="120000"/>
              </a:lnSpc>
              <a:defRPr/>
            </a:pPr>
            <a:r>
              <a:rPr lang="ko-KR" altLang="en-US" sz="1100">
                <a:ln w="9525">
                  <a:solidFill>
                    <a:schemeClr val="tx1">
                      <a:lumMod val="85000"/>
                      <a:lumOff val="15000"/>
                      <a:alpha val="3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Light"/>
                <a:ea typeface="G마켓 산스 TTF Light"/>
              </a:rPr>
              <a:t>통계집계 이래 다국적 메이져 회사를 제외한 </a:t>
            </a:r>
          </a:p>
          <a:p>
            <a:pPr algn="just">
              <a:lnSpc>
                <a:spcPct val="120000"/>
              </a:lnSpc>
              <a:defRPr/>
            </a:pPr>
            <a:r>
              <a:rPr lang="ko-KR" altLang="en-US" sz="1600">
                <a:ln w="9525">
                  <a:solidFill>
                    <a:srgbClr val="222A35">
                      <a:alpha val="35000"/>
                    </a:srgbClr>
                  </a:solidFill>
                </a:ln>
                <a:solidFill>
                  <a:srgbClr val="222A35"/>
                </a:solidFill>
                <a:latin typeface="G마켓 산스 TTF Medium"/>
                <a:ea typeface="G마켓 산스 TTF Medium"/>
              </a:rPr>
              <a:t>중소기업 제품으로는 최초이다</a:t>
            </a:r>
            <a:r>
              <a:rPr lang="en-US" altLang="ko-KR" sz="1600">
                <a:ln w="9525">
                  <a:solidFill>
                    <a:srgbClr val="222A35">
                      <a:alpha val="35000"/>
                    </a:srgbClr>
                  </a:solidFill>
                </a:ln>
                <a:solidFill>
                  <a:srgbClr val="222A35"/>
                </a:solidFill>
                <a:latin typeface="G마켓 산스 TTF Medium"/>
                <a:ea typeface="G마켓 산스 TTF Medium"/>
              </a:rPr>
              <a:t>.</a:t>
            </a:r>
            <a:r>
              <a:rPr lang="ko-KR" altLang="en-US" sz="1100">
                <a:ln w="9525">
                  <a:solidFill>
                    <a:srgbClr val="222A35">
                      <a:alpha val="35000"/>
                    </a:srgbClr>
                  </a:solidFill>
                </a:ln>
                <a:solidFill>
                  <a:srgbClr val="222A35"/>
                </a:solidFill>
                <a:latin typeface="G마켓 산스 TTF Medium"/>
                <a:ea typeface="G마켓 산스 TTF Medium"/>
              </a:rPr>
              <a:t> </a:t>
            </a:r>
          </a:p>
          <a:p>
            <a:pPr algn="just">
              <a:lnSpc>
                <a:spcPct val="120000"/>
              </a:lnSpc>
              <a:defRPr/>
            </a:pPr>
            <a:r>
              <a:rPr lang="en-US" altLang="ko-KR" sz="800">
                <a:ln w="9525">
                  <a:solidFill>
                    <a:schemeClr val="tx1">
                      <a:lumMod val="85000"/>
                      <a:lumOff val="15000"/>
                      <a:alpha val="3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Light"/>
                <a:ea typeface="G마켓 산스 TTF Light"/>
              </a:rPr>
              <a:t>(</a:t>
            </a:r>
            <a:r>
              <a:rPr lang="ko-KR" altLang="en-US" sz="800">
                <a:ln w="9525">
                  <a:solidFill>
                    <a:schemeClr val="tx1">
                      <a:lumMod val="85000"/>
                      <a:lumOff val="15000"/>
                      <a:alpha val="3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Light"/>
                <a:ea typeface="G마켓 산스 TTF Light"/>
              </a:rPr>
              <a:t>앞 전 해에는 시세이도</a:t>
            </a:r>
            <a:r>
              <a:rPr lang="en-US" altLang="ko-KR" sz="800">
                <a:ln w="9525">
                  <a:solidFill>
                    <a:schemeClr val="tx1">
                      <a:lumMod val="85000"/>
                      <a:lumOff val="15000"/>
                      <a:alpha val="3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Light"/>
                <a:ea typeface="G마켓 산스 TTF Light"/>
              </a:rPr>
              <a:t>, </a:t>
            </a:r>
            <a:r>
              <a:rPr lang="ko-KR" altLang="en-US" sz="800">
                <a:ln w="9525">
                  <a:solidFill>
                    <a:schemeClr val="tx1">
                      <a:lumMod val="85000"/>
                      <a:lumOff val="15000"/>
                      <a:alpha val="3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Light"/>
                <a:ea typeface="G마켓 산스 TTF Light"/>
              </a:rPr>
              <a:t>랑콤</a:t>
            </a:r>
            <a:r>
              <a:rPr lang="en-US" altLang="ko-KR" sz="800">
                <a:ln w="9525">
                  <a:solidFill>
                    <a:schemeClr val="tx1">
                      <a:lumMod val="85000"/>
                      <a:lumOff val="15000"/>
                      <a:alpha val="3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Light"/>
                <a:ea typeface="G마켓 산스 TTF Light"/>
              </a:rPr>
              <a:t>, SK2 </a:t>
            </a:r>
            <a:r>
              <a:rPr lang="ko-KR" altLang="en-US" sz="800">
                <a:ln w="9525">
                  <a:solidFill>
                    <a:schemeClr val="tx1">
                      <a:lumMod val="85000"/>
                      <a:lumOff val="15000"/>
                      <a:alpha val="3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Light"/>
                <a:ea typeface="G마켓 산스 TTF Light"/>
              </a:rPr>
              <a:t>등의 브랜드가 선정</a:t>
            </a:r>
            <a:r>
              <a:rPr lang="en-US" altLang="ko-KR" sz="800">
                <a:ln w="9525">
                  <a:solidFill>
                    <a:schemeClr val="tx1">
                      <a:lumMod val="85000"/>
                      <a:lumOff val="15000"/>
                      <a:alpha val="3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Light"/>
                <a:ea typeface="G마켓 산스 TTF Light"/>
              </a:rPr>
              <a:t>.)</a:t>
            </a:r>
          </a:p>
          <a:p>
            <a:pPr algn="just">
              <a:lnSpc>
                <a:spcPct val="120000"/>
              </a:lnSpc>
              <a:defRPr/>
            </a:pPr>
            <a:endParaRPr lang="en-US" altLang="ko-KR" sz="900">
              <a:ln w="9525">
                <a:solidFill>
                  <a:schemeClr val="tx1">
                    <a:lumMod val="85000"/>
                    <a:lumOff val="15000"/>
                    <a:alpha val="3500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G마켓 산스 TTF Light"/>
              <a:ea typeface="G마켓 산스 TTF Light"/>
            </a:endParaRPr>
          </a:p>
          <a:p>
            <a:pPr algn="just">
              <a:lnSpc>
                <a:spcPct val="120000"/>
              </a:lnSpc>
              <a:defRPr/>
            </a:pPr>
            <a:r>
              <a:rPr lang="ko-KR" altLang="en-US" sz="1100">
                <a:ln w="9525">
                  <a:solidFill>
                    <a:schemeClr val="tx1">
                      <a:lumMod val="85000"/>
                      <a:lumOff val="15000"/>
                      <a:alpha val="3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Light"/>
                <a:ea typeface="G마켓 산스 TTF Light"/>
              </a:rPr>
              <a:t>㈜비엔은 일본 시장내 </a:t>
            </a:r>
            <a:r>
              <a:rPr lang="en-US" altLang="ko-KR" sz="1600">
                <a:ln w="9525">
                  <a:solidFill>
                    <a:schemeClr val="tx1">
                      <a:lumMod val="85000"/>
                      <a:lumOff val="15000"/>
                      <a:alpha val="35000"/>
                    </a:schemeClr>
                  </a:solidFill>
                </a:ln>
                <a:solidFill>
                  <a:srgbClr val="FF0000"/>
                </a:solidFill>
                <a:latin typeface="G마켓 산스 TTF Medium"/>
                <a:ea typeface="G마켓 산스 TTF Medium"/>
              </a:rPr>
              <a:t>47</a:t>
            </a:r>
            <a:r>
              <a:rPr lang="ko-KR" altLang="en-US" sz="1600">
                <a:ln w="9525">
                  <a:solidFill>
                    <a:schemeClr val="tx1">
                      <a:lumMod val="85000"/>
                      <a:lumOff val="15000"/>
                      <a:alpha val="35000"/>
                    </a:schemeClr>
                  </a:solidFill>
                </a:ln>
                <a:solidFill>
                  <a:srgbClr val="FF0000"/>
                </a:solidFill>
                <a:latin typeface="G마켓 산스 TTF Medium"/>
                <a:ea typeface="G마켓 산스 TTF Medium"/>
              </a:rPr>
              <a:t>종 제품을 출시하였으며</a:t>
            </a:r>
            <a:r>
              <a:rPr lang="en-US" altLang="ko-KR" sz="1100">
                <a:ln w="9525">
                  <a:solidFill>
                    <a:schemeClr val="tx1">
                      <a:lumMod val="85000"/>
                      <a:lumOff val="15000"/>
                      <a:alpha val="3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Light"/>
                <a:ea typeface="G마켓 산스 TTF Light"/>
              </a:rPr>
              <a:t>, </a:t>
            </a:r>
          </a:p>
          <a:p>
            <a:pPr algn="just">
              <a:lnSpc>
                <a:spcPct val="120000"/>
              </a:lnSpc>
              <a:defRPr/>
            </a:pPr>
            <a:r>
              <a:rPr lang="ko-KR" altLang="en-US" sz="1100">
                <a:ln w="9525">
                  <a:solidFill>
                    <a:schemeClr val="tx1">
                      <a:lumMod val="85000"/>
                      <a:lumOff val="15000"/>
                      <a:alpha val="3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Light"/>
                <a:ea typeface="G마켓 산스 TTF Light"/>
              </a:rPr>
              <a:t>현재도 일본 시장에 맞는 제품을 연구를 통해 개발중에 있다</a:t>
            </a:r>
            <a:r>
              <a:rPr lang="en-US" altLang="ko-KR" sz="1100">
                <a:ln w="9525">
                  <a:solidFill>
                    <a:schemeClr val="tx1">
                      <a:lumMod val="85000"/>
                      <a:lumOff val="15000"/>
                      <a:alpha val="3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Light"/>
                <a:ea typeface="G마켓 산스 TTF Light"/>
              </a:rPr>
              <a:t>.</a:t>
            </a:r>
            <a:endParaRPr lang="en-US" altLang="ko-KR" sz="1600">
              <a:ln w="9525">
                <a:solidFill>
                  <a:schemeClr val="tx1">
                    <a:lumMod val="85000"/>
                    <a:lumOff val="15000"/>
                    <a:alpha val="3500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G마켓 산스 TTF Light"/>
              <a:ea typeface="G마켓 산스 TTF Light"/>
            </a:endParaRPr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5375456" y="3008601"/>
            <a:ext cx="341132" cy="970600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5904266" y="3330306"/>
            <a:ext cx="1241171" cy="668631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5778810" y="3040310"/>
            <a:ext cx="179521" cy="907181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6101223" y="3074373"/>
            <a:ext cx="1002968" cy="192350"/>
          </a:xfrm>
          <a:prstGeom prst="rect">
            <a:avLst/>
          </a:prstGeom>
        </p:spPr>
      </p:pic>
      <p:grpSp>
        <p:nvGrpSpPr>
          <p:cNvPr id="20" name="그룹 19"/>
          <p:cNvGrpSpPr/>
          <p:nvPr/>
        </p:nvGrpSpPr>
        <p:grpSpPr>
          <a:xfrm>
            <a:off x="2948493" y="4487340"/>
            <a:ext cx="1911860" cy="652783"/>
            <a:chOff x="8437037" y="1475309"/>
            <a:chExt cx="3231559" cy="1103377"/>
          </a:xfrm>
        </p:grpSpPr>
        <p:sp>
          <p:nvSpPr>
            <p:cNvPr id="21" name="TextBox 20"/>
            <p:cNvSpPr txBox="1"/>
            <p:nvPr/>
          </p:nvSpPr>
          <p:spPr>
            <a:xfrm>
              <a:off x="8474956" y="1860775"/>
              <a:ext cx="3193639" cy="7179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>
                <a:lnSpc>
                  <a:spcPct val="120000"/>
                </a:lnSpc>
                <a:defRPr/>
              </a:pPr>
              <a:r>
                <a:rPr lang="ko-KR" altLang="en-US" sz="900">
                  <a:ln w="9525">
                    <a:solidFill>
                      <a:schemeClr val="tx1">
                        <a:lumMod val="85000"/>
                        <a:lumOff val="15000"/>
                        <a:alpha val="3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G마켓 산스 TTF Medium"/>
                  <a:ea typeface="G마켓 산스 TTF Medium"/>
                </a:rPr>
                <a:t>일본 내 </a:t>
              </a:r>
              <a:r>
                <a:rPr lang="en-US" altLang="ko-KR" sz="900">
                  <a:ln w="9525">
                    <a:solidFill>
                      <a:schemeClr val="tx1">
                        <a:lumMod val="85000"/>
                        <a:lumOff val="15000"/>
                        <a:alpha val="3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G마켓 산스 TTF Medium"/>
                  <a:ea typeface="G마켓 산스 TTF Medium"/>
                </a:rPr>
                <a:t>1</a:t>
              </a:r>
              <a:r>
                <a:rPr lang="ko-KR" altLang="en-US" sz="900">
                  <a:ln w="9525">
                    <a:solidFill>
                      <a:schemeClr val="tx1">
                        <a:lumMod val="85000"/>
                        <a:lumOff val="15000"/>
                        <a:alpha val="3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G마켓 산스 TTF Medium"/>
                  <a:ea typeface="G마켓 산스 TTF Medium"/>
                </a:rPr>
                <a:t>위 잡지 </a:t>
              </a:r>
              <a:r>
                <a:rPr lang="en-US" altLang="ko-KR" sz="900">
                  <a:ln w="9525">
                    <a:solidFill>
                      <a:schemeClr val="tx1">
                        <a:lumMod val="85000"/>
                        <a:lumOff val="15000"/>
                        <a:alpha val="3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G마켓 산스 TTF Medium"/>
                  <a:ea typeface="G마켓 산스 TTF Medium"/>
                </a:rPr>
                <a:t>(B-story)</a:t>
              </a:r>
              <a:r>
                <a:rPr lang="ko-KR" altLang="en-US" sz="900">
                  <a:ln w="9525">
                    <a:solidFill>
                      <a:schemeClr val="tx1">
                        <a:lumMod val="85000"/>
                        <a:lumOff val="15000"/>
                        <a:alpha val="3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G마켓 산스 TTF Light"/>
                  <a:ea typeface="G마켓 산스 TTF Light"/>
                </a:rPr>
                <a:t>등</a:t>
              </a:r>
            </a:p>
            <a:p>
              <a:pPr algn="just">
                <a:lnSpc>
                  <a:spcPct val="120000"/>
                </a:lnSpc>
                <a:defRPr/>
              </a:pPr>
              <a:r>
                <a:rPr lang="ko-KR" altLang="en-US" sz="900">
                  <a:ln w="9525">
                    <a:solidFill>
                      <a:schemeClr val="tx1">
                        <a:lumMod val="85000"/>
                        <a:lumOff val="15000"/>
                        <a:alpha val="3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G마켓 산스 TTF Light"/>
                  <a:ea typeface="G마켓 산스 TTF Light"/>
                </a:rPr>
                <a:t>을 통한 마케팅 및 유통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8437036" y="1475308"/>
              <a:ext cx="2516585" cy="44577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>
                <a:lnSpc>
                  <a:spcPct val="120000"/>
                </a:lnSpc>
                <a:defRPr/>
              </a:pPr>
              <a:r>
                <a:rPr lang="en-US" altLang="ko-KR" sz="1000">
                  <a:solidFill>
                    <a:srgbClr val="181E26"/>
                  </a:solidFill>
                  <a:latin typeface="G마켓 산스 TTF Bold"/>
                  <a:ea typeface="G마켓 산스 TTF Bold"/>
                </a:rPr>
                <a:t>SPICARE, V3</a:t>
              </a:r>
            </a:p>
          </p:txBody>
        </p:sp>
      </p:grpSp>
      <p:grpSp>
        <p:nvGrpSpPr>
          <p:cNvPr id="23" name="그룹 22"/>
          <p:cNvGrpSpPr/>
          <p:nvPr/>
        </p:nvGrpSpPr>
        <p:grpSpPr>
          <a:xfrm>
            <a:off x="596922" y="4487340"/>
            <a:ext cx="2388702" cy="653384"/>
            <a:chOff x="8455360" y="1403155"/>
            <a:chExt cx="4037550" cy="1104394"/>
          </a:xfrm>
        </p:grpSpPr>
        <p:sp>
          <p:nvSpPr>
            <p:cNvPr id="24" name="TextBox 23"/>
            <p:cNvSpPr txBox="1"/>
            <p:nvPr/>
          </p:nvSpPr>
          <p:spPr>
            <a:xfrm>
              <a:off x="8461650" y="1789638"/>
              <a:ext cx="4031260" cy="7179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>
                <a:lnSpc>
                  <a:spcPct val="120000"/>
                </a:lnSpc>
                <a:defRPr/>
              </a:pPr>
              <a:r>
                <a:rPr lang="ko-KR" altLang="en-US" sz="900">
                  <a:ln w="9525">
                    <a:solidFill>
                      <a:schemeClr val="tx1">
                        <a:lumMod val="85000"/>
                        <a:lumOff val="15000"/>
                        <a:alpha val="3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G마켓 산스 TTF Light"/>
                  <a:ea typeface="G마켓 산스 TTF Light"/>
                </a:rPr>
                <a:t>전국 </a:t>
              </a:r>
              <a:r>
                <a:rPr lang="en-US" altLang="ko-KR" sz="900">
                  <a:ln w="9525">
                    <a:solidFill>
                      <a:schemeClr val="tx1">
                        <a:lumMod val="85000"/>
                        <a:lumOff val="15000"/>
                        <a:alpha val="3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G마켓 산스 TTF Light"/>
                  <a:ea typeface="G마켓 산스 TTF Light"/>
                </a:rPr>
                <a:t>2,000</a:t>
              </a:r>
              <a:r>
                <a:rPr lang="ko-KR" altLang="en-US" sz="900">
                  <a:ln w="9525">
                    <a:solidFill>
                      <a:schemeClr val="tx1">
                        <a:lumMod val="85000"/>
                        <a:lumOff val="15000"/>
                        <a:alpha val="3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G마켓 산스 TTF Light"/>
                  <a:ea typeface="G마켓 산스 TTF Light"/>
                </a:rPr>
                <a:t>개 이상의 살롱 유통</a:t>
              </a:r>
            </a:p>
            <a:p>
              <a:pPr algn="just">
                <a:lnSpc>
                  <a:spcPct val="120000"/>
                </a:lnSpc>
                <a:defRPr/>
              </a:pPr>
              <a:r>
                <a:rPr lang="ko-KR" altLang="en-US" sz="900">
                  <a:ln w="9525">
                    <a:solidFill>
                      <a:schemeClr val="tx1">
                        <a:lumMod val="85000"/>
                        <a:lumOff val="15000"/>
                        <a:alpha val="3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G마켓 산스 TTF Light"/>
                  <a:ea typeface="G마켓 산스 TTF Light"/>
                </a:rPr>
                <a:t>정기적인 세미나 및 아카데미 진행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8455360" y="1403154"/>
              <a:ext cx="1553398" cy="44577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just">
                <a:lnSpc>
                  <a:spcPct val="120000"/>
                </a:lnSpc>
                <a:defRPr/>
              </a:pPr>
              <a:r>
                <a:rPr lang="en-US" altLang="ko-KR" sz="1000">
                  <a:solidFill>
                    <a:srgbClr val="181E26"/>
                  </a:solidFill>
                  <a:latin typeface="G마켓 산스 TTF Bold"/>
                  <a:ea typeface="G마켓 산스 TTF Bold"/>
                </a:rPr>
                <a:t>VOS</a:t>
              </a:r>
            </a:p>
          </p:txBody>
        </p:sp>
      </p:grpSp>
      <p:pic>
        <p:nvPicPr>
          <p:cNvPr id="26" name="그림 27"/>
          <p:cNvPicPr>
            <a:picLocks noChangeAspect="1" noChangeArrowheads="1"/>
          </p:cNvPicPr>
          <p:nvPr/>
        </p:nvPicPr>
        <p:blipFill rotWithShape="1">
          <a:blip r:embed="rId10"/>
          <a:srcRect l="1600" t="1580" r="13080" b="13100"/>
          <a:stretch>
            <a:fillRect/>
          </a:stretch>
        </p:blipFill>
        <p:spPr>
          <a:xfrm>
            <a:off x="682637" y="5214336"/>
            <a:ext cx="882286" cy="66171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그림 34"/>
          <p:cNvPicPr>
            <a:picLocks noChangeAspect="1" noChangeArrowheads="1"/>
          </p:cNvPicPr>
          <p:nvPr/>
        </p:nvPicPr>
        <p:blipFill rotWithShape="1">
          <a:blip r:embed="rId11"/>
          <a:srcRect l="880" t="14320" r="23900" b="10450"/>
          <a:stretch>
            <a:fillRect/>
          </a:stretch>
        </p:blipFill>
        <p:spPr>
          <a:xfrm>
            <a:off x="1564923" y="5214336"/>
            <a:ext cx="878972" cy="66171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그림 31"/>
          <p:cNvPicPr>
            <a:picLocks noChangeAspect="1" noChangeArrowheads="1"/>
          </p:cNvPicPr>
          <p:nvPr/>
        </p:nvPicPr>
        <p:blipFill rotWithShape="1">
          <a:blip r:embed="rId12"/>
          <a:srcRect l="200" b="410"/>
          <a:stretch>
            <a:fillRect/>
          </a:stretch>
        </p:blipFill>
        <p:spPr>
          <a:xfrm>
            <a:off x="3050614" y="5214341"/>
            <a:ext cx="882286" cy="661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그림 26"/>
          <p:cNvPicPr>
            <a:picLocks noChangeAspect="1" noChangeArrowheads="1"/>
          </p:cNvPicPr>
          <p:nvPr/>
        </p:nvPicPr>
        <p:blipFill rotWithShape="1">
          <a:blip r:embed="rId13"/>
          <a:srcRect t="1090" r="5290" b="4200"/>
          <a:stretch>
            <a:fillRect/>
          </a:stretch>
        </p:blipFill>
        <p:spPr>
          <a:xfrm>
            <a:off x="3928500" y="5214335"/>
            <a:ext cx="876590" cy="66171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그림 32"/>
          <p:cNvPicPr>
            <a:picLocks noChangeAspect="1" noChangeArrowheads="1"/>
          </p:cNvPicPr>
          <p:nvPr/>
        </p:nvPicPr>
        <p:blipFill rotWithShape="1">
          <a:blip r:embed="rId14"/>
          <a:srcRect l="4650" t="28510" r="5420" b="11800"/>
          <a:stretch>
            <a:fillRect/>
          </a:stretch>
        </p:blipFill>
        <p:spPr>
          <a:xfrm>
            <a:off x="5209526" y="5216846"/>
            <a:ext cx="880373" cy="661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그림 37"/>
          <p:cNvPicPr>
            <a:picLocks noChangeAspect="1" noChangeArrowheads="1"/>
          </p:cNvPicPr>
          <p:nvPr/>
        </p:nvPicPr>
        <p:blipFill rotWithShape="1">
          <a:blip r:embed="rId15"/>
          <a:srcRect t="8100"/>
          <a:stretch>
            <a:fillRect/>
          </a:stretch>
        </p:blipFill>
        <p:spPr>
          <a:xfrm>
            <a:off x="6098050" y="5213529"/>
            <a:ext cx="878972" cy="66252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그림 31"/>
          <p:cNvPicPr>
            <a:picLocks noChangeAspect="1"/>
          </p:cNvPicPr>
          <p:nvPr/>
        </p:nvPicPr>
        <p:blipFill rotWithShape="1">
          <a:blip r:embed="rId16"/>
          <a:srcRect l="6630" r="3200" b="11000"/>
          <a:stretch>
            <a:fillRect/>
          </a:stretch>
        </p:blipFill>
        <p:spPr>
          <a:xfrm>
            <a:off x="7288062" y="582204"/>
            <a:ext cx="4629618" cy="5711825"/>
          </a:xfrm>
          <a:prstGeom prst="rect">
            <a:avLst/>
          </a:prstGeom>
        </p:spPr>
      </p:pic>
      <p:grpSp>
        <p:nvGrpSpPr>
          <p:cNvPr id="5" name="그룹 4"/>
          <p:cNvGrpSpPr/>
          <p:nvPr/>
        </p:nvGrpSpPr>
        <p:grpSpPr>
          <a:xfrm>
            <a:off x="293968" y="6554918"/>
            <a:ext cx="11755791" cy="229470"/>
            <a:chOff x="293968" y="6554918"/>
            <a:chExt cx="11755791" cy="229470"/>
          </a:xfrm>
        </p:grpSpPr>
        <p:grpSp>
          <p:nvGrpSpPr>
            <p:cNvPr id="6" name="그룹 5"/>
            <p:cNvGrpSpPr/>
            <p:nvPr/>
          </p:nvGrpSpPr>
          <p:grpSpPr>
            <a:xfrm>
              <a:off x="650240" y="6557524"/>
              <a:ext cx="11399519" cy="205787"/>
              <a:chOff x="650240" y="6557524"/>
              <a:chExt cx="11399519" cy="205787"/>
            </a:xfrm>
          </p:grpSpPr>
          <p:sp>
            <p:nvSpPr>
              <p:cNvPr id="8" name="TextBox 7"/>
              <p:cNvSpPr txBox="1"/>
              <p:nvPr/>
            </p:nvSpPr>
            <p:spPr>
              <a:xfrm>
                <a:off x="7792084" y="6557524"/>
                <a:ext cx="4257676" cy="2057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 eaLnBrk="1" hangingPunct="1">
                  <a:defRPr/>
                </a:pPr>
                <a:r>
                  <a:rPr lang="en-US" altLang="ko-KR" sz="750">
                    <a:ln w="9525">
                      <a:solidFill>
                        <a:schemeClr val="bg1">
                          <a:lumMod val="85000"/>
                          <a:alpha val="60000"/>
                        </a:schemeClr>
                      </a:solidFill>
                    </a:ln>
                    <a:solidFill>
                      <a:schemeClr val="bg1">
                        <a:lumMod val="85000"/>
                      </a:schemeClr>
                    </a:solidFill>
                    <a:latin typeface="+mj-lt"/>
                  </a:rPr>
                  <a:t>Copyright ⓒ 2024 B&amp;, All rights reserved. Terms of Use I Privacy Policy.</a:t>
                </a:r>
                <a:endParaRPr lang="en-US" altLang="ko-KR" sz="750">
                  <a:solidFill>
                    <a:schemeClr val="bg1">
                      <a:lumMod val="85000"/>
                    </a:schemeClr>
                  </a:solidFill>
                  <a:latin typeface="+mj-lt"/>
                </a:endParaRPr>
              </a:p>
            </p:txBody>
          </p:sp>
          <p:cxnSp>
            <p:nvCxnSpPr>
              <p:cNvPr id="9" name="직선 연결선 8"/>
              <p:cNvCxnSpPr/>
              <p:nvPr/>
            </p:nvCxnSpPr>
            <p:spPr>
              <a:xfrm>
                <a:off x="650240" y="6660417"/>
                <a:ext cx="7470140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7" name="그림 6"/>
            <p:cNvPicPr>
              <a:picLocks noChangeAspect="1"/>
            </p:cNvPicPr>
            <p:nvPr/>
          </p:nvPicPr>
          <p:blipFill rotWithShape="1">
            <a:blip r:embed="rId17"/>
            <a:srcRect l="42820" t="44730" r="43380" b="42160"/>
            <a:stretch>
              <a:fillRect/>
            </a:stretch>
          </p:blipFill>
          <p:spPr>
            <a:xfrm>
              <a:off x="293968" y="6554918"/>
              <a:ext cx="341746" cy="22947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이등변 삼각형 9"/>
          <p:cNvSpPr/>
          <p:nvPr/>
        </p:nvSpPr>
        <p:spPr>
          <a:xfrm>
            <a:off x="0" y="4440968"/>
            <a:ext cx="5478815" cy="2417032"/>
          </a:xfrm>
          <a:prstGeom prst="triangle">
            <a:avLst>
              <a:gd name="adj" fmla="val 0"/>
            </a:avLst>
          </a:prstGeom>
          <a:solidFill>
            <a:srgbClr val="F8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12" name="Picture 6" descr="규수셀 허브스킨필링 원료 스피큘 - Spongilla Lacustris - kakaoTV"/>
          <p:cNvPicPr>
            <a:picLocks noChangeAspect="1" noChangeArrowheads="1"/>
          </p:cNvPicPr>
          <p:nvPr/>
        </p:nvPicPr>
        <p:blipFill rotWithShape="1">
          <a:blip r:embed="rId2"/>
          <a:srcRect l="19380" t="7330" r="28640" b="5750"/>
          <a:stretch>
            <a:fillRect/>
          </a:stretch>
        </p:blipFill>
        <p:spPr>
          <a:xfrm>
            <a:off x="2999927" y="1277164"/>
            <a:ext cx="1647194" cy="1548328"/>
          </a:xfrm>
          <a:prstGeom prst="rect">
            <a:avLst/>
          </a:prstGeom>
          <a:noFill/>
          <a:effectLst/>
        </p:spPr>
      </p:pic>
      <p:grpSp>
        <p:nvGrpSpPr>
          <p:cNvPr id="22" name="그룹 21"/>
          <p:cNvGrpSpPr/>
          <p:nvPr/>
        </p:nvGrpSpPr>
        <p:grpSpPr>
          <a:xfrm>
            <a:off x="5390428" y="1200190"/>
            <a:ext cx="2829088" cy="720552"/>
            <a:chOff x="5313579" y="4018975"/>
            <a:chExt cx="4839706" cy="1410498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26" name="모서리가 둥근 직사각형 25"/>
            <p:cNvSpPr/>
            <p:nvPr/>
          </p:nvSpPr>
          <p:spPr>
            <a:xfrm>
              <a:off x="5313579" y="4018976"/>
              <a:ext cx="4839706" cy="1410497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pic>
          <p:nvPicPr>
            <p:cNvPr id="27" name="그림 31" descr="D:\3_케이엔\각종이미지\가상패키지\스피큘_자료\이미지1 copy.jpg"/>
            <p:cNvPicPr>
              <a:picLocks noChangeAspect="1" noChangeArrowheads="1"/>
            </p:cNvPicPr>
            <p:nvPr/>
          </p:nvPicPr>
          <p:blipFill rotWithShape="1">
            <a:blip r:embed="rId3"/>
            <a:srcRect l="-6410" t="3220" r="-6640" b="31100"/>
            <a:stretch>
              <a:fillRect/>
            </a:stretch>
          </p:blipFill>
          <p:spPr>
            <a:xfrm>
              <a:off x="5313579" y="4018975"/>
              <a:ext cx="4839706" cy="1410497"/>
            </a:xfrm>
            <a:prstGeom prst="roundRect">
              <a:avLst>
                <a:gd name="adj" fmla="val 50000"/>
              </a:avLst>
            </a:prstGeom>
            <a:noFill/>
            <a:ln w="9525">
              <a:noFill/>
              <a:prstDash val="dashDot"/>
              <a:miter/>
            </a:ln>
          </p:spPr>
        </p:pic>
      </p:grpSp>
      <p:sp>
        <p:nvSpPr>
          <p:cNvPr id="25" name="TextBox 24"/>
          <p:cNvSpPr txBox="1"/>
          <p:nvPr/>
        </p:nvSpPr>
        <p:spPr>
          <a:xfrm>
            <a:off x="8477673" y="1184481"/>
            <a:ext cx="3356243" cy="642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ko-KR" sz="1400">
                <a:ln w="9525">
                  <a:solidFill>
                    <a:schemeClr val="bg1">
                      <a:lumMod val="75000"/>
                      <a:alpha val="60000"/>
                    </a:schemeClr>
                  </a:solidFill>
                </a:ln>
                <a:solidFill>
                  <a:srgbClr val="FF0000"/>
                </a:solidFill>
                <a:latin typeface="G마켓 산스 TTF Light"/>
                <a:ea typeface="G마켓 산스 TTF Light"/>
              </a:rPr>
              <a:t>Spicule</a:t>
            </a:r>
            <a:r>
              <a:rPr lang="ko-KR" altLang="en-US" sz="1400">
                <a:ln w="9525">
                  <a:solidFill>
                    <a:schemeClr val="bg1">
                      <a:lumMod val="75000"/>
                      <a:alpha val="60000"/>
                    </a:schemeClr>
                  </a:solidFill>
                </a:ln>
                <a:solidFill>
                  <a:srgbClr val="FF0000"/>
                </a:solidFill>
                <a:latin typeface="G마켓 산스 TTF Light"/>
                <a:ea typeface="G마켓 산스 TTF Light"/>
              </a:rPr>
              <a:t>의 형상과 단면도</a:t>
            </a:r>
            <a:r>
              <a:rPr lang="en-US" altLang="ko-KR" sz="1400">
                <a:ln w="9525">
                  <a:solidFill>
                    <a:schemeClr val="bg1">
                      <a:lumMod val="75000"/>
                      <a:alpha val="60000"/>
                    </a:schemeClr>
                  </a:solidFill>
                </a:ln>
                <a:solidFill>
                  <a:srgbClr val="FF0000"/>
                </a:solidFill>
                <a:latin typeface="G마켓 산스 TTF Light"/>
                <a:ea typeface="G마켓 산스 TTF Light"/>
              </a:rPr>
              <a:t> </a:t>
            </a:r>
          </a:p>
          <a:p>
            <a:pPr>
              <a:lnSpc>
                <a:spcPct val="130000"/>
              </a:lnSpc>
              <a:defRPr/>
            </a:pPr>
            <a:r>
              <a:rPr lang="ko-KR" altLang="en-US" sz="1400">
                <a:solidFill>
                  <a:srgbClr val="FF0000"/>
                </a:solidFill>
                <a:latin typeface="G마켓 산스 Light"/>
                <a:ea typeface="G마켓 산스 Light"/>
              </a:rPr>
              <a:t>단면 </a:t>
            </a:r>
            <a:r>
              <a:rPr lang="en-US" altLang="ko-KR" sz="1400">
                <a:solidFill>
                  <a:srgbClr val="FF0000"/>
                </a:solidFill>
                <a:latin typeface="G마켓 산스 Light"/>
                <a:ea typeface="G마켓 산스 Light"/>
              </a:rPr>
              <a:t>10-15µm /</a:t>
            </a:r>
            <a:r>
              <a:rPr lang="ko-KR" altLang="en-US" sz="1400">
                <a:solidFill>
                  <a:srgbClr val="FF0000"/>
                </a:solidFill>
                <a:latin typeface="G마켓 산스 Light"/>
                <a:ea typeface="G마켓 산스 Light"/>
              </a:rPr>
              <a:t>길이 약 </a:t>
            </a:r>
            <a:r>
              <a:rPr lang="en-US" altLang="ko-KR" sz="1400">
                <a:solidFill>
                  <a:srgbClr val="FF0000"/>
                </a:solidFill>
                <a:latin typeface="G마켓 산스 Light"/>
                <a:ea typeface="G마켓 산스 Light"/>
              </a:rPr>
              <a:t>200µm</a:t>
            </a:r>
            <a:endParaRPr lang="en-US" altLang="ko-KR" sz="1400">
              <a:ln w="9525">
                <a:solidFill>
                  <a:schemeClr val="bg1">
                    <a:lumMod val="75000"/>
                    <a:alpha val="60000"/>
                  </a:schemeClr>
                </a:solidFill>
              </a:ln>
              <a:solidFill>
                <a:srgbClr val="FF0000"/>
              </a:solidFill>
              <a:latin typeface="G마켓 산스 Light"/>
              <a:ea typeface="G마켓 산스 Light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94961" y="2324517"/>
            <a:ext cx="2414652" cy="521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ko-KR" altLang="en-US" sz="2400">
                <a:ln w="9525"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Medium"/>
                <a:ea typeface="G마켓 산스 TTF Medium"/>
              </a:rPr>
              <a:t>스피큘</a:t>
            </a:r>
            <a:r>
              <a:rPr lang="en-US" altLang="ko-KR" sz="2400">
                <a:ln w="9525"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Medium"/>
                <a:ea typeface="G마켓 산스 TTF Medium"/>
              </a:rPr>
              <a:t>(Spicule)</a:t>
            </a:r>
            <a:endParaRPr lang="en-US" altLang="ko-KR" sz="2400">
              <a:ln w="9525"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G마켓 산스 TTF Light"/>
              <a:ea typeface="G마켓 산스 TTF Light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98042" y="2976941"/>
            <a:ext cx="4325813" cy="30600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  <a:defRPr/>
            </a:pPr>
            <a:r>
              <a:rPr lang="ko-KR" altLang="en-US" sz="1400" b="1" u="sng">
                <a:ln w="9525">
                  <a:solidFill>
                    <a:schemeClr val="tx1">
                      <a:lumMod val="85000"/>
                      <a:lumOff val="15000"/>
                      <a:alpha val="3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Light"/>
                <a:ea typeface="G마켓 산스 TTF Light"/>
              </a:rPr>
              <a:t>독일 슈라멕에서 </a:t>
            </a:r>
            <a:r>
              <a:rPr lang="en-US" altLang="ko-KR" sz="1400" b="1" u="sng">
                <a:ln w="9525">
                  <a:solidFill>
                    <a:schemeClr val="tx1">
                      <a:lumMod val="85000"/>
                      <a:lumOff val="15000"/>
                      <a:alpha val="3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Light"/>
                <a:ea typeface="G마켓 산스 TTF Light"/>
              </a:rPr>
              <a:t>1960</a:t>
            </a:r>
            <a:r>
              <a:rPr lang="ko-KR" altLang="en-US" sz="1400" b="1" u="sng">
                <a:ln w="9525">
                  <a:solidFill>
                    <a:schemeClr val="tx1">
                      <a:lumMod val="85000"/>
                      <a:lumOff val="15000"/>
                      <a:alpha val="3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Light"/>
                <a:ea typeface="G마켓 산스 TTF Light"/>
              </a:rPr>
              <a:t>년대</a:t>
            </a:r>
            <a:r>
              <a:rPr lang="ko-KR" altLang="en-US" sz="1400">
                <a:ln w="9525">
                  <a:solidFill>
                    <a:schemeClr val="tx1">
                      <a:lumMod val="85000"/>
                      <a:lumOff val="15000"/>
                      <a:alpha val="3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Light"/>
                <a:ea typeface="G마켓 산스 TTF Light"/>
              </a:rPr>
              <a:t>  </a:t>
            </a:r>
            <a:r>
              <a:rPr lang="ko-KR" altLang="en-US" sz="1000">
                <a:ln w="9525">
                  <a:solidFill>
                    <a:schemeClr val="tx1">
                      <a:lumMod val="85000"/>
                      <a:lumOff val="15000"/>
                      <a:alpha val="3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Light"/>
                <a:ea typeface="G마켓 산스 TTF Light"/>
              </a:rPr>
              <a:t>허브필</a:t>
            </a:r>
            <a:r>
              <a:rPr lang="en-US" altLang="ko-KR" sz="1000">
                <a:ln w="9525">
                  <a:solidFill>
                    <a:schemeClr val="tx1">
                      <a:lumMod val="85000"/>
                      <a:lumOff val="15000"/>
                      <a:alpha val="3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Light"/>
                <a:ea typeface="G마켓 산스 TTF Light"/>
              </a:rPr>
              <a:t>/</a:t>
            </a:r>
            <a:r>
              <a:rPr lang="ko-KR" altLang="en-US" sz="1000">
                <a:ln w="9525">
                  <a:solidFill>
                    <a:schemeClr val="tx1">
                      <a:lumMod val="85000"/>
                      <a:lumOff val="15000"/>
                      <a:alpha val="3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Light"/>
                <a:ea typeface="G마켓 산스 TTF Light"/>
              </a:rPr>
              <a:t>그린필로 독보적으로 출발하여 </a:t>
            </a:r>
            <a:r>
              <a:rPr lang="ko-KR" altLang="en-US" sz="1600" b="1" u="sng">
                <a:ln w="9525">
                  <a:solidFill>
                    <a:schemeClr val="tx1">
                      <a:lumMod val="85000"/>
                      <a:lumOff val="15000"/>
                      <a:alpha val="3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Light"/>
                <a:ea typeface="G마켓 산스 TTF Light"/>
              </a:rPr>
              <a:t>전세계 </a:t>
            </a:r>
            <a:r>
              <a:rPr lang="en-US" altLang="ko-KR" sz="1600" b="1" u="sng">
                <a:ln w="9525">
                  <a:solidFill>
                    <a:schemeClr val="tx1">
                      <a:lumMod val="85000"/>
                      <a:lumOff val="15000"/>
                      <a:alpha val="3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Light"/>
                <a:ea typeface="G마켓 산스 TTF Light"/>
              </a:rPr>
              <a:t>60</a:t>
            </a:r>
            <a:r>
              <a:rPr lang="ko-KR" altLang="en-US" sz="1600" b="1" u="sng">
                <a:ln w="9525">
                  <a:solidFill>
                    <a:schemeClr val="tx1">
                      <a:lumMod val="85000"/>
                      <a:lumOff val="15000"/>
                      <a:alpha val="3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Light"/>
                <a:ea typeface="G마켓 산스 TTF Light"/>
              </a:rPr>
              <a:t>개국</a:t>
            </a:r>
            <a:r>
              <a:rPr lang="ko-KR" altLang="en-US" sz="1000">
                <a:ln w="9525">
                  <a:solidFill>
                    <a:schemeClr val="tx1">
                      <a:lumMod val="85000"/>
                      <a:lumOff val="15000"/>
                      <a:alpha val="3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Light"/>
                <a:ea typeface="G마켓 산스 TTF Light"/>
              </a:rPr>
              <a:t>으로 뻗어 나갔으며</a:t>
            </a:r>
            <a:r>
              <a:rPr lang="en-US" altLang="ko-KR" sz="1000">
                <a:ln w="9525">
                  <a:solidFill>
                    <a:schemeClr val="tx1">
                      <a:lumMod val="85000"/>
                      <a:lumOff val="15000"/>
                      <a:alpha val="3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Light"/>
                <a:ea typeface="G마켓 산스 TTF Light"/>
              </a:rPr>
              <a:t>,</a:t>
            </a:r>
            <a:r>
              <a:rPr lang="ko-KR" altLang="en-US" sz="1000">
                <a:ln w="9525">
                  <a:solidFill>
                    <a:schemeClr val="tx1">
                      <a:lumMod val="85000"/>
                      <a:lumOff val="15000"/>
                      <a:alpha val="3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Light"/>
                <a:ea typeface="G마켓 산스 TTF Light"/>
              </a:rPr>
              <a:t> 우리나라에는 </a:t>
            </a:r>
            <a:r>
              <a:rPr lang="en-US" altLang="ko-KR" sz="1000">
                <a:ln w="9525">
                  <a:solidFill>
                    <a:schemeClr val="tx1">
                      <a:lumMod val="85000"/>
                      <a:lumOff val="15000"/>
                      <a:alpha val="3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Light"/>
                <a:ea typeface="G마켓 산스 TTF Light"/>
              </a:rPr>
              <a:t>8~90</a:t>
            </a:r>
            <a:r>
              <a:rPr lang="ko-KR" altLang="en-US" sz="1000">
                <a:ln w="9525">
                  <a:solidFill>
                    <a:schemeClr val="tx1">
                      <a:lumMod val="85000"/>
                      <a:lumOff val="15000"/>
                      <a:alpha val="3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Light"/>
                <a:ea typeface="G마켓 산스 TTF Light"/>
              </a:rPr>
              <a:t>년대에 약초 필링 회사들이 나오게 되었습니다</a:t>
            </a:r>
            <a:r>
              <a:rPr lang="en-US" altLang="ko-KR" sz="1000">
                <a:ln w="9525">
                  <a:solidFill>
                    <a:schemeClr val="tx1">
                      <a:lumMod val="85000"/>
                      <a:lumOff val="15000"/>
                      <a:alpha val="3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Light"/>
                <a:ea typeface="G마켓 산스 TTF Light"/>
              </a:rPr>
              <a:t>. </a:t>
            </a:r>
          </a:p>
          <a:p>
            <a:pPr algn="just">
              <a:lnSpc>
                <a:spcPct val="130000"/>
              </a:lnSpc>
              <a:defRPr/>
            </a:pPr>
            <a:endParaRPr lang="en-US" altLang="ko-KR" sz="1000">
              <a:ln w="9525">
                <a:solidFill>
                  <a:schemeClr val="tx1">
                    <a:lumMod val="85000"/>
                    <a:lumOff val="15000"/>
                    <a:alpha val="3500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G마켓 산스 TTF Light"/>
              <a:ea typeface="G마켓 산스 TTF Light"/>
            </a:endParaRPr>
          </a:p>
          <a:p>
            <a:pPr algn="just">
              <a:lnSpc>
                <a:spcPct val="130000"/>
              </a:lnSpc>
              <a:defRPr/>
            </a:pPr>
            <a:r>
              <a:rPr lang="ko-KR" altLang="en-US" sz="1000">
                <a:ln w="9525">
                  <a:solidFill>
                    <a:schemeClr val="tx1">
                      <a:lumMod val="85000"/>
                      <a:lumOff val="15000"/>
                      <a:alpha val="3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Light"/>
                <a:ea typeface="G마켓 산스 TTF Light"/>
              </a:rPr>
              <a:t>한국에서의 필링 시작은 ‘스피큘은 해면이다‘ 라는 내용은 밝히지 않으며 스피큘에 허브를 넣은 허브필링</a:t>
            </a:r>
            <a:r>
              <a:rPr lang="en-US" altLang="ko-KR" sz="1000">
                <a:ln w="9525">
                  <a:solidFill>
                    <a:schemeClr val="tx1">
                      <a:lumMod val="85000"/>
                      <a:lumOff val="15000"/>
                      <a:alpha val="3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Light"/>
                <a:ea typeface="G마켓 산스 TTF Light"/>
              </a:rPr>
              <a:t>, </a:t>
            </a:r>
            <a:r>
              <a:rPr lang="ko-KR" altLang="en-US" sz="1000">
                <a:ln w="9525">
                  <a:solidFill>
                    <a:schemeClr val="tx1">
                      <a:lumMod val="85000"/>
                      <a:lumOff val="15000"/>
                      <a:alpha val="3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Light"/>
                <a:ea typeface="G마켓 산스 TTF Light"/>
              </a:rPr>
              <a:t>해초를 넣은 해초필링</a:t>
            </a:r>
            <a:r>
              <a:rPr lang="en-US" altLang="ko-KR" sz="1000">
                <a:ln w="9525">
                  <a:solidFill>
                    <a:schemeClr val="tx1">
                      <a:lumMod val="85000"/>
                      <a:lumOff val="15000"/>
                      <a:alpha val="3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Light"/>
                <a:ea typeface="G마켓 산스 TTF Light"/>
              </a:rPr>
              <a:t>, </a:t>
            </a:r>
            <a:r>
              <a:rPr lang="ko-KR" altLang="en-US" sz="1000">
                <a:ln w="9525">
                  <a:solidFill>
                    <a:schemeClr val="tx1">
                      <a:lumMod val="85000"/>
                      <a:lumOff val="15000"/>
                      <a:alpha val="3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Light"/>
                <a:ea typeface="G마켓 산스 TTF Light"/>
              </a:rPr>
              <a:t>약초를 넣은 약초필링</a:t>
            </a:r>
            <a:r>
              <a:rPr lang="en-US" altLang="ko-KR" sz="1000">
                <a:ln w="9525">
                  <a:solidFill>
                    <a:schemeClr val="tx1">
                      <a:lumMod val="85000"/>
                      <a:lumOff val="15000"/>
                      <a:alpha val="3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Light"/>
                <a:ea typeface="G마켓 산스 TTF Light"/>
              </a:rPr>
              <a:t>, </a:t>
            </a:r>
            <a:r>
              <a:rPr lang="ko-KR" altLang="en-US" sz="1000">
                <a:ln w="9525">
                  <a:solidFill>
                    <a:schemeClr val="tx1">
                      <a:lumMod val="85000"/>
                      <a:lumOff val="15000"/>
                      <a:alpha val="3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Light"/>
                <a:ea typeface="G마켓 산스 TTF Light"/>
              </a:rPr>
              <a:t>화산를 넣은 알라딘 필링으로 천연물을 섞어 사용하는 가루 형태</a:t>
            </a:r>
            <a:r>
              <a:rPr lang="en-US" altLang="ko-KR" sz="1000">
                <a:ln w="9525">
                  <a:solidFill>
                    <a:schemeClr val="tx1">
                      <a:lumMod val="85000"/>
                      <a:lumOff val="15000"/>
                      <a:alpha val="3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Light"/>
                <a:ea typeface="G마켓 산스 TTF Light"/>
              </a:rPr>
              <a:t>(</a:t>
            </a:r>
            <a:r>
              <a:rPr lang="ko-KR" altLang="en-US" sz="1000">
                <a:ln w="9525">
                  <a:solidFill>
                    <a:schemeClr val="tx1">
                      <a:lumMod val="85000"/>
                      <a:lumOff val="15000"/>
                      <a:alpha val="3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Light"/>
                <a:ea typeface="G마켓 산스 TTF Light"/>
              </a:rPr>
              <a:t>건조상태</a:t>
            </a:r>
            <a:r>
              <a:rPr lang="en-US" altLang="ko-KR" sz="1000">
                <a:ln w="9525">
                  <a:solidFill>
                    <a:schemeClr val="tx1">
                      <a:lumMod val="85000"/>
                      <a:lumOff val="15000"/>
                      <a:alpha val="3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Light"/>
                <a:ea typeface="G마켓 산스 TTF Light"/>
              </a:rPr>
              <a:t>)</a:t>
            </a:r>
            <a:r>
              <a:rPr lang="ko-KR" altLang="en-US" sz="1000">
                <a:ln w="9525">
                  <a:solidFill>
                    <a:schemeClr val="tx1">
                      <a:lumMod val="85000"/>
                      <a:lumOff val="15000"/>
                      <a:alpha val="3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Light"/>
                <a:ea typeface="G마켓 산스 TTF Light"/>
              </a:rPr>
              <a:t>로 시작되었습니다</a:t>
            </a:r>
            <a:r>
              <a:rPr lang="en-US" altLang="ko-KR" sz="1000">
                <a:ln w="9525">
                  <a:solidFill>
                    <a:schemeClr val="tx1">
                      <a:lumMod val="85000"/>
                      <a:lumOff val="15000"/>
                      <a:alpha val="3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Light"/>
                <a:ea typeface="G마켓 산스 TTF Light"/>
              </a:rPr>
              <a:t>.</a:t>
            </a:r>
          </a:p>
          <a:p>
            <a:pPr algn="just">
              <a:lnSpc>
                <a:spcPct val="130000"/>
              </a:lnSpc>
              <a:defRPr/>
            </a:pPr>
            <a:endParaRPr lang="en-US" altLang="ko-KR" sz="1000">
              <a:ln w="9525">
                <a:solidFill>
                  <a:schemeClr val="tx1">
                    <a:lumMod val="85000"/>
                    <a:lumOff val="15000"/>
                    <a:alpha val="3500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G마켓 산스 TTF Light"/>
              <a:ea typeface="G마켓 산스 TTF Light"/>
            </a:endParaRPr>
          </a:p>
          <a:p>
            <a:pPr algn="just">
              <a:lnSpc>
                <a:spcPct val="130000"/>
              </a:lnSpc>
              <a:defRPr/>
            </a:pPr>
            <a:r>
              <a:rPr lang="en-US" altLang="ko-KR" sz="1000" b="1">
                <a:ln w="9525">
                  <a:solidFill>
                    <a:schemeClr val="tx1">
                      <a:lumMod val="85000"/>
                      <a:lumOff val="15000"/>
                      <a:alpha val="35000"/>
                    </a:schemeClr>
                  </a:solidFill>
                </a:ln>
                <a:solidFill>
                  <a:srgbClr val="181E26"/>
                </a:solidFill>
                <a:latin typeface="G마켓 산스 TTF Light"/>
                <a:ea typeface="G마켓 산스 TTF Light"/>
              </a:rPr>
              <a:t>2013</a:t>
            </a:r>
            <a:r>
              <a:rPr lang="ko-KR" altLang="en-US" sz="1000" b="1">
                <a:ln w="9525">
                  <a:solidFill>
                    <a:schemeClr val="tx1">
                      <a:lumMod val="85000"/>
                      <a:lumOff val="15000"/>
                      <a:alpha val="35000"/>
                    </a:schemeClr>
                  </a:solidFill>
                </a:ln>
                <a:solidFill>
                  <a:srgbClr val="181E26"/>
                </a:solidFill>
                <a:latin typeface="G마켓 산스 TTF Light"/>
                <a:ea typeface="G마켓 산스 TTF Light"/>
              </a:rPr>
              <a:t>년 비엔은 </a:t>
            </a:r>
            <a:r>
              <a:rPr lang="ko-KR" altLang="en-US" sz="1400" b="1" u="sng">
                <a:ln w="9525">
                  <a:solidFill>
                    <a:schemeClr val="tx1">
                      <a:lumMod val="85000"/>
                      <a:lumOff val="15000"/>
                      <a:alpha val="35000"/>
                    </a:schemeClr>
                  </a:solidFill>
                </a:ln>
                <a:solidFill>
                  <a:srgbClr val="FF0000"/>
                </a:solidFill>
                <a:latin typeface="G마켓 산스 TTF Light"/>
                <a:ea typeface="G마켓 산스 TTF Light"/>
              </a:rPr>
              <a:t>＇스피큘 성분은 해면이다</a:t>
            </a:r>
            <a:r>
              <a:rPr lang="en-US" altLang="ko-KR" sz="1400" b="1" u="sng">
                <a:ln w="9525">
                  <a:solidFill>
                    <a:schemeClr val="tx1">
                      <a:lumMod val="85000"/>
                      <a:lumOff val="15000"/>
                      <a:alpha val="35000"/>
                    </a:schemeClr>
                  </a:solidFill>
                </a:ln>
                <a:solidFill>
                  <a:srgbClr val="FF0000"/>
                </a:solidFill>
                <a:latin typeface="G마켓 산스 TTF Light"/>
                <a:ea typeface="G마켓 산스 TTF Light"/>
              </a:rPr>
              <a:t>.</a:t>
            </a:r>
            <a:r>
              <a:rPr lang="ko-KR" altLang="en-US" sz="1400" b="1" u="sng">
                <a:ln w="9525">
                  <a:solidFill>
                    <a:schemeClr val="tx1">
                      <a:lumMod val="85000"/>
                      <a:lumOff val="15000"/>
                      <a:alpha val="35000"/>
                    </a:schemeClr>
                  </a:solidFill>
                </a:ln>
                <a:solidFill>
                  <a:srgbClr val="FF0000"/>
                </a:solidFill>
                <a:latin typeface="G마켓 산스 TTF Light"/>
                <a:ea typeface="G마켓 산스 TTF Light"/>
              </a:rPr>
              <a:t>＇</a:t>
            </a:r>
            <a:r>
              <a:rPr lang="ko-KR" altLang="en-US" sz="1000" b="1">
                <a:ln w="9525">
                  <a:solidFill>
                    <a:schemeClr val="tx1">
                      <a:lumMod val="85000"/>
                      <a:lumOff val="15000"/>
                      <a:alpha val="35000"/>
                    </a:schemeClr>
                  </a:solidFill>
                </a:ln>
                <a:solidFill>
                  <a:srgbClr val="181E26"/>
                </a:solidFill>
                <a:latin typeface="G마켓 산스 TTF Light"/>
                <a:ea typeface="G마켓 산스 TTF Light"/>
              </a:rPr>
              <a:t>라고 처음으로 밝히면서 비엔 만의 독자적인 우수 제조 공법을 사용하여 스피큘을 보다 안전하게 정제하여 가루형 뿐만 아니라 </a:t>
            </a:r>
            <a:r>
              <a:rPr lang="ko-KR" altLang="en-US" sz="1600" b="1" u="sng">
                <a:ln w="9525">
                  <a:solidFill>
                    <a:schemeClr val="tx1">
                      <a:lumMod val="85000"/>
                      <a:lumOff val="15000"/>
                      <a:alpha val="35000"/>
                    </a:schemeClr>
                  </a:solidFill>
                </a:ln>
                <a:solidFill>
                  <a:srgbClr val="FF0000"/>
                </a:solidFill>
                <a:latin typeface="G마켓 산스 TTF Light"/>
                <a:ea typeface="G마켓 산스 TTF Light"/>
              </a:rPr>
              <a:t>크림형 필링</a:t>
            </a:r>
            <a:r>
              <a:rPr lang="ko-KR" altLang="en-US" sz="1000" b="1">
                <a:ln w="9525">
                  <a:solidFill>
                    <a:schemeClr val="tx1">
                      <a:lumMod val="85000"/>
                      <a:lumOff val="15000"/>
                      <a:alpha val="35000"/>
                    </a:schemeClr>
                  </a:solidFill>
                </a:ln>
                <a:solidFill>
                  <a:srgbClr val="181E26"/>
                </a:solidFill>
                <a:latin typeface="G마켓 산스 TTF Light"/>
                <a:ea typeface="G마켓 산스 TTF Light"/>
              </a:rPr>
              <a:t>을 개발하여  온</a:t>
            </a:r>
            <a:r>
              <a:rPr lang="en-US" altLang="ko-KR" sz="1000" b="1">
                <a:ln w="9525">
                  <a:solidFill>
                    <a:schemeClr val="tx1">
                      <a:lumMod val="85000"/>
                      <a:lumOff val="15000"/>
                      <a:alpha val="35000"/>
                    </a:schemeClr>
                  </a:solidFill>
                </a:ln>
                <a:solidFill>
                  <a:srgbClr val="181E26"/>
                </a:solidFill>
                <a:latin typeface="G마켓 산스 TTF Light"/>
                <a:ea typeface="G마켓 산스 TTF Light"/>
              </a:rPr>
              <a:t>/</a:t>
            </a:r>
            <a:r>
              <a:rPr lang="ko-KR" altLang="en-US" sz="1000" b="1">
                <a:ln w="9525">
                  <a:solidFill>
                    <a:schemeClr val="tx1">
                      <a:lumMod val="85000"/>
                      <a:lumOff val="15000"/>
                      <a:alpha val="35000"/>
                    </a:schemeClr>
                  </a:solidFill>
                </a:ln>
                <a:solidFill>
                  <a:srgbClr val="181E26"/>
                </a:solidFill>
                <a:latin typeface="G마켓 산스 TTF Light"/>
                <a:ea typeface="G마켓 산스 TTF Light"/>
              </a:rPr>
              <a:t>오프라인으로  새로운 필링 시장을 만든 주역입니다</a:t>
            </a:r>
            <a:r>
              <a:rPr lang="en-US" altLang="ko-KR" sz="1000" b="1">
                <a:ln w="9525">
                  <a:solidFill>
                    <a:schemeClr val="tx1">
                      <a:lumMod val="85000"/>
                      <a:lumOff val="15000"/>
                      <a:alpha val="35000"/>
                    </a:schemeClr>
                  </a:solidFill>
                </a:ln>
                <a:solidFill>
                  <a:srgbClr val="181E26"/>
                </a:solidFill>
                <a:latin typeface="G마켓 산스 TTF Light"/>
                <a:ea typeface="G마켓 산스 TTF Light"/>
              </a:rPr>
              <a:t>.</a:t>
            </a:r>
          </a:p>
        </p:txBody>
      </p:sp>
      <p:pic>
        <p:nvPicPr>
          <p:cNvPr id="4" name="Picture 4" descr="독일 | 여행지정보 | 유로자전거나라투어"/>
          <p:cNvPicPr>
            <a:picLocks noChangeAspect="1" noChangeArrowheads="1"/>
          </p:cNvPicPr>
          <p:nvPr/>
        </p:nvPicPr>
        <p:blipFill rotWithShape="1">
          <a:blip r:embed="rId4"/>
          <a:srcRect l="90" t="15000" r="440" b="52160"/>
          <a:stretch>
            <a:fillRect/>
          </a:stretch>
        </p:blipFill>
        <p:spPr>
          <a:xfrm>
            <a:off x="344877" y="1271437"/>
            <a:ext cx="2525353" cy="558614"/>
          </a:xfrm>
          <a:prstGeom prst="rect">
            <a:avLst/>
          </a:prstGeom>
          <a:noFill/>
        </p:spPr>
      </p:pic>
      <p:grpSp>
        <p:nvGrpSpPr>
          <p:cNvPr id="11" name="그룹 10"/>
          <p:cNvGrpSpPr/>
          <p:nvPr/>
        </p:nvGrpSpPr>
        <p:grpSpPr>
          <a:xfrm>
            <a:off x="7242818" y="4262968"/>
            <a:ext cx="2325942" cy="2063210"/>
            <a:chOff x="4636871" y="3949840"/>
            <a:chExt cx="3078890" cy="2230065"/>
          </a:xfrm>
        </p:grpSpPr>
        <p:pic>
          <p:nvPicPr>
            <p:cNvPr id="13" name="그림 12"/>
            <p:cNvPicPr>
              <a:picLocks noChangeAspect="1"/>
            </p:cNvPicPr>
            <p:nvPr/>
          </p:nvPicPr>
          <p:blipFill rotWithShape="1">
            <a:blip r:embed="rId5"/>
            <a:stretch>
              <a:fillRect/>
            </a:stretch>
          </p:blipFill>
          <p:spPr>
            <a:xfrm>
              <a:off x="4636871" y="3949840"/>
              <a:ext cx="3078887" cy="1505897"/>
            </a:xfrm>
            <a:prstGeom prst="rect">
              <a:avLst/>
            </a:prstGeom>
          </p:spPr>
        </p:pic>
        <p:grpSp>
          <p:nvGrpSpPr>
            <p:cNvPr id="14" name="그룹 13"/>
            <p:cNvGrpSpPr/>
            <p:nvPr/>
          </p:nvGrpSpPr>
          <p:grpSpPr>
            <a:xfrm>
              <a:off x="4636875" y="5455738"/>
              <a:ext cx="3078886" cy="724167"/>
              <a:chOff x="1031754" y="5466033"/>
              <a:chExt cx="3078886" cy="724167"/>
            </a:xfrm>
          </p:grpSpPr>
          <p:sp>
            <p:nvSpPr>
              <p:cNvPr id="15" name="모서리가 둥근 직사각형 2"/>
              <p:cNvSpPr/>
              <p:nvPr/>
            </p:nvSpPr>
            <p:spPr>
              <a:xfrm>
                <a:off x="1031754" y="5466033"/>
                <a:ext cx="3078886" cy="684902"/>
              </a:xfrm>
              <a:prstGeom prst="roundRect">
                <a:avLst>
                  <a:gd name="adj" fmla="val 0"/>
                </a:avLst>
              </a:prstGeom>
              <a:solidFill>
                <a:srgbClr val="222A3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 sz="1000"/>
              </a:p>
            </p:txBody>
          </p:sp>
          <p:sp>
            <p:nvSpPr>
              <p:cNvPr id="16" name="TextBox 15"/>
              <p:cNvSpPr txBox="1"/>
              <p:nvPr/>
            </p:nvSpPr>
            <p:spPr>
              <a:xfrm>
                <a:off x="1123084" y="5579085"/>
                <a:ext cx="2853604" cy="4838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20000"/>
                  </a:lnSpc>
                  <a:defRPr/>
                </a:pPr>
                <a:r>
                  <a:rPr lang="en-US" altLang="ko-KR" sz="1000">
                    <a:ln w="9525">
                      <a:solidFill>
                        <a:schemeClr val="bg1">
                          <a:alpha val="60000"/>
                        </a:schemeClr>
                      </a:solidFill>
                    </a:ln>
                    <a:solidFill>
                      <a:schemeClr val="bg1"/>
                    </a:solidFill>
                    <a:latin typeface="G마켓 산스 TTF Light"/>
                    <a:ea typeface="G마켓 산스 TTF Light"/>
                  </a:rPr>
                  <a:t>SPICULE </a:t>
                </a:r>
                <a:r>
                  <a:rPr lang="ko-KR" altLang="en-US" sz="1000">
                    <a:ln w="9525">
                      <a:solidFill>
                        <a:schemeClr val="bg1">
                          <a:alpha val="60000"/>
                        </a:schemeClr>
                      </a:solidFill>
                    </a:ln>
                    <a:solidFill>
                      <a:schemeClr val="bg1"/>
                    </a:solidFill>
                    <a:latin typeface="G마켓 산스 TTF Light"/>
                    <a:ea typeface="G마켓 산스 TTF Light"/>
                  </a:rPr>
                  <a:t>모세관을 이용해 </a:t>
                </a:r>
              </a:p>
              <a:p>
                <a:pPr algn="just">
                  <a:lnSpc>
                    <a:spcPct val="120000"/>
                  </a:lnSpc>
                  <a:defRPr/>
                </a:pPr>
                <a:r>
                  <a:rPr lang="ko-KR" altLang="en-US" sz="1000">
                    <a:ln w="9525">
                      <a:solidFill>
                        <a:schemeClr val="bg1">
                          <a:alpha val="60000"/>
                        </a:schemeClr>
                      </a:solidFill>
                    </a:ln>
                    <a:solidFill>
                      <a:schemeClr val="bg1"/>
                    </a:solidFill>
                    <a:latin typeface="G마켓 산스 TTF Light"/>
                    <a:ea typeface="G마켓 산스 TTF Light"/>
                  </a:rPr>
                  <a:t>유효물질과 산소의 전달 통로가 됨</a:t>
                </a:r>
                <a:r>
                  <a:rPr lang="en-US" altLang="ko-KR" sz="1000">
                    <a:ln w="9525">
                      <a:solidFill>
                        <a:schemeClr val="bg1">
                          <a:alpha val="60000"/>
                        </a:schemeClr>
                      </a:solidFill>
                    </a:ln>
                    <a:solidFill>
                      <a:schemeClr val="bg1"/>
                    </a:solidFill>
                    <a:latin typeface="G마켓 산스 TTF Light"/>
                    <a:ea typeface="G마켓 산스 TTF Light"/>
                  </a:rPr>
                  <a:t>.</a:t>
                </a:r>
              </a:p>
            </p:txBody>
          </p:sp>
        </p:grpSp>
      </p:grpSp>
      <p:grpSp>
        <p:nvGrpSpPr>
          <p:cNvPr id="17" name="그룹 16"/>
          <p:cNvGrpSpPr/>
          <p:nvPr/>
        </p:nvGrpSpPr>
        <p:grpSpPr>
          <a:xfrm>
            <a:off x="9669954" y="4229099"/>
            <a:ext cx="2325939" cy="2185173"/>
            <a:chOff x="8204902" y="3945897"/>
            <a:chExt cx="3078886" cy="2324481"/>
          </a:xfrm>
        </p:grpSpPr>
        <p:pic>
          <p:nvPicPr>
            <p:cNvPr id="18" name="그림 17"/>
            <p:cNvPicPr>
              <a:picLocks noChangeAspect="1"/>
            </p:cNvPicPr>
            <p:nvPr/>
          </p:nvPicPr>
          <p:blipFill rotWithShape="1">
            <a:blip r:embed="rId6"/>
            <a:srcRect t="9010"/>
            <a:stretch>
              <a:fillRect/>
            </a:stretch>
          </p:blipFill>
          <p:spPr>
            <a:xfrm>
              <a:off x="8204902" y="3945897"/>
              <a:ext cx="3078886" cy="1509840"/>
            </a:xfrm>
            <a:prstGeom prst="rect">
              <a:avLst/>
            </a:prstGeom>
          </p:spPr>
        </p:pic>
        <p:grpSp>
          <p:nvGrpSpPr>
            <p:cNvPr id="19" name="그룹 18"/>
            <p:cNvGrpSpPr/>
            <p:nvPr/>
          </p:nvGrpSpPr>
          <p:grpSpPr>
            <a:xfrm>
              <a:off x="8204902" y="5455738"/>
              <a:ext cx="3078886" cy="814640"/>
              <a:chOff x="1031754" y="5466033"/>
              <a:chExt cx="3078886" cy="814640"/>
            </a:xfrm>
          </p:grpSpPr>
          <p:sp>
            <p:nvSpPr>
              <p:cNvPr id="20" name="모서리가 둥근 직사각형 2"/>
              <p:cNvSpPr/>
              <p:nvPr/>
            </p:nvSpPr>
            <p:spPr>
              <a:xfrm>
                <a:off x="1031754" y="5466033"/>
                <a:ext cx="3078886" cy="684902"/>
              </a:xfrm>
              <a:prstGeom prst="roundRect">
                <a:avLst>
                  <a:gd name="adj" fmla="val 0"/>
                </a:avLst>
              </a:prstGeom>
              <a:solidFill>
                <a:srgbClr val="222A3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 sz="1000"/>
              </a:p>
            </p:txBody>
          </p:sp>
          <p:sp>
            <p:nvSpPr>
              <p:cNvPr id="21" name="TextBox 20"/>
              <p:cNvSpPr txBox="1"/>
              <p:nvPr/>
            </p:nvSpPr>
            <p:spPr>
              <a:xfrm>
                <a:off x="1123084" y="5547335"/>
                <a:ext cx="2898818" cy="5751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defRPr/>
                </a:pPr>
                <a:r>
                  <a:rPr lang="ko-KR" altLang="en-US" sz="1000">
                    <a:ln w="9525">
                      <a:solidFill>
                        <a:schemeClr val="bg1">
                          <a:alpha val="60000"/>
                        </a:schemeClr>
                      </a:solidFill>
                    </a:ln>
                    <a:solidFill>
                      <a:schemeClr val="bg1"/>
                    </a:solidFill>
                    <a:latin typeface="G마켓 산스 TTF Light"/>
                    <a:ea typeface="G마켓 산스 TTF Light"/>
                  </a:rPr>
                  <a:t>표면과 단면을 확대하면 </a:t>
                </a:r>
                <a:r>
                  <a:rPr lang="en-US" altLang="ko-KR" sz="1000">
                    <a:ln w="9525">
                      <a:solidFill>
                        <a:schemeClr val="bg1">
                          <a:alpha val="60000"/>
                        </a:schemeClr>
                      </a:solidFill>
                    </a:ln>
                    <a:solidFill>
                      <a:schemeClr val="bg1"/>
                    </a:solidFill>
                    <a:latin typeface="G마켓 산스 TTF Light"/>
                    <a:ea typeface="G마켓 산스 TTF Light"/>
                  </a:rPr>
                  <a:t>10~40µm</a:t>
                </a:r>
                <a:r>
                  <a:rPr lang="ko-KR" altLang="en-US" sz="1000">
                    <a:ln w="9525">
                      <a:solidFill>
                        <a:schemeClr val="bg1">
                          <a:alpha val="60000"/>
                        </a:schemeClr>
                      </a:solidFill>
                    </a:ln>
                    <a:solidFill>
                      <a:schemeClr val="bg1"/>
                    </a:solidFill>
                    <a:latin typeface="G마켓 산스 TTF Light"/>
                    <a:ea typeface="G마켓 산스 TTF Light"/>
                  </a:rPr>
                  <a:t>의 홀이 무수한 골편 구조를 이룸</a:t>
                </a:r>
                <a:r>
                  <a:rPr lang="en-US" altLang="ko-KR" sz="1000">
                    <a:ln w="9525">
                      <a:solidFill>
                        <a:schemeClr val="bg1">
                          <a:alpha val="60000"/>
                        </a:schemeClr>
                      </a:solidFill>
                    </a:ln>
                    <a:solidFill>
                      <a:schemeClr val="bg1"/>
                    </a:solidFill>
                    <a:latin typeface="G마켓 산스 TTF Light"/>
                    <a:ea typeface="G마켓 산스 TTF Light"/>
                  </a:rPr>
                  <a:t>.  </a:t>
                </a:r>
              </a:p>
              <a:p>
                <a:pPr algn="just">
                  <a:defRPr/>
                </a:pPr>
                <a:r>
                  <a:rPr lang="en-US" altLang="ko-KR" sz="1000">
                    <a:ln w="9525">
                      <a:solidFill>
                        <a:schemeClr val="bg1">
                          <a:alpha val="60000"/>
                        </a:schemeClr>
                      </a:solidFill>
                    </a:ln>
                    <a:solidFill>
                      <a:schemeClr val="bg1"/>
                    </a:solidFill>
                    <a:latin typeface="G마켓 산스 TTF Light"/>
                    <a:ea typeface="G마켓 산스 TTF Light"/>
                  </a:rPr>
                  <a:t>※ </a:t>
                </a:r>
                <a:r>
                  <a:rPr lang="ko-KR" altLang="en-US" sz="1000">
                    <a:ln w="9525">
                      <a:solidFill>
                        <a:schemeClr val="bg1">
                          <a:alpha val="60000"/>
                        </a:schemeClr>
                      </a:solidFill>
                    </a:ln>
                    <a:solidFill>
                      <a:schemeClr val="bg1"/>
                    </a:solidFill>
                    <a:latin typeface="G마켓 산스 TTF Light"/>
                    <a:ea typeface="G마켓 산스 TTF Light"/>
                  </a:rPr>
                  <a:t>나노 유효 성분 전달에 탁월</a:t>
                </a:r>
              </a:p>
            </p:txBody>
          </p:sp>
        </p:grpSp>
      </p:grpSp>
      <p:grpSp>
        <p:nvGrpSpPr>
          <p:cNvPr id="23" name="그룹 22"/>
          <p:cNvGrpSpPr/>
          <p:nvPr/>
        </p:nvGrpSpPr>
        <p:grpSpPr>
          <a:xfrm>
            <a:off x="4790892" y="4262968"/>
            <a:ext cx="2325939" cy="2033590"/>
            <a:chOff x="1031754" y="3956194"/>
            <a:chExt cx="3078886" cy="2194741"/>
          </a:xfrm>
        </p:grpSpPr>
        <p:sp>
          <p:nvSpPr>
            <p:cNvPr id="24" name="모서리가 둥근 직사각형 2"/>
            <p:cNvSpPr/>
            <p:nvPr/>
          </p:nvSpPr>
          <p:spPr>
            <a:xfrm>
              <a:off x="1031754" y="5466033"/>
              <a:ext cx="3078886" cy="684902"/>
            </a:xfrm>
            <a:prstGeom prst="roundRect">
              <a:avLst>
                <a:gd name="adj" fmla="val 0"/>
              </a:avLst>
            </a:prstGeom>
            <a:solidFill>
              <a:srgbClr val="222A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000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1123083" y="5579085"/>
              <a:ext cx="2987556" cy="48697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>
                <a:lnSpc>
                  <a:spcPct val="120000"/>
                </a:lnSpc>
                <a:defRPr/>
              </a:pPr>
              <a:r>
                <a:rPr lang="ko-KR" altLang="en-US" sz="1000">
                  <a:ln w="9525">
                    <a:solidFill>
                      <a:schemeClr val="bg1">
                        <a:alpha val="60000"/>
                      </a:schemeClr>
                    </a:solidFill>
                  </a:ln>
                  <a:solidFill>
                    <a:schemeClr val="bg1"/>
                  </a:solidFill>
                  <a:latin typeface="G마켓 산스 TTF Light"/>
                  <a:ea typeface="G마켓 산스 TTF Light"/>
                </a:rPr>
                <a:t>중앙의 </a:t>
              </a:r>
              <a:r>
                <a:rPr lang="en-US" altLang="ko-KR" sz="1000">
                  <a:ln w="9525">
                    <a:solidFill>
                      <a:schemeClr val="bg1">
                        <a:alpha val="60000"/>
                      </a:schemeClr>
                    </a:solidFill>
                  </a:ln>
                  <a:solidFill>
                    <a:schemeClr val="bg1"/>
                  </a:solidFill>
                  <a:latin typeface="G마켓 산스 TTF Light"/>
                  <a:ea typeface="G마켓 산스 TTF Light"/>
                </a:rPr>
                <a:t>0.5~1.5µm</a:t>
              </a:r>
              <a:r>
                <a:rPr lang="ko-KR" altLang="en-US" sz="1000">
                  <a:ln w="9525">
                    <a:solidFill>
                      <a:schemeClr val="bg1">
                        <a:alpha val="60000"/>
                      </a:schemeClr>
                    </a:solidFill>
                  </a:ln>
                  <a:solidFill>
                    <a:schemeClr val="bg1"/>
                  </a:solidFill>
                  <a:latin typeface="G마켓 산스 TTF Light"/>
                  <a:ea typeface="G마켓 산스 TTF Light"/>
                </a:rPr>
                <a:t>크기의 모세관은 </a:t>
              </a:r>
            </a:p>
            <a:p>
              <a:pPr algn="just">
                <a:lnSpc>
                  <a:spcPct val="120000"/>
                </a:lnSpc>
                <a:defRPr/>
              </a:pPr>
              <a:r>
                <a:rPr lang="ko-KR" altLang="en-US" sz="1000">
                  <a:ln w="9525">
                    <a:solidFill>
                      <a:schemeClr val="bg1">
                        <a:alpha val="60000"/>
                      </a:schemeClr>
                    </a:solidFill>
                  </a:ln>
                  <a:solidFill>
                    <a:schemeClr val="bg1"/>
                  </a:solidFill>
                  <a:latin typeface="G마켓 산스 TTF Light"/>
                  <a:ea typeface="G마켓 산스 TTF Light"/>
                </a:rPr>
                <a:t>침의 앞쪽부터 끝까지 관통 되어 있음</a:t>
              </a:r>
              <a:r>
                <a:rPr lang="en-US" altLang="ko-KR" sz="1000">
                  <a:ln w="9525">
                    <a:solidFill>
                      <a:schemeClr val="bg1">
                        <a:alpha val="60000"/>
                      </a:schemeClr>
                    </a:solidFill>
                  </a:ln>
                  <a:solidFill>
                    <a:schemeClr val="bg1"/>
                  </a:solidFill>
                  <a:latin typeface="G마켓 산스 TTF Light"/>
                  <a:ea typeface="G마켓 산스 TTF Light"/>
                </a:rPr>
                <a:t>.</a:t>
              </a:r>
            </a:p>
          </p:txBody>
        </p:sp>
        <p:pic>
          <p:nvPicPr>
            <p:cNvPr id="31" name="그림 30"/>
            <p:cNvPicPr>
              <a:picLocks noChangeAspect="1"/>
            </p:cNvPicPr>
            <p:nvPr/>
          </p:nvPicPr>
          <p:blipFill rotWithShape="1">
            <a:blip r:embed="rId7"/>
            <a:stretch>
              <a:fillRect/>
            </a:stretch>
          </p:blipFill>
          <p:spPr>
            <a:xfrm>
              <a:off x="1031754" y="3956194"/>
              <a:ext cx="3078886" cy="1509840"/>
            </a:xfrm>
            <a:prstGeom prst="rect">
              <a:avLst/>
            </a:prstGeom>
          </p:spPr>
        </p:pic>
      </p:grpSp>
      <p:grpSp>
        <p:nvGrpSpPr>
          <p:cNvPr id="32" name="그룹 31"/>
          <p:cNvGrpSpPr/>
          <p:nvPr/>
        </p:nvGrpSpPr>
        <p:grpSpPr>
          <a:xfrm>
            <a:off x="5244077" y="2215608"/>
            <a:ext cx="1419568" cy="1893442"/>
            <a:chOff x="1668740" y="1477137"/>
            <a:chExt cx="1879107" cy="2506382"/>
          </a:xfrm>
        </p:grpSpPr>
        <p:pic>
          <p:nvPicPr>
            <p:cNvPr id="33" name="그림 32" descr="D:\3_케이엔\각종이미지\가상패키지\스피큘_자료\20140527_154548 copy.jpg"/>
            <p:cNvPicPr>
              <a:picLocks noChangeAspect="1" noChangeArrowheads="1"/>
            </p:cNvPicPr>
            <p:nvPr/>
          </p:nvPicPr>
          <p:blipFill rotWithShape="1">
            <a:blip r:embed="rId8"/>
            <a:srcRect l="2740" t="6260" r="58530" b="59570"/>
            <a:stretch>
              <a:fillRect/>
            </a:stretch>
          </p:blipFill>
          <p:spPr>
            <a:xfrm>
              <a:off x="1850229" y="1644122"/>
              <a:ext cx="1535518" cy="1535518"/>
            </a:xfrm>
            <a:prstGeom prst="ellipse">
              <a:avLst/>
            </a:prstGeom>
            <a:noFill/>
            <a:ln>
              <a:noFill/>
            </a:ln>
            <a:effectLst/>
          </p:spPr>
        </p:pic>
        <p:grpSp>
          <p:nvGrpSpPr>
            <p:cNvPr id="34" name="그룹 33"/>
            <p:cNvGrpSpPr/>
            <p:nvPr/>
          </p:nvGrpSpPr>
          <p:grpSpPr>
            <a:xfrm>
              <a:off x="1668740" y="1477137"/>
              <a:ext cx="1879107" cy="2506382"/>
              <a:chOff x="1668740" y="1477137"/>
              <a:chExt cx="1879107" cy="2506382"/>
            </a:xfrm>
          </p:grpSpPr>
          <p:grpSp>
            <p:nvGrpSpPr>
              <p:cNvPr id="35" name="그룹 34"/>
              <p:cNvGrpSpPr/>
              <p:nvPr/>
            </p:nvGrpSpPr>
            <p:grpSpPr>
              <a:xfrm>
                <a:off x="1668740" y="1477137"/>
                <a:ext cx="1879107" cy="2506382"/>
                <a:chOff x="1668740" y="1477137"/>
                <a:chExt cx="1879107" cy="2506382"/>
              </a:xfrm>
            </p:grpSpPr>
            <p:sp>
              <p:nvSpPr>
                <p:cNvPr id="37" name="타원 36"/>
                <p:cNvSpPr/>
                <p:nvPr/>
              </p:nvSpPr>
              <p:spPr>
                <a:xfrm>
                  <a:off x="1668740" y="1477137"/>
                  <a:ext cx="1879107" cy="1879107"/>
                </a:xfrm>
                <a:prstGeom prst="ellipse">
                  <a:avLst/>
                </a:prstGeom>
                <a:noFill/>
                <a:ln w="57150">
                  <a:solidFill>
                    <a:srgbClr val="222A3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ko-KR" altLang="en-US"/>
                </a:p>
              </p:txBody>
            </p:sp>
            <p:sp>
              <p:nvSpPr>
                <p:cNvPr id="38" name="화살표: 오른쪽 37"/>
                <p:cNvSpPr/>
                <p:nvPr/>
              </p:nvSpPr>
              <p:spPr>
                <a:xfrm rot="5400000">
                  <a:off x="2298094" y="3375569"/>
                  <a:ext cx="620396" cy="595503"/>
                </a:xfrm>
                <a:prstGeom prst="rightArrow">
                  <a:avLst>
                    <a:gd name="adj1" fmla="val 52572"/>
                    <a:gd name="adj2" fmla="val 62862"/>
                  </a:avLst>
                </a:prstGeom>
                <a:solidFill>
                  <a:srgbClr val="222A3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ko-KR" altLang="en-US"/>
                </a:p>
              </p:txBody>
            </p:sp>
          </p:grpSp>
          <p:sp>
            <p:nvSpPr>
              <p:cNvPr id="36" name="타원 35"/>
              <p:cNvSpPr/>
              <p:nvPr/>
            </p:nvSpPr>
            <p:spPr>
              <a:xfrm>
                <a:off x="1830836" y="1635628"/>
                <a:ext cx="1554911" cy="1554911"/>
              </a:xfrm>
              <a:prstGeom prst="ellipse">
                <a:avLst/>
              </a:prstGeom>
              <a:noFill/>
              <a:ln w="50800">
                <a:solidFill>
                  <a:srgbClr val="F6F5F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</p:grpSp>
      </p:grpSp>
      <p:grpSp>
        <p:nvGrpSpPr>
          <p:cNvPr id="39" name="그룹 38"/>
          <p:cNvGrpSpPr/>
          <p:nvPr/>
        </p:nvGrpSpPr>
        <p:grpSpPr>
          <a:xfrm>
            <a:off x="7646920" y="2230699"/>
            <a:ext cx="1419568" cy="1893442"/>
            <a:chOff x="4973934" y="1477137"/>
            <a:chExt cx="1879107" cy="2506382"/>
          </a:xfrm>
        </p:grpSpPr>
        <p:pic>
          <p:nvPicPr>
            <p:cNvPr id="40" name="그림 32" descr="D:\3_케이엔\각종이미지\가상패키지\스피큘_자료\20140527_154548 copy.jpg"/>
            <p:cNvPicPr>
              <a:picLocks noChangeAspect="1" noChangeArrowheads="1"/>
            </p:cNvPicPr>
            <p:nvPr/>
          </p:nvPicPr>
          <p:blipFill rotWithShape="1">
            <a:blip r:embed="rId8"/>
            <a:srcRect l="51690" t="19360" r="20120" b="55760"/>
            <a:stretch>
              <a:fillRect/>
            </a:stretch>
          </p:blipFill>
          <p:spPr>
            <a:xfrm>
              <a:off x="5150566" y="1646015"/>
              <a:ext cx="1537200" cy="1537200"/>
            </a:xfrm>
            <a:prstGeom prst="ellipse">
              <a:avLst/>
            </a:prstGeom>
            <a:noFill/>
            <a:ln>
              <a:noFill/>
            </a:ln>
          </p:spPr>
        </p:pic>
        <p:grpSp>
          <p:nvGrpSpPr>
            <p:cNvPr id="41" name="그룹 40"/>
            <p:cNvGrpSpPr/>
            <p:nvPr/>
          </p:nvGrpSpPr>
          <p:grpSpPr>
            <a:xfrm>
              <a:off x="4973934" y="1477137"/>
              <a:ext cx="1879107" cy="2506382"/>
              <a:chOff x="1668740" y="1477137"/>
              <a:chExt cx="1879107" cy="2506382"/>
            </a:xfrm>
          </p:grpSpPr>
          <p:grpSp>
            <p:nvGrpSpPr>
              <p:cNvPr id="42" name="그룹 41"/>
              <p:cNvGrpSpPr/>
              <p:nvPr/>
            </p:nvGrpSpPr>
            <p:grpSpPr>
              <a:xfrm>
                <a:off x="1668740" y="1477137"/>
                <a:ext cx="1879107" cy="2506382"/>
                <a:chOff x="1668740" y="1477137"/>
                <a:chExt cx="1879107" cy="2506382"/>
              </a:xfrm>
            </p:grpSpPr>
            <p:sp>
              <p:nvSpPr>
                <p:cNvPr id="44" name="타원 43"/>
                <p:cNvSpPr/>
                <p:nvPr/>
              </p:nvSpPr>
              <p:spPr>
                <a:xfrm>
                  <a:off x="1668740" y="1477137"/>
                  <a:ext cx="1879107" cy="1879107"/>
                </a:xfrm>
                <a:prstGeom prst="ellipse">
                  <a:avLst/>
                </a:prstGeom>
                <a:noFill/>
                <a:ln w="57150">
                  <a:solidFill>
                    <a:srgbClr val="222A3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ko-KR" altLang="en-US"/>
                </a:p>
              </p:txBody>
            </p:sp>
            <p:sp>
              <p:nvSpPr>
                <p:cNvPr id="45" name="화살표: 오른쪽 44"/>
                <p:cNvSpPr/>
                <p:nvPr/>
              </p:nvSpPr>
              <p:spPr>
                <a:xfrm rot="5400000">
                  <a:off x="2298094" y="3375569"/>
                  <a:ext cx="620396" cy="595503"/>
                </a:xfrm>
                <a:prstGeom prst="rightArrow">
                  <a:avLst>
                    <a:gd name="adj1" fmla="val 52572"/>
                    <a:gd name="adj2" fmla="val 62862"/>
                  </a:avLst>
                </a:prstGeom>
                <a:solidFill>
                  <a:srgbClr val="222A3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ko-KR" altLang="en-US"/>
                </a:p>
              </p:txBody>
            </p:sp>
          </p:grpSp>
          <p:sp>
            <p:nvSpPr>
              <p:cNvPr id="43" name="타원 42"/>
              <p:cNvSpPr/>
              <p:nvPr/>
            </p:nvSpPr>
            <p:spPr>
              <a:xfrm>
                <a:off x="1830836" y="1635628"/>
                <a:ext cx="1554911" cy="1554911"/>
              </a:xfrm>
              <a:prstGeom prst="ellipse">
                <a:avLst/>
              </a:prstGeom>
              <a:noFill/>
              <a:ln w="50800">
                <a:solidFill>
                  <a:srgbClr val="F6F5F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</p:grpSp>
      </p:grpSp>
      <p:grpSp>
        <p:nvGrpSpPr>
          <p:cNvPr id="46" name="그룹 45"/>
          <p:cNvGrpSpPr/>
          <p:nvPr/>
        </p:nvGrpSpPr>
        <p:grpSpPr>
          <a:xfrm>
            <a:off x="10155795" y="2177188"/>
            <a:ext cx="1419568" cy="1893442"/>
            <a:chOff x="8281280" y="1477137"/>
            <a:chExt cx="1879107" cy="2506382"/>
          </a:xfrm>
        </p:grpSpPr>
        <p:pic>
          <p:nvPicPr>
            <p:cNvPr id="47" name="그림 32" descr="D:\3_케이엔\각종이미지\가상패키지\스피큘_자료\20140527_154548 copy.jpg"/>
            <p:cNvPicPr>
              <a:picLocks noChangeAspect="1" noChangeArrowheads="1"/>
            </p:cNvPicPr>
            <p:nvPr/>
          </p:nvPicPr>
          <p:blipFill rotWithShape="1">
            <a:blip r:embed="rId9"/>
            <a:srcRect l="6340" t="41670" r="31790" b="3740"/>
            <a:stretch>
              <a:fillRect/>
            </a:stretch>
          </p:blipFill>
          <p:spPr>
            <a:xfrm>
              <a:off x="8452900" y="1650802"/>
              <a:ext cx="1537200" cy="1537200"/>
            </a:xfrm>
            <a:prstGeom prst="ellipse">
              <a:avLst/>
            </a:prstGeom>
            <a:noFill/>
            <a:ln>
              <a:noFill/>
            </a:ln>
          </p:spPr>
        </p:pic>
        <p:grpSp>
          <p:nvGrpSpPr>
            <p:cNvPr id="48" name="그룹 47"/>
            <p:cNvGrpSpPr/>
            <p:nvPr/>
          </p:nvGrpSpPr>
          <p:grpSpPr>
            <a:xfrm>
              <a:off x="8281280" y="1477137"/>
              <a:ext cx="1879107" cy="2506382"/>
              <a:chOff x="1668740" y="1477137"/>
              <a:chExt cx="1879107" cy="2506382"/>
            </a:xfrm>
          </p:grpSpPr>
          <p:grpSp>
            <p:nvGrpSpPr>
              <p:cNvPr id="49" name="그룹 48"/>
              <p:cNvGrpSpPr/>
              <p:nvPr/>
            </p:nvGrpSpPr>
            <p:grpSpPr>
              <a:xfrm>
                <a:off x="1668740" y="1477137"/>
                <a:ext cx="1879107" cy="2506382"/>
                <a:chOff x="1668740" y="1477137"/>
                <a:chExt cx="1879107" cy="2506382"/>
              </a:xfrm>
            </p:grpSpPr>
            <p:sp>
              <p:nvSpPr>
                <p:cNvPr id="51" name="타원 50"/>
                <p:cNvSpPr/>
                <p:nvPr/>
              </p:nvSpPr>
              <p:spPr>
                <a:xfrm>
                  <a:off x="1668740" y="1477137"/>
                  <a:ext cx="1879107" cy="1879107"/>
                </a:xfrm>
                <a:prstGeom prst="ellipse">
                  <a:avLst/>
                </a:prstGeom>
                <a:noFill/>
                <a:ln w="57150">
                  <a:solidFill>
                    <a:srgbClr val="222A3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ko-KR" altLang="en-US"/>
                </a:p>
              </p:txBody>
            </p:sp>
            <p:sp>
              <p:nvSpPr>
                <p:cNvPr id="52" name="화살표: 오른쪽 51"/>
                <p:cNvSpPr/>
                <p:nvPr/>
              </p:nvSpPr>
              <p:spPr>
                <a:xfrm rot="5400000">
                  <a:off x="2298094" y="3375569"/>
                  <a:ext cx="620396" cy="595503"/>
                </a:xfrm>
                <a:prstGeom prst="rightArrow">
                  <a:avLst>
                    <a:gd name="adj1" fmla="val 52572"/>
                    <a:gd name="adj2" fmla="val 62862"/>
                  </a:avLst>
                </a:prstGeom>
                <a:solidFill>
                  <a:srgbClr val="222A3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ko-KR" altLang="en-US"/>
                </a:p>
              </p:txBody>
            </p:sp>
          </p:grpSp>
          <p:sp>
            <p:nvSpPr>
              <p:cNvPr id="50" name="타원 49"/>
              <p:cNvSpPr/>
              <p:nvPr/>
            </p:nvSpPr>
            <p:spPr>
              <a:xfrm>
                <a:off x="1830836" y="1635628"/>
                <a:ext cx="1554911" cy="1554911"/>
              </a:xfrm>
              <a:prstGeom prst="ellipse">
                <a:avLst/>
              </a:prstGeom>
              <a:noFill/>
              <a:ln w="50800">
                <a:solidFill>
                  <a:srgbClr val="F6F5F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</p:grpSp>
      </p:grpSp>
      <p:pic>
        <p:nvPicPr>
          <p:cNvPr id="53" name="그림 52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10375235" y="12866"/>
            <a:ext cx="1816765" cy="377985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74098" y="254000"/>
            <a:ext cx="7731981" cy="44894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3600">
                <a:solidFill>
                  <a:srgbClr val="CF8C67"/>
                </a:solidFill>
                <a:latin typeface="HY헤드라인M"/>
                <a:ea typeface="HY헤드라인M"/>
                <a:cs typeface="Aharoni"/>
              </a:defRPr>
            </a:lvl1pPr>
          </a:lstStyle>
          <a:p>
            <a:pPr lvl="0">
              <a:defRPr/>
            </a:pPr>
            <a:r>
              <a:rPr lang="en-US" altLang="ko-KR" sz="2400" b="1"/>
              <a:t>DDS platform</a:t>
            </a:r>
            <a:r>
              <a:rPr lang="ko-KR" altLang="en-US" sz="2400" b="1"/>
              <a:t> </a:t>
            </a:r>
            <a:r>
              <a:rPr lang="en-US" altLang="ko-KR" sz="2400" b="1"/>
              <a:t>Technology</a:t>
            </a:r>
            <a:r>
              <a:rPr lang="ko-KR" altLang="en-US" sz="2400" b="1"/>
              <a:t> </a:t>
            </a:r>
            <a:r>
              <a:rPr lang="en-US" altLang="ko-KR" sz="2400" b="1"/>
              <a:t>–</a:t>
            </a:r>
            <a:r>
              <a:rPr lang="ko-KR" altLang="en-US" sz="2400" b="1"/>
              <a:t> </a:t>
            </a:r>
            <a:r>
              <a:rPr lang="en-US" altLang="ko-KR" sz="2400" b="1"/>
              <a:t>Natural Spicule</a:t>
            </a:r>
            <a:endParaRPr lang="ko-KR" altLang="en-US" sz="2400" b="1"/>
          </a:p>
        </p:txBody>
      </p:sp>
      <p:cxnSp>
        <p:nvCxnSpPr>
          <p:cNvPr id="3" name="직선 연결선 2"/>
          <p:cNvCxnSpPr/>
          <p:nvPr/>
        </p:nvCxnSpPr>
        <p:spPr>
          <a:xfrm>
            <a:off x="386080" y="757207"/>
            <a:ext cx="11511280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그룹 4"/>
          <p:cNvGrpSpPr/>
          <p:nvPr/>
        </p:nvGrpSpPr>
        <p:grpSpPr>
          <a:xfrm>
            <a:off x="293968" y="6554918"/>
            <a:ext cx="11755791" cy="229470"/>
            <a:chOff x="293968" y="6554918"/>
            <a:chExt cx="11755791" cy="229470"/>
          </a:xfrm>
        </p:grpSpPr>
        <p:grpSp>
          <p:nvGrpSpPr>
            <p:cNvPr id="54" name="그룹 53"/>
            <p:cNvGrpSpPr/>
            <p:nvPr/>
          </p:nvGrpSpPr>
          <p:grpSpPr>
            <a:xfrm>
              <a:off x="650240" y="6557524"/>
              <a:ext cx="11399519" cy="205787"/>
              <a:chOff x="650240" y="6557524"/>
              <a:chExt cx="11399519" cy="205787"/>
            </a:xfrm>
          </p:grpSpPr>
          <p:sp>
            <p:nvSpPr>
              <p:cNvPr id="56" name="TextBox 55"/>
              <p:cNvSpPr txBox="1"/>
              <p:nvPr/>
            </p:nvSpPr>
            <p:spPr>
              <a:xfrm>
                <a:off x="7792084" y="6557524"/>
                <a:ext cx="4257676" cy="2057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 eaLnBrk="1" hangingPunct="1">
                  <a:defRPr/>
                </a:pPr>
                <a:r>
                  <a:rPr lang="en-US" altLang="ko-KR" sz="750">
                    <a:ln w="9525">
                      <a:solidFill>
                        <a:schemeClr val="bg1">
                          <a:lumMod val="85000"/>
                          <a:alpha val="60000"/>
                        </a:schemeClr>
                      </a:solidFill>
                    </a:ln>
                    <a:solidFill>
                      <a:schemeClr val="bg1">
                        <a:lumMod val="85000"/>
                      </a:schemeClr>
                    </a:solidFill>
                    <a:latin typeface="G마켓 산스 TTF Medium"/>
                    <a:ea typeface="G마켓 산스 TTF Medium"/>
                    <a:cs typeface="Arial"/>
                  </a:rPr>
                  <a:t>Copyright ⓒ 2024 B&amp;, All rights reserved. Terms of Use I Privacy Policy.</a:t>
                </a:r>
                <a:endParaRPr lang="en-US" altLang="ko-KR" sz="750">
                  <a:solidFill>
                    <a:schemeClr val="bg1">
                      <a:lumMod val="85000"/>
                    </a:schemeClr>
                  </a:solidFill>
                  <a:latin typeface="G마켓 산스 TTF Medium"/>
                  <a:ea typeface="G마켓 산스 TTF Medium"/>
                  <a:cs typeface="Arial"/>
                </a:endParaRPr>
              </a:p>
            </p:txBody>
          </p:sp>
          <p:cxnSp>
            <p:nvCxnSpPr>
              <p:cNvPr id="57" name="직선 연결선 56"/>
              <p:cNvCxnSpPr/>
              <p:nvPr/>
            </p:nvCxnSpPr>
            <p:spPr>
              <a:xfrm>
                <a:off x="650240" y="6660417"/>
                <a:ext cx="7470140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55" name="그림 54"/>
            <p:cNvPicPr>
              <a:picLocks noChangeAspect="1"/>
            </p:cNvPicPr>
            <p:nvPr/>
          </p:nvPicPr>
          <p:blipFill rotWithShape="1">
            <a:blip r:embed="rId11"/>
            <a:srcRect l="42820" t="44730" r="43380" b="42160"/>
            <a:stretch>
              <a:fillRect/>
            </a:stretch>
          </p:blipFill>
          <p:spPr>
            <a:xfrm>
              <a:off x="293968" y="6554918"/>
              <a:ext cx="341746" cy="22947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그림 2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541601" y="2403915"/>
            <a:ext cx="1971920" cy="1181169"/>
          </a:xfrm>
          <a:prstGeom prst="rect">
            <a:avLst/>
          </a:prstGeom>
        </p:spPr>
      </p:pic>
      <p:pic>
        <p:nvPicPr>
          <p:cNvPr id="29" name="그림 28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3541601" y="1170495"/>
            <a:ext cx="1971919" cy="118604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57193" y="2271616"/>
            <a:ext cx="5868749" cy="1374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KoPubWorld돋움체 Medium"/>
                <a:ea typeface="KoPubWorld돋움체 Medium"/>
                <a:cs typeface="KoPubWorld돋움체 Medium"/>
              </a:rPr>
              <a:t>화학성분 없이</a:t>
            </a:r>
            <a:r>
              <a:rPr lang="en-US" altLang="ko-KR" sz="1400">
                <a:solidFill>
                  <a:schemeClr val="tx1">
                    <a:lumMod val="75000"/>
                    <a:lumOff val="25000"/>
                  </a:schemeClr>
                </a:solidFill>
                <a:latin typeface="KoPubWorld돋움체 Medium"/>
                <a:ea typeface="KoPubWorld돋움체 Medium"/>
                <a:cs typeface="KoPubWorld돋움체 Medium"/>
              </a:rPr>
              <a:t>, </a:t>
            </a:r>
            <a:r>
              <a:rPr lang="ko-KR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KoPubWorld돋움체 Medium"/>
                <a:ea typeface="KoPubWorld돋움체 Medium"/>
                <a:cs typeface="KoPubWorld돋움체 Medium"/>
              </a:rPr>
              <a:t>효소를 이용한 특허등록 분해법으로 </a:t>
            </a:r>
            <a:r>
              <a:rPr lang="en-US" altLang="ko-KR" sz="1400">
                <a:solidFill>
                  <a:schemeClr val="tx1">
                    <a:lumMod val="75000"/>
                    <a:lumOff val="25000"/>
                  </a:schemeClr>
                </a:solidFill>
                <a:latin typeface="KoPubWorld돋움체 Medium"/>
                <a:ea typeface="KoPubWorld돋움체 Medium"/>
                <a:cs typeface="KoPubWorld돋움체 Medium"/>
              </a:rPr>
              <a:t>10</a:t>
            </a:r>
            <a:r>
              <a:rPr lang="ko-KR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KoPubWorld돋움체 Medium"/>
                <a:ea typeface="KoPubWorld돋움체 Medium"/>
                <a:cs typeface="KoPubWorld돋움체 Medium"/>
              </a:rPr>
              <a:t>단계의 처리를 통해</a:t>
            </a:r>
            <a:r>
              <a:rPr lang="en-US" altLang="ko-KR" sz="1400">
                <a:solidFill>
                  <a:schemeClr val="tx1">
                    <a:lumMod val="75000"/>
                    <a:lumOff val="25000"/>
                  </a:schemeClr>
                </a:solidFill>
                <a:latin typeface="KoPubWorld돋움체 Medium"/>
                <a:ea typeface="KoPubWorld돋움체 Medium"/>
                <a:cs typeface="KoPubWorld돋움체 Medium"/>
              </a:rPr>
              <a:t>, </a:t>
            </a:r>
            <a:r>
              <a:rPr lang="ko-KR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KoPubWorld돋움체 Medium"/>
                <a:ea typeface="KoPubWorld돋움체 Medium"/>
                <a:cs typeface="KoPubWorld돋움체 Medium"/>
              </a:rPr>
              <a:t>표면에 미세한 구멍이 있는 바늘형태의 스피큘 정제에 성공</a:t>
            </a:r>
            <a:r>
              <a:rPr lang="en-US" altLang="ko-KR" sz="1400">
                <a:solidFill>
                  <a:schemeClr val="tx1">
                    <a:lumMod val="75000"/>
                    <a:lumOff val="25000"/>
                  </a:schemeClr>
                </a:solidFill>
                <a:latin typeface="KoPubWorld돋움체 Medium"/>
                <a:ea typeface="KoPubWorld돋움체 Medium"/>
                <a:cs typeface="KoPubWorld돋움체 Medium"/>
              </a:rPr>
              <a:t>.</a:t>
            </a:r>
          </a:p>
          <a:p>
            <a:pPr>
              <a:lnSpc>
                <a:spcPct val="150000"/>
              </a:lnSpc>
              <a:defRPr/>
            </a:pPr>
            <a:r>
              <a:rPr lang="ko-KR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KoPubWorld돋움체 Medium"/>
                <a:ea typeface="KoPubWorld돋움체 Medium"/>
                <a:cs typeface="KoPubWorld돋움체 Medium"/>
              </a:rPr>
              <a:t>피부 부담은 없애고</a:t>
            </a:r>
            <a:r>
              <a:rPr lang="en-US" altLang="ko-KR" sz="1400">
                <a:solidFill>
                  <a:schemeClr val="tx1">
                    <a:lumMod val="75000"/>
                    <a:lumOff val="25000"/>
                  </a:schemeClr>
                </a:solidFill>
                <a:latin typeface="KoPubWorld돋움체 Medium"/>
                <a:ea typeface="KoPubWorld돋움체 Medium"/>
                <a:cs typeface="KoPubWorld돋움체 Medium"/>
              </a:rPr>
              <a:t>,</a:t>
            </a:r>
            <a:r>
              <a:rPr lang="ko-KR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KoPubWorld돋움체 Medium"/>
                <a:ea typeface="KoPubWorld돋움체 Medium"/>
                <a:cs typeface="KoPubWorld돋움체 Medium"/>
              </a:rPr>
              <a:t> 무기질의 순수 스피큘만 화장품에 함유 시켜 </a:t>
            </a:r>
          </a:p>
          <a:p>
            <a:pPr>
              <a:lnSpc>
                <a:spcPct val="150000"/>
              </a:lnSpc>
              <a:defRPr/>
            </a:pPr>
            <a:r>
              <a:rPr lang="ko-KR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KoPubWorld돋움체 Medium"/>
                <a:ea typeface="KoPubWorld돋움체 Medium"/>
                <a:cs typeface="KoPubWorld돋움체 Medium"/>
              </a:rPr>
              <a:t>전문가용 제품은 물론 홈케어용 제품을 실현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51058" y="1040954"/>
            <a:ext cx="5705124" cy="12050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ko-KR" altLang="en-US" sz="2800"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 rad="165100">
                    <a:schemeClr val="bg1"/>
                  </a:glow>
                </a:effectLst>
                <a:latin typeface="KoPubWorld돋움체 Bold"/>
                <a:ea typeface="KoPubWorld돋움체 Bold"/>
                <a:cs typeface="KoPubWorld돋움체 Bold"/>
              </a:rPr>
              <a:t>세계유일 비화학적 정제 특허기술</a:t>
            </a:r>
          </a:p>
          <a:p>
            <a:pPr>
              <a:lnSpc>
                <a:spcPct val="130000"/>
              </a:lnSpc>
              <a:defRPr/>
            </a:pPr>
            <a:r>
              <a:rPr lang="en-US" altLang="ko-KR" sz="2800">
                <a:solidFill>
                  <a:srgbClr val="DB2128"/>
                </a:solidFill>
                <a:effectLst>
                  <a:glow rad="165100">
                    <a:schemeClr val="bg1"/>
                  </a:glow>
                </a:effectLst>
                <a:latin typeface="KoPubWorld돋움체 Bold"/>
                <a:ea typeface="KoPubWorld돋움체 Bold"/>
                <a:cs typeface="KoPubWorld돋움체 Bold"/>
              </a:rPr>
              <a:t>‘</a:t>
            </a:r>
            <a:r>
              <a:rPr lang="ko-KR" altLang="en-US" sz="2800">
                <a:solidFill>
                  <a:srgbClr val="DB2128"/>
                </a:solidFill>
                <a:effectLst>
                  <a:glow rad="165100">
                    <a:schemeClr val="bg1"/>
                  </a:glow>
                </a:effectLst>
                <a:latin typeface="KoPubWorld돋움체 Bold"/>
                <a:ea typeface="KoPubWorld돋움체 Bold"/>
                <a:cs typeface="KoPubWorld돋움체 Bold"/>
              </a:rPr>
              <a:t>저온 고압 효소 분해법</a:t>
            </a:r>
            <a:r>
              <a:rPr lang="en-US" altLang="ko-KR" sz="2800">
                <a:solidFill>
                  <a:srgbClr val="DB2128"/>
                </a:solidFill>
                <a:effectLst>
                  <a:glow rad="165100">
                    <a:schemeClr val="bg1"/>
                  </a:glow>
                </a:effectLst>
                <a:latin typeface="KoPubWorld돋움체 Bold"/>
                <a:ea typeface="KoPubWorld돋움체 Bold"/>
                <a:cs typeface="KoPubWorld돋움체 Bold"/>
              </a:rPr>
              <a:t>’</a:t>
            </a:r>
            <a:endParaRPr lang="en-US" altLang="ko-KR" sz="2800" baseline="30000">
              <a:solidFill>
                <a:srgbClr val="DB2128"/>
              </a:solidFill>
              <a:effectLst>
                <a:glow rad="165100">
                  <a:schemeClr val="bg1"/>
                </a:glow>
              </a:effectLst>
              <a:latin typeface="KoPubWorld돋움체 Bold"/>
              <a:ea typeface="KoPubWorld돋움체 Bold"/>
              <a:cs typeface="KoPubWorld돋움체 Bold"/>
            </a:endParaRPr>
          </a:p>
        </p:txBody>
      </p:sp>
      <p:grpSp>
        <p:nvGrpSpPr>
          <p:cNvPr id="28" name="그룹 27"/>
          <p:cNvGrpSpPr/>
          <p:nvPr/>
        </p:nvGrpSpPr>
        <p:grpSpPr>
          <a:xfrm>
            <a:off x="650240" y="1100510"/>
            <a:ext cx="2559600" cy="2878144"/>
            <a:chOff x="8762394" y="1229360"/>
            <a:chExt cx="2559600" cy="2878144"/>
          </a:xfrm>
        </p:grpSpPr>
        <p:pic>
          <p:nvPicPr>
            <p:cNvPr id="1036" name="Picture 12"/>
            <p:cNvPicPr>
              <a:picLocks noChangeAspect="1" noChangeArrowheads="1"/>
            </p:cNvPicPr>
            <p:nvPr/>
          </p:nvPicPr>
          <p:blipFill rotWithShape="1">
            <a:blip r:embed="rId5"/>
            <a:srcRect l="11870" r="23820"/>
            <a:stretch>
              <a:fillRect/>
            </a:stretch>
          </p:blipFill>
          <p:spPr>
            <a:xfrm>
              <a:off x="8762394" y="1229360"/>
              <a:ext cx="2559600" cy="2559600"/>
            </a:xfrm>
            <a:prstGeom prst="ellipse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9" name="TextBox 8"/>
            <p:cNvSpPr txBox="1"/>
            <p:nvPr/>
          </p:nvSpPr>
          <p:spPr>
            <a:xfrm>
              <a:off x="9196294" y="3853588"/>
              <a:ext cx="1807650" cy="25391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lvl="0">
                <a:defRPr/>
              </a:pPr>
              <a:r>
                <a:rPr lang="ko-KR" altLang="en-US" sz="105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World돋움체 Bold"/>
                  <a:ea typeface="KoPubWorld돋움체 Bold"/>
                  <a:cs typeface="KoPubWorld돋움체 Bold"/>
                </a:rPr>
                <a:t>▲ 바다속 해면</a:t>
              </a:r>
              <a:r>
                <a:rPr lang="en-US" altLang="ko-KR" sz="105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World돋움체 Bold"/>
                  <a:ea typeface="KoPubWorld돋움체 Bold"/>
                  <a:cs typeface="KoPubWorld돋움체 Bold"/>
                </a:rPr>
                <a:t>(</a:t>
              </a:r>
              <a:r>
                <a:rPr lang="ko-KR" altLang="en-US" sz="105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World돋움체 Bold"/>
                  <a:ea typeface="KoPubWorld돋움체 Bold"/>
                  <a:cs typeface="KoPubWorld돋움체 Bold"/>
                </a:rPr>
                <a:t>스피큘 원료</a:t>
              </a:r>
              <a:r>
                <a:rPr lang="en-US" altLang="ko-KR" sz="105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World돋움체 Bold"/>
                  <a:ea typeface="KoPubWorld돋움체 Bold"/>
                  <a:cs typeface="KoPubWorld돋움체 Bold"/>
                </a:rPr>
                <a:t>)</a:t>
              </a:r>
              <a:endParaRPr lang="ko-KR" altLang="en-US" sz="1050">
                <a:solidFill>
                  <a:schemeClr val="tx1">
                    <a:lumMod val="75000"/>
                    <a:lumOff val="25000"/>
                  </a:schemeClr>
                </a:solidFill>
                <a:latin typeface="KoPubWorld돋움체 Bold"/>
                <a:ea typeface="KoPubWorld돋움체 Bold"/>
                <a:cs typeface="KoPubWorld돋움체 Bold"/>
              </a:endParaRPr>
            </a:p>
          </p:txBody>
        </p:sp>
      </p:grpSp>
      <p:sp>
        <p:nvSpPr>
          <p:cNvPr id="13" name="사각형: 둥근 모서리 12"/>
          <p:cNvSpPr/>
          <p:nvPr/>
        </p:nvSpPr>
        <p:spPr>
          <a:xfrm>
            <a:off x="650240" y="4208113"/>
            <a:ext cx="10805942" cy="2211299"/>
          </a:xfrm>
          <a:prstGeom prst="roundRect">
            <a:avLst>
              <a:gd name="adj" fmla="val 5818"/>
            </a:avLst>
          </a:prstGeom>
          <a:solidFill>
            <a:schemeClr val="bg1">
              <a:lumMod val="95000"/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878754" y="4364856"/>
            <a:ext cx="38014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400">
                <a:solidFill>
                  <a:schemeClr val="tx1">
                    <a:lumMod val="75000"/>
                    <a:lumOff val="25000"/>
                  </a:schemeClr>
                </a:solidFill>
                <a:latin typeface="KoPubWorld돋움체 Bold"/>
                <a:ea typeface="KoPubWorld돋움체 Bold"/>
                <a:cs typeface="KoPubWorld돋움체 Bold"/>
              </a:rPr>
              <a:t>■ ‘</a:t>
            </a:r>
            <a:r>
              <a:rPr lang="ko-KR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KoPubWorld돋움체 Bold"/>
                <a:ea typeface="KoPubWorld돋움체 Bold"/>
                <a:cs typeface="KoPubWorld돋움체 Bold"/>
              </a:rPr>
              <a:t>저온고압 효소 분해법</a:t>
            </a:r>
            <a:r>
              <a:rPr lang="en-US" altLang="ko-KR" sz="1400">
                <a:solidFill>
                  <a:schemeClr val="tx1">
                    <a:lumMod val="75000"/>
                    <a:lumOff val="25000"/>
                  </a:schemeClr>
                </a:solidFill>
                <a:latin typeface="KoPubWorld돋움체 Bold"/>
                <a:ea typeface="KoPubWorld돋움체 Bold"/>
                <a:cs typeface="KoPubWorld돋움체 Bold"/>
              </a:rPr>
              <a:t>’</a:t>
            </a:r>
            <a:endParaRPr lang="ko-KR" altLang="en-US" sz="1000">
              <a:solidFill>
                <a:schemeClr val="tx1">
                  <a:lumMod val="75000"/>
                  <a:lumOff val="25000"/>
                </a:schemeClr>
              </a:solidFill>
              <a:effectLst/>
              <a:latin typeface="KoPubWorld돋움체 Bold"/>
              <a:ea typeface="KoPubWorld돋움체 Bold"/>
              <a:cs typeface="KoPubWorld돋움체 Bold"/>
            </a:endParaRPr>
          </a:p>
        </p:txBody>
      </p:sp>
      <p:grpSp>
        <p:nvGrpSpPr>
          <p:cNvPr id="24" name="그룹 23"/>
          <p:cNvGrpSpPr/>
          <p:nvPr/>
        </p:nvGrpSpPr>
        <p:grpSpPr>
          <a:xfrm>
            <a:off x="1084140" y="4651444"/>
            <a:ext cx="9899103" cy="1720843"/>
            <a:chOff x="950801" y="4683718"/>
            <a:chExt cx="9899103" cy="1720843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 rotWithShape="1">
            <a:blip r:embed="rId6"/>
            <a:srcRect/>
            <a:stretch>
              <a:fillRect/>
            </a:stretch>
          </p:blipFill>
          <p:spPr>
            <a:xfrm>
              <a:off x="950801" y="4683718"/>
              <a:ext cx="1512445" cy="1512445"/>
            </a:xfrm>
            <a:prstGeom prst="rect">
              <a:avLst/>
            </a:prstGeom>
            <a:noFill/>
          </p:spPr>
        </p:pic>
        <p:pic>
          <p:nvPicPr>
            <p:cNvPr id="1028" name="Picture 4"/>
            <p:cNvPicPr>
              <a:picLocks noChangeAspect="1" noChangeArrowheads="1"/>
            </p:cNvPicPr>
            <p:nvPr/>
          </p:nvPicPr>
          <p:blipFill rotWithShape="1">
            <a:blip r:embed="rId7"/>
            <a:srcRect/>
            <a:stretch>
              <a:fillRect/>
            </a:stretch>
          </p:blipFill>
          <p:spPr>
            <a:xfrm>
              <a:off x="3020298" y="4683718"/>
              <a:ext cx="1512445" cy="1512445"/>
            </a:xfrm>
            <a:prstGeom prst="rect">
              <a:avLst/>
            </a:prstGeom>
            <a:noFill/>
          </p:spPr>
        </p:pic>
        <p:pic>
          <p:nvPicPr>
            <p:cNvPr id="1030" name="Picture 6"/>
            <p:cNvPicPr>
              <a:picLocks noChangeAspect="1" noChangeArrowheads="1"/>
            </p:cNvPicPr>
            <p:nvPr/>
          </p:nvPicPr>
          <p:blipFill rotWithShape="1">
            <a:blip r:embed="rId8"/>
            <a:srcRect/>
            <a:stretch>
              <a:fillRect/>
            </a:stretch>
          </p:blipFill>
          <p:spPr>
            <a:xfrm>
              <a:off x="5092705" y="4683718"/>
              <a:ext cx="1512445" cy="1512445"/>
            </a:xfrm>
            <a:prstGeom prst="rect">
              <a:avLst/>
            </a:prstGeom>
            <a:noFill/>
          </p:spPr>
        </p:pic>
        <p:pic>
          <p:nvPicPr>
            <p:cNvPr id="1032" name="Picture 8"/>
            <p:cNvPicPr>
              <a:picLocks noChangeAspect="1" noChangeArrowheads="1"/>
            </p:cNvPicPr>
            <p:nvPr/>
          </p:nvPicPr>
          <p:blipFill rotWithShape="1">
            <a:blip r:embed="rId9"/>
            <a:srcRect/>
            <a:stretch>
              <a:fillRect/>
            </a:stretch>
          </p:blipFill>
          <p:spPr>
            <a:xfrm>
              <a:off x="7216791" y="4683718"/>
              <a:ext cx="1512445" cy="1512445"/>
            </a:xfrm>
            <a:prstGeom prst="rect">
              <a:avLst/>
            </a:prstGeom>
            <a:noFill/>
          </p:spPr>
        </p:pic>
        <p:pic>
          <p:nvPicPr>
            <p:cNvPr id="1034" name="Picture 10"/>
            <p:cNvPicPr>
              <a:picLocks noChangeAspect="1" noChangeArrowheads="1"/>
            </p:cNvPicPr>
            <p:nvPr/>
          </p:nvPicPr>
          <p:blipFill rotWithShape="1">
            <a:blip r:embed="rId10"/>
            <a:srcRect/>
            <a:stretch>
              <a:fillRect/>
            </a:stretch>
          </p:blipFill>
          <p:spPr>
            <a:xfrm>
              <a:off x="9337459" y="4683718"/>
              <a:ext cx="1512445" cy="1512445"/>
            </a:xfrm>
            <a:prstGeom prst="rect">
              <a:avLst/>
            </a:prstGeom>
            <a:noFill/>
          </p:spPr>
        </p:pic>
        <p:sp>
          <p:nvSpPr>
            <p:cNvPr id="5" name="TextBox 4"/>
            <p:cNvSpPr txBox="1"/>
            <p:nvPr/>
          </p:nvSpPr>
          <p:spPr>
            <a:xfrm>
              <a:off x="4575821" y="5080645"/>
              <a:ext cx="459104" cy="63614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altLang="ko-KR" sz="3600">
                  <a:solidFill>
                    <a:schemeClr val="tx1">
                      <a:lumMod val="75000"/>
                      <a:lumOff val="25000"/>
                    </a:schemeClr>
                  </a:solidFill>
                  <a:latin typeface="HGGothicE"/>
                  <a:ea typeface="HGGothicE"/>
                </a:rPr>
                <a:t>&gt;</a:t>
              </a:r>
              <a:endParaRPr lang="ko-KR" altLang="en-US" sz="1050">
                <a:solidFill>
                  <a:schemeClr val="tx1">
                    <a:lumMod val="75000"/>
                    <a:lumOff val="25000"/>
                  </a:schemeClr>
                </a:solidFill>
                <a:latin typeface="HGGothicE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2508896" y="5080645"/>
              <a:ext cx="459104" cy="63614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altLang="ko-KR" sz="3600">
                  <a:solidFill>
                    <a:schemeClr val="tx1">
                      <a:lumMod val="75000"/>
                      <a:lumOff val="25000"/>
                    </a:schemeClr>
                  </a:solidFill>
                  <a:latin typeface="HGGothicE"/>
                  <a:ea typeface="HGGothicE"/>
                </a:rPr>
                <a:t>&gt;</a:t>
              </a:r>
              <a:endParaRPr lang="ko-KR" altLang="en-US" sz="1050">
                <a:solidFill>
                  <a:schemeClr val="tx1">
                    <a:lumMod val="75000"/>
                    <a:lumOff val="25000"/>
                  </a:schemeClr>
                </a:solidFill>
                <a:latin typeface="HGGothicE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8804921" y="5080645"/>
              <a:ext cx="459104" cy="63614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altLang="ko-KR" sz="3600">
                  <a:solidFill>
                    <a:schemeClr val="tx1">
                      <a:lumMod val="75000"/>
                      <a:lumOff val="25000"/>
                    </a:schemeClr>
                  </a:solidFill>
                  <a:latin typeface="HGGothicE"/>
                  <a:ea typeface="HGGothicE"/>
                </a:rPr>
                <a:t>&gt;</a:t>
              </a:r>
              <a:endParaRPr lang="ko-KR" altLang="en-US" sz="1050">
                <a:solidFill>
                  <a:schemeClr val="tx1">
                    <a:lumMod val="75000"/>
                    <a:lumOff val="25000"/>
                  </a:schemeClr>
                </a:solidFill>
                <a:latin typeface="HGGothicE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680846" y="5080645"/>
              <a:ext cx="459104" cy="63614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altLang="ko-KR" sz="3600">
                  <a:solidFill>
                    <a:schemeClr val="tx1">
                      <a:lumMod val="75000"/>
                      <a:lumOff val="25000"/>
                    </a:schemeClr>
                  </a:solidFill>
                  <a:latin typeface="HGGothicE"/>
                  <a:ea typeface="HGGothicE"/>
                </a:rPr>
                <a:t>&gt;</a:t>
              </a:r>
              <a:endParaRPr lang="ko-KR" altLang="en-US" sz="1050">
                <a:solidFill>
                  <a:schemeClr val="tx1">
                    <a:lumMod val="75000"/>
                    <a:lumOff val="25000"/>
                  </a:schemeClr>
                </a:solidFill>
                <a:latin typeface="HGGothicE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327796" y="6004451"/>
              <a:ext cx="754380" cy="23621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ko-KR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World돋움체 Medium"/>
                  <a:ea typeface="KoPubWorld돋움체 Medium"/>
                  <a:cs typeface="KoPubWorld돋움체 Medium"/>
                </a:rPr>
                <a:t>원료</a:t>
              </a:r>
              <a:r>
                <a:rPr lang="en-US" altLang="ko-KR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World돋움체 Medium"/>
                  <a:ea typeface="KoPubWorld돋움체 Medium"/>
                  <a:cs typeface="KoPubWorld돋움체 Medium"/>
                </a:rPr>
                <a:t>: </a:t>
              </a:r>
              <a:r>
                <a:rPr lang="ko-KR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World돋움체 Medium"/>
                  <a:ea typeface="KoPubWorld돋움체 Medium"/>
                  <a:cs typeface="KoPubWorld돋움체 Medium"/>
                </a:rPr>
                <a:t>해면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575696" y="6004451"/>
              <a:ext cx="440054" cy="23621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ko-KR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World돋움체 Medium"/>
                  <a:ea typeface="KoPubWorld돋움체 Medium"/>
                  <a:cs typeface="KoPubWorld돋움체 Medium"/>
                </a:rPr>
                <a:t>분쇄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461646" y="6004451"/>
              <a:ext cx="859155" cy="23621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altLang="ko-KR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World돋움체 Medium"/>
                  <a:ea typeface="KoPubWorld돋움체 Medium"/>
                  <a:cs typeface="KoPubWorld돋움체 Medium"/>
                </a:rPr>
                <a:t>10</a:t>
              </a:r>
              <a:r>
                <a:rPr lang="ko-KR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World돋움체 Medium"/>
                  <a:ea typeface="KoPubWorld돋움체 Medium"/>
                  <a:cs typeface="KoPubWorld돋움체 Medium"/>
                </a:rPr>
                <a:t>단계 정제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7547621" y="6004451"/>
              <a:ext cx="849630" cy="23621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ko-KR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World돋움체 Medium"/>
                  <a:ea typeface="KoPubWorld돋움체 Medium"/>
                  <a:cs typeface="KoPubWorld돋움체 Medium"/>
                </a:rPr>
                <a:t>스피큘 채취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9671696" y="6004451"/>
              <a:ext cx="849630" cy="38861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ko-KR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World돋움체 Medium"/>
                  <a:ea typeface="KoPubWorld돋움체 Medium"/>
                  <a:cs typeface="KoPubWorld돋움체 Medium"/>
                </a:rPr>
                <a:t>모세관 내에</a:t>
              </a:r>
            </a:p>
            <a:p>
              <a:pPr algn="ctr">
                <a:defRPr/>
              </a:pPr>
              <a:r>
                <a:rPr lang="ko-KR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World돋움체 Medium"/>
                  <a:ea typeface="KoPubWorld돋움체 Medium"/>
                  <a:cs typeface="KoPubWorld돋움체 Medium"/>
                </a:rPr>
                <a:t>유기물 제거</a:t>
              </a:r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3011118" y="4381880"/>
            <a:ext cx="2158945" cy="264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  <a:latin typeface="KoPubWorld돋움체 Bold"/>
                <a:ea typeface="KoPubWorld돋움체 Bold"/>
                <a:cs typeface="KoPubWorld돋움체 Bold"/>
              </a:rPr>
              <a:t>(</a:t>
            </a:r>
            <a:r>
              <a: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KoPubWorld돋움체 Bold"/>
                <a:ea typeface="KoPubWorld돋움체 Bold"/>
                <a:cs typeface="KoPubWorld돋움체 Bold"/>
              </a:rPr>
              <a:t>특허 제 </a:t>
            </a:r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  <a:latin typeface="KoPubWorld돋움체 Bold"/>
                <a:ea typeface="KoPubWorld돋움체 Bold"/>
                <a:cs typeface="KoPubWorld돋움체 Bold"/>
              </a:rPr>
              <a:t>10-1728125</a:t>
            </a:r>
            <a:r>
              <a: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KoPubWorld돋움체 Bold"/>
                <a:ea typeface="KoPubWorld돋움체 Bold"/>
                <a:cs typeface="KoPubWorld돋움체 Bold"/>
              </a:rPr>
              <a:t>호</a:t>
            </a:r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  <a:latin typeface="KoPubWorld돋움체 Bold"/>
                <a:ea typeface="KoPubWorld돋움체 Bold"/>
                <a:cs typeface="KoPubWorld돋움체 Bold"/>
              </a:rPr>
              <a:t>)</a:t>
            </a:r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  <a:latin typeface="KoPubWorld돋움체 Bold"/>
              <a:ea typeface="KoPubWorld돋움체 Bold"/>
              <a:cs typeface="KoPubWorld돋움체 Bold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817269" y="3726156"/>
            <a:ext cx="1541496" cy="2343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000">
                <a:solidFill>
                  <a:srgbClr val="FF0000"/>
                </a:solidFill>
                <a:latin typeface="KoPubWorld돋움체 Bold"/>
                <a:ea typeface="KoPubWorld돋움체 Bold"/>
                <a:cs typeface="KoPubWorld돋움체 Bold"/>
              </a:rPr>
              <a:t>▲ 정제된 스피큘 이미지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10375235" y="12866"/>
            <a:ext cx="1816765" cy="37798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74098" y="254000"/>
            <a:ext cx="7731981" cy="44894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3600">
                <a:solidFill>
                  <a:srgbClr val="CF8C67"/>
                </a:solidFill>
                <a:latin typeface="HY헤드라인M"/>
                <a:ea typeface="HY헤드라인M"/>
                <a:cs typeface="Aharoni"/>
              </a:defRPr>
            </a:lvl1pPr>
          </a:lstStyle>
          <a:p>
            <a:pPr lvl="0">
              <a:defRPr/>
            </a:pPr>
            <a:r>
              <a:rPr lang="ko-KR" altLang="en-US" sz="2400" b="1"/>
              <a:t>정제기술</a:t>
            </a:r>
          </a:p>
        </p:txBody>
      </p:sp>
      <p:cxnSp>
        <p:nvCxnSpPr>
          <p:cNvPr id="41" name="직선 연결선 40"/>
          <p:cNvCxnSpPr/>
          <p:nvPr/>
        </p:nvCxnSpPr>
        <p:spPr>
          <a:xfrm>
            <a:off x="386080" y="757207"/>
            <a:ext cx="11511280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그룹 11"/>
          <p:cNvGrpSpPr/>
          <p:nvPr/>
        </p:nvGrpSpPr>
        <p:grpSpPr>
          <a:xfrm>
            <a:off x="293968" y="6554918"/>
            <a:ext cx="11755791" cy="229470"/>
            <a:chOff x="293968" y="6554918"/>
            <a:chExt cx="11755791" cy="229470"/>
          </a:xfrm>
        </p:grpSpPr>
        <p:grpSp>
          <p:nvGrpSpPr>
            <p:cNvPr id="19" name="그룹 18"/>
            <p:cNvGrpSpPr/>
            <p:nvPr/>
          </p:nvGrpSpPr>
          <p:grpSpPr>
            <a:xfrm>
              <a:off x="650240" y="6557524"/>
              <a:ext cx="11399519" cy="205787"/>
              <a:chOff x="650240" y="6557524"/>
              <a:chExt cx="11399519" cy="205787"/>
            </a:xfrm>
          </p:grpSpPr>
          <p:sp>
            <p:nvSpPr>
              <p:cNvPr id="32" name="TextBox 31"/>
              <p:cNvSpPr txBox="1"/>
              <p:nvPr/>
            </p:nvSpPr>
            <p:spPr>
              <a:xfrm>
                <a:off x="7792084" y="6557524"/>
                <a:ext cx="4257676" cy="2057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 eaLnBrk="1" hangingPunct="1">
                  <a:defRPr/>
                </a:pPr>
                <a:r>
                  <a:rPr lang="en-US" altLang="ko-KR" sz="750">
                    <a:ln w="9525">
                      <a:solidFill>
                        <a:schemeClr val="bg1">
                          <a:lumMod val="85000"/>
                          <a:alpha val="60000"/>
                        </a:schemeClr>
                      </a:solidFill>
                    </a:ln>
                    <a:solidFill>
                      <a:schemeClr val="bg1">
                        <a:lumMod val="85000"/>
                      </a:schemeClr>
                    </a:solidFill>
                    <a:latin typeface="G마켓 산스 TTF Medium"/>
                    <a:ea typeface="G마켓 산스 TTF Medium"/>
                    <a:cs typeface="Arial"/>
                  </a:rPr>
                  <a:t>Copyright ⓒ 2024 B&amp;, All rights reserved. Terms of Use I Privacy Policy.</a:t>
                </a:r>
                <a:endParaRPr lang="en-US" altLang="ko-KR" sz="750">
                  <a:solidFill>
                    <a:schemeClr val="bg1">
                      <a:lumMod val="85000"/>
                    </a:schemeClr>
                  </a:solidFill>
                  <a:latin typeface="G마켓 산스 TTF Medium"/>
                  <a:ea typeface="G마켓 산스 TTF Medium"/>
                  <a:cs typeface="Arial"/>
                </a:endParaRPr>
              </a:p>
            </p:txBody>
          </p:sp>
          <p:cxnSp>
            <p:nvCxnSpPr>
              <p:cNvPr id="33" name="직선 연결선 32"/>
              <p:cNvCxnSpPr/>
              <p:nvPr/>
            </p:nvCxnSpPr>
            <p:spPr>
              <a:xfrm>
                <a:off x="650240" y="6660417"/>
                <a:ext cx="7470140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31" name="그림 30"/>
            <p:cNvPicPr>
              <a:picLocks noChangeAspect="1"/>
            </p:cNvPicPr>
            <p:nvPr/>
          </p:nvPicPr>
          <p:blipFill rotWithShape="1">
            <a:blip r:embed="rId12"/>
            <a:srcRect l="42820" t="44730" r="43380" b="42160"/>
            <a:stretch>
              <a:fillRect/>
            </a:stretch>
          </p:blipFill>
          <p:spPr>
            <a:xfrm>
              <a:off x="293968" y="6554918"/>
              <a:ext cx="341746" cy="22947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/>
          <p:cNvSpPr/>
          <p:nvPr/>
        </p:nvSpPr>
        <p:spPr>
          <a:xfrm>
            <a:off x="356840" y="5854934"/>
            <a:ext cx="11270591" cy="698682"/>
          </a:xfrm>
          <a:prstGeom prst="roundRect">
            <a:avLst>
              <a:gd name="adj" fmla="val 16667"/>
            </a:avLst>
          </a:prstGeom>
          <a:solidFill>
            <a:srgbClr val="FFC000">
              <a:alpha val="1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621806" y="1511818"/>
            <a:ext cx="1979955" cy="815929"/>
            <a:chOff x="380275" y="1259826"/>
            <a:chExt cx="1979955" cy="823913"/>
          </a:xfrm>
        </p:grpSpPr>
        <p:sp>
          <p:nvSpPr>
            <p:cNvPr id="4" name="_x918892440"/>
            <p:cNvSpPr>
              <a:spLocks noChangeArrowheads="1"/>
            </p:cNvSpPr>
            <p:nvPr/>
          </p:nvSpPr>
          <p:spPr>
            <a:xfrm>
              <a:off x="380275" y="1259826"/>
              <a:ext cx="1979955" cy="823913"/>
            </a:xfrm>
            <a:prstGeom prst="rect">
              <a:avLst/>
            </a:prstGeom>
            <a:solidFill>
              <a:srgbClr val="A9BCD0"/>
            </a:solidFill>
            <a:ln w="12700">
              <a:noFill/>
              <a:miter/>
            </a:ln>
          </p:spPr>
          <p:txBody>
            <a:bodyPr vert="horz" wrap="square" lIns="91440" tIns="45720" rIns="91440" bIns="45720" anchor="t" anchorCtr="0">
              <a:prstTxWarp prst="textNoShape">
                <a:avLst/>
              </a:prstTxWarp>
            </a:bodyPr>
            <a:lstStyle/>
            <a:p>
              <a:pPr lvl="0">
                <a:defRPr/>
              </a:pPr>
              <a:endParaRPr lang="ko-KR" altLang="en-US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891263" y="1471900"/>
              <a:ext cx="1121961" cy="37294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 b="1">
                  <a:solidFill>
                    <a:schemeClr val="bg1"/>
                  </a:solidFill>
                </a:rPr>
                <a:t>Spicule</a:t>
              </a:r>
              <a:endParaRPr lang="ko-KR" alt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6" name="그룹 5"/>
          <p:cNvGrpSpPr/>
          <p:nvPr/>
        </p:nvGrpSpPr>
        <p:grpSpPr>
          <a:xfrm>
            <a:off x="2811046" y="1520314"/>
            <a:ext cx="1987291" cy="815929"/>
            <a:chOff x="2629897" y="1276306"/>
            <a:chExt cx="1970039" cy="815929"/>
          </a:xfrm>
        </p:grpSpPr>
        <p:sp>
          <p:nvSpPr>
            <p:cNvPr id="7" name="_x936979296"/>
            <p:cNvSpPr>
              <a:spLocks noChangeArrowheads="1"/>
            </p:cNvSpPr>
            <p:nvPr/>
          </p:nvSpPr>
          <p:spPr>
            <a:xfrm>
              <a:off x="2629897" y="1276306"/>
              <a:ext cx="1970039" cy="815929"/>
            </a:xfrm>
            <a:prstGeom prst="rect">
              <a:avLst/>
            </a:prstGeom>
            <a:solidFill>
              <a:srgbClr val="515D77"/>
            </a:solidFill>
            <a:ln w="12700">
              <a:noFill/>
              <a:miter/>
            </a:ln>
          </p:spPr>
          <p:txBody>
            <a:bodyPr vert="horz" wrap="square" lIns="91440" tIns="45720" rIns="91440" bIns="45720" anchor="t" anchorCtr="0">
              <a:prstTxWarp prst="textNoShape">
                <a:avLst/>
              </a:prstTxWarp>
            </a:bodyPr>
            <a:lstStyle/>
            <a:p>
              <a:pPr lvl="0">
                <a:defRPr/>
              </a:pPr>
              <a:endParaRPr lang="ko-KR" altLang="en-US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661617" y="1338914"/>
              <a:ext cx="1918583" cy="665738"/>
            </a:xfrm>
            <a:prstGeom prst="rect">
              <a:avLst/>
            </a:prstGeom>
            <a:noFill/>
          </p:spPr>
          <p:txBody>
            <a:bodyPr wrap="square" anchor="ctr">
              <a:noAutofit/>
            </a:bodyPr>
            <a:lstStyle/>
            <a:p>
              <a:pPr algn="ctr">
                <a:defRPr/>
              </a:pPr>
              <a:r>
                <a:rPr lang="en-US" sz="1600" b="1">
                  <a:solidFill>
                    <a:schemeClr val="bg1"/>
                  </a:solidFill>
                  <a:latin typeface="Arial"/>
                  <a:cs typeface="Arial"/>
                </a:rPr>
                <a:t>Inclusion</a:t>
              </a:r>
            </a:p>
            <a:p>
              <a:pPr algn="ctr">
                <a:defRPr/>
              </a:pPr>
              <a:r>
                <a:rPr lang="en-US" sz="1600" b="1">
                  <a:solidFill>
                    <a:schemeClr val="bg1"/>
                  </a:solidFill>
                  <a:latin typeface="Arial"/>
                  <a:cs typeface="Arial"/>
                </a:rPr>
                <a:t>(UHP technology)</a:t>
              </a:r>
            </a:p>
          </p:txBody>
        </p:sp>
      </p:grpSp>
      <p:grpSp>
        <p:nvGrpSpPr>
          <p:cNvPr id="9" name="그룹 8"/>
          <p:cNvGrpSpPr/>
          <p:nvPr/>
        </p:nvGrpSpPr>
        <p:grpSpPr>
          <a:xfrm>
            <a:off x="6861382" y="1521799"/>
            <a:ext cx="2651733" cy="818213"/>
            <a:chOff x="6775119" y="1277791"/>
            <a:chExt cx="2651733" cy="818213"/>
          </a:xfrm>
        </p:grpSpPr>
        <p:sp>
          <p:nvSpPr>
            <p:cNvPr id="10" name="_x936979008"/>
            <p:cNvSpPr>
              <a:spLocks noChangeArrowheads="1"/>
            </p:cNvSpPr>
            <p:nvPr/>
          </p:nvSpPr>
          <p:spPr>
            <a:xfrm>
              <a:off x="7115966" y="1277791"/>
              <a:ext cx="1970040" cy="818213"/>
            </a:xfrm>
            <a:prstGeom prst="rect">
              <a:avLst/>
            </a:prstGeom>
            <a:solidFill>
              <a:srgbClr val="62C2BA"/>
            </a:solidFill>
            <a:ln w="12700">
              <a:noFill/>
              <a:miter/>
            </a:ln>
          </p:spPr>
          <p:txBody>
            <a:bodyPr vert="horz" wrap="square" lIns="91440" tIns="45720" rIns="91440" bIns="45720" anchor="t" anchorCtr="0">
              <a:prstTxWarp prst="textNoShape">
                <a:avLst/>
              </a:prstTxWarp>
            </a:bodyPr>
            <a:lstStyle/>
            <a:p>
              <a:pPr lvl="0">
                <a:defRPr/>
              </a:pPr>
              <a:endParaRPr lang="ko-KR" altLang="en-US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775119" y="1338914"/>
              <a:ext cx="2651733" cy="665738"/>
            </a:xfrm>
            <a:prstGeom prst="rect">
              <a:avLst/>
            </a:prstGeom>
            <a:noFill/>
          </p:spPr>
          <p:txBody>
            <a:bodyPr wrap="square" anchor="ctr">
              <a:noAutofit/>
            </a:bodyPr>
            <a:lstStyle/>
            <a:p>
              <a:pPr algn="ctr">
                <a:defRPr/>
              </a:pPr>
              <a:r>
                <a:rPr lang="en-US" sz="1800" b="1">
                  <a:solidFill>
                    <a:schemeClr val="bg1"/>
                  </a:solidFill>
                  <a:latin typeface="Arial"/>
                  <a:cs typeface="Arial"/>
                </a:rPr>
                <a:t>Amino group-</a:t>
              </a:r>
            </a:p>
            <a:p>
              <a:pPr algn="ctr">
                <a:defRPr/>
              </a:pPr>
              <a:r>
                <a:rPr lang="en-US" sz="1800" b="1">
                  <a:solidFill>
                    <a:schemeClr val="bg1"/>
                  </a:solidFill>
                  <a:latin typeface="Arial"/>
                  <a:cs typeface="Arial"/>
                </a:rPr>
                <a:t>coating</a:t>
              </a:r>
            </a:p>
          </p:txBody>
        </p:sp>
      </p:grpSp>
      <p:grpSp>
        <p:nvGrpSpPr>
          <p:cNvPr id="12" name="그룹 11"/>
          <p:cNvGrpSpPr/>
          <p:nvPr/>
        </p:nvGrpSpPr>
        <p:grpSpPr>
          <a:xfrm>
            <a:off x="5016017" y="1522070"/>
            <a:ext cx="1970040" cy="822510"/>
            <a:chOff x="4877998" y="1278062"/>
            <a:chExt cx="1970040" cy="822510"/>
          </a:xfrm>
        </p:grpSpPr>
        <p:sp>
          <p:nvSpPr>
            <p:cNvPr id="13" name="_x936980016"/>
            <p:cNvSpPr>
              <a:spLocks noChangeArrowheads="1"/>
            </p:cNvSpPr>
            <p:nvPr/>
          </p:nvSpPr>
          <p:spPr>
            <a:xfrm>
              <a:off x="4877998" y="1278062"/>
              <a:ext cx="1970040" cy="822510"/>
            </a:xfrm>
            <a:prstGeom prst="rect">
              <a:avLst/>
            </a:prstGeom>
            <a:solidFill>
              <a:srgbClr val="A9BCD0"/>
            </a:solidFill>
            <a:ln w="12700">
              <a:noFill/>
              <a:miter/>
            </a:ln>
          </p:spPr>
          <p:txBody>
            <a:bodyPr vert="horz" wrap="square" lIns="91440" tIns="45720" rIns="91440" bIns="45720" anchor="t" anchorCtr="0">
              <a:prstTxWarp prst="textNoShape">
                <a:avLst/>
              </a:prstTxWarp>
            </a:bodyPr>
            <a:lstStyle/>
            <a:p>
              <a:pPr algn="ctr">
                <a:defRPr/>
              </a:pPr>
              <a:endParaRPr lang="en-US" altLang="ko-KR" sz="1800">
                <a:solidFill>
                  <a:schemeClr val="bg1"/>
                </a:solidFill>
                <a:latin typeface="Arial"/>
                <a:cs typeface="Arial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988199" y="1329627"/>
              <a:ext cx="1749637" cy="665738"/>
            </a:xfrm>
            <a:prstGeom prst="rect">
              <a:avLst/>
            </a:prstGeom>
            <a:noFill/>
          </p:spPr>
          <p:txBody>
            <a:bodyPr wrap="square" anchor="ctr">
              <a:noAutofit/>
            </a:bodyPr>
            <a:lstStyle/>
            <a:p>
              <a:pPr algn="ctr">
                <a:defRPr/>
              </a:pPr>
              <a:r>
                <a:rPr lang="en-US" sz="1800" b="1">
                  <a:solidFill>
                    <a:schemeClr val="bg1"/>
                  </a:solidFill>
                  <a:latin typeface="Arial"/>
                  <a:cs typeface="Arial"/>
                </a:rPr>
                <a:t>Silica coating</a:t>
              </a:r>
            </a:p>
          </p:txBody>
        </p:sp>
      </p:grpSp>
      <p:grpSp>
        <p:nvGrpSpPr>
          <p:cNvPr id="15" name="그룹 14"/>
          <p:cNvGrpSpPr/>
          <p:nvPr/>
        </p:nvGrpSpPr>
        <p:grpSpPr>
          <a:xfrm>
            <a:off x="9186828" y="1521799"/>
            <a:ext cx="2423814" cy="818213"/>
            <a:chOff x="9160947" y="1277791"/>
            <a:chExt cx="2423814" cy="818213"/>
          </a:xfrm>
        </p:grpSpPr>
        <p:sp>
          <p:nvSpPr>
            <p:cNvPr id="16" name="_x863892536"/>
            <p:cNvSpPr>
              <a:spLocks noChangeArrowheads="1"/>
            </p:cNvSpPr>
            <p:nvPr/>
          </p:nvSpPr>
          <p:spPr>
            <a:xfrm>
              <a:off x="9364068" y="1277791"/>
              <a:ext cx="1983104" cy="818213"/>
            </a:xfrm>
            <a:prstGeom prst="rect">
              <a:avLst/>
            </a:prstGeom>
            <a:solidFill>
              <a:srgbClr val="515D77"/>
            </a:solidFill>
            <a:ln w="12700">
              <a:noFill/>
              <a:miter/>
            </a:ln>
          </p:spPr>
          <p:txBody>
            <a:bodyPr vert="horz" wrap="square" lIns="91440" tIns="45720" rIns="91440" bIns="45720" anchor="t" anchorCtr="0">
              <a:prstTxWarp prst="textNoShape">
                <a:avLst/>
              </a:prstTxWarp>
            </a:bodyPr>
            <a:lstStyle/>
            <a:p>
              <a:pPr lvl="0">
                <a:defRPr/>
              </a:pPr>
              <a:endParaRPr lang="ko-KR" altLang="en-US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9160947" y="1347783"/>
              <a:ext cx="2423814" cy="665738"/>
            </a:xfrm>
            <a:prstGeom prst="rect">
              <a:avLst/>
            </a:prstGeom>
            <a:noFill/>
          </p:spPr>
          <p:txBody>
            <a:bodyPr wrap="square" anchor="ctr">
              <a:noAutofit/>
            </a:bodyPr>
            <a:lstStyle/>
            <a:p>
              <a:pPr algn="ctr">
                <a:defRPr/>
              </a:pPr>
              <a:r>
                <a:rPr lang="en-US" b="1">
                  <a:solidFill>
                    <a:schemeClr val="bg1"/>
                  </a:solidFill>
                  <a:latin typeface="Arial"/>
                  <a:cs typeface="Arial"/>
                </a:rPr>
                <a:t>Diamond seeding</a:t>
              </a:r>
              <a:endParaRPr lang="en-US" sz="1800" b="1">
                <a:solidFill>
                  <a:schemeClr val="bg1"/>
                </a:solidFill>
                <a:latin typeface="Arial"/>
                <a:cs typeface="Arial"/>
              </a:endParaRPr>
            </a:p>
          </p:txBody>
        </p:sp>
      </p:grpSp>
      <p:sp>
        <p:nvSpPr>
          <p:cNvPr id="18" name="Right Arrow 96"/>
          <p:cNvSpPr/>
          <p:nvPr/>
        </p:nvSpPr>
        <p:spPr>
          <a:xfrm>
            <a:off x="2518661" y="4081842"/>
            <a:ext cx="324382" cy="269113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400">
              <a:solidFill>
                <a:prstClr val="white"/>
              </a:solidFill>
              <a:latin typeface="Arial"/>
              <a:cs typeface="Arial"/>
            </a:endParaRPr>
          </a:p>
        </p:txBody>
      </p:sp>
      <p:sp>
        <p:nvSpPr>
          <p:cNvPr id="19" name="Right Arrow 96"/>
          <p:cNvSpPr/>
          <p:nvPr/>
        </p:nvSpPr>
        <p:spPr>
          <a:xfrm>
            <a:off x="4781215" y="4073215"/>
            <a:ext cx="324382" cy="269113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400">
              <a:solidFill>
                <a:prstClr val="white"/>
              </a:solidFill>
              <a:latin typeface="Arial"/>
              <a:cs typeface="Arial"/>
            </a:endParaRPr>
          </a:p>
        </p:txBody>
      </p:sp>
      <p:sp>
        <p:nvSpPr>
          <p:cNvPr id="20" name="Right Arrow 96"/>
          <p:cNvSpPr/>
          <p:nvPr/>
        </p:nvSpPr>
        <p:spPr>
          <a:xfrm>
            <a:off x="6859709" y="4062616"/>
            <a:ext cx="324382" cy="269113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400">
              <a:solidFill>
                <a:prstClr val="white"/>
              </a:solidFill>
              <a:latin typeface="Arial"/>
              <a:cs typeface="Arial"/>
            </a:endParaRPr>
          </a:p>
        </p:txBody>
      </p:sp>
      <p:sp>
        <p:nvSpPr>
          <p:cNvPr id="22" name="Right Arrow 96"/>
          <p:cNvSpPr/>
          <p:nvPr/>
        </p:nvSpPr>
        <p:spPr>
          <a:xfrm>
            <a:off x="9229069" y="4110706"/>
            <a:ext cx="324382" cy="269113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400">
              <a:solidFill>
                <a:prstClr val="white"/>
              </a:solidFill>
              <a:latin typeface="Arial"/>
              <a:cs typeface="Arial"/>
            </a:endParaRPr>
          </a:p>
        </p:txBody>
      </p:sp>
      <p:sp>
        <p:nvSpPr>
          <p:cNvPr id="23" name="_x94254544"/>
          <p:cNvSpPr>
            <a:spLocks noChangeArrowheads="1"/>
          </p:cNvSpPr>
          <p:nvPr/>
        </p:nvSpPr>
        <p:spPr>
          <a:xfrm>
            <a:off x="2592926" y="5892721"/>
            <a:ext cx="2089710" cy="46754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285750" marR="0" lvl="0" indent="-285750" algn="l" defTabSz="914400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Arial"/>
              <a:buChar char="•"/>
              <a:defRPr/>
            </a:pPr>
            <a:r>
              <a:rPr kumimoji="0" lang="en-US" altLang="ko-KR" sz="1800" i="0" u="none" strike="noStrike" cap="none" normalizeH="0" baseline="0">
                <a:solidFill>
                  <a:srgbClr val="FF9900"/>
                </a:solidFill>
                <a:effectLst/>
                <a:latin typeface="Calibri"/>
                <a:ea typeface="Arial Unicode MS"/>
              </a:rPr>
              <a:t>Active ingredient</a:t>
            </a:r>
          </a:p>
          <a:p>
            <a:pPr marL="285750" marR="0" lvl="0" indent="-285750" algn="l" defTabSz="914400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Arial"/>
              <a:buChar char="•"/>
              <a:defRPr/>
            </a:pPr>
            <a:r>
              <a:rPr lang="en-US" altLang="ko-KR">
                <a:solidFill>
                  <a:srgbClr val="FF9900"/>
                </a:solidFill>
                <a:latin typeface="Calibri"/>
                <a:ea typeface="Arial Unicode MS"/>
              </a:rPr>
              <a:t>Drugs, etc. </a:t>
            </a:r>
            <a:endParaRPr kumimoji="0" lang="en-US" altLang="ko-KR" sz="1800" i="0" u="none" strike="noStrike" cap="none" normalizeH="0" baseline="0">
              <a:solidFill>
                <a:srgbClr val="FF9900"/>
              </a:solidFill>
              <a:effectLst/>
              <a:latin typeface="Calibri"/>
              <a:ea typeface="Arial Unicode MS"/>
            </a:endParaRPr>
          </a:p>
        </p:txBody>
      </p:sp>
      <p:sp>
        <p:nvSpPr>
          <p:cNvPr id="25" name="_x94254544"/>
          <p:cNvSpPr>
            <a:spLocks noChangeArrowheads="1"/>
          </p:cNvSpPr>
          <p:nvPr/>
        </p:nvSpPr>
        <p:spPr>
          <a:xfrm>
            <a:off x="5157433" y="5899332"/>
            <a:ext cx="2089710" cy="46754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285750" marR="0" lvl="0" indent="-285750" algn="l" defTabSz="914400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Arial"/>
              <a:buChar char="•"/>
              <a:defRPr/>
            </a:pPr>
            <a:r>
              <a:rPr lang="en-US" altLang="ko-KR">
                <a:solidFill>
                  <a:srgbClr val="FF9900"/>
                </a:solidFill>
                <a:latin typeface="Calibri"/>
                <a:ea typeface="Arial Unicode MS"/>
              </a:rPr>
              <a:t>Surface modification</a:t>
            </a:r>
            <a:endParaRPr kumimoji="0" lang="en-US" altLang="ko-KR" i="0" u="none" strike="noStrike" cap="none" normalizeH="0" baseline="0">
              <a:solidFill>
                <a:srgbClr val="FF9900"/>
              </a:solidFill>
              <a:effectLst/>
              <a:latin typeface="Calibri"/>
              <a:ea typeface="Arial Unicode MS"/>
            </a:endParaRPr>
          </a:p>
        </p:txBody>
      </p:sp>
      <p:sp>
        <p:nvSpPr>
          <p:cNvPr id="26" name="_x94254544"/>
          <p:cNvSpPr>
            <a:spLocks noChangeArrowheads="1"/>
          </p:cNvSpPr>
          <p:nvPr/>
        </p:nvSpPr>
        <p:spPr>
          <a:xfrm>
            <a:off x="7316826" y="5975303"/>
            <a:ext cx="3931211" cy="46754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285750" marR="0" lvl="0" indent="-285750" algn="l" defTabSz="914400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Arial"/>
              <a:buChar char="•"/>
              <a:defRPr/>
            </a:pPr>
            <a:r>
              <a:rPr lang="en-US" altLang="ko-KR">
                <a:solidFill>
                  <a:srgbClr val="FF9900"/>
                </a:solidFill>
                <a:latin typeface="Calibri"/>
                <a:ea typeface="Arial Unicode MS"/>
              </a:rPr>
              <a:t>Linking agent </a:t>
            </a:r>
            <a:endParaRPr kumimoji="0" lang="en-US" altLang="ko-KR" i="0" u="none" strike="noStrike" cap="none" normalizeH="0" baseline="0">
              <a:solidFill>
                <a:srgbClr val="FF9900"/>
              </a:solidFill>
              <a:effectLst/>
              <a:latin typeface="Calibri"/>
              <a:ea typeface="Arial Unicode MS"/>
            </a:endParaRPr>
          </a:p>
        </p:txBody>
      </p:sp>
      <p:sp>
        <p:nvSpPr>
          <p:cNvPr id="27" name="_x94254544"/>
          <p:cNvSpPr>
            <a:spLocks noChangeArrowheads="1"/>
          </p:cNvSpPr>
          <p:nvPr/>
        </p:nvSpPr>
        <p:spPr>
          <a:xfrm>
            <a:off x="356840" y="5898568"/>
            <a:ext cx="2506909" cy="46754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285750" marR="0" lvl="0" indent="-285750" algn="l" defTabSz="914400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Arial"/>
              <a:buChar char="•"/>
              <a:defRPr/>
            </a:pPr>
            <a:r>
              <a:rPr lang="en-US" altLang="ko-KR">
                <a:solidFill>
                  <a:srgbClr val="FF9900"/>
                </a:solidFill>
                <a:latin typeface="Calibri"/>
                <a:ea typeface="Arial Unicode MS"/>
              </a:rPr>
              <a:t>Refined spicule</a:t>
            </a:r>
            <a:endParaRPr kumimoji="0" lang="en-US" altLang="ko-KR" sz="1800" i="0" u="none" strike="noStrike" cap="none" normalizeH="0" baseline="0">
              <a:solidFill>
                <a:srgbClr val="FF9900"/>
              </a:solidFill>
              <a:effectLst/>
              <a:latin typeface="Calibri"/>
              <a:ea typeface="Arial Unicode MS"/>
            </a:endParaRPr>
          </a:p>
        </p:txBody>
      </p:sp>
      <p:sp>
        <p:nvSpPr>
          <p:cNvPr id="28" name="_x94254544"/>
          <p:cNvSpPr>
            <a:spLocks noChangeArrowheads="1"/>
          </p:cNvSpPr>
          <p:nvPr/>
        </p:nvSpPr>
        <p:spPr>
          <a:xfrm>
            <a:off x="9924138" y="5918337"/>
            <a:ext cx="2089710" cy="46754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285750" marR="0" lvl="0" indent="-285750" algn="l" defTabSz="914400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Arial"/>
              <a:buChar char="•"/>
              <a:defRPr/>
            </a:pPr>
            <a:r>
              <a:rPr lang="en-US" altLang="ko-KR">
                <a:solidFill>
                  <a:srgbClr val="FF9900"/>
                </a:solidFill>
                <a:latin typeface="Calibri"/>
                <a:ea typeface="Arial Unicode MS"/>
              </a:rPr>
              <a:t>Surface adsorption</a:t>
            </a:r>
            <a:endParaRPr kumimoji="0" lang="en-US" altLang="ko-KR" sz="1800" i="0" u="none" strike="noStrike" cap="none" normalizeH="0" baseline="0">
              <a:solidFill>
                <a:srgbClr val="FF9900"/>
              </a:solidFill>
              <a:effectLst/>
              <a:latin typeface="Calibri"/>
              <a:ea typeface="Arial Unicode MS"/>
            </a:endParaRPr>
          </a:p>
        </p:txBody>
      </p:sp>
      <p:pic>
        <p:nvPicPr>
          <p:cNvPr id="31" name="그림 30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9168384" y="3490670"/>
            <a:ext cx="414724" cy="606726"/>
          </a:xfrm>
          <a:prstGeom prst="rect">
            <a:avLst/>
          </a:prstGeom>
        </p:spPr>
      </p:pic>
      <p:sp>
        <p:nvSpPr>
          <p:cNvPr id="32" name="자유형: 도형 31"/>
          <p:cNvSpPr/>
          <p:nvPr/>
        </p:nvSpPr>
        <p:spPr>
          <a:xfrm rot="1089461">
            <a:off x="1437834" y="3191229"/>
            <a:ext cx="272203" cy="1845111"/>
          </a:xfrm>
          <a:custGeom>
            <a:avLst/>
            <a:gdLst>
              <a:gd name="connsiteX0" fmla="*/ 266799 w 628749"/>
              <a:gd name="connsiteY0" fmla="*/ 65 h 2238503"/>
              <a:gd name="connsiteX1" fmla="*/ 99 w 628749"/>
              <a:gd name="connsiteY1" fmla="*/ 1133540 h 2238503"/>
              <a:gd name="connsiteX2" fmla="*/ 295374 w 628749"/>
              <a:gd name="connsiteY2" fmla="*/ 2238440 h 2238503"/>
              <a:gd name="connsiteX3" fmla="*/ 628749 w 628749"/>
              <a:gd name="connsiteY3" fmla="*/ 1085915 h 2238503"/>
              <a:gd name="connsiteX4" fmla="*/ 266799 w 628749"/>
              <a:gd name="connsiteY4" fmla="*/ 65 h 2238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8749" h="2238503">
                <a:moveTo>
                  <a:pt x="266799" y="65"/>
                </a:moveTo>
                <a:cubicBezTo>
                  <a:pt x="162024" y="8003"/>
                  <a:pt x="-4663" y="760478"/>
                  <a:pt x="99" y="1133540"/>
                </a:cubicBezTo>
                <a:cubicBezTo>
                  <a:pt x="4861" y="1506602"/>
                  <a:pt x="190599" y="2246378"/>
                  <a:pt x="295374" y="2238440"/>
                </a:cubicBezTo>
                <a:cubicBezTo>
                  <a:pt x="400149" y="2230503"/>
                  <a:pt x="628749" y="1460565"/>
                  <a:pt x="628749" y="1085915"/>
                </a:cubicBezTo>
                <a:cubicBezTo>
                  <a:pt x="628749" y="711265"/>
                  <a:pt x="371574" y="-7873"/>
                  <a:pt x="266799" y="65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3" name="자유형: 도형 32"/>
          <p:cNvSpPr/>
          <p:nvPr/>
        </p:nvSpPr>
        <p:spPr>
          <a:xfrm rot="1156025">
            <a:off x="3516021" y="3214820"/>
            <a:ext cx="260141" cy="1819758"/>
          </a:xfrm>
          <a:custGeom>
            <a:avLst/>
            <a:gdLst>
              <a:gd name="connsiteX0" fmla="*/ 266799 w 628749"/>
              <a:gd name="connsiteY0" fmla="*/ 65 h 2238503"/>
              <a:gd name="connsiteX1" fmla="*/ 99 w 628749"/>
              <a:gd name="connsiteY1" fmla="*/ 1133540 h 2238503"/>
              <a:gd name="connsiteX2" fmla="*/ 295374 w 628749"/>
              <a:gd name="connsiteY2" fmla="*/ 2238440 h 2238503"/>
              <a:gd name="connsiteX3" fmla="*/ 628749 w 628749"/>
              <a:gd name="connsiteY3" fmla="*/ 1085915 h 2238503"/>
              <a:gd name="connsiteX4" fmla="*/ 266799 w 628749"/>
              <a:gd name="connsiteY4" fmla="*/ 65 h 2238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8749" h="2238503">
                <a:moveTo>
                  <a:pt x="266799" y="65"/>
                </a:moveTo>
                <a:cubicBezTo>
                  <a:pt x="162024" y="8003"/>
                  <a:pt x="-4663" y="760478"/>
                  <a:pt x="99" y="1133540"/>
                </a:cubicBezTo>
                <a:cubicBezTo>
                  <a:pt x="4861" y="1506602"/>
                  <a:pt x="190599" y="2246378"/>
                  <a:pt x="295374" y="2238440"/>
                </a:cubicBezTo>
                <a:cubicBezTo>
                  <a:pt x="400149" y="2230503"/>
                  <a:pt x="628749" y="1460565"/>
                  <a:pt x="628749" y="1085915"/>
                </a:cubicBezTo>
                <a:cubicBezTo>
                  <a:pt x="628749" y="711265"/>
                  <a:pt x="371574" y="-7873"/>
                  <a:pt x="266799" y="65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4" name="자유형: 도형 33"/>
          <p:cNvSpPr/>
          <p:nvPr/>
        </p:nvSpPr>
        <p:spPr>
          <a:xfrm rot="1156025">
            <a:off x="3565455" y="3361946"/>
            <a:ext cx="127433" cy="1554493"/>
          </a:xfrm>
          <a:custGeom>
            <a:avLst/>
            <a:gdLst>
              <a:gd name="connsiteX0" fmla="*/ 266799 w 628749"/>
              <a:gd name="connsiteY0" fmla="*/ 65 h 2238503"/>
              <a:gd name="connsiteX1" fmla="*/ 99 w 628749"/>
              <a:gd name="connsiteY1" fmla="*/ 1133540 h 2238503"/>
              <a:gd name="connsiteX2" fmla="*/ 295374 w 628749"/>
              <a:gd name="connsiteY2" fmla="*/ 2238440 h 2238503"/>
              <a:gd name="connsiteX3" fmla="*/ 628749 w 628749"/>
              <a:gd name="connsiteY3" fmla="*/ 1085915 h 2238503"/>
              <a:gd name="connsiteX4" fmla="*/ 266799 w 628749"/>
              <a:gd name="connsiteY4" fmla="*/ 65 h 2238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8749" h="2238503">
                <a:moveTo>
                  <a:pt x="266799" y="65"/>
                </a:moveTo>
                <a:cubicBezTo>
                  <a:pt x="162024" y="8003"/>
                  <a:pt x="-4663" y="760478"/>
                  <a:pt x="99" y="1133540"/>
                </a:cubicBezTo>
                <a:cubicBezTo>
                  <a:pt x="4861" y="1506602"/>
                  <a:pt x="190599" y="2246378"/>
                  <a:pt x="295374" y="2238440"/>
                </a:cubicBezTo>
                <a:cubicBezTo>
                  <a:pt x="400149" y="2230503"/>
                  <a:pt x="628749" y="1460565"/>
                  <a:pt x="628749" y="1085915"/>
                </a:cubicBezTo>
                <a:cubicBezTo>
                  <a:pt x="628749" y="711265"/>
                  <a:pt x="371574" y="-7873"/>
                  <a:pt x="266799" y="65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5" name="타원 34"/>
          <p:cNvSpPr/>
          <p:nvPr/>
        </p:nvSpPr>
        <p:spPr>
          <a:xfrm rot="665901">
            <a:off x="3742674" y="3643174"/>
            <a:ext cx="72000" cy="72000"/>
          </a:xfrm>
          <a:prstGeom prst="ellipse">
            <a:avLst/>
          </a:prstGeom>
          <a:solidFill>
            <a:srgbClr val="FF0000"/>
          </a:solidFill>
          <a:ln>
            <a:solidFill>
              <a:schemeClr val="bg2">
                <a:lumMod val="5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6" name="타원 35"/>
          <p:cNvSpPr/>
          <p:nvPr/>
        </p:nvSpPr>
        <p:spPr>
          <a:xfrm rot="141501">
            <a:off x="3705223" y="3860586"/>
            <a:ext cx="72000" cy="72000"/>
          </a:xfrm>
          <a:prstGeom prst="ellipse">
            <a:avLst/>
          </a:prstGeom>
          <a:solidFill>
            <a:srgbClr val="FF0000"/>
          </a:solidFill>
          <a:ln>
            <a:solidFill>
              <a:schemeClr val="bg2">
                <a:lumMod val="5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7" name="타원 36"/>
          <p:cNvSpPr/>
          <p:nvPr/>
        </p:nvSpPr>
        <p:spPr>
          <a:xfrm rot="141501">
            <a:off x="3621229" y="4046558"/>
            <a:ext cx="72000" cy="72000"/>
          </a:xfrm>
          <a:prstGeom prst="ellipse">
            <a:avLst/>
          </a:prstGeom>
          <a:solidFill>
            <a:srgbClr val="FF0000"/>
          </a:solidFill>
          <a:ln>
            <a:solidFill>
              <a:schemeClr val="bg2">
                <a:lumMod val="5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8" name="타원 37"/>
          <p:cNvSpPr/>
          <p:nvPr/>
        </p:nvSpPr>
        <p:spPr>
          <a:xfrm rot="141501">
            <a:off x="3536968" y="4375004"/>
            <a:ext cx="72000" cy="72000"/>
          </a:xfrm>
          <a:prstGeom prst="ellipse">
            <a:avLst/>
          </a:prstGeom>
          <a:solidFill>
            <a:srgbClr val="FF0000"/>
          </a:solidFill>
          <a:ln>
            <a:solidFill>
              <a:schemeClr val="bg2">
                <a:lumMod val="5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9" name="타원 38"/>
          <p:cNvSpPr/>
          <p:nvPr/>
        </p:nvSpPr>
        <p:spPr>
          <a:xfrm rot="141501">
            <a:off x="3564330" y="4227453"/>
            <a:ext cx="72000" cy="72000"/>
          </a:xfrm>
          <a:prstGeom prst="ellipse">
            <a:avLst/>
          </a:prstGeom>
          <a:solidFill>
            <a:srgbClr val="FF0000"/>
          </a:solidFill>
          <a:ln>
            <a:solidFill>
              <a:schemeClr val="bg2">
                <a:lumMod val="5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0" name="타원 39"/>
          <p:cNvSpPr/>
          <p:nvPr/>
        </p:nvSpPr>
        <p:spPr>
          <a:xfrm rot="141501">
            <a:off x="3440496" y="4457344"/>
            <a:ext cx="72000" cy="72000"/>
          </a:xfrm>
          <a:prstGeom prst="ellipse">
            <a:avLst/>
          </a:prstGeom>
          <a:solidFill>
            <a:srgbClr val="FF0000"/>
          </a:solidFill>
          <a:ln>
            <a:solidFill>
              <a:schemeClr val="bg2">
                <a:lumMod val="5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1" name="타원 40"/>
          <p:cNvSpPr/>
          <p:nvPr/>
        </p:nvSpPr>
        <p:spPr>
          <a:xfrm rot="141501">
            <a:off x="3412897" y="4615345"/>
            <a:ext cx="72000" cy="72000"/>
          </a:xfrm>
          <a:prstGeom prst="ellipse">
            <a:avLst/>
          </a:prstGeom>
          <a:solidFill>
            <a:srgbClr val="FF0000"/>
          </a:solidFill>
          <a:ln>
            <a:solidFill>
              <a:schemeClr val="bg2">
                <a:lumMod val="5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2" name="자유형: 도형 41"/>
          <p:cNvSpPr/>
          <p:nvPr/>
        </p:nvSpPr>
        <p:spPr>
          <a:xfrm rot="1156025">
            <a:off x="5793152" y="3227389"/>
            <a:ext cx="260141" cy="1819758"/>
          </a:xfrm>
          <a:custGeom>
            <a:avLst/>
            <a:gdLst>
              <a:gd name="connsiteX0" fmla="*/ 266799 w 628749"/>
              <a:gd name="connsiteY0" fmla="*/ 65 h 2238503"/>
              <a:gd name="connsiteX1" fmla="*/ 99 w 628749"/>
              <a:gd name="connsiteY1" fmla="*/ 1133540 h 2238503"/>
              <a:gd name="connsiteX2" fmla="*/ 295374 w 628749"/>
              <a:gd name="connsiteY2" fmla="*/ 2238440 h 2238503"/>
              <a:gd name="connsiteX3" fmla="*/ 628749 w 628749"/>
              <a:gd name="connsiteY3" fmla="*/ 1085915 h 2238503"/>
              <a:gd name="connsiteX4" fmla="*/ 266799 w 628749"/>
              <a:gd name="connsiteY4" fmla="*/ 65 h 2238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8749" h="2238503">
                <a:moveTo>
                  <a:pt x="266799" y="65"/>
                </a:moveTo>
                <a:cubicBezTo>
                  <a:pt x="162024" y="8003"/>
                  <a:pt x="-4663" y="760478"/>
                  <a:pt x="99" y="1133540"/>
                </a:cubicBezTo>
                <a:cubicBezTo>
                  <a:pt x="4861" y="1506602"/>
                  <a:pt x="190599" y="2246378"/>
                  <a:pt x="295374" y="2238440"/>
                </a:cubicBezTo>
                <a:cubicBezTo>
                  <a:pt x="400149" y="2230503"/>
                  <a:pt x="628749" y="1460565"/>
                  <a:pt x="628749" y="1085915"/>
                </a:cubicBezTo>
                <a:cubicBezTo>
                  <a:pt x="628749" y="711265"/>
                  <a:pt x="371574" y="-7873"/>
                  <a:pt x="266799" y="65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3" name="자유형: 도형 42"/>
          <p:cNvSpPr/>
          <p:nvPr/>
        </p:nvSpPr>
        <p:spPr>
          <a:xfrm rot="1156025">
            <a:off x="5842586" y="3374515"/>
            <a:ext cx="127433" cy="1554493"/>
          </a:xfrm>
          <a:custGeom>
            <a:avLst/>
            <a:gdLst>
              <a:gd name="connsiteX0" fmla="*/ 266799 w 628749"/>
              <a:gd name="connsiteY0" fmla="*/ 65 h 2238503"/>
              <a:gd name="connsiteX1" fmla="*/ 99 w 628749"/>
              <a:gd name="connsiteY1" fmla="*/ 1133540 h 2238503"/>
              <a:gd name="connsiteX2" fmla="*/ 295374 w 628749"/>
              <a:gd name="connsiteY2" fmla="*/ 2238440 h 2238503"/>
              <a:gd name="connsiteX3" fmla="*/ 628749 w 628749"/>
              <a:gd name="connsiteY3" fmla="*/ 1085915 h 2238503"/>
              <a:gd name="connsiteX4" fmla="*/ 266799 w 628749"/>
              <a:gd name="connsiteY4" fmla="*/ 65 h 2238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8749" h="2238503">
                <a:moveTo>
                  <a:pt x="266799" y="65"/>
                </a:moveTo>
                <a:cubicBezTo>
                  <a:pt x="162024" y="8003"/>
                  <a:pt x="-4663" y="760478"/>
                  <a:pt x="99" y="1133540"/>
                </a:cubicBezTo>
                <a:cubicBezTo>
                  <a:pt x="4861" y="1506602"/>
                  <a:pt x="190599" y="2246378"/>
                  <a:pt x="295374" y="2238440"/>
                </a:cubicBezTo>
                <a:cubicBezTo>
                  <a:pt x="400149" y="2230503"/>
                  <a:pt x="628749" y="1460565"/>
                  <a:pt x="628749" y="1085915"/>
                </a:cubicBezTo>
                <a:cubicBezTo>
                  <a:pt x="628749" y="711265"/>
                  <a:pt x="371574" y="-7873"/>
                  <a:pt x="266799" y="65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4" name="타원 43"/>
          <p:cNvSpPr/>
          <p:nvPr/>
        </p:nvSpPr>
        <p:spPr>
          <a:xfrm rot="665901">
            <a:off x="6019805" y="3646507"/>
            <a:ext cx="72000" cy="72000"/>
          </a:xfrm>
          <a:prstGeom prst="ellipse">
            <a:avLst/>
          </a:prstGeom>
          <a:solidFill>
            <a:srgbClr val="FF0000"/>
          </a:solidFill>
          <a:ln>
            <a:solidFill>
              <a:schemeClr val="bg2">
                <a:lumMod val="5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5" name="타원 44"/>
          <p:cNvSpPr/>
          <p:nvPr/>
        </p:nvSpPr>
        <p:spPr>
          <a:xfrm rot="141501">
            <a:off x="5982354" y="3873155"/>
            <a:ext cx="72000" cy="72000"/>
          </a:xfrm>
          <a:prstGeom prst="ellipse">
            <a:avLst/>
          </a:prstGeom>
          <a:solidFill>
            <a:srgbClr val="FF0000"/>
          </a:solidFill>
          <a:ln>
            <a:solidFill>
              <a:schemeClr val="bg2">
                <a:lumMod val="5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6" name="타원 45"/>
          <p:cNvSpPr/>
          <p:nvPr/>
        </p:nvSpPr>
        <p:spPr>
          <a:xfrm rot="141501">
            <a:off x="5898360" y="4059127"/>
            <a:ext cx="72000" cy="72000"/>
          </a:xfrm>
          <a:prstGeom prst="ellipse">
            <a:avLst/>
          </a:prstGeom>
          <a:solidFill>
            <a:srgbClr val="FF0000"/>
          </a:solidFill>
          <a:ln>
            <a:solidFill>
              <a:schemeClr val="bg2">
                <a:lumMod val="5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7" name="타원 46"/>
          <p:cNvSpPr/>
          <p:nvPr/>
        </p:nvSpPr>
        <p:spPr>
          <a:xfrm rot="141501">
            <a:off x="5814099" y="4387573"/>
            <a:ext cx="72000" cy="72000"/>
          </a:xfrm>
          <a:prstGeom prst="ellipse">
            <a:avLst/>
          </a:prstGeom>
          <a:solidFill>
            <a:srgbClr val="FF0000"/>
          </a:solidFill>
          <a:ln>
            <a:solidFill>
              <a:schemeClr val="bg2">
                <a:lumMod val="5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8" name="타원 47"/>
          <p:cNvSpPr/>
          <p:nvPr/>
        </p:nvSpPr>
        <p:spPr>
          <a:xfrm rot="141501">
            <a:off x="5841461" y="4240022"/>
            <a:ext cx="72000" cy="72000"/>
          </a:xfrm>
          <a:prstGeom prst="ellipse">
            <a:avLst/>
          </a:prstGeom>
          <a:solidFill>
            <a:srgbClr val="FF0000"/>
          </a:solidFill>
          <a:ln>
            <a:solidFill>
              <a:schemeClr val="bg2">
                <a:lumMod val="5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9" name="타원 48"/>
          <p:cNvSpPr/>
          <p:nvPr/>
        </p:nvSpPr>
        <p:spPr>
          <a:xfrm rot="141501">
            <a:off x="5717627" y="4469913"/>
            <a:ext cx="72000" cy="72000"/>
          </a:xfrm>
          <a:prstGeom prst="ellipse">
            <a:avLst/>
          </a:prstGeom>
          <a:solidFill>
            <a:srgbClr val="FF0000"/>
          </a:solidFill>
          <a:ln>
            <a:solidFill>
              <a:schemeClr val="bg2">
                <a:lumMod val="5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0" name="타원 49"/>
          <p:cNvSpPr/>
          <p:nvPr/>
        </p:nvSpPr>
        <p:spPr>
          <a:xfrm rot="141501">
            <a:off x="5690028" y="4627914"/>
            <a:ext cx="72000" cy="72000"/>
          </a:xfrm>
          <a:prstGeom prst="ellipse">
            <a:avLst/>
          </a:prstGeom>
          <a:solidFill>
            <a:srgbClr val="FF0000"/>
          </a:solidFill>
          <a:ln>
            <a:solidFill>
              <a:schemeClr val="bg2">
                <a:lumMod val="5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1" name="자유형: 도형 50"/>
          <p:cNvSpPr/>
          <p:nvPr/>
        </p:nvSpPr>
        <p:spPr>
          <a:xfrm rot="1156025">
            <a:off x="8022218" y="3262874"/>
            <a:ext cx="260141" cy="1819758"/>
          </a:xfrm>
          <a:custGeom>
            <a:avLst/>
            <a:gdLst>
              <a:gd name="connsiteX0" fmla="*/ 266799 w 628749"/>
              <a:gd name="connsiteY0" fmla="*/ 65 h 2238503"/>
              <a:gd name="connsiteX1" fmla="*/ 99 w 628749"/>
              <a:gd name="connsiteY1" fmla="*/ 1133540 h 2238503"/>
              <a:gd name="connsiteX2" fmla="*/ 295374 w 628749"/>
              <a:gd name="connsiteY2" fmla="*/ 2238440 h 2238503"/>
              <a:gd name="connsiteX3" fmla="*/ 628749 w 628749"/>
              <a:gd name="connsiteY3" fmla="*/ 1085915 h 2238503"/>
              <a:gd name="connsiteX4" fmla="*/ 266799 w 628749"/>
              <a:gd name="connsiteY4" fmla="*/ 65 h 2238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8749" h="2238503">
                <a:moveTo>
                  <a:pt x="266799" y="65"/>
                </a:moveTo>
                <a:cubicBezTo>
                  <a:pt x="162024" y="8003"/>
                  <a:pt x="-4663" y="760478"/>
                  <a:pt x="99" y="1133540"/>
                </a:cubicBezTo>
                <a:cubicBezTo>
                  <a:pt x="4861" y="1506602"/>
                  <a:pt x="190599" y="2246378"/>
                  <a:pt x="295374" y="2238440"/>
                </a:cubicBezTo>
                <a:cubicBezTo>
                  <a:pt x="400149" y="2230503"/>
                  <a:pt x="628749" y="1460565"/>
                  <a:pt x="628749" y="1085915"/>
                </a:cubicBezTo>
                <a:cubicBezTo>
                  <a:pt x="628749" y="711265"/>
                  <a:pt x="371574" y="-7873"/>
                  <a:pt x="266799" y="65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2" name="자유형: 도형 51"/>
          <p:cNvSpPr/>
          <p:nvPr/>
        </p:nvSpPr>
        <p:spPr>
          <a:xfrm rot="1156025">
            <a:off x="8071652" y="3410000"/>
            <a:ext cx="127433" cy="1554493"/>
          </a:xfrm>
          <a:custGeom>
            <a:avLst/>
            <a:gdLst>
              <a:gd name="connsiteX0" fmla="*/ 266799 w 628749"/>
              <a:gd name="connsiteY0" fmla="*/ 65 h 2238503"/>
              <a:gd name="connsiteX1" fmla="*/ 99 w 628749"/>
              <a:gd name="connsiteY1" fmla="*/ 1133540 h 2238503"/>
              <a:gd name="connsiteX2" fmla="*/ 295374 w 628749"/>
              <a:gd name="connsiteY2" fmla="*/ 2238440 h 2238503"/>
              <a:gd name="connsiteX3" fmla="*/ 628749 w 628749"/>
              <a:gd name="connsiteY3" fmla="*/ 1085915 h 2238503"/>
              <a:gd name="connsiteX4" fmla="*/ 266799 w 628749"/>
              <a:gd name="connsiteY4" fmla="*/ 65 h 2238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8749" h="2238503">
                <a:moveTo>
                  <a:pt x="266799" y="65"/>
                </a:moveTo>
                <a:cubicBezTo>
                  <a:pt x="162024" y="8003"/>
                  <a:pt x="-4663" y="760478"/>
                  <a:pt x="99" y="1133540"/>
                </a:cubicBezTo>
                <a:cubicBezTo>
                  <a:pt x="4861" y="1506602"/>
                  <a:pt x="190599" y="2246378"/>
                  <a:pt x="295374" y="2238440"/>
                </a:cubicBezTo>
                <a:cubicBezTo>
                  <a:pt x="400149" y="2230503"/>
                  <a:pt x="628749" y="1460565"/>
                  <a:pt x="628749" y="1085915"/>
                </a:cubicBezTo>
                <a:cubicBezTo>
                  <a:pt x="628749" y="711265"/>
                  <a:pt x="371574" y="-7873"/>
                  <a:pt x="266799" y="65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3" name="타원 52"/>
          <p:cNvSpPr/>
          <p:nvPr/>
        </p:nvSpPr>
        <p:spPr>
          <a:xfrm rot="665901">
            <a:off x="8248871" y="3681992"/>
            <a:ext cx="72000" cy="72000"/>
          </a:xfrm>
          <a:prstGeom prst="ellipse">
            <a:avLst/>
          </a:prstGeom>
          <a:solidFill>
            <a:srgbClr val="FF0000"/>
          </a:solidFill>
          <a:ln>
            <a:solidFill>
              <a:schemeClr val="bg2">
                <a:lumMod val="5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4" name="타원 53"/>
          <p:cNvSpPr/>
          <p:nvPr/>
        </p:nvSpPr>
        <p:spPr>
          <a:xfrm rot="141501">
            <a:off x="8211420" y="3899404"/>
            <a:ext cx="72000" cy="72000"/>
          </a:xfrm>
          <a:prstGeom prst="ellipse">
            <a:avLst/>
          </a:prstGeom>
          <a:solidFill>
            <a:srgbClr val="FF0000"/>
          </a:solidFill>
          <a:ln>
            <a:solidFill>
              <a:schemeClr val="bg2">
                <a:lumMod val="5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5" name="타원 54"/>
          <p:cNvSpPr/>
          <p:nvPr/>
        </p:nvSpPr>
        <p:spPr>
          <a:xfrm rot="141501">
            <a:off x="8127426" y="4094612"/>
            <a:ext cx="72000" cy="72000"/>
          </a:xfrm>
          <a:prstGeom prst="ellipse">
            <a:avLst/>
          </a:prstGeom>
          <a:solidFill>
            <a:srgbClr val="FF0000"/>
          </a:solidFill>
          <a:ln>
            <a:solidFill>
              <a:schemeClr val="bg2">
                <a:lumMod val="5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6" name="타원 55"/>
          <p:cNvSpPr/>
          <p:nvPr/>
        </p:nvSpPr>
        <p:spPr>
          <a:xfrm rot="141501">
            <a:off x="8043165" y="4423058"/>
            <a:ext cx="72000" cy="72000"/>
          </a:xfrm>
          <a:prstGeom prst="ellipse">
            <a:avLst/>
          </a:prstGeom>
          <a:solidFill>
            <a:srgbClr val="FF0000"/>
          </a:solidFill>
          <a:ln>
            <a:solidFill>
              <a:schemeClr val="bg2">
                <a:lumMod val="5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7" name="타원 56"/>
          <p:cNvSpPr/>
          <p:nvPr/>
        </p:nvSpPr>
        <p:spPr>
          <a:xfrm rot="141501">
            <a:off x="8070527" y="4275507"/>
            <a:ext cx="72000" cy="72000"/>
          </a:xfrm>
          <a:prstGeom prst="ellipse">
            <a:avLst/>
          </a:prstGeom>
          <a:solidFill>
            <a:srgbClr val="FF0000"/>
          </a:solidFill>
          <a:ln>
            <a:solidFill>
              <a:schemeClr val="bg2">
                <a:lumMod val="5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8" name="타원 57"/>
          <p:cNvSpPr/>
          <p:nvPr/>
        </p:nvSpPr>
        <p:spPr>
          <a:xfrm rot="141501">
            <a:off x="7946693" y="4505398"/>
            <a:ext cx="72000" cy="72000"/>
          </a:xfrm>
          <a:prstGeom prst="ellipse">
            <a:avLst/>
          </a:prstGeom>
          <a:solidFill>
            <a:srgbClr val="FF0000"/>
          </a:solidFill>
          <a:ln>
            <a:solidFill>
              <a:schemeClr val="bg2">
                <a:lumMod val="5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9" name="타원 58"/>
          <p:cNvSpPr/>
          <p:nvPr/>
        </p:nvSpPr>
        <p:spPr>
          <a:xfrm rot="141501">
            <a:off x="7919094" y="4663399"/>
            <a:ext cx="72000" cy="72000"/>
          </a:xfrm>
          <a:prstGeom prst="ellipse">
            <a:avLst/>
          </a:prstGeom>
          <a:solidFill>
            <a:srgbClr val="FF0000"/>
          </a:solidFill>
          <a:ln>
            <a:solidFill>
              <a:schemeClr val="bg2">
                <a:lumMod val="5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60" name="자유형: 도형 59"/>
          <p:cNvSpPr/>
          <p:nvPr/>
        </p:nvSpPr>
        <p:spPr>
          <a:xfrm rot="1089461">
            <a:off x="10143546" y="3264690"/>
            <a:ext cx="272203" cy="1845111"/>
          </a:xfrm>
          <a:custGeom>
            <a:avLst/>
            <a:gdLst>
              <a:gd name="connsiteX0" fmla="*/ 266799 w 628749"/>
              <a:gd name="connsiteY0" fmla="*/ 65 h 2238503"/>
              <a:gd name="connsiteX1" fmla="*/ 99 w 628749"/>
              <a:gd name="connsiteY1" fmla="*/ 1133540 h 2238503"/>
              <a:gd name="connsiteX2" fmla="*/ 295374 w 628749"/>
              <a:gd name="connsiteY2" fmla="*/ 2238440 h 2238503"/>
              <a:gd name="connsiteX3" fmla="*/ 628749 w 628749"/>
              <a:gd name="connsiteY3" fmla="*/ 1085915 h 2238503"/>
              <a:gd name="connsiteX4" fmla="*/ 266799 w 628749"/>
              <a:gd name="connsiteY4" fmla="*/ 65 h 2238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8749" h="2238503">
                <a:moveTo>
                  <a:pt x="266799" y="65"/>
                </a:moveTo>
                <a:cubicBezTo>
                  <a:pt x="162024" y="8003"/>
                  <a:pt x="-4663" y="760478"/>
                  <a:pt x="99" y="1133540"/>
                </a:cubicBezTo>
                <a:cubicBezTo>
                  <a:pt x="4861" y="1506602"/>
                  <a:pt x="190599" y="2246378"/>
                  <a:pt x="295374" y="2238440"/>
                </a:cubicBezTo>
                <a:cubicBezTo>
                  <a:pt x="400149" y="2230503"/>
                  <a:pt x="628749" y="1460565"/>
                  <a:pt x="628749" y="1085915"/>
                </a:cubicBezTo>
                <a:cubicBezTo>
                  <a:pt x="628749" y="711265"/>
                  <a:pt x="371574" y="-7873"/>
                  <a:pt x="266799" y="65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61" name="순서도: 준비 60"/>
          <p:cNvSpPr/>
          <p:nvPr/>
        </p:nvSpPr>
        <p:spPr>
          <a:xfrm>
            <a:off x="10422046" y="3663443"/>
            <a:ext cx="127512" cy="102384"/>
          </a:xfrm>
          <a:prstGeom prst="flowChartPreparation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9000">
                <a:schemeClr val="bg1"/>
              </a:gs>
              <a:gs pos="95000">
                <a:schemeClr val="bg1">
                  <a:lumMod val="65000"/>
                </a:schemeClr>
              </a:gs>
            </a:gsLst>
            <a:path path="rect">
              <a:fillToRect l="50000" t="50000" r="50000" b="50000"/>
            </a:path>
            <a:tileRect/>
          </a:gra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62" name="순서도: 준비 61"/>
          <p:cNvSpPr/>
          <p:nvPr/>
        </p:nvSpPr>
        <p:spPr>
          <a:xfrm>
            <a:off x="10200326" y="3866005"/>
            <a:ext cx="112367" cy="101729"/>
          </a:xfrm>
          <a:prstGeom prst="flowChartPreparation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9000">
                <a:schemeClr val="bg1"/>
              </a:gs>
              <a:gs pos="95000">
                <a:schemeClr val="bg1">
                  <a:lumMod val="65000"/>
                </a:schemeClr>
              </a:gs>
            </a:gsLst>
            <a:path path="rect">
              <a:fillToRect l="50000" t="50000" r="50000" b="50000"/>
            </a:path>
            <a:tileRect/>
          </a:gra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63" name="순서도: 준비 62"/>
          <p:cNvSpPr/>
          <p:nvPr/>
        </p:nvSpPr>
        <p:spPr>
          <a:xfrm>
            <a:off x="10364104" y="3985231"/>
            <a:ext cx="112367" cy="101729"/>
          </a:xfrm>
          <a:prstGeom prst="flowChartPreparation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9000">
                <a:schemeClr val="bg1"/>
              </a:gs>
              <a:gs pos="95000">
                <a:schemeClr val="bg1">
                  <a:lumMod val="65000"/>
                </a:schemeClr>
              </a:gs>
            </a:gsLst>
            <a:path path="rect">
              <a:fillToRect l="50000" t="50000" r="50000" b="50000"/>
            </a:path>
            <a:tileRect/>
          </a:gra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64" name="순서도: 준비 63"/>
          <p:cNvSpPr/>
          <p:nvPr/>
        </p:nvSpPr>
        <p:spPr>
          <a:xfrm>
            <a:off x="10375828" y="3430861"/>
            <a:ext cx="120462" cy="112792"/>
          </a:xfrm>
          <a:prstGeom prst="flowChartPreparation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9000">
                <a:schemeClr val="bg1"/>
              </a:gs>
              <a:gs pos="95000">
                <a:schemeClr val="bg1">
                  <a:lumMod val="65000"/>
                </a:schemeClr>
              </a:gs>
            </a:gsLst>
            <a:path path="rect">
              <a:fillToRect l="50000" t="50000" r="50000" b="50000"/>
            </a:path>
            <a:tileRect/>
          </a:gra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65" name="순서도: 준비 64"/>
          <p:cNvSpPr/>
          <p:nvPr/>
        </p:nvSpPr>
        <p:spPr>
          <a:xfrm>
            <a:off x="10060244" y="4263053"/>
            <a:ext cx="112367" cy="101729"/>
          </a:xfrm>
          <a:prstGeom prst="flowChartPreparation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9000">
                <a:schemeClr val="bg1"/>
              </a:gs>
              <a:gs pos="95000">
                <a:schemeClr val="bg1">
                  <a:lumMod val="65000"/>
                </a:schemeClr>
              </a:gs>
            </a:gsLst>
            <a:path path="rect">
              <a:fillToRect l="50000" t="50000" r="50000" b="50000"/>
            </a:path>
            <a:tileRect/>
          </a:gra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66" name="순서도: 준비 65"/>
          <p:cNvSpPr/>
          <p:nvPr/>
        </p:nvSpPr>
        <p:spPr>
          <a:xfrm>
            <a:off x="10184373" y="4535258"/>
            <a:ext cx="112367" cy="101729"/>
          </a:xfrm>
          <a:prstGeom prst="flowChartPreparation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9000">
                <a:schemeClr val="bg1"/>
              </a:gs>
              <a:gs pos="95000">
                <a:schemeClr val="bg1">
                  <a:lumMod val="65000"/>
                </a:schemeClr>
              </a:gs>
            </a:gsLst>
            <a:path path="rect">
              <a:fillToRect l="50000" t="50000" r="50000" b="50000"/>
            </a:path>
            <a:tileRect/>
          </a:gra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67" name="순서도: 준비 66"/>
          <p:cNvSpPr/>
          <p:nvPr/>
        </p:nvSpPr>
        <p:spPr>
          <a:xfrm>
            <a:off x="9992765" y="4612922"/>
            <a:ext cx="112367" cy="101729"/>
          </a:xfrm>
          <a:prstGeom prst="flowChartPreparation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9000">
                <a:schemeClr val="bg1"/>
              </a:gs>
              <a:gs pos="95000">
                <a:schemeClr val="bg1">
                  <a:lumMod val="65000"/>
                </a:schemeClr>
              </a:gs>
            </a:gsLst>
            <a:path path="rect">
              <a:fillToRect l="50000" t="50000" r="50000" b="50000"/>
            </a:path>
            <a:tileRect/>
          </a:gra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68" name="순서도: 준비 67"/>
          <p:cNvSpPr/>
          <p:nvPr/>
        </p:nvSpPr>
        <p:spPr>
          <a:xfrm>
            <a:off x="9958334" y="4883933"/>
            <a:ext cx="112367" cy="101729"/>
          </a:xfrm>
          <a:prstGeom prst="flowChartPreparation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9000">
                <a:schemeClr val="bg1"/>
              </a:gs>
              <a:gs pos="95000">
                <a:schemeClr val="bg1">
                  <a:lumMod val="65000"/>
                </a:schemeClr>
              </a:gs>
            </a:gsLst>
            <a:path path="rect">
              <a:fillToRect l="50000" t="50000" r="50000" b="50000"/>
            </a:path>
            <a:tileRect/>
          </a:gra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69" name="순서도: 준비 68"/>
          <p:cNvSpPr/>
          <p:nvPr/>
        </p:nvSpPr>
        <p:spPr>
          <a:xfrm>
            <a:off x="10259218" y="4238723"/>
            <a:ext cx="112367" cy="101729"/>
          </a:xfrm>
          <a:prstGeom prst="flowChartPreparation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9000">
                <a:schemeClr val="bg1"/>
              </a:gs>
              <a:gs pos="95000">
                <a:schemeClr val="bg1">
                  <a:lumMod val="65000"/>
                </a:schemeClr>
              </a:gs>
            </a:gsLst>
            <a:path path="rect">
              <a:fillToRect l="50000" t="50000" r="50000" b="50000"/>
            </a:path>
            <a:tileRect/>
          </a:gra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70" name="직선 연결선 69"/>
          <p:cNvCxnSpPr/>
          <p:nvPr/>
        </p:nvCxnSpPr>
        <p:spPr>
          <a:xfrm>
            <a:off x="8014006" y="3858472"/>
            <a:ext cx="74902" cy="721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/>
          <p:cNvCxnSpPr/>
          <p:nvPr/>
        </p:nvCxnSpPr>
        <p:spPr>
          <a:xfrm>
            <a:off x="7876689" y="4254883"/>
            <a:ext cx="74902" cy="721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연결선 71"/>
          <p:cNvCxnSpPr/>
          <p:nvPr/>
        </p:nvCxnSpPr>
        <p:spPr>
          <a:xfrm>
            <a:off x="7777255" y="4622822"/>
            <a:ext cx="74902" cy="721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연결선 72"/>
          <p:cNvCxnSpPr/>
          <p:nvPr/>
        </p:nvCxnSpPr>
        <p:spPr>
          <a:xfrm>
            <a:off x="8203445" y="3451703"/>
            <a:ext cx="74902" cy="721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연결선 73"/>
          <p:cNvCxnSpPr/>
          <p:nvPr/>
        </p:nvCxnSpPr>
        <p:spPr>
          <a:xfrm flipV="1">
            <a:off x="8411826" y="3671771"/>
            <a:ext cx="116352" cy="349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/>
          <p:cNvCxnSpPr/>
          <p:nvPr/>
        </p:nvCxnSpPr>
        <p:spPr>
          <a:xfrm flipV="1">
            <a:off x="8310047" y="4082234"/>
            <a:ext cx="127851" cy="182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연결선 75"/>
          <p:cNvCxnSpPr/>
          <p:nvPr/>
        </p:nvCxnSpPr>
        <p:spPr>
          <a:xfrm flipV="1">
            <a:off x="8163862" y="4458571"/>
            <a:ext cx="127851" cy="182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/>
          <p:cNvCxnSpPr/>
          <p:nvPr/>
        </p:nvCxnSpPr>
        <p:spPr>
          <a:xfrm flipV="1">
            <a:off x="8017488" y="4751308"/>
            <a:ext cx="127851" cy="182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8683685" y="5292746"/>
            <a:ext cx="3226110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b="1"/>
              <a:t>Diamond coated spicule</a:t>
            </a:r>
          </a:p>
          <a:p>
            <a:pPr algn="ctr">
              <a:defRPr/>
            </a:pPr>
            <a:r>
              <a:rPr lang="en-US" altLang="ko-KR" sz="1050" b="1"/>
              <a:t>Safe and human-friendly</a:t>
            </a:r>
            <a:endParaRPr lang="ko-KR" altLang="en-US" sz="1050" b="1"/>
          </a:p>
        </p:txBody>
      </p:sp>
      <p:pic>
        <p:nvPicPr>
          <p:cNvPr id="79" name="그림 7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8125458" y="3387727"/>
            <a:ext cx="142875" cy="142875"/>
          </a:xfrm>
          <a:prstGeom prst="rect">
            <a:avLst/>
          </a:prstGeom>
        </p:spPr>
      </p:pic>
      <p:pic>
        <p:nvPicPr>
          <p:cNvPr id="80" name="그림 79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7945019" y="3765039"/>
            <a:ext cx="142875" cy="142875"/>
          </a:xfrm>
          <a:prstGeom prst="rect">
            <a:avLst/>
          </a:prstGeom>
        </p:spPr>
      </p:pic>
      <p:pic>
        <p:nvPicPr>
          <p:cNvPr id="81" name="그림 80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7801858" y="4183444"/>
            <a:ext cx="135490" cy="135490"/>
          </a:xfrm>
          <a:prstGeom prst="rect">
            <a:avLst/>
          </a:prstGeom>
        </p:spPr>
      </p:pic>
      <p:pic>
        <p:nvPicPr>
          <p:cNvPr id="82" name="그림 81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7703127" y="4592724"/>
            <a:ext cx="139306" cy="139306"/>
          </a:xfrm>
          <a:prstGeom prst="rect">
            <a:avLst/>
          </a:prstGeom>
          <a:solidFill>
            <a:schemeClr val="bg1"/>
          </a:solidFill>
        </p:spPr>
      </p:pic>
      <p:cxnSp>
        <p:nvCxnSpPr>
          <p:cNvPr id="83" name="직선 연결선 82"/>
          <p:cNvCxnSpPr/>
          <p:nvPr/>
        </p:nvCxnSpPr>
        <p:spPr>
          <a:xfrm flipV="1">
            <a:off x="7781085" y="5015217"/>
            <a:ext cx="36653" cy="1223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4" name="그림 8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7695464" y="5048737"/>
            <a:ext cx="142875" cy="142875"/>
          </a:xfrm>
          <a:prstGeom prst="rect">
            <a:avLst/>
          </a:prstGeom>
        </p:spPr>
      </p:pic>
      <p:pic>
        <p:nvPicPr>
          <p:cNvPr id="85" name="그림 84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8073914" y="4700680"/>
            <a:ext cx="136514" cy="136514"/>
          </a:xfrm>
          <a:prstGeom prst="rect">
            <a:avLst/>
          </a:prstGeom>
        </p:spPr>
      </p:pic>
      <p:pic>
        <p:nvPicPr>
          <p:cNvPr id="86" name="그림 85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8211976" y="4413249"/>
            <a:ext cx="137697" cy="137697"/>
          </a:xfrm>
          <a:prstGeom prst="rect">
            <a:avLst/>
          </a:prstGeom>
        </p:spPr>
      </p:pic>
      <p:pic>
        <p:nvPicPr>
          <p:cNvPr id="87" name="그림 8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8351106" y="4024632"/>
            <a:ext cx="142875" cy="142875"/>
          </a:xfrm>
          <a:prstGeom prst="rect">
            <a:avLst/>
          </a:prstGeom>
        </p:spPr>
      </p:pic>
      <p:pic>
        <p:nvPicPr>
          <p:cNvPr id="88" name="그림 87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8451491" y="3630205"/>
            <a:ext cx="134632" cy="134632"/>
          </a:xfrm>
          <a:prstGeom prst="rect">
            <a:avLst/>
          </a:prstGeom>
        </p:spPr>
      </p:pic>
      <p:cxnSp>
        <p:nvCxnSpPr>
          <p:cNvPr id="89" name="직선 연결선 88"/>
          <p:cNvCxnSpPr/>
          <p:nvPr/>
        </p:nvCxnSpPr>
        <p:spPr>
          <a:xfrm flipV="1">
            <a:off x="8459053" y="3153894"/>
            <a:ext cx="21897" cy="16162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0" name="그림 89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8446873" y="3130498"/>
            <a:ext cx="158665" cy="158665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217637" y="1031362"/>
            <a:ext cx="28634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b="1">
                <a:latin typeface="+mj-lt"/>
              </a:rPr>
              <a:t>유효성분의 코팅</a:t>
            </a:r>
            <a:endParaRPr lang="en-US" altLang="ko-KR" b="1">
              <a:latin typeface="+mj-lt"/>
            </a:endParaRPr>
          </a:p>
        </p:txBody>
      </p:sp>
      <p:pic>
        <p:nvPicPr>
          <p:cNvPr id="21" name="그림 20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0375235" y="12866"/>
            <a:ext cx="1816765" cy="377985"/>
          </a:xfrm>
          <a:prstGeom prst="rect">
            <a:avLst/>
          </a:prstGeom>
        </p:spPr>
      </p:pic>
      <p:sp>
        <p:nvSpPr>
          <p:cNvPr id="113" name="TextBox 112"/>
          <p:cNvSpPr txBox="1"/>
          <p:nvPr/>
        </p:nvSpPr>
        <p:spPr>
          <a:xfrm>
            <a:off x="274098" y="254000"/>
            <a:ext cx="7731981" cy="44894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3600">
                <a:solidFill>
                  <a:srgbClr val="CF8C67"/>
                </a:solidFill>
                <a:latin typeface="HY헤드라인M"/>
                <a:ea typeface="HY헤드라인M"/>
                <a:cs typeface="Aharoni"/>
              </a:defRPr>
            </a:lvl1pPr>
          </a:lstStyle>
          <a:p>
            <a:pPr lvl="0">
              <a:defRPr/>
            </a:pPr>
            <a:r>
              <a:rPr lang="en-US" altLang="ko-KR" sz="2400" b="1"/>
              <a:t>Spicule </a:t>
            </a:r>
            <a:r>
              <a:rPr lang="ko-KR" altLang="en-US" sz="2400" b="1"/>
              <a:t>유효성분 함침 </a:t>
            </a:r>
            <a:r>
              <a:rPr lang="en-US" altLang="ko-KR" sz="2400" b="1"/>
              <a:t>/ </a:t>
            </a:r>
            <a:r>
              <a:rPr lang="ko-KR" altLang="en-US" sz="2400" b="1"/>
              <a:t>코팅</a:t>
            </a:r>
          </a:p>
        </p:txBody>
      </p:sp>
      <p:cxnSp>
        <p:nvCxnSpPr>
          <p:cNvPr id="114" name="직선 연결선 113"/>
          <p:cNvCxnSpPr/>
          <p:nvPr/>
        </p:nvCxnSpPr>
        <p:spPr>
          <a:xfrm>
            <a:off x="386080" y="757207"/>
            <a:ext cx="11511280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그룹 23"/>
          <p:cNvGrpSpPr/>
          <p:nvPr/>
        </p:nvGrpSpPr>
        <p:grpSpPr>
          <a:xfrm>
            <a:off x="293968" y="6554918"/>
            <a:ext cx="11755791" cy="229470"/>
            <a:chOff x="293968" y="6554918"/>
            <a:chExt cx="11755791" cy="229470"/>
          </a:xfrm>
        </p:grpSpPr>
        <p:grpSp>
          <p:nvGrpSpPr>
            <p:cNvPr id="29" name="그룹 28"/>
            <p:cNvGrpSpPr/>
            <p:nvPr/>
          </p:nvGrpSpPr>
          <p:grpSpPr>
            <a:xfrm>
              <a:off x="650240" y="6557524"/>
              <a:ext cx="11399519" cy="205787"/>
              <a:chOff x="650240" y="6557524"/>
              <a:chExt cx="11399519" cy="205787"/>
            </a:xfrm>
          </p:grpSpPr>
          <p:sp>
            <p:nvSpPr>
              <p:cNvPr id="91" name="TextBox 90"/>
              <p:cNvSpPr txBox="1"/>
              <p:nvPr/>
            </p:nvSpPr>
            <p:spPr>
              <a:xfrm>
                <a:off x="7792084" y="6557524"/>
                <a:ext cx="4257676" cy="2057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 eaLnBrk="1" hangingPunct="1">
                  <a:defRPr/>
                </a:pPr>
                <a:r>
                  <a:rPr lang="en-US" altLang="ko-KR" sz="750">
                    <a:ln w="9525">
                      <a:solidFill>
                        <a:schemeClr val="bg1">
                          <a:lumMod val="85000"/>
                          <a:alpha val="60000"/>
                        </a:schemeClr>
                      </a:solidFill>
                    </a:ln>
                    <a:solidFill>
                      <a:schemeClr val="bg1">
                        <a:lumMod val="85000"/>
                      </a:schemeClr>
                    </a:solidFill>
                    <a:latin typeface="G마켓 산스 TTF Medium"/>
                    <a:ea typeface="G마켓 산스 TTF Medium"/>
                    <a:cs typeface="Arial"/>
                  </a:rPr>
                  <a:t>Copyright ⓒ 2024 B&amp;, All rights reserved. Terms of Use I Privacy Policy.</a:t>
                </a:r>
                <a:endParaRPr lang="en-US" altLang="ko-KR" sz="750">
                  <a:solidFill>
                    <a:schemeClr val="bg1">
                      <a:lumMod val="85000"/>
                    </a:schemeClr>
                  </a:solidFill>
                  <a:latin typeface="G마켓 산스 TTF Medium"/>
                  <a:ea typeface="G마켓 산스 TTF Medium"/>
                  <a:cs typeface="Arial"/>
                </a:endParaRPr>
              </a:p>
            </p:txBody>
          </p:sp>
          <p:cxnSp>
            <p:nvCxnSpPr>
              <p:cNvPr id="93" name="직선 연결선 92"/>
              <p:cNvCxnSpPr/>
              <p:nvPr/>
            </p:nvCxnSpPr>
            <p:spPr>
              <a:xfrm>
                <a:off x="650240" y="6660417"/>
                <a:ext cx="7470140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30" name="그림 29"/>
            <p:cNvPicPr>
              <a:picLocks noChangeAspect="1"/>
            </p:cNvPicPr>
            <p:nvPr/>
          </p:nvPicPr>
          <p:blipFill rotWithShape="1">
            <a:blip r:embed="rId5"/>
            <a:srcRect l="42820" t="44730" r="43380" b="42160"/>
            <a:stretch>
              <a:fillRect/>
            </a:stretch>
          </p:blipFill>
          <p:spPr>
            <a:xfrm>
              <a:off x="293968" y="6554918"/>
              <a:ext cx="341746" cy="22947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17637" y="871762"/>
            <a:ext cx="28634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b="1">
                <a:latin typeface="+mj-lt"/>
              </a:rPr>
              <a:t>유효성분의 함침 </a:t>
            </a:r>
            <a:endParaRPr lang="en-US" altLang="ko-KR" b="1">
              <a:latin typeface="+mj-lt"/>
            </a:endParaRP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8617" y="2644791"/>
            <a:ext cx="11917614" cy="3812340"/>
          </a:xfrm>
          <a:prstGeom prst="rect">
            <a:avLst/>
          </a:prstGeom>
        </p:spPr>
      </p:pic>
      <p:sp>
        <p:nvSpPr>
          <p:cNvPr id="56" name="직사각형 55"/>
          <p:cNvSpPr/>
          <p:nvPr/>
        </p:nvSpPr>
        <p:spPr>
          <a:xfrm>
            <a:off x="1065366" y="1294992"/>
            <a:ext cx="3774015" cy="2628602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57" name="그림 5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251616" y="1525166"/>
            <a:ext cx="3398632" cy="2420674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282110" y="1371278"/>
            <a:ext cx="1082348" cy="2936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400" b="1"/>
              <a:t>천연스피큘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505383" y="1371278"/>
            <a:ext cx="1144865" cy="2936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400" b="1"/>
              <a:t>함침</a:t>
            </a:r>
            <a:r>
              <a:rPr lang="en-US" altLang="ko-KR" sz="1400" b="1"/>
              <a:t> </a:t>
            </a:r>
            <a:r>
              <a:rPr lang="ko-KR" altLang="en-US" sz="1400" b="1"/>
              <a:t>스피큘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0375235" y="12866"/>
            <a:ext cx="1816765" cy="37798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098" y="254000"/>
            <a:ext cx="7731981" cy="44894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3600">
                <a:solidFill>
                  <a:srgbClr val="CF8C67"/>
                </a:solidFill>
                <a:latin typeface="HY헤드라인M"/>
                <a:ea typeface="HY헤드라인M"/>
                <a:cs typeface="Aharoni"/>
              </a:defRPr>
            </a:lvl1pPr>
          </a:lstStyle>
          <a:p>
            <a:pPr lvl="0">
              <a:defRPr/>
            </a:pPr>
            <a:r>
              <a:rPr lang="en-US" altLang="ko-KR" sz="2400" b="1"/>
              <a:t>Spicule </a:t>
            </a:r>
            <a:r>
              <a:rPr lang="ko-KR" altLang="en-US" sz="2400" b="1"/>
              <a:t>유효성분 함침 </a:t>
            </a:r>
            <a:r>
              <a:rPr lang="en-US" altLang="ko-KR" sz="2400" b="1"/>
              <a:t>/ </a:t>
            </a:r>
            <a:r>
              <a:rPr lang="ko-KR" altLang="en-US" sz="2400" b="1"/>
              <a:t>코팅</a:t>
            </a:r>
            <a:r>
              <a:rPr lang="en-US" altLang="ko-KR" sz="2400" b="1"/>
              <a:t>_Application</a:t>
            </a:r>
            <a:endParaRPr lang="ko-KR" altLang="en-US" sz="2400" b="1"/>
          </a:p>
        </p:txBody>
      </p:sp>
      <p:cxnSp>
        <p:nvCxnSpPr>
          <p:cNvPr id="10" name="직선 연결선 9"/>
          <p:cNvCxnSpPr/>
          <p:nvPr/>
        </p:nvCxnSpPr>
        <p:spPr>
          <a:xfrm>
            <a:off x="386080" y="757207"/>
            <a:ext cx="11511280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그룹 4"/>
          <p:cNvGrpSpPr/>
          <p:nvPr/>
        </p:nvGrpSpPr>
        <p:grpSpPr>
          <a:xfrm>
            <a:off x="293968" y="6554918"/>
            <a:ext cx="11755791" cy="229470"/>
            <a:chOff x="293968" y="6554918"/>
            <a:chExt cx="11755791" cy="229470"/>
          </a:xfrm>
        </p:grpSpPr>
        <p:grpSp>
          <p:nvGrpSpPr>
            <p:cNvPr id="9" name="그룹 8"/>
            <p:cNvGrpSpPr/>
            <p:nvPr/>
          </p:nvGrpSpPr>
          <p:grpSpPr>
            <a:xfrm>
              <a:off x="650240" y="6557524"/>
              <a:ext cx="11399519" cy="205787"/>
              <a:chOff x="650240" y="6557524"/>
              <a:chExt cx="11399519" cy="205787"/>
            </a:xfrm>
          </p:grpSpPr>
          <p:sp>
            <p:nvSpPr>
              <p:cNvPr id="13" name="TextBox 12"/>
              <p:cNvSpPr txBox="1"/>
              <p:nvPr/>
            </p:nvSpPr>
            <p:spPr>
              <a:xfrm>
                <a:off x="7792084" y="6557524"/>
                <a:ext cx="4257676" cy="2057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 eaLnBrk="1" hangingPunct="1">
                  <a:defRPr/>
                </a:pPr>
                <a:r>
                  <a:rPr lang="en-US" altLang="ko-KR" sz="750">
                    <a:ln w="9525">
                      <a:solidFill>
                        <a:schemeClr val="bg1">
                          <a:lumMod val="85000"/>
                          <a:alpha val="60000"/>
                        </a:schemeClr>
                      </a:solidFill>
                    </a:ln>
                    <a:solidFill>
                      <a:schemeClr val="bg1">
                        <a:lumMod val="85000"/>
                      </a:schemeClr>
                    </a:solidFill>
                    <a:latin typeface="G마켓 산스 TTF Medium"/>
                    <a:ea typeface="G마켓 산스 TTF Medium"/>
                    <a:cs typeface="Arial"/>
                  </a:rPr>
                  <a:t>Copyright ⓒ 2024 B&amp;, All rights reserved. Terms of Use I Privacy Policy.</a:t>
                </a:r>
                <a:endParaRPr lang="en-US" altLang="ko-KR" sz="750">
                  <a:solidFill>
                    <a:schemeClr val="bg1">
                      <a:lumMod val="85000"/>
                    </a:schemeClr>
                  </a:solidFill>
                  <a:latin typeface="G마켓 산스 TTF Medium"/>
                  <a:ea typeface="G마켓 산스 TTF Medium"/>
                  <a:cs typeface="Arial"/>
                </a:endParaRPr>
              </a:p>
            </p:txBody>
          </p:sp>
          <p:cxnSp>
            <p:nvCxnSpPr>
              <p:cNvPr id="14" name="직선 연결선 13"/>
              <p:cNvCxnSpPr/>
              <p:nvPr/>
            </p:nvCxnSpPr>
            <p:spPr>
              <a:xfrm>
                <a:off x="650240" y="6660417"/>
                <a:ext cx="7470140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2" name="그림 11"/>
            <p:cNvPicPr>
              <a:picLocks noChangeAspect="1"/>
            </p:cNvPicPr>
            <p:nvPr/>
          </p:nvPicPr>
          <p:blipFill rotWithShape="1">
            <a:blip r:embed="rId5"/>
            <a:srcRect l="42820" t="44730" r="43380" b="42160"/>
            <a:stretch>
              <a:fillRect/>
            </a:stretch>
          </p:blipFill>
          <p:spPr>
            <a:xfrm>
              <a:off x="293968" y="6554918"/>
              <a:ext cx="341746" cy="22947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그림 55"/>
          <p:cNvPicPr>
            <a:picLocks noChangeAspect="1"/>
          </p:cNvPicPr>
          <p:nvPr/>
        </p:nvPicPr>
        <p:blipFill rotWithShape="1">
          <a:blip r:embed="rId2"/>
          <a:srcRect l="-6820" t="13750" r="-12410" b="13130"/>
          <a:stretch>
            <a:fillRect/>
          </a:stretch>
        </p:blipFill>
        <p:spPr>
          <a:xfrm>
            <a:off x="68682" y="1621432"/>
            <a:ext cx="1243002" cy="1257191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</p:pic>
      <p:pic>
        <p:nvPicPr>
          <p:cNvPr id="16" name="그림 15" descr="청량 음료, 그림, 병, 겨울이(가) 표시된 사진  자동 생성된 설명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7981104" y="3809696"/>
            <a:ext cx="3543752" cy="2519053"/>
          </a:xfrm>
          <a:prstGeom prst="rect">
            <a:avLst/>
          </a:prstGeom>
        </p:spPr>
      </p:pic>
      <p:pic>
        <p:nvPicPr>
          <p:cNvPr id="17" name="그림 16" descr="그린, 오로라, 빛이(가) 표시된 사진  자동 생성된 설명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4324124" y="3808749"/>
            <a:ext cx="3543752" cy="2520000"/>
          </a:xfrm>
          <a:prstGeom prst="rect">
            <a:avLst/>
          </a:prstGeom>
        </p:spPr>
      </p:pic>
      <p:pic>
        <p:nvPicPr>
          <p:cNvPr id="18" name="그림 17" descr="물이(가) 표시된 사진  낮은 신뢰도로 자동 생성된 설명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667144" y="3808749"/>
            <a:ext cx="3543752" cy="2520000"/>
          </a:xfrm>
          <a:prstGeom prst="rect">
            <a:avLst/>
          </a:prstGeom>
        </p:spPr>
      </p:pic>
      <p:pic>
        <p:nvPicPr>
          <p:cNvPr id="28" name="그림 27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768483" y="1452872"/>
            <a:ext cx="2221960" cy="1671328"/>
          </a:xfrm>
          <a:prstGeom prst="rect">
            <a:avLst/>
          </a:prstGeom>
        </p:spPr>
      </p:pic>
      <p:sp>
        <p:nvSpPr>
          <p:cNvPr id="29" name="Right Arrow 96"/>
          <p:cNvSpPr/>
          <p:nvPr/>
        </p:nvSpPr>
        <p:spPr>
          <a:xfrm>
            <a:off x="3956771" y="2153979"/>
            <a:ext cx="410515" cy="269113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400">
              <a:solidFill>
                <a:prstClr val="white"/>
              </a:solidFill>
              <a:latin typeface="Arial"/>
              <a:cs typeface="Arial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882688" y="1050087"/>
            <a:ext cx="173316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/>
              <a:t>조직 단면 관찰</a:t>
            </a:r>
          </a:p>
        </p:txBody>
      </p:sp>
      <p:sp>
        <p:nvSpPr>
          <p:cNvPr id="31" name="자유형: 도형 30"/>
          <p:cNvSpPr/>
          <p:nvPr/>
        </p:nvSpPr>
        <p:spPr>
          <a:xfrm rot="1080967">
            <a:off x="1242384" y="2353998"/>
            <a:ext cx="45719" cy="206310"/>
          </a:xfrm>
          <a:custGeom>
            <a:avLst/>
            <a:gdLst>
              <a:gd name="connsiteX0" fmla="*/ 266799 w 628749"/>
              <a:gd name="connsiteY0" fmla="*/ 65 h 2238503"/>
              <a:gd name="connsiteX1" fmla="*/ 99 w 628749"/>
              <a:gd name="connsiteY1" fmla="*/ 1133540 h 2238503"/>
              <a:gd name="connsiteX2" fmla="*/ 295374 w 628749"/>
              <a:gd name="connsiteY2" fmla="*/ 2238440 h 2238503"/>
              <a:gd name="connsiteX3" fmla="*/ 628749 w 628749"/>
              <a:gd name="connsiteY3" fmla="*/ 1085915 h 2238503"/>
              <a:gd name="connsiteX4" fmla="*/ 266799 w 628749"/>
              <a:gd name="connsiteY4" fmla="*/ 65 h 2238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8749" h="2238503">
                <a:moveTo>
                  <a:pt x="266799" y="65"/>
                </a:moveTo>
                <a:cubicBezTo>
                  <a:pt x="162024" y="8003"/>
                  <a:pt x="-4663" y="760478"/>
                  <a:pt x="99" y="1133540"/>
                </a:cubicBezTo>
                <a:cubicBezTo>
                  <a:pt x="4861" y="1506602"/>
                  <a:pt x="190599" y="2246378"/>
                  <a:pt x="295374" y="2238440"/>
                </a:cubicBezTo>
                <a:cubicBezTo>
                  <a:pt x="400149" y="2230503"/>
                  <a:pt x="628749" y="1460565"/>
                  <a:pt x="628749" y="1085915"/>
                </a:cubicBezTo>
                <a:cubicBezTo>
                  <a:pt x="628749" y="711265"/>
                  <a:pt x="371574" y="-7873"/>
                  <a:pt x="266799" y="65"/>
                </a:cubicBezTo>
                <a:close/>
              </a:path>
            </a:pathLst>
          </a:custGeom>
          <a:noFill/>
          <a:ln>
            <a:solidFill>
              <a:schemeClr val="accent3">
                <a:lumMod val="60000"/>
                <a:lumOff val="40000"/>
              </a:schemeClr>
            </a:solidFill>
          </a:ln>
          <a:effectLst>
            <a:glow rad="1397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45" name="Picture 4" descr="NAF-VSM 5 ml screw neck vial, thread GL18x3.0, dimensions ø 18.0 x 45 x  1.20 mm., tubular glass, type 1"/>
          <p:cNvPicPr>
            <a:picLocks noChangeAspect="1" noChangeArrowheads="1"/>
          </p:cNvPicPr>
          <p:nvPr/>
        </p:nvPicPr>
        <p:blipFill rotWithShape="1">
          <a:blip r:embed="rId7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rcRect l="45160" t="27660" r="29660" b="8400"/>
          <a:stretch>
            <a:fillRect/>
          </a:stretch>
        </p:blipFill>
        <p:spPr>
          <a:xfrm>
            <a:off x="1050631" y="1885653"/>
            <a:ext cx="600076" cy="1143000"/>
          </a:xfrm>
          <a:prstGeom prst="rect">
            <a:avLst/>
          </a:prstGeom>
          <a:noFill/>
        </p:spPr>
      </p:pic>
      <p:pic>
        <p:nvPicPr>
          <p:cNvPr id="46" name="Picture 4" descr="NAF-VSM 5 ml screw neck vial, thread GL18x3.0, dimensions ø 18.0 x 45 x  1.20 mm., tubular glass, type 1"/>
          <p:cNvPicPr>
            <a:picLocks noChangeAspect="1" noChangeArrowheads="1"/>
          </p:cNvPicPr>
          <p:nvPr/>
        </p:nvPicPr>
        <p:blipFill rotWithShape="1">
          <a:blip r:embed="rId8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rcRect l="29000" t="12570" r="51420" b="69850"/>
          <a:stretch>
            <a:fillRect/>
          </a:stretch>
        </p:blipFill>
        <p:spPr>
          <a:xfrm rot="19266808">
            <a:off x="875094" y="1569117"/>
            <a:ext cx="466725" cy="314325"/>
          </a:xfrm>
          <a:prstGeom prst="rect">
            <a:avLst/>
          </a:prstGeom>
          <a:noFill/>
        </p:spPr>
      </p:pic>
      <p:sp>
        <p:nvSpPr>
          <p:cNvPr id="47" name="사각형: 둥근 모서리 46"/>
          <p:cNvSpPr/>
          <p:nvPr/>
        </p:nvSpPr>
        <p:spPr>
          <a:xfrm>
            <a:off x="1177855" y="2313019"/>
            <a:ext cx="342901" cy="628650"/>
          </a:xfrm>
          <a:prstGeom prst="roundRect">
            <a:avLst>
              <a:gd name="adj" fmla="val 12500"/>
            </a:avLst>
          </a:prstGeom>
          <a:solidFill>
            <a:schemeClr val="accent4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8" name="자유형: 도형 47"/>
          <p:cNvSpPr/>
          <p:nvPr/>
        </p:nvSpPr>
        <p:spPr>
          <a:xfrm rot="21275000" flipH="1">
            <a:off x="1401857" y="976869"/>
            <a:ext cx="1585779" cy="725588"/>
          </a:xfrm>
          <a:custGeom>
            <a:avLst/>
            <a:gdLst>
              <a:gd name="connsiteX0" fmla="*/ 0 w 1143000"/>
              <a:gd name="connsiteY0" fmla="*/ 638404 h 638404"/>
              <a:gd name="connsiteX1" fmla="*/ 400050 w 1143000"/>
              <a:gd name="connsiteY1" fmla="*/ 229 h 638404"/>
              <a:gd name="connsiteX2" fmla="*/ 1143000 w 1143000"/>
              <a:gd name="connsiteY2" fmla="*/ 571729 h 6384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43000" h="638404">
                <a:moveTo>
                  <a:pt x="0" y="638404"/>
                </a:moveTo>
                <a:cubicBezTo>
                  <a:pt x="104775" y="324872"/>
                  <a:pt x="209550" y="11341"/>
                  <a:pt x="400050" y="229"/>
                </a:cubicBezTo>
                <a:cubicBezTo>
                  <a:pt x="590550" y="-10883"/>
                  <a:pt x="941388" y="384404"/>
                  <a:pt x="1143000" y="571729"/>
                </a:cubicBezTo>
              </a:path>
            </a:pathLst>
          </a:custGeom>
          <a:noFill/>
          <a:ln w="19050">
            <a:head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9" name="자유형: 도형 48"/>
          <p:cNvSpPr/>
          <p:nvPr/>
        </p:nvSpPr>
        <p:spPr>
          <a:xfrm rot="1080967">
            <a:off x="1394784" y="2506398"/>
            <a:ext cx="45719" cy="206310"/>
          </a:xfrm>
          <a:custGeom>
            <a:avLst/>
            <a:gdLst>
              <a:gd name="connsiteX0" fmla="*/ 266799 w 628749"/>
              <a:gd name="connsiteY0" fmla="*/ 65 h 2238503"/>
              <a:gd name="connsiteX1" fmla="*/ 99 w 628749"/>
              <a:gd name="connsiteY1" fmla="*/ 1133540 h 2238503"/>
              <a:gd name="connsiteX2" fmla="*/ 295374 w 628749"/>
              <a:gd name="connsiteY2" fmla="*/ 2238440 h 2238503"/>
              <a:gd name="connsiteX3" fmla="*/ 628749 w 628749"/>
              <a:gd name="connsiteY3" fmla="*/ 1085915 h 2238503"/>
              <a:gd name="connsiteX4" fmla="*/ 266799 w 628749"/>
              <a:gd name="connsiteY4" fmla="*/ 65 h 2238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8749" h="2238503">
                <a:moveTo>
                  <a:pt x="266799" y="65"/>
                </a:moveTo>
                <a:cubicBezTo>
                  <a:pt x="162024" y="8003"/>
                  <a:pt x="-4663" y="760478"/>
                  <a:pt x="99" y="1133540"/>
                </a:cubicBezTo>
                <a:cubicBezTo>
                  <a:pt x="4861" y="1506602"/>
                  <a:pt x="190599" y="2246378"/>
                  <a:pt x="295374" y="2238440"/>
                </a:cubicBezTo>
                <a:cubicBezTo>
                  <a:pt x="400149" y="2230503"/>
                  <a:pt x="628749" y="1460565"/>
                  <a:pt x="628749" y="1085915"/>
                </a:cubicBezTo>
                <a:cubicBezTo>
                  <a:pt x="628749" y="711265"/>
                  <a:pt x="371574" y="-7873"/>
                  <a:pt x="266799" y="65"/>
                </a:cubicBezTo>
                <a:close/>
              </a:path>
            </a:pathLst>
          </a:custGeom>
          <a:noFill/>
          <a:ln>
            <a:solidFill>
              <a:schemeClr val="accent3">
                <a:lumMod val="60000"/>
                <a:lumOff val="40000"/>
              </a:schemeClr>
            </a:solidFill>
          </a:ln>
          <a:effectLst>
            <a:glow rad="1397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0" name="자유형: 도형 49"/>
          <p:cNvSpPr/>
          <p:nvPr/>
        </p:nvSpPr>
        <p:spPr>
          <a:xfrm rot="1080967">
            <a:off x="1379700" y="2667306"/>
            <a:ext cx="45719" cy="206310"/>
          </a:xfrm>
          <a:custGeom>
            <a:avLst/>
            <a:gdLst>
              <a:gd name="connsiteX0" fmla="*/ 266799 w 628749"/>
              <a:gd name="connsiteY0" fmla="*/ 65 h 2238503"/>
              <a:gd name="connsiteX1" fmla="*/ 99 w 628749"/>
              <a:gd name="connsiteY1" fmla="*/ 1133540 h 2238503"/>
              <a:gd name="connsiteX2" fmla="*/ 295374 w 628749"/>
              <a:gd name="connsiteY2" fmla="*/ 2238440 h 2238503"/>
              <a:gd name="connsiteX3" fmla="*/ 628749 w 628749"/>
              <a:gd name="connsiteY3" fmla="*/ 1085915 h 2238503"/>
              <a:gd name="connsiteX4" fmla="*/ 266799 w 628749"/>
              <a:gd name="connsiteY4" fmla="*/ 65 h 2238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8749" h="2238503">
                <a:moveTo>
                  <a:pt x="266799" y="65"/>
                </a:moveTo>
                <a:cubicBezTo>
                  <a:pt x="162024" y="8003"/>
                  <a:pt x="-4663" y="760478"/>
                  <a:pt x="99" y="1133540"/>
                </a:cubicBezTo>
                <a:cubicBezTo>
                  <a:pt x="4861" y="1506602"/>
                  <a:pt x="190599" y="2246378"/>
                  <a:pt x="295374" y="2238440"/>
                </a:cubicBezTo>
                <a:cubicBezTo>
                  <a:pt x="400149" y="2230503"/>
                  <a:pt x="628749" y="1460565"/>
                  <a:pt x="628749" y="1085915"/>
                </a:cubicBezTo>
                <a:cubicBezTo>
                  <a:pt x="628749" y="711265"/>
                  <a:pt x="371574" y="-7873"/>
                  <a:pt x="266799" y="65"/>
                </a:cubicBezTo>
                <a:close/>
              </a:path>
            </a:pathLst>
          </a:custGeom>
          <a:noFill/>
          <a:ln>
            <a:solidFill>
              <a:schemeClr val="accent3">
                <a:lumMod val="60000"/>
                <a:lumOff val="40000"/>
              </a:schemeClr>
            </a:solidFill>
          </a:ln>
          <a:effectLst>
            <a:glow rad="1397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1" name="자유형: 도형 50"/>
          <p:cNvSpPr/>
          <p:nvPr/>
        </p:nvSpPr>
        <p:spPr>
          <a:xfrm rot="1080967">
            <a:off x="1368626" y="2353999"/>
            <a:ext cx="45719" cy="206310"/>
          </a:xfrm>
          <a:custGeom>
            <a:avLst/>
            <a:gdLst>
              <a:gd name="connsiteX0" fmla="*/ 266799 w 628749"/>
              <a:gd name="connsiteY0" fmla="*/ 65 h 2238503"/>
              <a:gd name="connsiteX1" fmla="*/ 99 w 628749"/>
              <a:gd name="connsiteY1" fmla="*/ 1133540 h 2238503"/>
              <a:gd name="connsiteX2" fmla="*/ 295374 w 628749"/>
              <a:gd name="connsiteY2" fmla="*/ 2238440 h 2238503"/>
              <a:gd name="connsiteX3" fmla="*/ 628749 w 628749"/>
              <a:gd name="connsiteY3" fmla="*/ 1085915 h 2238503"/>
              <a:gd name="connsiteX4" fmla="*/ 266799 w 628749"/>
              <a:gd name="connsiteY4" fmla="*/ 65 h 2238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8749" h="2238503">
                <a:moveTo>
                  <a:pt x="266799" y="65"/>
                </a:moveTo>
                <a:cubicBezTo>
                  <a:pt x="162024" y="8003"/>
                  <a:pt x="-4663" y="760478"/>
                  <a:pt x="99" y="1133540"/>
                </a:cubicBezTo>
                <a:cubicBezTo>
                  <a:pt x="4861" y="1506602"/>
                  <a:pt x="190599" y="2246378"/>
                  <a:pt x="295374" y="2238440"/>
                </a:cubicBezTo>
                <a:cubicBezTo>
                  <a:pt x="400149" y="2230503"/>
                  <a:pt x="628749" y="1460565"/>
                  <a:pt x="628749" y="1085915"/>
                </a:cubicBezTo>
                <a:cubicBezTo>
                  <a:pt x="628749" y="711265"/>
                  <a:pt x="371574" y="-7873"/>
                  <a:pt x="266799" y="65"/>
                </a:cubicBezTo>
                <a:close/>
              </a:path>
            </a:pathLst>
          </a:custGeom>
          <a:noFill/>
          <a:ln>
            <a:solidFill>
              <a:schemeClr val="accent3">
                <a:lumMod val="60000"/>
                <a:lumOff val="40000"/>
              </a:schemeClr>
            </a:solidFill>
          </a:ln>
          <a:effectLst>
            <a:glow rad="1397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2" name="자유형: 도형 51"/>
          <p:cNvSpPr/>
          <p:nvPr/>
        </p:nvSpPr>
        <p:spPr>
          <a:xfrm rot="1080967">
            <a:off x="1261341" y="2590676"/>
            <a:ext cx="45719" cy="206310"/>
          </a:xfrm>
          <a:custGeom>
            <a:avLst/>
            <a:gdLst>
              <a:gd name="connsiteX0" fmla="*/ 266799 w 628749"/>
              <a:gd name="connsiteY0" fmla="*/ 65 h 2238503"/>
              <a:gd name="connsiteX1" fmla="*/ 99 w 628749"/>
              <a:gd name="connsiteY1" fmla="*/ 1133540 h 2238503"/>
              <a:gd name="connsiteX2" fmla="*/ 295374 w 628749"/>
              <a:gd name="connsiteY2" fmla="*/ 2238440 h 2238503"/>
              <a:gd name="connsiteX3" fmla="*/ 628749 w 628749"/>
              <a:gd name="connsiteY3" fmla="*/ 1085915 h 2238503"/>
              <a:gd name="connsiteX4" fmla="*/ 266799 w 628749"/>
              <a:gd name="connsiteY4" fmla="*/ 65 h 2238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8749" h="2238503">
                <a:moveTo>
                  <a:pt x="266799" y="65"/>
                </a:moveTo>
                <a:cubicBezTo>
                  <a:pt x="162024" y="8003"/>
                  <a:pt x="-4663" y="760478"/>
                  <a:pt x="99" y="1133540"/>
                </a:cubicBezTo>
                <a:cubicBezTo>
                  <a:pt x="4861" y="1506602"/>
                  <a:pt x="190599" y="2246378"/>
                  <a:pt x="295374" y="2238440"/>
                </a:cubicBezTo>
                <a:cubicBezTo>
                  <a:pt x="400149" y="2230503"/>
                  <a:pt x="628749" y="1460565"/>
                  <a:pt x="628749" y="1085915"/>
                </a:cubicBezTo>
                <a:cubicBezTo>
                  <a:pt x="628749" y="711265"/>
                  <a:pt x="371574" y="-7873"/>
                  <a:pt x="266799" y="65"/>
                </a:cubicBezTo>
                <a:close/>
              </a:path>
            </a:pathLst>
          </a:custGeom>
          <a:noFill/>
          <a:ln>
            <a:solidFill>
              <a:schemeClr val="accent3">
                <a:lumMod val="60000"/>
                <a:lumOff val="40000"/>
              </a:schemeClr>
            </a:solidFill>
          </a:ln>
          <a:effectLst>
            <a:glow rad="1397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1046" name="Picture 2" descr="Microscope Vector Art, Icons, and Graphics for Free Download"/>
          <p:cNvPicPr>
            <a:picLocks noChangeAspect="1" noChangeArrowheads="1"/>
          </p:cNvPicPr>
          <p:nvPr/>
        </p:nvPicPr>
        <p:blipFill rotWithShape="1"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>
          <a:xfrm>
            <a:off x="10551643" y="1406395"/>
            <a:ext cx="1556762" cy="1556762"/>
          </a:xfrm>
          <a:prstGeom prst="rect">
            <a:avLst/>
          </a:prstGeom>
          <a:noFill/>
        </p:spPr>
      </p:pic>
      <p:sp>
        <p:nvSpPr>
          <p:cNvPr id="1050" name="TextBox 1049"/>
          <p:cNvSpPr txBox="1"/>
          <p:nvPr/>
        </p:nvSpPr>
        <p:spPr>
          <a:xfrm>
            <a:off x="660487" y="3479800"/>
            <a:ext cx="109782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/>
              <a:t>광학사진</a:t>
            </a:r>
          </a:p>
        </p:txBody>
      </p:sp>
      <p:sp>
        <p:nvSpPr>
          <p:cNvPr id="1051" name="TextBox 1050"/>
          <p:cNvSpPr txBox="1"/>
          <p:nvPr/>
        </p:nvSpPr>
        <p:spPr>
          <a:xfrm>
            <a:off x="4271205" y="3479800"/>
            <a:ext cx="110799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/>
              <a:t>형광사진</a:t>
            </a:r>
          </a:p>
        </p:txBody>
      </p:sp>
      <p:sp>
        <p:nvSpPr>
          <p:cNvPr id="1052" name="TextBox 1051"/>
          <p:cNvSpPr txBox="1"/>
          <p:nvPr/>
        </p:nvSpPr>
        <p:spPr>
          <a:xfrm>
            <a:off x="7920795" y="3479800"/>
            <a:ext cx="225762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/>
              <a:t>광학</a:t>
            </a:r>
            <a:r>
              <a:rPr lang="en-US" altLang="ko-KR"/>
              <a:t>+</a:t>
            </a:r>
            <a:r>
              <a:rPr lang="ko-KR" altLang="en-US"/>
              <a:t>형광 중첩사진</a:t>
            </a:r>
          </a:p>
        </p:txBody>
      </p:sp>
      <p:sp>
        <p:nvSpPr>
          <p:cNvPr id="1053" name="TextBox 1052"/>
          <p:cNvSpPr txBox="1"/>
          <p:nvPr/>
        </p:nvSpPr>
        <p:spPr>
          <a:xfrm>
            <a:off x="1665497" y="748067"/>
            <a:ext cx="6463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/>
              <a:t>도포</a:t>
            </a:r>
          </a:p>
        </p:txBody>
      </p:sp>
      <p:pic>
        <p:nvPicPr>
          <p:cNvPr id="57" name="그림 56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4453132" y="1452872"/>
            <a:ext cx="2221960" cy="1671328"/>
          </a:xfrm>
          <a:prstGeom prst="rect">
            <a:avLst/>
          </a:prstGeom>
        </p:spPr>
      </p:pic>
      <p:pic>
        <p:nvPicPr>
          <p:cNvPr id="58" name="그림 57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4468317" y="1452872"/>
            <a:ext cx="2221960" cy="1671328"/>
          </a:xfrm>
          <a:prstGeom prst="rect">
            <a:avLst/>
          </a:prstGeom>
        </p:spPr>
      </p:pic>
      <p:pic>
        <p:nvPicPr>
          <p:cNvPr id="1032" name="그림 1031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6008623" y="1470136"/>
            <a:ext cx="174940" cy="648735"/>
          </a:xfrm>
          <a:prstGeom prst="rect">
            <a:avLst/>
          </a:prstGeom>
        </p:spPr>
      </p:pic>
      <p:pic>
        <p:nvPicPr>
          <p:cNvPr id="1036" name="그림 1035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5469055" y="1419419"/>
            <a:ext cx="174940" cy="651882"/>
          </a:xfrm>
          <a:prstGeom prst="rect">
            <a:avLst/>
          </a:prstGeom>
        </p:spPr>
      </p:pic>
      <p:pic>
        <p:nvPicPr>
          <p:cNvPr id="1038" name="그림 1037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>
            <a:off x="5007886" y="1837774"/>
            <a:ext cx="135489" cy="104520"/>
          </a:xfrm>
          <a:prstGeom prst="rect">
            <a:avLst/>
          </a:prstGeom>
        </p:spPr>
      </p:pic>
      <p:pic>
        <p:nvPicPr>
          <p:cNvPr id="1034" name="그림 1033"/>
          <p:cNvPicPr>
            <a:picLocks noChangeAspect="1"/>
          </p:cNvPicPr>
          <p:nvPr/>
        </p:nvPicPr>
        <p:blipFill rotWithShape="1">
          <a:blip r:embed="rId13"/>
          <a:stretch>
            <a:fillRect/>
          </a:stretch>
        </p:blipFill>
        <p:spPr>
          <a:xfrm rot="21363784">
            <a:off x="4970697" y="1286072"/>
            <a:ext cx="143668" cy="641961"/>
          </a:xfrm>
          <a:prstGeom prst="rect">
            <a:avLst/>
          </a:prstGeom>
        </p:spPr>
      </p:pic>
      <p:pic>
        <p:nvPicPr>
          <p:cNvPr id="1040" name="그림 1039"/>
          <p:cNvPicPr>
            <a:picLocks noChangeAspect="1"/>
          </p:cNvPicPr>
          <p:nvPr/>
        </p:nvPicPr>
        <p:blipFill rotWithShape="1">
          <a:blip r:embed="rId12"/>
          <a:srcRect b="58910"/>
          <a:stretch>
            <a:fillRect/>
          </a:stretch>
        </p:blipFill>
        <p:spPr>
          <a:xfrm>
            <a:off x="5163041" y="2085675"/>
            <a:ext cx="196019" cy="69213"/>
          </a:xfrm>
          <a:prstGeom prst="rect">
            <a:avLst/>
          </a:prstGeom>
        </p:spPr>
      </p:pic>
      <p:pic>
        <p:nvPicPr>
          <p:cNvPr id="1041" name="그림 1040"/>
          <p:cNvPicPr>
            <a:picLocks noChangeAspect="1"/>
          </p:cNvPicPr>
          <p:nvPr/>
        </p:nvPicPr>
        <p:blipFill rotWithShape="1">
          <a:blip r:embed="rId12"/>
          <a:srcRect b="58910"/>
          <a:stretch>
            <a:fillRect/>
          </a:stretch>
        </p:blipFill>
        <p:spPr>
          <a:xfrm>
            <a:off x="5717096" y="2101645"/>
            <a:ext cx="149078" cy="52638"/>
          </a:xfrm>
          <a:prstGeom prst="rect">
            <a:avLst/>
          </a:prstGeom>
        </p:spPr>
      </p:pic>
      <p:pic>
        <p:nvPicPr>
          <p:cNvPr id="1039" name="그림 1038"/>
          <p:cNvPicPr>
            <a:picLocks noChangeAspect="1"/>
          </p:cNvPicPr>
          <p:nvPr/>
        </p:nvPicPr>
        <p:blipFill rotWithShape="1">
          <a:blip r:embed="rId13"/>
          <a:stretch>
            <a:fillRect/>
          </a:stretch>
        </p:blipFill>
        <p:spPr>
          <a:xfrm rot="158624">
            <a:off x="5694631" y="1567564"/>
            <a:ext cx="174939" cy="781689"/>
          </a:xfrm>
          <a:prstGeom prst="rect">
            <a:avLst/>
          </a:prstGeom>
        </p:spPr>
      </p:pic>
      <p:pic>
        <p:nvPicPr>
          <p:cNvPr id="1033" name="그림 1032"/>
          <p:cNvPicPr>
            <a:picLocks noChangeAspect="1"/>
          </p:cNvPicPr>
          <p:nvPr/>
        </p:nvPicPr>
        <p:blipFill rotWithShape="1">
          <a:blip r:embed="rId13"/>
          <a:stretch>
            <a:fillRect/>
          </a:stretch>
        </p:blipFill>
        <p:spPr>
          <a:xfrm rot="158624">
            <a:off x="5151001" y="1714003"/>
            <a:ext cx="174939" cy="781689"/>
          </a:xfrm>
          <a:prstGeom prst="rect">
            <a:avLst/>
          </a:prstGeom>
        </p:spPr>
      </p:pic>
      <p:pic>
        <p:nvPicPr>
          <p:cNvPr id="1073" name="그림 1072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7117185" y="1507560"/>
            <a:ext cx="2221960" cy="1671328"/>
          </a:xfrm>
          <a:prstGeom prst="rect">
            <a:avLst/>
          </a:prstGeom>
        </p:spPr>
      </p:pic>
      <p:pic>
        <p:nvPicPr>
          <p:cNvPr id="1074" name="그림 1073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7132370" y="1507560"/>
            <a:ext cx="2221960" cy="1671328"/>
          </a:xfrm>
          <a:prstGeom prst="rect">
            <a:avLst/>
          </a:prstGeom>
        </p:spPr>
      </p:pic>
      <p:pic>
        <p:nvPicPr>
          <p:cNvPr id="1075" name="그림 1074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>
            <a:off x="7671939" y="1892462"/>
            <a:ext cx="135489" cy="104520"/>
          </a:xfrm>
          <a:prstGeom prst="rect">
            <a:avLst/>
          </a:prstGeom>
        </p:spPr>
      </p:pic>
      <p:pic>
        <p:nvPicPr>
          <p:cNvPr id="1076" name="그림 1075"/>
          <p:cNvPicPr>
            <a:picLocks noChangeAspect="1"/>
          </p:cNvPicPr>
          <p:nvPr/>
        </p:nvPicPr>
        <p:blipFill rotWithShape="1">
          <a:blip r:embed="rId12"/>
          <a:srcRect b="58910"/>
          <a:stretch>
            <a:fillRect/>
          </a:stretch>
        </p:blipFill>
        <p:spPr>
          <a:xfrm>
            <a:off x="7827094" y="2140363"/>
            <a:ext cx="196019" cy="69213"/>
          </a:xfrm>
          <a:prstGeom prst="rect">
            <a:avLst/>
          </a:prstGeom>
        </p:spPr>
      </p:pic>
      <p:pic>
        <p:nvPicPr>
          <p:cNvPr id="1077" name="그림 1076"/>
          <p:cNvPicPr>
            <a:picLocks noChangeAspect="1"/>
          </p:cNvPicPr>
          <p:nvPr/>
        </p:nvPicPr>
        <p:blipFill rotWithShape="1">
          <a:blip r:embed="rId12"/>
          <a:srcRect b="58910"/>
          <a:stretch>
            <a:fillRect/>
          </a:stretch>
        </p:blipFill>
        <p:spPr>
          <a:xfrm>
            <a:off x="8381149" y="2156333"/>
            <a:ext cx="149078" cy="52638"/>
          </a:xfrm>
          <a:prstGeom prst="rect">
            <a:avLst/>
          </a:prstGeom>
        </p:spPr>
      </p:pic>
      <p:cxnSp>
        <p:nvCxnSpPr>
          <p:cNvPr id="1078" name="직선 연결선 1077"/>
          <p:cNvCxnSpPr/>
          <p:nvPr/>
        </p:nvCxnSpPr>
        <p:spPr>
          <a:xfrm>
            <a:off x="7206251" y="2139661"/>
            <a:ext cx="1536700" cy="13193"/>
          </a:xfrm>
          <a:prstGeom prst="line">
            <a:avLst/>
          </a:prstGeom>
          <a:ln w="317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0" name="직선 연결선 1079"/>
          <p:cNvCxnSpPr/>
          <p:nvPr/>
        </p:nvCxnSpPr>
        <p:spPr>
          <a:xfrm>
            <a:off x="7287862" y="2048983"/>
            <a:ext cx="1536700" cy="13193"/>
          </a:xfrm>
          <a:prstGeom prst="line">
            <a:avLst/>
          </a:prstGeom>
          <a:ln w="317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1" name="직선 연결선 1080"/>
          <p:cNvCxnSpPr/>
          <p:nvPr/>
        </p:nvCxnSpPr>
        <p:spPr>
          <a:xfrm>
            <a:off x="7345012" y="1961993"/>
            <a:ext cx="1536700" cy="13193"/>
          </a:xfrm>
          <a:prstGeom prst="line">
            <a:avLst/>
          </a:prstGeom>
          <a:ln w="317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2" name="직선 연결선 1081"/>
          <p:cNvCxnSpPr/>
          <p:nvPr/>
        </p:nvCxnSpPr>
        <p:spPr>
          <a:xfrm>
            <a:off x="7441427" y="1878509"/>
            <a:ext cx="1536700" cy="13193"/>
          </a:xfrm>
          <a:prstGeom prst="line">
            <a:avLst/>
          </a:prstGeom>
          <a:ln w="317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3" name="직선 연결선 1082"/>
          <p:cNvCxnSpPr/>
          <p:nvPr/>
        </p:nvCxnSpPr>
        <p:spPr>
          <a:xfrm>
            <a:off x="7539698" y="1799475"/>
            <a:ext cx="1536700" cy="13193"/>
          </a:xfrm>
          <a:prstGeom prst="line">
            <a:avLst/>
          </a:prstGeom>
          <a:ln w="317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4" name="직선 연결선 1083"/>
          <p:cNvCxnSpPr/>
          <p:nvPr/>
        </p:nvCxnSpPr>
        <p:spPr>
          <a:xfrm>
            <a:off x="7581924" y="1736651"/>
            <a:ext cx="1536700" cy="13193"/>
          </a:xfrm>
          <a:prstGeom prst="line">
            <a:avLst/>
          </a:prstGeom>
          <a:ln w="317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5" name="직선 연결선 1084"/>
          <p:cNvCxnSpPr/>
          <p:nvPr/>
        </p:nvCxnSpPr>
        <p:spPr>
          <a:xfrm>
            <a:off x="7646165" y="1664213"/>
            <a:ext cx="1536700" cy="13193"/>
          </a:xfrm>
          <a:prstGeom prst="line">
            <a:avLst/>
          </a:prstGeom>
          <a:ln w="317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86" name="그림 1085"/>
          <p:cNvPicPr>
            <a:picLocks noChangeAspect="1"/>
          </p:cNvPicPr>
          <p:nvPr/>
        </p:nvPicPr>
        <p:blipFill rotWithShape="1">
          <a:blip r:embed="rId13"/>
          <a:stretch>
            <a:fillRect/>
          </a:stretch>
        </p:blipFill>
        <p:spPr>
          <a:xfrm rot="21363784">
            <a:off x="7634750" y="1340760"/>
            <a:ext cx="143668" cy="641961"/>
          </a:xfrm>
          <a:prstGeom prst="rect">
            <a:avLst/>
          </a:prstGeom>
        </p:spPr>
      </p:pic>
      <p:pic>
        <p:nvPicPr>
          <p:cNvPr id="1087" name="그림 1086"/>
          <p:cNvPicPr>
            <a:picLocks noChangeAspect="1"/>
          </p:cNvPicPr>
          <p:nvPr/>
        </p:nvPicPr>
        <p:blipFill rotWithShape="1">
          <a:blip r:embed="rId13"/>
          <a:stretch>
            <a:fillRect/>
          </a:stretch>
        </p:blipFill>
        <p:spPr>
          <a:xfrm rot="158624">
            <a:off x="8358684" y="1622252"/>
            <a:ext cx="174939" cy="781689"/>
          </a:xfrm>
          <a:prstGeom prst="rect">
            <a:avLst/>
          </a:prstGeom>
        </p:spPr>
      </p:pic>
      <p:pic>
        <p:nvPicPr>
          <p:cNvPr id="1088" name="그림 1087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8672676" y="1524824"/>
            <a:ext cx="174940" cy="648735"/>
          </a:xfrm>
          <a:prstGeom prst="rect">
            <a:avLst/>
          </a:prstGeom>
        </p:spPr>
      </p:pic>
      <p:pic>
        <p:nvPicPr>
          <p:cNvPr id="1089" name="그림 1088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8133108" y="1474107"/>
            <a:ext cx="174940" cy="651882"/>
          </a:xfrm>
          <a:prstGeom prst="rect">
            <a:avLst/>
          </a:prstGeom>
        </p:spPr>
      </p:pic>
      <p:pic>
        <p:nvPicPr>
          <p:cNvPr id="1079" name="그림 1078"/>
          <p:cNvPicPr>
            <a:picLocks noChangeAspect="1"/>
          </p:cNvPicPr>
          <p:nvPr/>
        </p:nvPicPr>
        <p:blipFill rotWithShape="1">
          <a:blip r:embed="rId13"/>
          <a:stretch>
            <a:fillRect/>
          </a:stretch>
        </p:blipFill>
        <p:spPr>
          <a:xfrm rot="158624">
            <a:off x="7815054" y="1768691"/>
            <a:ext cx="174939" cy="781689"/>
          </a:xfrm>
          <a:prstGeom prst="rect">
            <a:avLst/>
          </a:prstGeom>
        </p:spPr>
      </p:pic>
      <p:sp>
        <p:nvSpPr>
          <p:cNvPr id="1091" name="Right Arrow 96"/>
          <p:cNvSpPr/>
          <p:nvPr/>
        </p:nvSpPr>
        <p:spPr>
          <a:xfrm>
            <a:off x="6679153" y="2153979"/>
            <a:ext cx="410515" cy="269113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400">
              <a:solidFill>
                <a:prstClr val="white"/>
              </a:solidFill>
              <a:latin typeface="Arial"/>
              <a:cs typeface="Arial"/>
            </a:endParaRPr>
          </a:p>
        </p:txBody>
      </p:sp>
      <p:sp>
        <p:nvSpPr>
          <p:cNvPr id="1092" name="TextBox 1091"/>
          <p:cNvSpPr txBox="1"/>
          <p:nvPr/>
        </p:nvSpPr>
        <p:spPr>
          <a:xfrm>
            <a:off x="9390969" y="2430823"/>
            <a:ext cx="151134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ko-KR" altLang="en-US" sz="1200"/>
              <a:t>조직 단면 슬라이드</a:t>
            </a:r>
          </a:p>
        </p:txBody>
      </p:sp>
      <p:grpSp>
        <p:nvGrpSpPr>
          <p:cNvPr id="1094" name="그룹 1093"/>
          <p:cNvGrpSpPr>
            <a:grpSpLocks noChangeAspect="1"/>
          </p:cNvGrpSpPr>
          <p:nvPr/>
        </p:nvGrpSpPr>
        <p:grpSpPr>
          <a:xfrm>
            <a:off x="9414802" y="1543562"/>
            <a:ext cx="1432372" cy="696279"/>
            <a:chOff x="9926703" y="1581427"/>
            <a:chExt cx="1396330" cy="678759"/>
          </a:xfrm>
        </p:grpSpPr>
        <p:pic>
          <p:nvPicPr>
            <p:cNvPr id="1049" name="Picture 4" descr="Homepage - Huron Digital Pathology"/>
            <p:cNvPicPr>
              <a:picLocks noChangeAspect="1" noChangeArrowheads="1"/>
            </p:cNvPicPr>
            <p:nvPr/>
          </p:nvPicPr>
          <p:blipFill rotWithShape="1">
            <a:blip r:embed="rId14"/>
            <a:srcRect/>
            <a:stretch>
              <a:fillRect/>
            </a:stretch>
          </p:blipFill>
          <p:spPr>
            <a:xfrm>
              <a:off x="10322098" y="1807680"/>
              <a:ext cx="1000935" cy="452506"/>
            </a:xfrm>
            <a:prstGeom prst="rect">
              <a:avLst/>
            </a:prstGeom>
            <a:noFill/>
          </p:spPr>
        </p:pic>
        <p:pic>
          <p:nvPicPr>
            <p:cNvPr id="1047" name="Picture 4" descr="Homepage - Huron Digital Pathology"/>
            <p:cNvPicPr>
              <a:picLocks noChangeAspect="1" noChangeArrowheads="1"/>
            </p:cNvPicPr>
            <p:nvPr/>
          </p:nvPicPr>
          <p:blipFill rotWithShape="1">
            <a:blip r:embed="rId14"/>
            <a:srcRect/>
            <a:stretch>
              <a:fillRect/>
            </a:stretch>
          </p:blipFill>
          <p:spPr>
            <a:xfrm>
              <a:off x="9926703" y="1581427"/>
              <a:ext cx="1000935" cy="452506"/>
            </a:xfrm>
            <a:prstGeom prst="rect">
              <a:avLst/>
            </a:prstGeom>
            <a:noFill/>
          </p:spPr>
        </p:pic>
        <p:pic>
          <p:nvPicPr>
            <p:cNvPr id="1048" name="Picture 4" descr="Homepage - Huron Digital Pathology"/>
            <p:cNvPicPr>
              <a:picLocks noChangeAspect="1" noChangeArrowheads="1"/>
            </p:cNvPicPr>
            <p:nvPr/>
          </p:nvPicPr>
          <p:blipFill rotWithShape="1">
            <a:blip r:embed="rId14"/>
            <a:srcRect/>
            <a:stretch>
              <a:fillRect/>
            </a:stretch>
          </p:blipFill>
          <p:spPr>
            <a:xfrm>
              <a:off x="10257858" y="1604036"/>
              <a:ext cx="1000935" cy="452506"/>
            </a:xfrm>
            <a:prstGeom prst="rect">
              <a:avLst/>
            </a:prstGeom>
            <a:noFill/>
          </p:spPr>
        </p:pic>
      </p:grpSp>
      <p:sp>
        <p:nvSpPr>
          <p:cNvPr id="1096" name="Right Arrow 96"/>
          <p:cNvSpPr/>
          <p:nvPr/>
        </p:nvSpPr>
        <p:spPr>
          <a:xfrm>
            <a:off x="9721615" y="2153979"/>
            <a:ext cx="963254" cy="269113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400">
              <a:solidFill>
                <a:prstClr val="white"/>
              </a:solidFill>
              <a:latin typeface="Arial"/>
              <a:cs typeface="Arial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15"/>
          <a:stretch>
            <a:fillRect/>
          </a:stretch>
        </p:blipFill>
        <p:spPr>
          <a:xfrm>
            <a:off x="10375235" y="12866"/>
            <a:ext cx="1816765" cy="37798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3618" y="233680"/>
            <a:ext cx="7731981" cy="45021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3600">
                <a:solidFill>
                  <a:srgbClr val="CF8C67"/>
                </a:solidFill>
                <a:latin typeface="HY헤드라인M"/>
                <a:ea typeface="HY헤드라인M"/>
                <a:cs typeface="Aharoni"/>
              </a:defRPr>
            </a:lvl1pPr>
          </a:lstStyle>
          <a:p>
            <a:pPr lvl="0">
              <a:defRPr/>
            </a:pPr>
            <a:r>
              <a:rPr lang="en-US" altLang="ko-KR" sz="2400" b="1"/>
              <a:t>Spicule </a:t>
            </a:r>
            <a:r>
              <a:rPr lang="ko-KR" altLang="en-US" sz="2400" b="1"/>
              <a:t>피부 침투 확인 </a:t>
            </a:r>
            <a:r>
              <a:rPr lang="en-US" altLang="ko-KR" sz="2400" b="1"/>
              <a:t>– </a:t>
            </a:r>
            <a:r>
              <a:rPr lang="ko-KR" altLang="en-US" sz="2400" b="1"/>
              <a:t>연구용 인공 피부</a:t>
            </a:r>
            <a:r>
              <a:rPr lang="en-US" altLang="ko-KR" sz="2400" b="1"/>
              <a:t>  </a:t>
            </a:r>
            <a:endParaRPr lang="ko-KR" altLang="en-US" sz="2400" b="1"/>
          </a:p>
        </p:txBody>
      </p:sp>
      <p:cxnSp>
        <p:nvCxnSpPr>
          <p:cNvPr id="4" name="직선 연결선 3"/>
          <p:cNvCxnSpPr/>
          <p:nvPr/>
        </p:nvCxnSpPr>
        <p:spPr>
          <a:xfrm>
            <a:off x="355600" y="736887"/>
            <a:ext cx="11511280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그룹 7"/>
          <p:cNvGrpSpPr/>
          <p:nvPr/>
        </p:nvGrpSpPr>
        <p:grpSpPr>
          <a:xfrm>
            <a:off x="293968" y="6554918"/>
            <a:ext cx="11755791" cy="229470"/>
            <a:chOff x="293968" y="6554918"/>
            <a:chExt cx="11755791" cy="229470"/>
          </a:xfrm>
        </p:grpSpPr>
        <p:grpSp>
          <p:nvGrpSpPr>
            <p:cNvPr id="9" name="그룹 8"/>
            <p:cNvGrpSpPr/>
            <p:nvPr/>
          </p:nvGrpSpPr>
          <p:grpSpPr>
            <a:xfrm>
              <a:off x="650240" y="6557524"/>
              <a:ext cx="11399519" cy="205787"/>
              <a:chOff x="650240" y="6557524"/>
              <a:chExt cx="11399519" cy="205787"/>
            </a:xfrm>
          </p:grpSpPr>
          <p:sp>
            <p:nvSpPr>
              <p:cNvPr id="11" name="TextBox 10"/>
              <p:cNvSpPr txBox="1"/>
              <p:nvPr/>
            </p:nvSpPr>
            <p:spPr>
              <a:xfrm>
                <a:off x="7792084" y="6557524"/>
                <a:ext cx="4257676" cy="2057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 eaLnBrk="1" hangingPunct="1">
                  <a:defRPr/>
                </a:pPr>
                <a:r>
                  <a:rPr lang="en-US" altLang="ko-KR" sz="750">
                    <a:ln w="9525">
                      <a:solidFill>
                        <a:schemeClr val="bg1">
                          <a:lumMod val="85000"/>
                          <a:alpha val="60000"/>
                        </a:schemeClr>
                      </a:solidFill>
                    </a:ln>
                    <a:solidFill>
                      <a:schemeClr val="bg1">
                        <a:lumMod val="85000"/>
                      </a:schemeClr>
                    </a:solidFill>
                    <a:latin typeface="G마켓 산스 TTF Medium"/>
                    <a:ea typeface="G마켓 산스 TTF Medium"/>
                    <a:cs typeface="Arial"/>
                  </a:rPr>
                  <a:t>Copyright ⓒ 2024 B&amp;, All rights reserved. Terms of Use I Privacy Policy.</a:t>
                </a:r>
                <a:endParaRPr lang="en-US" altLang="ko-KR" sz="750">
                  <a:solidFill>
                    <a:schemeClr val="bg1">
                      <a:lumMod val="85000"/>
                    </a:schemeClr>
                  </a:solidFill>
                  <a:latin typeface="G마켓 산스 TTF Medium"/>
                  <a:ea typeface="G마켓 산스 TTF Medium"/>
                  <a:cs typeface="Arial"/>
                </a:endParaRPr>
              </a:p>
            </p:txBody>
          </p:sp>
          <p:cxnSp>
            <p:nvCxnSpPr>
              <p:cNvPr id="12" name="직선 연결선 11"/>
              <p:cNvCxnSpPr/>
              <p:nvPr/>
            </p:nvCxnSpPr>
            <p:spPr>
              <a:xfrm>
                <a:off x="650240" y="6660417"/>
                <a:ext cx="7470140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0" name="그림 9"/>
            <p:cNvPicPr>
              <a:picLocks noChangeAspect="1"/>
            </p:cNvPicPr>
            <p:nvPr/>
          </p:nvPicPr>
          <p:blipFill rotWithShape="1">
            <a:blip r:embed="rId16"/>
            <a:srcRect l="42820" t="44730" r="43380" b="42160"/>
            <a:stretch>
              <a:fillRect/>
            </a:stretch>
          </p:blipFill>
          <p:spPr>
            <a:xfrm>
              <a:off x="293968" y="6554918"/>
              <a:ext cx="341746" cy="22947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41822" y="1524"/>
            <a:ext cx="4488011" cy="6797802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5219207" y="2160693"/>
            <a:ext cx="3343001" cy="39343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2000" b="1" i="0" strike="noStrike">
                <a:solidFill>
                  <a:srgbClr val="0000FF"/>
                </a:solidFill>
                <a:latin typeface="굴림"/>
                <a:ea typeface="굴림"/>
              </a:rPr>
              <a:t>세럼 &amp; 크림의 완벽한 듀오,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2"/>
          <a:srcRect t="91320"/>
          <a:stretch>
            <a:fillRect/>
          </a:stretch>
        </p:blipFill>
        <p:spPr>
          <a:xfrm>
            <a:off x="0" y="6498011"/>
            <a:ext cx="12192000" cy="359989"/>
          </a:xfrm>
          <a:prstGeom prst="rect">
            <a:avLst/>
          </a:prstGeom>
        </p:spPr>
      </p:pic>
      <p:grpSp>
        <p:nvGrpSpPr>
          <p:cNvPr id="8" name="그룹 11"/>
          <p:cNvGrpSpPr/>
          <p:nvPr/>
        </p:nvGrpSpPr>
        <p:grpSpPr>
          <a:xfrm rot="327214">
            <a:off x="10357862" y="1618989"/>
            <a:ext cx="273268" cy="3620021"/>
            <a:chOff x="9984881" y="614893"/>
            <a:chExt cx="350553" cy="4774420"/>
          </a:xfrm>
        </p:grpSpPr>
        <p:sp>
          <p:nvSpPr>
            <p:cNvPr id="9" name="타원 12"/>
            <p:cNvSpPr/>
            <p:nvPr/>
          </p:nvSpPr>
          <p:spPr>
            <a:xfrm rot="1290616">
              <a:off x="9984881" y="614893"/>
              <a:ext cx="350553" cy="4774420"/>
            </a:xfrm>
            <a:prstGeom prst="ellipse">
              <a:avLst/>
            </a:prstGeom>
            <a:gradFill flip="none" rotWithShape="1">
              <a:gsLst>
                <a:gs pos="84000">
                  <a:schemeClr val="bg1">
                    <a:lumMod val="75000"/>
                  </a:schemeClr>
                </a:gs>
                <a:gs pos="46000">
                  <a:schemeClr val="accent1">
                    <a:lumMod val="5000"/>
                    <a:lumOff val="95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>
                <a:latin typeface="+mj-lt"/>
              </a:endParaRPr>
            </a:p>
          </p:txBody>
        </p:sp>
        <p:sp>
          <p:nvSpPr>
            <p:cNvPr id="10" name="타원 13"/>
            <p:cNvSpPr/>
            <p:nvPr/>
          </p:nvSpPr>
          <p:spPr>
            <a:xfrm rot="1290616">
              <a:off x="10091340" y="625762"/>
              <a:ext cx="140117" cy="4758183"/>
            </a:xfrm>
            <a:prstGeom prst="ellipse">
              <a:avLst/>
            </a:prstGeom>
            <a:gradFill flip="none" rotWithShape="1">
              <a:gsLst>
                <a:gs pos="73000">
                  <a:srgbClr val="FBDC7E"/>
                </a:gs>
                <a:gs pos="58000">
                  <a:srgbClr val="FCE9AE"/>
                </a:gs>
                <a:gs pos="28000">
                  <a:srgbClr val="FCF5DE"/>
                </a:gs>
                <a:gs pos="2000">
                  <a:schemeClr val="accent4">
                    <a:lumMod val="0"/>
                    <a:lumOff val="100000"/>
                  </a:schemeClr>
                </a:gs>
                <a:gs pos="97000">
                  <a:schemeClr val="bg1">
                    <a:lumMod val="7500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>
                <a:latin typeface="+mj-lt"/>
              </a:endParaRPr>
            </a:p>
          </p:txBody>
        </p:sp>
      </p:grpSp>
      <p:pic>
        <p:nvPicPr>
          <p:cNvPr id="11" name="Picture 8" descr="HENGYISEN 헝이센 칼라민 습진 로션 베이비 스페셜 가려움증 완화 항균 로션 80ml/병 - Yami"/>
          <p:cNvPicPr>
            <a:picLocks noChangeAspect="1" noChangeArrowheads="1"/>
          </p:cNvPicPr>
          <p:nvPr/>
        </p:nvPicPr>
        <p:blipFill rotWithShape="1">
          <a:blip r:embed="rId3">
            <a:alphaModFix/>
          </a:blip>
          <a:srcRect l="28400" t="5820" r="20410" b="43930"/>
          <a:stretch>
            <a:fillRect/>
          </a:stretch>
        </p:blipFill>
        <p:spPr>
          <a:xfrm rot="380317">
            <a:off x="10861935" y="2453018"/>
            <a:ext cx="108000" cy="108000"/>
          </a:xfrm>
          <a:prstGeom prst="ellipse">
            <a:avLst/>
          </a:prstGeom>
          <a:noFill/>
        </p:spPr>
      </p:pic>
      <p:pic>
        <p:nvPicPr>
          <p:cNvPr id="12" name="Picture 8" descr="HENGYISEN 헝이센 칼라민 습진 로션 베이비 스페셜 가려움증 완화 항균 로션 80ml/병 - Yami"/>
          <p:cNvPicPr>
            <a:picLocks noChangeAspect="1" noChangeArrowheads="1"/>
          </p:cNvPicPr>
          <p:nvPr/>
        </p:nvPicPr>
        <p:blipFill rotWithShape="1">
          <a:blip r:embed="rId3">
            <a:alphaModFix/>
          </a:blip>
          <a:srcRect l="28400" t="5820" r="20410" b="43930"/>
          <a:stretch>
            <a:fillRect/>
          </a:stretch>
        </p:blipFill>
        <p:spPr>
          <a:xfrm rot="380317">
            <a:off x="10753935" y="2795206"/>
            <a:ext cx="108000" cy="108000"/>
          </a:xfrm>
          <a:prstGeom prst="ellipse">
            <a:avLst/>
          </a:prstGeom>
          <a:noFill/>
        </p:spPr>
      </p:pic>
      <p:pic>
        <p:nvPicPr>
          <p:cNvPr id="13" name="Picture 8" descr="HENGYISEN 헝이센 칼라민 습진 로션 베이비 스페셜 가려움증 완화 항균 로션 80ml/병 - Yami"/>
          <p:cNvPicPr>
            <a:picLocks noChangeAspect="1" noChangeArrowheads="1"/>
          </p:cNvPicPr>
          <p:nvPr/>
        </p:nvPicPr>
        <p:blipFill rotWithShape="1">
          <a:blip r:embed="rId3">
            <a:alphaModFix/>
          </a:blip>
          <a:srcRect l="28400" t="5820" r="20410" b="43930"/>
          <a:stretch>
            <a:fillRect/>
          </a:stretch>
        </p:blipFill>
        <p:spPr>
          <a:xfrm rot="380317">
            <a:off x="10594178" y="3076905"/>
            <a:ext cx="108000" cy="108000"/>
          </a:xfrm>
          <a:prstGeom prst="ellipse">
            <a:avLst/>
          </a:prstGeom>
          <a:noFill/>
        </p:spPr>
      </p:pic>
      <p:pic>
        <p:nvPicPr>
          <p:cNvPr id="14" name="Picture 8" descr="HENGYISEN 헝이센 칼라민 습진 로션 베이비 스페셜 가려움증 완화 항균 로션 80ml/병 - Yami"/>
          <p:cNvPicPr>
            <a:picLocks noChangeAspect="1" noChangeArrowheads="1"/>
          </p:cNvPicPr>
          <p:nvPr/>
        </p:nvPicPr>
        <p:blipFill rotWithShape="1">
          <a:blip r:embed="rId3">
            <a:alphaModFix/>
          </a:blip>
          <a:srcRect l="28400" t="5820" r="20410" b="43930"/>
          <a:stretch>
            <a:fillRect/>
          </a:stretch>
        </p:blipFill>
        <p:spPr>
          <a:xfrm rot="380317">
            <a:off x="10456664" y="3424452"/>
            <a:ext cx="108000" cy="108000"/>
          </a:xfrm>
          <a:prstGeom prst="ellipse">
            <a:avLst/>
          </a:prstGeom>
          <a:noFill/>
        </p:spPr>
      </p:pic>
      <p:pic>
        <p:nvPicPr>
          <p:cNvPr id="15" name="Picture 8" descr="HENGYISEN 헝이센 칼라민 습진 로션 베이비 스페셜 가려움증 완화 항균 로션 80ml/병 - Yami"/>
          <p:cNvPicPr>
            <a:picLocks noChangeAspect="1" noChangeArrowheads="1"/>
          </p:cNvPicPr>
          <p:nvPr/>
        </p:nvPicPr>
        <p:blipFill rotWithShape="1">
          <a:blip r:embed="rId3">
            <a:alphaModFix/>
          </a:blip>
          <a:srcRect l="28400" t="5820" r="20410" b="43930"/>
          <a:stretch>
            <a:fillRect/>
          </a:stretch>
        </p:blipFill>
        <p:spPr>
          <a:xfrm rot="380317">
            <a:off x="10294664" y="3716986"/>
            <a:ext cx="108000" cy="108000"/>
          </a:xfrm>
          <a:prstGeom prst="ellipse">
            <a:avLst/>
          </a:prstGeom>
          <a:noFill/>
        </p:spPr>
      </p:pic>
      <p:pic>
        <p:nvPicPr>
          <p:cNvPr id="16" name="Picture 8" descr="HENGYISEN 헝이센 칼라민 습진 로션 베이비 스페셜 가려움증 완화 항균 로션 80ml/병 - Yami"/>
          <p:cNvPicPr>
            <a:picLocks noChangeAspect="1" noChangeArrowheads="1"/>
          </p:cNvPicPr>
          <p:nvPr/>
        </p:nvPicPr>
        <p:blipFill rotWithShape="1">
          <a:blip r:embed="rId3">
            <a:alphaModFix/>
          </a:blip>
          <a:srcRect l="28400" t="5820" r="20410" b="43930"/>
          <a:stretch>
            <a:fillRect/>
          </a:stretch>
        </p:blipFill>
        <p:spPr>
          <a:xfrm rot="380317">
            <a:off x="10133841" y="3952008"/>
            <a:ext cx="108000" cy="108000"/>
          </a:xfrm>
          <a:prstGeom prst="ellipse">
            <a:avLst/>
          </a:prstGeom>
          <a:noFill/>
        </p:spPr>
      </p:pic>
      <p:pic>
        <p:nvPicPr>
          <p:cNvPr id="17" name="Picture 8" descr="HENGYISEN 헝이센 칼라민 습진 로션 베이비 스페셜 가려움증 완화 항균 로션 80ml/병 - Yami"/>
          <p:cNvPicPr>
            <a:picLocks noChangeAspect="1" noChangeArrowheads="1"/>
          </p:cNvPicPr>
          <p:nvPr/>
        </p:nvPicPr>
        <p:blipFill rotWithShape="1">
          <a:blip r:embed="rId3">
            <a:alphaModFix/>
          </a:blip>
          <a:srcRect l="28400" t="5820" r="20410" b="43930"/>
          <a:stretch>
            <a:fillRect/>
          </a:stretch>
        </p:blipFill>
        <p:spPr>
          <a:xfrm rot="380317">
            <a:off x="10029246" y="4294196"/>
            <a:ext cx="108000" cy="108000"/>
          </a:xfrm>
          <a:prstGeom prst="ellipse">
            <a:avLst/>
          </a:prstGeom>
          <a:noFill/>
        </p:spPr>
      </p:pic>
      <p:pic>
        <p:nvPicPr>
          <p:cNvPr id="18" name="Picture 8" descr="HENGYISEN 헝이센 칼라민 습진 로션 베이비 스페셜 가려움증 완화 항균 로션 80ml/병 - Yami"/>
          <p:cNvPicPr>
            <a:picLocks noChangeAspect="1" noChangeArrowheads="1"/>
          </p:cNvPicPr>
          <p:nvPr/>
        </p:nvPicPr>
        <p:blipFill rotWithShape="1">
          <a:blip r:embed="rId3">
            <a:alphaModFix/>
          </a:blip>
          <a:srcRect l="28400" t="5820" r="20410" b="43930"/>
          <a:stretch>
            <a:fillRect/>
          </a:stretch>
        </p:blipFill>
        <p:spPr>
          <a:xfrm rot="380317">
            <a:off x="9871335" y="4530306"/>
            <a:ext cx="108000" cy="108000"/>
          </a:xfrm>
          <a:prstGeom prst="ellipse">
            <a:avLst/>
          </a:prstGeom>
          <a:noFill/>
        </p:spPr>
      </p:pic>
      <p:pic>
        <p:nvPicPr>
          <p:cNvPr id="19" name="Picture 8" descr="HENGYISEN 헝이센 칼라민 습진 로션 베이비 스페셜 가려움증 완화 항균 로션 80ml/병 - Yami"/>
          <p:cNvPicPr>
            <a:picLocks noChangeAspect="1" noChangeArrowheads="1"/>
          </p:cNvPicPr>
          <p:nvPr/>
        </p:nvPicPr>
        <p:blipFill rotWithShape="1">
          <a:blip r:embed="rId3">
            <a:alphaModFix/>
          </a:blip>
          <a:srcRect l="28400" t="5820" r="20410" b="43930"/>
          <a:stretch>
            <a:fillRect/>
          </a:stretch>
        </p:blipFill>
        <p:spPr>
          <a:xfrm rot="380317">
            <a:off x="11014333" y="2216164"/>
            <a:ext cx="108000" cy="108000"/>
          </a:xfrm>
          <a:prstGeom prst="ellipse">
            <a:avLst/>
          </a:prstGeom>
          <a:noFill/>
        </p:spPr>
      </p:pic>
      <p:sp>
        <p:nvSpPr>
          <p:cNvPr id="5" name="직사각형 4"/>
          <p:cNvSpPr/>
          <p:nvPr/>
        </p:nvSpPr>
        <p:spPr>
          <a:xfrm>
            <a:off x="5184398" y="2597696"/>
            <a:ext cx="7007602" cy="179142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2400" b="1" i="1" strike="noStrike" dirty="0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“</a:t>
            </a:r>
            <a:r>
              <a:rPr sz="2400" b="1" i="1" strike="noStrike" dirty="0" err="1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스피큘</a:t>
            </a:r>
            <a:r>
              <a:rPr sz="2400" b="1" i="1" strike="noStrike" dirty="0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 × </a:t>
            </a:r>
            <a:r>
              <a:rPr sz="2400" b="1" i="1" strike="noStrike" dirty="0" err="1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미백</a:t>
            </a:r>
            <a:r>
              <a:rPr sz="2400" b="1" i="1" strike="noStrike" dirty="0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 </a:t>
            </a:r>
            <a:r>
              <a:rPr sz="2400" b="1" i="1" strike="noStrike" dirty="0" err="1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성분의</a:t>
            </a:r>
            <a:r>
              <a:rPr sz="2400" b="1" i="1" strike="noStrike" dirty="0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 </a:t>
            </a:r>
            <a:r>
              <a:rPr sz="2400" b="1" i="1" strike="noStrike" dirty="0" err="1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시너지</a:t>
            </a:r>
            <a:r>
              <a:rPr sz="2400" b="1" i="1" strike="noStrike" dirty="0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”</a:t>
            </a:r>
            <a:endParaRPr sz="2200" b="0" i="0" strike="noStrike" dirty="0">
              <a:solidFill>
                <a:srgbClr val="000000">
                  <a:alpha val="100000"/>
                </a:srgbClr>
              </a:solidFill>
              <a:latin typeface="굴림"/>
              <a:ea typeface="굴림"/>
            </a:endParaRPr>
          </a:p>
          <a:p>
            <a:pPr algn="l">
              <a:defRPr/>
            </a:pPr>
            <a:r>
              <a:rPr sz="2200" b="0" i="0" strike="noStrike" dirty="0" err="1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피부</a:t>
            </a:r>
            <a:r>
              <a:rPr sz="2200" b="0" i="0" strike="noStrike" dirty="0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 </a:t>
            </a:r>
            <a:r>
              <a:rPr sz="2200" b="0" i="0" strike="noStrike" dirty="0" err="1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속까지</a:t>
            </a:r>
            <a:r>
              <a:rPr sz="2200" b="0" i="0" strike="noStrike" dirty="0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 더 </a:t>
            </a:r>
            <a:r>
              <a:rPr sz="2200" b="0" i="0" strike="noStrike" dirty="0" err="1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깊게</a:t>
            </a:r>
            <a:r>
              <a:rPr sz="2200" b="0" i="0" strike="noStrike" dirty="0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, 더 </a:t>
            </a:r>
            <a:r>
              <a:rPr sz="2200" b="0" i="0" strike="noStrike" dirty="0" err="1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빠르게</a:t>
            </a:r>
            <a:r>
              <a:rPr sz="2200" b="0" i="0" strike="noStrike" dirty="0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.</a:t>
            </a:r>
          </a:p>
          <a:p>
            <a:pPr algn="l">
              <a:defRPr/>
            </a:pPr>
            <a:r>
              <a:rPr sz="2200" b="0" i="0" strike="noStrike" dirty="0" err="1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미백</a:t>
            </a:r>
            <a:r>
              <a:rPr sz="2200" b="0" i="0" strike="noStrike" dirty="0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 </a:t>
            </a:r>
            <a:r>
              <a:rPr sz="2200" b="0" i="0" strike="noStrike" dirty="0" err="1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성분을</a:t>
            </a:r>
            <a:r>
              <a:rPr sz="2200" b="0" i="0" strike="noStrike" dirty="0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 </a:t>
            </a:r>
            <a:r>
              <a:rPr sz="2200" b="0" i="0" strike="noStrike" dirty="0" err="1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스피큘에</a:t>
            </a:r>
            <a:r>
              <a:rPr sz="2200" b="0" i="0" strike="noStrike" dirty="0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 </a:t>
            </a:r>
            <a:r>
              <a:rPr sz="2200" b="0" i="0" strike="noStrike" dirty="0" err="1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함침시켜미백</a:t>
            </a:r>
            <a:r>
              <a:rPr sz="2200" b="0" i="0" strike="noStrike" dirty="0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 </a:t>
            </a:r>
            <a:r>
              <a:rPr sz="2200" b="0" i="0" strike="noStrike" dirty="0" err="1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효과를</a:t>
            </a:r>
            <a:r>
              <a:rPr sz="2200" b="0" i="0" strike="noStrike" dirty="0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 </a:t>
            </a:r>
            <a:r>
              <a:rPr sz="2200" b="0" i="0" strike="noStrike" dirty="0" err="1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극대화</a:t>
            </a:r>
            <a:r>
              <a:rPr sz="2200" b="0" i="0" strike="noStrike" dirty="0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,</a:t>
            </a:r>
          </a:p>
          <a:p>
            <a:pPr algn="l">
              <a:defRPr/>
            </a:pPr>
            <a:r>
              <a:rPr sz="2200" b="0" i="0" strike="noStrike" dirty="0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4가지 </a:t>
            </a:r>
            <a:r>
              <a:rPr sz="2200" b="0" i="0" strike="noStrike" dirty="0" err="1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식물</a:t>
            </a:r>
            <a:r>
              <a:rPr sz="2200" b="0" i="0" strike="noStrike" dirty="0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 </a:t>
            </a:r>
            <a:r>
              <a:rPr sz="2200" b="0" i="0" strike="noStrike" dirty="0" err="1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유래</a:t>
            </a:r>
            <a:r>
              <a:rPr sz="2200" b="0" i="0" strike="noStrike" dirty="0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 </a:t>
            </a:r>
            <a:r>
              <a:rPr sz="2200" b="0" i="0" strike="noStrike" dirty="0" err="1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엑소좀으로</a:t>
            </a:r>
            <a:endParaRPr sz="2200" b="0" i="0" strike="noStrike" dirty="0">
              <a:solidFill>
                <a:srgbClr val="000000">
                  <a:alpha val="100000"/>
                </a:srgbClr>
              </a:solidFill>
              <a:latin typeface="굴림"/>
              <a:ea typeface="굴림"/>
            </a:endParaRPr>
          </a:p>
          <a:p>
            <a:pPr algn="l">
              <a:defRPr/>
            </a:pPr>
            <a:r>
              <a:rPr sz="2200" b="0" i="0" strike="noStrike" dirty="0" err="1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피부</a:t>
            </a:r>
            <a:r>
              <a:rPr sz="2200" b="0" i="0" strike="noStrike" dirty="0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 </a:t>
            </a:r>
            <a:r>
              <a:rPr sz="2200" b="0" i="0" strike="noStrike" dirty="0" err="1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재생과</a:t>
            </a:r>
            <a:r>
              <a:rPr sz="2200" b="0" i="0" strike="noStrike" dirty="0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 </a:t>
            </a:r>
            <a:r>
              <a:rPr sz="2200" b="0" i="0" strike="noStrike" dirty="0" err="1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컨디션</a:t>
            </a:r>
            <a:r>
              <a:rPr sz="2200" b="0" i="0" strike="noStrike" dirty="0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 </a:t>
            </a:r>
            <a:r>
              <a:rPr sz="2200" b="0" i="0" strike="noStrike" dirty="0" err="1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회복까지</a:t>
            </a:r>
            <a:r>
              <a:rPr sz="2200" b="0" i="0" strike="noStrike" dirty="0">
                <a:solidFill>
                  <a:srgbClr val="000000">
                    <a:alpha val="100000"/>
                  </a:srgbClr>
                </a:solidFill>
                <a:latin typeface="굴림"/>
                <a:ea typeface="굴림"/>
              </a:rPr>
              <a:t>!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1720019F-DAE7-45EC-9A2D-B9BA5BCC1648}"/>
              </a:ext>
            </a:extLst>
          </p:cNvPr>
          <p:cNvSpPr/>
          <p:nvPr/>
        </p:nvSpPr>
        <p:spPr>
          <a:xfrm>
            <a:off x="0" y="0"/>
            <a:ext cx="7845879" cy="6858000"/>
          </a:xfrm>
          <a:prstGeom prst="rect">
            <a:avLst/>
          </a:prstGeom>
          <a:solidFill>
            <a:srgbClr val="F4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Picture 2" descr="바이알레시피 - 바이알레시피 순수 비타민C E 페룰릭 맑은 광채 흑자 검버섯 색소침착 톤업 미백 항산화 기미앰플">
            <a:extLst>
              <a:ext uri="{FF2B5EF4-FFF2-40B4-BE49-F238E27FC236}">
                <a16:creationId xmlns:a16="http://schemas.microsoft.com/office/drawing/2014/main" id="{6A6E8010-FF29-4D3B-ADED-2CC3185025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72" t="54128" r="3739" b="7229"/>
          <a:stretch/>
        </p:blipFill>
        <p:spPr bwMode="auto">
          <a:xfrm>
            <a:off x="8463250" y="2816095"/>
            <a:ext cx="3199773" cy="19549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바이알레시피 - 바이알레시피 순수 비타민C E 페룰릭 맑은 광채 흑자 검버섯 색소침착 톤업 미백 항산화 기미앰플">
            <a:extLst>
              <a:ext uri="{FF2B5EF4-FFF2-40B4-BE49-F238E27FC236}">
                <a16:creationId xmlns:a16="http://schemas.microsoft.com/office/drawing/2014/main" id="{2A6D193B-490C-4623-AF06-F674B143190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6" t="14568" r="3656" b="57190"/>
          <a:stretch/>
        </p:blipFill>
        <p:spPr bwMode="auto">
          <a:xfrm>
            <a:off x="8448741" y="723308"/>
            <a:ext cx="3199775" cy="1428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BB03A6DC-3B3C-4A66-9BC9-78FB15F1ABA8}"/>
              </a:ext>
            </a:extLst>
          </p:cNvPr>
          <p:cNvSpPr/>
          <p:nvPr/>
        </p:nvSpPr>
        <p:spPr>
          <a:xfrm>
            <a:off x="9448273" y="272122"/>
            <a:ext cx="2218290" cy="327405"/>
          </a:xfrm>
          <a:prstGeom prst="roundRect">
            <a:avLst>
              <a:gd name="adj" fmla="val 5000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dirty="0">
                <a:solidFill>
                  <a:schemeClr val="tx1"/>
                </a:solidFill>
              </a:rPr>
              <a:t>기미</a:t>
            </a:r>
            <a:r>
              <a:rPr lang="en-US" altLang="ko-KR" sz="1300" dirty="0">
                <a:solidFill>
                  <a:schemeClr val="tx1"/>
                </a:solidFill>
              </a:rPr>
              <a:t>/</a:t>
            </a:r>
            <a:r>
              <a:rPr lang="ko-KR" altLang="en-US" sz="1300" dirty="0">
                <a:solidFill>
                  <a:schemeClr val="tx1"/>
                </a:solidFill>
              </a:rPr>
              <a:t>색소침착 생성 과정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D4E5767B-82A4-4EDE-8674-B6A905150615}"/>
              </a:ext>
            </a:extLst>
          </p:cNvPr>
          <p:cNvSpPr/>
          <p:nvPr/>
        </p:nvSpPr>
        <p:spPr>
          <a:xfrm>
            <a:off x="8700971" y="2366035"/>
            <a:ext cx="2962052" cy="3556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 err="1">
                <a:solidFill>
                  <a:srgbClr val="FF0000"/>
                </a:solidFill>
              </a:rPr>
              <a:t>트라넥삼산</a:t>
            </a:r>
            <a:r>
              <a:rPr lang="ko-KR" altLang="en-US" sz="1400" b="1" dirty="0">
                <a:solidFill>
                  <a:srgbClr val="FF0000"/>
                </a:solidFill>
              </a:rPr>
              <a:t> 함침 </a:t>
            </a:r>
            <a:r>
              <a:rPr lang="ko-KR" altLang="en-US" sz="1400" b="1" dirty="0" err="1">
                <a:solidFill>
                  <a:srgbClr val="FF0000"/>
                </a:solidFill>
              </a:rPr>
              <a:t>스피큘</a:t>
            </a:r>
            <a:r>
              <a:rPr lang="ko-KR" altLang="en-US" sz="1400" b="1" dirty="0">
                <a:solidFill>
                  <a:srgbClr val="FF0000"/>
                </a:solidFill>
              </a:rPr>
              <a:t> 사용 시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8F66764-DD17-40B7-88C7-13FABCFDF0FE}"/>
              </a:ext>
            </a:extLst>
          </p:cNvPr>
          <p:cNvSpPr txBox="1"/>
          <p:nvPr/>
        </p:nvSpPr>
        <p:spPr>
          <a:xfrm>
            <a:off x="8516008" y="4867266"/>
            <a:ext cx="3147015" cy="1718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/>
              <a:t>자외선 등 외부 자극으로 인해</a:t>
            </a:r>
            <a:r>
              <a:rPr lang="en-US" altLang="ko-KR" sz="1200" dirty="0"/>
              <a:t> </a:t>
            </a:r>
            <a:r>
              <a:rPr lang="ko-KR" altLang="en-US" sz="1200" dirty="0"/>
              <a:t>과도하게 </a:t>
            </a:r>
            <a:endParaRPr lang="en-US" altLang="ko-KR" sz="1200" dirty="0"/>
          </a:p>
          <a:p>
            <a:pPr>
              <a:lnSpc>
                <a:spcPct val="150000"/>
              </a:lnSpc>
            </a:pPr>
            <a:r>
              <a:rPr lang="ko-KR" altLang="en-US" sz="1200" dirty="0"/>
              <a:t>생성되는 멜라닌을 </a:t>
            </a:r>
            <a:r>
              <a:rPr lang="ko-KR" altLang="en-US" sz="1200" u="sng" dirty="0" err="1"/>
              <a:t>트라넥삼산이</a:t>
            </a:r>
            <a:r>
              <a:rPr lang="en-US" altLang="ko-KR" sz="1200" u="sng" dirty="0"/>
              <a:t> </a:t>
            </a:r>
            <a:r>
              <a:rPr lang="ko-KR" altLang="en-US" sz="1200" u="sng" dirty="0"/>
              <a:t>직접</a:t>
            </a:r>
            <a:endParaRPr lang="en-US" altLang="ko-KR" sz="1200" u="sng" dirty="0"/>
          </a:p>
          <a:p>
            <a:pPr>
              <a:lnSpc>
                <a:spcPct val="150000"/>
              </a:lnSpc>
            </a:pPr>
            <a:r>
              <a:rPr lang="ko-KR" altLang="en-US" sz="1200" u="sng" dirty="0"/>
              <a:t>억제하여 색소침착의 근본 원인을 차단</a:t>
            </a:r>
            <a:endParaRPr lang="en-US" altLang="ko-KR" sz="1200" u="sng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u="sng" dirty="0"/>
              <a:t>미세 </a:t>
            </a:r>
            <a:r>
              <a:rPr lang="ko-KR" altLang="en-US" sz="1200" u="sng" dirty="0" err="1"/>
              <a:t>스피큘이</a:t>
            </a:r>
            <a:r>
              <a:rPr lang="ko-KR" altLang="en-US" sz="1200" u="sng" dirty="0"/>
              <a:t> 피부 깊숙이 유효성분을 </a:t>
            </a:r>
            <a:endParaRPr lang="en-US" altLang="ko-KR" sz="1200" u="sng" dirty="0"/>
          </a:p>
          <a:p>
            <a:pPr>
              <a:lnSpc>
                <a:spcPct val="150000"/>
              </a:lnSpc>
            </a:pPr>
            <a:r>
              <a:rPr lang="ko-KR" altLang="en-US" sz="1200" u="sng" dirty="0"/>
              <a:t>전달하고</a:t>
            </a:r>
            <a:r>
              <a:rPr lang="en-US" altLang="ko-KR" sz="1200" u="sng" dirty="0"/>
              <a:t>, </a:t>
            </a:r>
            <a:r>
              <a:rPr lang="ko-KR" altLang="en-US" sz="1200" u="sng" dirty="0"/>
              <a:t>각질 턴오버를 촉진</a:t>
            </a:r>
            <a:r>
              <a:rPr lang="ko-KR" altLang="en-US" sz="1200" dirty="0"/>
              <a:t>하여 기존의 </a:t>
            </a:r>
            <a:endParaRPr lang="en-US" altLang="ko-KR" sz="1200" dirty="0"/>
          </a:p>
          <a:p>
            <a:pPr>
              <a:lnSpc>
                <a:spcPct val="150000"/>
              </a:lnSpc>
            </a:pPr>
            <a:r>
              <a:rPr lang="ko-KR" altLang="en-US" sz="1200" dirty="0"/>
              <a:t>색소 침착을</a:t>
            </a:r>
            <a:r>
              <a:rPr lang="en-US" altLang="ko-KR" sz="1200" dirty="0"/>
              <a:t> </a:t>
            </a:r>
            <a:r>
              <a:rPr lang="ko-KR" altLang="en-US" sz="1200" dirty="0"/>
              <a:t>자연스럽게 탈락</a:t>
            </a:r>
          </a:p>
        </p:txBody>
      </p:sp>
      <p:pic>
        <p:nvPicPr>
          <p:cNvPr id="23" name="Picture 2" descr="엑소좀 | 셀코스메틱 컴퍼니">
            <a:extLst>
              <a:ext uri="{FF2B5EF4-FFF2-40B4-BE49-F238E27FC236}">
                <a16:creationId xmlns:a16="http://schemas.microsoft.com/office/drawing/2014/main" id="{2E87006F-7021-4435-A9A6-3C37E778F59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 amt="88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155" t="20705"/>
          <a:stretch/>
        </p:blipFill>
        <p:spPr bwMode="auto">
          <a:xfrm flipH="1">
            <a:off x="-3959" y="2912533"/>
            <a:ext cx="3126267" cy="3896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5044AB4-9E05-4C8E-BF81-318A0E6966C1}"/>
              </a:ext>
            </a:extLst>
          </p:cNvPr>
          <p:cNvSpPr txBox="1"/>
          <p:nvPr/>
        </p:nvSpPr>
        <p:spPr>
          <a:xfrm>
            <a:off x="-67267" y="369216"/>
            <a:ext cx="7700330" cy="574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ko-KR" altLang="en-US" sz="24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피부 건강과 미백</a:t>
            </a:r>
            <a:r>
              <a:rPr lang="en-US" altLang="ko-KR" sz="24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ko-KR" altLang="en-US" sz="24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한번에 잡는 복합 케어 솔루션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6E5D0C9-4BC7-41BC-88EC-7F918AC26891}"/>
              </a:ext>
            </a:extLst>
          </p:cNvPr>
          <p:cNvSpPr txBox="1"/>
          <p:nvPr/>
        </p:nvSpPr>
        <p:spPr>
          <a:xfrm>
            <a:off x="1403353" y="849866"/>
            <a:ext cx="6229710" cy="2220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ko-KR" altLang="en-US" dirty="0"/>
              <a:t>피부 본연의 건강을 회복시키는</a:t>
            </a:r>
            <a:r>
              <a:rPr lang="en-US" altLang="ko-KR" dirty="0"/>
              <a:t> </a:t>
            </a:r>
            <a:r>
              <a:rPr lang="ko-KR" altLang="en-US" b="1" dirty="0" err="1"/>
              <a:t>엑소좀</a:t>
            </a:r>
            <a:r>
              <a:rPr lang="ko-KR" altLang="en-US" dirty="0" err="1"/>
              <a:t>과</a:t>
            </a:r>
            <a:r>
              <a:rPr lang="ko-KR" altLang="en-US" dirty="0"/>
              <a:t> </a:t>
            </a:r>
            <a:endParaRPr lang="en-US" altLang="ko-KR" dirty="0"/>
          </a:p>
          <a:p>
            <a:pPr algn="r">
              <a:lnSpc>
                <a:spcPct val="200000"/>
              </a:lnSpc>
            </a:pPr>
            <a:r>
              <a:rPr lang="ko-KR" altLang="en-US" dirty="0"/>
              <a:t>멜라닌 생성을 억제하고 색소 침착을 제거하는</a:t>
            </a:r>
            <a:endParaRPr lang="en-US" altLang="ko-KR" dirty="0"/>
          </a:p>
          <a:p>
            <a:pPr algn="r">
              <a:lnSpc>
                <a:spcPct val="200000"/>
              </a:lnSpc>
            </a:pPr>
            <a:r>
              <a:rPr lang="ko-KR" altLang="en-US" b="1" dirty="0" err="1"/>
              <a:t>트라넥삼산</a:t>
            </a:r>
            <a:r>
              <a:rPr lang="ko-KR" altLang="en-US" b="1" dirty="0"/>
              <a:t> 함침 </a:t>
            </a:r>
            <a:r>
              <a:rPr lang="ko-KR" altLang="en-US" b="1" dirty="0" err="1"/>
              <a:t>스피큘</a:t>
            </a:r>
            <a:r>
              <a:rPr lang="ko-KR" altLang="en-US" dirty="0" err="1"/>
              <a:t>의</a:t>
            </a:r>
            <a:r>
              <a:rPr lang="ko-KR" altLang="en-US" dirty="0"/>
              <a:t> 시너지로</a:t>
            </a:r>
            <a:r>
              <a:rPr lang="en-US" altLang="ko-KR" dirty="0"/>
              <a:t>, </a:t>
            </a:r>
          </a:p>
          <a:p>
            <a:pPr algn="r">
              <a:lnSpc>
                <a:spcPct val="200000"/>
              </a:lnSpc>
            </a:pPr>
            <a:r>
              <a:rPr lang="ko-KR" altLang="en-US" b="1" dirty="0"/>
              <a:t>기미</a:t>
            </a:r>
            <a:r>
              <a:rPr lang="en-US" altLang="ko-KR" b="1" dirty="0"/>
              <a:t>·</a:t>
            </a:r>
            <a:r>
              <a:rPr lang="ko-KR" altLang="en-US" b="1" dirty="0"/>
              <a:t>잡티 없는 맑고 깨끗한 피부를 완성합니다</a:t>
            </a:r>
            <a:r>
              <a:rPr lang="en-US" altLang="ko-KR" b="1" dirty="0"/>
              <a:t>. </a:t>
            </a:r>
            <a:endParaRPr lang="ko-KR" altLang="en-US" b="1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3C0BC98-2552-4C38-94DE-F3F091676B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7457" y="3678489"/>
            <a:ext cx="2987367" cy="2810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6931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4FA91C89-B950-4BAA-9314-21BB9D0E2ED2}"/>
              </a:ext>
            </a:extLst>
          </p:cNvPr>
          <p:cNvSpPr/>
          <p:nvPr/>
        </p:nvSpPr>
        <p:spPr>
          <a:xfrm>
            <a:off x="433331" y="880535"/>
            <a:ext cx="5374718" cy="559646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8" name="Picture 8" descr="HENGYISEN 헝이센 칼라민 습진 로션 베이비 스페셜 가려움증 완화 항균 로션 80ml/병 - Yami">
            <a:extLst>
              <a:ext uri="{FF2B5EF4-FFF2-40B4-BE49-F238E27FC236}">
                <a16:creationId xmlns:a16="http://schemas.microsoft.com/office/drawing/2014/main" id="{73B13585-B7BC-4A2E-B376-365E73E61CF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9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03" t="5819" r="20414" b="43934"/>
          <a:stretch/>
        </p:blipFill>
        <p:spPr bwMode="auto">
          <a:xfrm>
            <a:off x="1903521" y="2119669"/>
            <a:ext cx="2182915" cy="2182915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42CCDE0E-C748-41AE-9DE6-8509CD3E3FFD}"/>
              </a:ext>
            </a:extLst>
          </p:cNvPr>
          <p:cNvCxnSpPr/>
          <p:nvPr/>
        </p:nvCxnSpPr>
        <p:spPr>
          <a:xfrm>
            <a:off x="0" y="406396"/>
            <a:ext cx="12192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9605DF76-7F0D-46F6-8B61-2CA529B90678}"/>
              </a:ext>
            </a:extLst>
          </p:cNvPr>
          <p:cNvSpPr txBox="1"/>
          <p:nvPr/>
        </p:nvSpPr>
        <p:spPr>
          <a:xfrm>
            <a:off x="76200" y="33974"/>
            <a:ext cx="9476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SPICULE</a:t>
            </a:r>
            <a:endParaRPr lang="ko-KR" altLang="en-US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B2DA24-0F78-4726-AD4F-5FB8425DC389}"/>
              </a:ext>
            </a:extLst>
          </p:cNvPr>
          <p:cNvSpPr txBox="1"/>
          <p:nvPr/>
        </p:nvSpPr>
        <p:spPr>
          <a:xfrm>
            <a:off x="666479" y="997285"/>
            <a:ext cx="5094099" cy="6151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5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SPICULE + </a:t>
            </a:r>
            <a:r>
              <a:rPr lang="en-US" altLang="ko-KR" sz="2500" b="1" i="1" dirty="0">
                <a:solidFill>
                  <a:srgbClr val="EE607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TRANEXAMIX ACID</a:t>
            </a:r>
            <a:endParaRPr lang="ko-KR" altLang="en-US" sz="2500" b="1" i="1" dirty="0">
              <a:solidFill>
                <a:srgbClr val="EE607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6EF97D1-0564-45B1-9DEA-2FB5B10DEE85}"/>
              </a:ext>
            </a:extLst>
          </p:cNvPr>
          <p:cNvSpPr txBox="1"/>
          <p:nvPr/>
        </p:nvSpPr>
        <p:spPr>
          <a:xfrm>
            <a:off x="669385" y="5072155"/>
            <a:ext cx="4969414" cy="11646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 err="1"/>
              <a:t>비엔의</a:t>
            </a:r>
            <a:r>
              <a:rPr lang="ko-KR" altLang="en-US" sz="1200" dirty="0"/>
              <a:t> 기술인 정제된 </a:t>
            </a:r>
            <a:r>
              <a:rPr lang="ko-KR" altLang="en-US" sz="1200" dirty="0" err="1"/>
              <a:t>스피큘</a:t>
            </a:r>
            <a:r>
              <a:rPr lang="ko-KR" altLang="en-US" sz="1200" dirty="0"/>
              <a:t> 속에 </a:t>
            </a:r>
            <a:r>
              <a:rPr lang="ko-KR" altLang="en-US" sz="1200" b="1" dirty="0" err="1"/>
              <a:t>트라넥사믹애씨드를</a:t>
            </a:r>
            <a:r>
              <a:rPr lang="en-US" altLang="ko-KR" sz="1200" b="1" dirty="0"/>
              <a:t> </a:t>
            </a:r>
            <a:r>
              <a:rPr lang="ko-KR" altLang="en-US" sz="1200" b="1" dirty="0" err="1"/>
              <a:t>함침시켜</a:t>
            </a:r>
            <a:r>
              <a:rPr lang="en-US" altLang="ko-KR" sz="1200" b="1" dirty="0"/>
              <a:t>, </a:t>
            </a:r>
          </a:p>
          <a:p>
            <a:pPr>
              <a:lnSpc>
                <a:spcPct val="150000"/>
              </a:lnSpc>
            </a:pPr>
            <a:r>
              <a:rPr lang="ko-KR" altLang="en-US" sz="1200" b="1" dirty="0"/>
              <a:t>피부 깊숙이 전달하는 기술력을 담았습니다</a:t>
            </a:r>
            <a:r>
              <a:rPr lang="en-US" altLang="ko-KR" sz="1200" b="1" dirty="0"/>
              <a:t>. </a:t>
            </a:r>
          </a:p>
          <a:p>
            <a:pPr>
              <a:lnSpc>
                <a:spcPct val="150000"/>
              </a:lnSpc>
            </a:pPr>
            <a:r>
              <a:rPr lang="ko-KR" altLang="en-US" sz="1200" dirty="0"/>
              <a:t>피부 속 깊이 침투된 </a:t>
            </a:r>
            <a:r>
              <a:rPr lang="ko-KR" altLang="en-US" sz="1200" dirty="0" err="1"/>
              <a:t>스피큘이</a:t>
            </a:r>
            <a:r>
              <a:rPr lang="ko-KR" altLang="en-US" sz="1200" dirty="0"/>
              <a:t> 멜라닌 생성을 억제하여 </a:t>
            </a:r>
            <a:r>
              <a:rPr lang="ko-KR" altLang="en-US" sz="1200" u="sng" dirty="0"/>
              <a:t>기미</a:t>
            </a:r>
            <a:r>
              <a:rPr lang="en-US" altLang="ko-KR" sz="1200" u="sng" dirty="0"/>
              <a:t>/</a:t>
            </a:r>
            <a:r>
              <a:rPr lang="ko-KR" altLang="en-US" sz="1200" u="sng" dirty="0"/>
              <a:t>잡티를 완화</a:t>
            </a:r>
            <a:r>
              <a:rPr lang="ko-KR" altLang="en-US" sz="1200" dirty="0"/>
              <a:t>하고</a:t>
            </a:r>
            <a:r>
              <a:rPr lang="en-US" altLang="ko-KR" sz="1200" dirty="0"/>
              <a:t>, </a:t>
            </a:r>
            <a:r>
              <a:rPr lang="ko-KR" altLang="en-US" sz="1200" u="sng" dirty="0"/>
              <a:t>칙칙한 안색을 밝혀 투명하고 균일한 피부 톤을 완성합니다</a:t>
            </a:r>
            <a:r>
              <a:rPr lang="en-US" altLang="ko-KR" sz="1200" u="sng" dirty="0"/>
              <a:t>.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B4A18887-D95D-47B7-BF48-FB51587FD086}"/>
              </a:ext>
            </a:extLst>
          </p:cNvPr>
          <p:cNvSpPr txBox="1"/>
          <p:nvPr/>
        </p:nvSpPr>
        <p:spPr>
          <a:xfrm>
            <a:off x="5977031" y="785560"/>
            <a:ext cx="4713919" cy="9561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2000" dirty="0"/>
              <a:t>기미 치료제의 주성분</a:t>
            </a:r>
            <a:endParaRPr lang="en-US" altLang="ko-KR" sz="2000" dirty="0"/>
          </a:p>
          <a:p>
            <a:pPr>
              <a:lnSpc>
                <a:spcPct val="150000"/>
              </a:lnSpc>
            </a:pPr>
            <a:r>
              <a:rPr lang="en-US" altLang="ko-KR" sz="2000" b="1" dirty="0"/>
              <a:t>TRANEXAMIC ACID </a:t>
            </a:r>
            <a:r>
              <a:rPr lang="ko-KR" altLang="en-US" sz="2000" b="1" dirty="0" err="1"/>
              <a:t>트라넥사믹애씨드</a:t>
            </a:r>
            <a:endParaRPr lang="ko-KR" altLang="en-US" sz="2000" b="1" dirty="0"/>
          </a:p>
        </p:txBody>
      </p:sp>
      <p:sp>
        <p:nvSpPr>
          <p:cNvPr id="15" name="TextBox 17">
            <a:extLst>
              <a:ext uri="{FF2B5EF4-FFF2-40B4-BE49-F238E27FC236}">
                <a16:creationId xmlns:a16="http://schemas.microsoft.com/office/drawing/2014/main" id="{AC75AE1C-9EB8-4528-ADF3-EE0A1C71FB49}"/>
              </a:ext>
            </a:extLst>
          </p:cNvPr>
          <p:cNvSpPr txBox="1"/>
          <p:nvPr/>
        </p:nvSpPr>
        <p:spPr>
          <a:xfrm>
            <a:off x="9093597" y="3891071"/>
            <a:ext cx="2901866" cy="18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300" dirty="0"/>
              <a:t>멜라닌 생성의 초기 단계부터 </a:t>
            </a:r>
            <a:endParaRPr lang="en-US" altLang="ko-KR" sz="1300" dirty="0"/>
          </a:p>
          <a:p>
            <a:pPr>
              <a:lnSpc>
                <a:spcPct val="150000"/>
              </a:lnSpc>
            </a:pPr>
            <a:r>
              <a:rPr lang="en-US" altLang="ko-KR" sz="1300" dirty="0"/>
              <a:t>     </a:t>
            </a:r>
            <a:r>
              <a:rPr lang="ko-KR" altLang="en-US" sz="1300" dirty="0"/>
              <a:t>차단해 </a:t>
            </a:r>
            <a:r>
              <a:rPr lang="ko-KR" altLang="en-US" sz="1300" b="1" dirty="0"/>
              <a:t>기미와 색소 침착을 </a:t>
            </a:r>
            <a:endParaRPr lang="en-US" altLang="ko-KR" sz="1300" b="1" dirty="0"/>
          </a:p>
          <a:p>
            <a:pPr>
              <a:lnSpc>
                <a:spcPct val="150000"/>
              </a:lnSpc>
            </a:pPr>
            <a:r>
              <a:rPr lang="en-US" altLang="ko-KR" sz="1300" b="1" dirty="0"/>
              <a:t>     </a:t>
            </a:r>
            <a:r>
              <a:rPr lang="ko-KR" altLang="en-US" sz="1300" b="1" dirty="0"/>
              <a:t>근본적으로 완화</a:t>
            </a:r>
            <a:r>
              <a:rPr lang="ko-KR" altLang="en-US" sz="1300" dirty="0"/>
              <a:t>합니다</a:t>
            </a:r>
            <a:r>
              <a:rPr lang="en-US" altLang="ko-KR" sz="1300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300" dirty="0"/>
              <a:t>색소 형성을 효과적으로 억제해 </a:t>
            </a:r>
            <a:r>
              <a:rPr lang="ko-KR" altLang="en-US" sz="1300" b="1" dirty="0"/>
              <a:t>투명하고 맑은 피부로 가꾸는 </a:t>
            </a:r>
            <a:endParaRPr lang="en-US" altLang="ko-KR" sz="1300" b="1" dirty="0"/>
          </a:p>
          <a:p>
            <a:pPr>
              <a:lnSpc>
                <a:spcPct val="150000"/>
              </a:lnSpc>
            </a:pPr>
            <a:r>
              <a:rPr lang="en-US" altLang="ko-KR" sz="1300" b="1" dirty="0"/>
              <a:t>     </a:t>
            </a:r>
            <a:r>
              <a:rPr lang="ko-KR" altLang="en-US" sz="1300" b="1" dirty="0"/>
              <a:t>고기능 미백 성분</a:t>
            </a:r>
            <a:r>
              <a:rPr lang="ko-KR" altLang="en-US" sz="1300" dirty="0"/>
              <a:t>입니다</a:t>
            </a:r>
            <a:r>
              <a:rPr lang="en-US" altLang="ko-KR" sz="1300" dirty="0"/>
              <a:t>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1F9FC5D-C74E-4CDE-BBF6-6B6E682B7CD2}"/>
              </a:ext>
            </a:extLst>
          </p:cNvPr>
          <p:cNvSpPr txBox="1"/>
          <p:nvPr/>
        </p:nvSpPr>
        <p:spPr>
          <a:xfrm>
            <a:off x="732944" y="3699542"/>
            <a:ext cx="1967205" cy="10983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 dirty="0"/>
              <a:t>* </a:t>
            </a:r>
            <a:r>
              <a:rPr lang="ko-KR" altLang="en-US" sz="1200" b="1" dirty="0" err="1"/>
              <a:t>스피큘</a:t>
            </a:r>
            <a:endParaRPr lang="en-US" altLang="ko-KR" sz="1200" b="1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/>
              <a:t>피부 재생 촉진</a:t>
            </a:r>
            <a:endParaRPr lang="en-US" altLang="ko-KR" sz="11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/>
              <a:t>유효 성분 </a:t>
            </a:r>
            <a:r>
              <a:rPr lang="ko-KR" altLang="en-US" sz="1100" dirty="0" err="1"/>
              <a:t>침투력</a:t>
            </a:r>
            <a:r>
              <a:rPr lang="ko-KR" altLang="en-US" sz="1100" dirty="0"/>
              <a:t> 향상</a:t>
            </a:r>
            <a:endParaRPr lang="en-US" altLang="ko-KR" sz="11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/>
              <a:t>각질 제거 및 </a:t>
            </a:r>
            <a:r>
              <a:rPr lang="ko-KR" altLang="en-US" sz="1100" dirty="0" err="1"/>
              <a:t>피부결</a:t>
            </a:r>
            <a:r>
              <a:rPr lang="ko-KR" altLang="en-US" sz="1100" dirty="0"/>
              <a:t> 개선</a:t>
            </a:r>
            <a:endParaRPr lang="en-US" altLang="ko-KR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A704DF-1CEB-4A51-AD46-85DFBFAF5984}"/>
              </a:ext>
            </a:extLst>
          </p:cNvPr>
          <p:cNvSpPr txBox="1"/>
          <p:nvPr/>
        </p:nvSpPr>
        <p:spPr>
          <a:xfrm>
            <a:off x="3607818" y="3322227"/>
            <a:ext cx="2016899" cy="13522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 dirty="0"/>
              <a:t>* </a:t>
            </a:r>
            <a:r>
              <a:rPr lang="ko-KR" altLang="en-US" sz="1200" b="1" dirty="0" err="1"/>
              <a:t>트라넥사믹애씨드</a:t>
            </a:r>
            <a:endParaRPr lang="en-US" altLang="ko-KR" sz="1200" b="1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/>
              <a:t>기미</a:t>
            </a:r>
            <a:r>
              <a:rPr lang="en-US" altLang="ko-KR" sz="1100" dirty="0"/>
              <a:t>/</a:t>
            </a:r>
            <a:r>
              <a:rPr lang="ko-KR" altLang="en-US" sz="1100" dirty="0"/>
              <a:t>잡티 개선</a:t>
            </a:r>
            <a:endParaRPr lang="en-US" altLang="ko-KR" sz="11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/>
              <a:t>피부 톤 개선 및 미백 효과</a:t>
            </a:r>
            <a:endParaRPr lang="en-US" altLang="ko-KR" sz="11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/>
              <a:t>자극으로부터 피부 보호</a:t>
            </a:r>
            <a:endParaRPr lang="en-US" altLang="ko-KR" sz="11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/>
              <a:t>진정 및 </a:t>
            </a:r>
            <a:r>
              <a:rPr lang="ko-KR" altLang="en-US" sz="1100" dirty="0" err="1"/>
              <a:t>항염</a:t>
            </a:r>
            <a:endParaRPr lang="ko-KR" altLang="en-US" sz="1100" dirty="0"/>
          </a:p>
        </p:txBody>
      </p:sp>
      <p:sp>
        <p:nvSpPr>
          <p:cNvPr id="66" name="타원 65">
            <a:extLst>
              <a:ext uri="{FF2B5EF4-FFF2-40B4-BE49-F238E27FC236}">
                <a16:creationId xmlns:a16="http://schemas.microsoft.com/office/drawing/2014/main" id="{32E46B36-FC84-40E8-BE3A-229611A3ABE9}"/>
              </a:ext>
            </a:extLst>
          </p:cNvPr>
          <p:cNvSpPr/>
          <p:nvPr/>
        </p:nvSpPr>
        <p:spPr>
          <a:xfrm rot="20090770">
            <a:off x="2057868" y="1876044"/>
            <a:ext cx="157030" cy="2896038"/>
          </a:xfrm>
          <a:prstGeom prst="ellipse">
            <a:avLst/>
          </a:prstGeom>
          <a:pattFill prst="pct10">
            <a:fgClr>
              <a:schemeClr val="tx1">
                <a:lumMod val="50000"/>
                <a:lumOff val="50000"/>
              </a:schemeClr>
            </a:fgClr>
            <a:bgClr>
              <a:schemeClr val="bg1"/>
            </a:bgClr>
          </a:pattFill>
          <a:ln>
            <a:solidFill>
              <a:schemeClr val="bg1">
                <a:lumMod val="95000"/>
              </a:schemeClr>
            </a:solidFill>
          </a:ln>
          <a:scene3d>
            <a:camera prst="orthographicFront"/>
            <a:lightRig rig="balanced" dir="t"/>
          </a:scene3d>
          <a:sp3d extrusionH="63500" contourW="12700">
            <a:bevelT w="82550"/>
            <a:contourClr>
              <a:schemeClr val="bg1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354412E5-2AC2-4BF0-A1BC-C9629F66FE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3089" y="2026535"/>
            <a:ext cx="2911867" cy="3687436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2ADD5276-DBB6-4277-ACB3-0DFA65975DFB}"/>
              </a:ext>
            </a:extLst>
          </p:cNvPr>
          <p:cNvSpPr/>
          <p:nvPr/>
        </p:nvSpPr>
        <p:spPr>
          <a:xfrm>
            <a:off x="6105526" y="5106939"/>
            <a:ext cx="2802730" cy="108000"/>
          </a:xfrm>
          <a:prstGeom prst="rect">
            <a:avLst/>
          </a:prstGeom>
          <a:solidFill>
            <a:srgbClr val="FFAFD7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77B631E2-E74E-42A9-B46B-6BE740507FB0}"/>
              </a:ext>
            </a:extLst>
          </p:cNvPr>
          <p:cNvSpPr/>
          <p:nvPr/>
        </p:nvSpPr>
        <p:spPr>
          <a:xfrm>
            <a:off x="6105526" y="5233987"/>
            <a:ext cx="2802730" cy="108000"/>
          </a:xfrm>
          <a:prstGeom prst="rect">
            <a:avLst/>
          </a:prstGeom>
          <a:solidFill>
            <a:srgbClr val="FFAFD7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327A7C2-8EE3-4178-83C2-8B3E52AD42E5}"/>
              </a:ext>
            </a:extLst>
          </p:cNvPr>
          <p:cNvSpPr/>
          <p:nvPr/>
        </p:nvSpPr>
        <p:spPr>
          <a:xfrm>
            <a:off x="6105526" y="5364788"/>
            <a:ext cx="1476374" cy="108000"/>
          </a:xfrm>
          <a:prstGeom prst="rect">
            <a:avLst/>
          </a:prstGeom>
          <a:solidFill>
            <a:srgbClr val="FFAFD7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D1A6C8A7-5248-44F8-9B4A-6D3BD4B9D788}"/>
              </a:ext>
            </a:extLst>
          </p:cNvPr>
          <p:cNvSpPr/>
          <p:nvPr/>
        </p:nvSpPr>
        <p:spPr>
          <a:xfrm>
            <a:off x="8377238" y="4208753"/>
            <a:ext cx="531018" cy="108000"/>
          </a:xfrm>
          <a:prstGeom prst="rect">
            <a:avLst/>
          </a:prstGeom>
          <a:solidFill>
            <a:srgbClr val="FFAFD7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03806D85-BEAC-4604-BF79-CE4C9ACC40E1}"/>
              </a:ext>
            </a:extLst>
          </p:cNvPr>
          <p:cNvSpPr/>
          <p:nvPr/>
        </p:nvSpPr>
        <p:spPr>
          <a:xfrm>
            <a:off x="6105526" y="4338364"/>
            <a:ext cx="2802730" cy="108000"/>
          </a:xfrm>
          <a:prstGeom prst="rect">
            <a:avLst/>
          </a:prstGeom>
          <a:solidFill>
            <a:srgbClr val="FFAFD7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4CDDC74F-EFDD-4DAA-9D59-187050E54504}"/>
              </a:ext>
            </a:extLst>
          </p:cNvPr>
          <p:cNvSpPr/>
          <p:nvPr/>
        </p:nvSpPr>
        <p:spPr>
          <a:xfrm>
            <a:off x="6105526" y="4472305"/>
            <a:ext cx="638174" cy="108000"/>
          </a:xfrm>
          <a:prstGeom prst="rect">
            <a:avLst/>
          </a:prstGeom>
          <a:solidFill>
            <a:srgbClr val="FFAFD7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BB346EE2-8282-4401-8CAB-0434F4170A2D}"/>
              </a:ext>
            </a:extLst>
          </p:cNvPr>
          <p:cNvSpPr/>
          <p:nvPr/>
        </p:nvSpPr>
        <p:spPr>
          <a:xfrm>
            <a:off x="6105526" y="5875514"/>
            <a:ext cx="2590799" cy="108000"/>
          </a:xfrm>
          <a:prstGeom prst="rect">
            <a:avLst/>
          </a:prstGeom>
          <a:solidFill>
            <a:srgbClr val="FFAFD7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98C87DF3-3703-4631-A2AC-5037222E9A8C}"/>
              </a:ext>
            </a:extLst>
          </p:cNvPr>
          <p:cNvSpPr/>
          <p:nvPr/>
        </p:nvSpPr>
        <p:spPr>
          <a:xfrm>
            <a:off x="6105526" y="6043155"/>
            <a:ext cx="1257299" cy="108000"/>
          </a:xfrm>
          <a:prstGeom prst="rect">
            <a:avLst/>
          </a:prstGeom>
          <a:solidFill>
            <a:srgbClr val="FFAFD7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5A6DE098-8061-429D-B175-2863AAA0F9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1138" y="1946942"/>
            <a:ext cx="2928121" cy="1854161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21699FE4-523F-49AB-865E-A69E5956B111}"/>
              </a:ext>
            </a:extLst>
          </p:cNvPr>
          <p:cNvSpPr txBox="1"/>
          <p:nvPr/>
        </p:nvSpPr>
        <p:spPr>
          <a:xfrm>
            <a:off x="6020754" y="6250323"/>
            <a:ext cx="56955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b="0" i="0" dirty="0">
                <a:solidFill>
                  <a:srgbClr val="777777"/>
                </a:solidFill>
                <a:effectLst/>
                <a:latin typeface="-apple-system"/>
              </a:rPr>
              <a:t>국소 </a:t>
            </a:r>
            <a:r>
              <a:rPr lang="ko-KR" altLang="en-US" sz="800" b="0" i="0" dirty="0" err="1">
                <a:solidFill>
                  <a:srgbClr val="777777"/>
                </a:solidFill>
                <a:effectLst/>
                <a:latin typeface="-apple-system"/>
              </a:rPr>
              <a:t>트라넥삼산</a:t>
            </a:r>
            <a:r>
              <a:rPr lang="ko-KR" altLang="en-US" sz="800" b="0" i="0" dirty="0">
                <a:solidFill>
                  <a:srgbClr val="777777"/>
                </a:solidFill>
                <a:effectLst/>
                <a:latin typeface="-apple-system"/>
              </a:rPr>
              <a:t> 도포에 의한 기미 치료에 대한 연구 </a:t>
            </a:r>
            <a:r>
              <a:rPr lang="en-US" altLang="ko-KR" sz="800" b="0" i="0" dirty="0">
                <a:solidFill>
                  <a:srgbClr val="777777"/>
                </a:solidFill>
                <a:effectLst/>
                <a:latin typeface="-apple-system"/>
              </a:rPr>
              <a:t>: The Effect of Topical Tranexamic Acid Application on Melasma Treatment</a:t>
            </a:r>
            <a:endParaRPr lang="ko-KR" altLang="en-US" sz="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EBFE47E-6B44-4F04-8F04-E93165B5F1ED}"/>
              </a:ext>
            </a:extLst>
          </p:cNvPr>
          <p:cNvSpPr txBox="1"/>
          <p:nvPr/>
        </p:nvSpPr>
        <p:spPr>
          <a:xfrm>
            <a:off x="6026647" y="5794197"/>
            <a:ext cx="288238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트라넥사믹애씨드는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기미의 색소 침착과 </a:t>
            </a:r>
            <a:r>
              <a:rPr lang="ko-KR" altLang="en-US" sz="11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홍반을</a:t>
            </a:r>
            <a:r>
              <a:rPr lang="ko-KR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개선하였다</a:t>
            </a:r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endParaRPr lang="ko-KR" altLang="en-US" sz="11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36783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D58BE216-7A99-474E-9478-652B2D816A62}"/>
              </a:ext>
            </a:extLst>
          </p:cNvPr>
          <p:cNvCxnSpPr/>
          <p:nvPr/>
        </p:nvCxnSpPr>
        <p:spPr>
          <a:xfrm>
            <a:off x="0" y="406396"/>
            <a:ext cx="12192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057B428-4558-4367-AA4F-82FC71AD5148}"/>
              </a:ext>
            </a:extLst>
          </p:cNvPr>
          <p:cNvSpPr txBox="1"/>
          <p:nvPr/>
        </p:nvSpPr>
        <p:spPr>
          <a:xfrm>
            <a:off x="76200" y="33974"/>
            <a:ext cx="11352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EXOSOME</a:t>
            </a:r>
            <a:endParaRPr lang="ko-KR" altLang="en-US" sz="1600" dirty="0"/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C2813047-C612-4D17-9D2C-77DB33C9F932}"/>
              </a:ext>
            </a:extLst>
          </p:cNvPr>
          <p:cNvGrpSpPr/>
          <p:nvPr/>
        </p:nvGrpSpPr>
        <p:grpSpPr>
          <a:xfrm>
            <a:off x="791699" y="1612431"/>
            <a:ext cx="6824134" cy="4960199"/>
            <a:chOff x="381989" y="1130669"/>
            <a:chExt cx="7381783" cy="5487173"/>
          </a:xfrm>
        </p:grpSpPr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D41D5B29-0236-42F9-90EC-8B7EEA62B6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25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20728221">
              <a:off x="1807501" y="1130669"/>
              <a:ext cx="3188484" cy="2749534"/>
            </a:xfrm>
            <a:prstGeom prst="roundRect">
              <a:avLst>
                <a:gd name="adj" fmla="val 50000"/>
              </a:avLst>
            </a:prstGeom>
          </p:spPr>
        </p:pic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D60A6F29-31F3-4CA3-9548-A451DDB335E6}"/>
                </a:ext>
              </a:extLst>
            </p:cNvPr>
            <p:cNvGrpSpPr/>
            <p:nvPr/>
          </p:nvGrpSpPr>
          <p:grpSpPr>
            <a:xfrm>
              <a:off x="381989" y="4033506"/>
              <a:ext cx="7381783" cy="2584336"/>
              <a:chOff x="460005" y="3112554"/>
              <a:chExt cx="7116581" cy="2491489"/>
            </a:xfrm>
          </p:grpSpPr>
          <p:grpSp>
            <p:nvGrpSpPr>
              <p:cNvPr id="29" name="그룹 28">
                <a:extLst>
                  <a:ext uri="{FF2B5EF4-FFF2-40B4-BE49-F238E27FC236}">
                    <a16:creationId xmlns:a16="http://schemas.microsoft.com/office/drawing/2014/main" id="{3BF525D4-59A5-4A0F-990F-440C3B9C79CD}"/>
                  </a:ext>
                </a:extLst>
              </p:cNvPr>
              <p:cNvGrpSpPr/>
              <p:nvPr/>
            </p:nvGrpSpPr>
            <p:grpSpPr>
              <a:xfrm>
                <a:off x="460005" y="3112554"/>
                <a:ext cx="6848475" cy="2303002"/>
                <a:chOff x="460005" y="3112554"/>
                <a:chExt cx="6848475" cy="2303002"/>
              </a:xfrm>
            </p:grpSpPr>
            <p:pic>
              <p:nvPicPr>
                <p:cNvPr id="31" name="Picture 2" descr="Exosome image">
                  <a:extLst>
                    <a:ext uri="{FF2B5EF4-FFF2-40B4-BE49-F238E27FC236}">
                      <a16:creationId xmlns:a16="http://schemas.microsoft.com/office/drawing/2014/main" id="{A348BCF9-CC31-4DB4-930B-BBE92786EA0B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460005" y="3253381"/>
                  <a:ext cx="6848475" cy="2162175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DF30F7BB-7602-4AD0-A5B2-308D1F2BEB47}"/>
                    </a:ext>
                  </a:extLst>
                </p:cNvPr>
                <p:cNvSpPr txBox="1"/>
                <p:nvPr/>
              </p:nvSpPr>
              <p:spPr>
                <a:xfrm>
                  <a:off x="1631950" y="4703785"/>
                  <a:ext cx="2855383" cy="276999"/>
                </a:xfrm>
                <a:prstGeom prst="rect">
                  <a:avLst/>
                </a:prstGeom>
                <a:solidFill>
                  <a:srgbClr val="FCF7CB"/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ko-KR" altLang="en-US" sz="1200" b="1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</a:rPr>
                    <a:t>세포 내 </a:t>
                  </a:r>
                  <a:r>
                    <a:rPr lang="ko-KR" altLang="en-US" sz="1200" b="1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</a:rPr>
                    <a:t>소낭</a:t>
                  </a:r>
                  <a:r>
                    <a:rPr lang="ko-KR" altLang="en-US" sz="1200" b="1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</a:rPr>
                    <a:t> </a:t>
                  </a:r>
                  <a:r>
                    <a:rPr lang="en-US" altLang="ko-KR" sz="1200" b="1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</a:rPr>
                    <a:t>(Multi-Vesicular</a:t>
                  </a:r>
                  <a:r>
                    <a:rPr lang="ko-KR" altLang="en-US" sz="1200" b="1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</a:rPr>
                    <a:t> </a:t>
                  </a:r>
                  <a:r>
                    <a:rPr lang="en-US" altLang="ko-KR" sz="1200" b="1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</a:rPr>
                    <a:t>Body)</a:t>
                  </a:r>
                  <a:endParaRPr lang="ko-KR" altLang="en-US" sz="12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endParaRPr>
                </a:p>
              </p:txBody>
            </p:sp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C10564AD-7CB6-4901-A958-495F6600B124}"/>
                    </a:ext>
                  </a:extLst>
                </p:cNvPr>
                <p:cNvSpPr txBox="1"/>
                <p:nvPr/>
              </p:nvSpPr>
              <p:spPr>
                <a:xfrm>
                  <a:off x="634959" y="5035370"/>
                  <a:ext cx="1850008" cy="276999"/>
                </a:xfrm>
                <a:prstGeom prst="rect">
                  <a:avLst/>
                </a:prstGeom>
                <a:solidFill>
                  <a:srgbClr val="FCF7CB"/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ko-KR" altLang="en-US" sz="1200" b="1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</a:rPr>
                    <a:t>세포 안 </a:t>
                  </a:r>
                  <a:r>
                    <a:rPr lang="en-US" altLang="ko-KR" sz="1200" b="1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</a:rPr>
                    <a:t>(Intracellular)</a:t>
                  </a:r>
                  <a:endParaRPr lang="ko-KR" altLang="en-US" sz="12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endParaRPr>
                </a:p>
              </p:txBody>
            </p:sp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885F877D-F909-4D7D-BBE4-BFEF246DE675}"/>
                    </a:ext>
                  </a:extLst>
                </p:cNvPr>
                <p:cNvSpPr txBox="1"/>
                <p:nvPr/>
              </p:nvSpPr>
              <p:spPr>
                <a:xfrm>
                  <a:off x="555124" y="3112554"/>
                  <a:ext cx="1185965" cy="461665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ko-KR" altLang="en-US" sz="1200" b="1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</a:rPr>
                    <a:t>세포 밖 </a:t>
                  </a:r>
                  <a:r>
                    <a:rPr lang="en-US" altLang="ko-KR" sz="1200" b="1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</a:rPr>
                    <a:t>(Extracellular)</a:t>
                  </a:r>
                  <a:endParaRPr lang="ko-KR" altLang="en-US" sz="12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endParaRPr>
                </a:p>
              </p:txBody>
            </p:sp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3B40521B-32BA-4247-97D4-7877AFB8D04D}"/>
                    </a:ext>
                  </a:extLst>
                </p:cNvPr>
                <p:cNvSpPr txBox="1"/>
                <p:nvPr/>
              </p:nvSpPr>
              <p:spPr>
                <a:xfrm>
                  <a:off x="4447016" y="4284703"/>
                  <a:ext cx="1521716" cy="276999"/>
                </a:xfrm>
                <a:prstGeom prst="rect">
                  <a:avLst/>
                </a:prstGeom>
                <a:solidFill>
                  <a:srgbClr val="FCF7CB"/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ko-KR" altLang="en-US" sz="1200" b="1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</a:rPr>
                    <a:t>엑소좀</a:t>
                  </a:r>
                  <a:r>
                    <a:rPr lang="ko-KR" altLang="en-US" sz="1200" b="1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</a:rPr>
                    <a:t> </a:t>
                  </a:r>
                  <a:r>
                    <a:rPr lang="en-US" altLang="ko-KR" sz="1200" b="1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</a:rPr>
                    <a:t>(Exosome)</a:t>
                  </a:r>
                  <a:endParaRPr lang="ko-KR" altLang="en-US" sz="12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endParaRPr>
                </a:p>
              </p:txBody>
            </p:sp>
          </p:grp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A2E1375-D3CE-425E-9E18-79A04DEF9331}"/>
                  </a:ext>
                </a:extLst>
              </p:cNvPr>
              <p:cNvSpPr txBox="1"/>
              <p:nvPr/>
            </p:nvSpPr>
            <p:spPr>
              <a:xfrm>
                <a:off x="555124" y="5363703"/>
                <a:ext cx="7021462" cy="2403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700" dirty="0"/>
                  <a:t>원본 출처</a:t>
                </a:r>
                <a:r>
                  <a:rPr lang="en-US" altLang="ko-KR" sz="700" dirty="0"/>
                  <a:t>: https://stemon.co.kr/ko/sub/product/exosome.asp (</a:t>
                </a:r>
                <a:r>
                  <a:rPr lang="ko-KR" altLang="en-US" sz="700" dirty="0" err="1"/>
                  <a:t>엑소좀</a:t>
                </a:r>
                <a:r>
                  <a:rPr lang="ko-KR" altLang="en-US" sz="700" dirty="0"/>
                  <a:t> 단독 그림</a:t>
                </a:r>
                <a:r>
                  <a:rPr lang="en-US" altLang="ko-KR" sz="700" dirty="0"/>
                  <a:t>), https://www.mblbio.com/bio/g/product/exosome/index.html (</a:t>
                </a:r>
                <a:r>
                  <a:rPr lang="ko-KR" altLang="en-US" sz="700" dirty="0" err="1"/>
                  <a:t>엑소좀</a:t>
                </a:r>
                <a:r>
                  <a:rPr lang="ko-KR" altLang="en-US" sz="700" dirty="0"/>
                  <a:t> 이동 그림</a:t>
                </a:r>
                <a:r>
                  <a:rPr lang="en-US" altLang="ko-KR" sz="700" dirty="0"/>
                  <a:t>)</a:t>
                </a:r>
              </a:p>
            </p:txBody>
          </p:sp>
        </p:grp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7FD85836-B6DE-46AE-8417-0F5354DBB61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37933" y="3608102"/>
              <a:ext cx="1356784" cy="800915"/>
            </a:xfrm>
            <a:prstGeom prst="line">
              <a:avLst/>
            </a:prstGeom>
            <a:ln w="28575">
              <a:solidFill>
                <a:schemeClr val="tx1">
                  <a:lumMod val="65000"/>
                  <a:lumOff val="3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7B3D0CF9-220C-4DDB-BF46-612C34B529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82359" y="2931796"/>
              <a:ext cx="154614" cy="1449917"/>
            </a:xfrm>
            <a:prstGeom prst="line">
              <a:avLst/>
            </a:prstGeom>
            <a:ln w="28575">
              <a:solidFill>
                <a:schemeClr val="tx1">
                  <a:lumMod val="65000"/>
                  <a:lumOff val="3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F59EE125-403B-4936-A5EF-8B8C1144DB9F}"/>
              </a:ext>
            </a:extLst>
          </p:cNvPr>
          <p:cNvSpPr txBox="1"/>
          <p:nvPr/>
        </p:nvSpPr>
        <p:spPr>
          <a:xfrm>
            <a:off x="5514089" y="973066"/>
            <a:ext cx="5913431" cy="2312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fontAlgn="base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300" b="0" i="0" dirty="0">
                <a:solidFill>
                  <a:srgbClr val="272727"/>
                </a:solidFill>
                <a:effectLst/>
                <a:highlight>
                  <a:srgbClr val="FFFFFF"/>
                </a:highlight>
              </a:rPr>
              <a:t>세포는 상호 간 정보 교환을 위하여 </a:t>
            </a:r>
            <a:r>
              <a:rPr lang="ko-KR" altLang="en-US" sz="1300" b="0" i="0" dirty="0" err="1">
                <a:solidFill>
                  <a:srgbClr val="272727"/>
                </a:solidFill>
                <a:effectLst/>
                <a:highlight>
                  <a:srgbClr val="FFFFFF"/>
                </a:highlight>
              </a:rPr>
              <a:t>엑소좀을</a:t>
            </a:r>
            <a:r>
              <a:rPr lang="ko-KR" altLang="en-US" sz="1300" b="0" i="0" dirty="0">
                <a:solidFill>
                  <a:srgbClr val="272727"/>
                </a:solidFill>
                <a:effectLst/>
                <a:highlight>
                  <a:srgbClr val="FFFFFF"/>
                </a:highlight>
              </a:rPr>
              <a:t> 분비합니다</a:t>
            </a:r>
            <a:r>
              <a:rPr lang="en-US" altLang="ko-KR" sz="1300" b="0" i="0" dirty="0">
                <a:solidFill>
                  <a:srgbClr val="272727"/>
                </a:solidFill>
                <a:effectLst/>
                <a:highlight>
                  <a:srgbClr val="FFFFFF"/>
                </a:highlight>
              </a:rPr>
              <a:t>.</a:t>
            </a:r>
          </a:p>
          <a:p>
            <a:pPr algn="just" fontAlgn="base">
              <a:lnSpc>
                <a:spcPct val="150000"/>
              </a:lnSpc>
            </a:pPr>
            <a:endParaRPr lang="en-US" altLang="ko-KR" sz="600" b="0" i="0" dirty="0">
              <a:solidFill>
                <a:srgbClr val="272727"/>
              </a:solidFill>
              <a:effectLst/>
              <a:highlight>
                <a:srgbClr val="FFFFFF"/>
              </a:highlight>
            </a:endParaRPr>
          </a:p>
          <a:p>
            <a:pPr marL="285750" indent="-285750" algn="just" fontAlgn="base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300" b="0" i="0" dirty="0" err="1">
                <a:solidFill>
                  <a:srgbClr val="272727"/>
                </a:solidFill>
                <a:effectLst/>
                <a:highlight>
                  <a:srgbClr val="FFFFFF"/>
                </a:highlight>
              </a:rPr>
              <a:t>엑소좀은</a:t>
            </a:r>
            <a:r>
              <a:rPr lang="ko-KR" altLang="en-US" sz="1300" b="0" i="0" dirty="0">
                <a:solidFill>
                  <a:srgbClr val="272727"/>
                </a:solidFill>
                <a:effectLst/>
                <a:highlight>
                  <a:srgbClr val="FFFFFF"/>
                </a:highlight>
              </a:rPr>
              <a:t> 세포 내에서 생성되어 외부로 방출되는 세포 밖 소포체</a:t>
            </a:r>
            <a:r>
              <a:rPr lang="en-US" altLang="ko-KR" sz="1300" b="0" i="0" dirty="0">
                <a:solidFill>
                  <a:srgbClr val="272727"/>
                </a:solidFill>
                <a:effectLst/>
                <a:highlight>
                  <a:srgbClr val="FFFFFF"/>
                </a:highlight>
              </a:rPr>
              <a:t>(Extracellular vesicles, EVs)</a:t>
            </a:r>
            <a:r>
              <a:rPr lang="ko-KR" altLang="en-US" sz="1300" b="0" i="0" dirty="0">
                <a:solidFill>
                  <a:srgbClr val="272727"/>
                </a:solidFill>
                <a:effectLst/>
                <a:highlight>
                  <a:srgbClr val="FFFFFF"/>
                </a:highlight>
              </a:rPr>
              <a:t>의 일종입니다</a:t>
            </a:r>
            <a:r>
              <a:rPr lang="en-US" altLang="ko-KR" sz="1300" b="0" i="0" dirty="0">
                <a:solidFill>
                  <a:srgbClr val="272727"/>
                </a:solidFill>
                <a:effectLst/>
                <a:highlight>
                  <a:srgbClr val="FFFFFF"/>
                </a:highlight>
              </a:rPr>
              <a:t>.</a:t>
            </a:r>
          </a:p>
          <a:p>
            <a:pPr algn="just" fontAlgn="base">
              <a:lnSpc>
                <a:spcPct val="150000"/>
              </a:lnSpc>
            </a:pPr>
            <a:endParaRPr lang="en-US" altLang="ko-KR" sz="600" b="0" i="0" dirty="0">
              <a:solidFill>
                <a:srgbClr val="272727"/>
              </a:solidFill>
              <a:effectLst/>
              <a:highlight>
                <a:srgbClr val="FFFFFF"/>
              </a:highlight>
            </a:endParaRPr>
          </a:p>
          <a:p>
            <a:pPr marL="285750" indent="-285750" algn="just" fontAlgn="base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300" b="0" i="0" dirty="0" err="1">
                <a:solidFill>
                  <a:srgbClr val="272727"/>
                </a:solidFill>
                <a:effectLst/>
                <a:highlight>
                  <a:srgbClr val="FFFFFF"/>
                </a:highlight>
              </a:rPr>
              <a:t>엑소좀은</a:t>
            </a:r>
            <a:r>
              <a:rPr lang="ko-KR" altLang="en-US" sz="1300" b="0" i="0" dirty="0">
                <a:solidFill>
                  <a:srgbClr val="272727"/>
                </a:solidFill>
                <a:effectLst/>
                <a:highlight>
                  <a:srgbClr val="FFFFFF"/>
                </a:highlight>
              </a:rPr>
              <a:t> 약 </a:t>
            </a:r>
            <a:r>
              <a:rPr lang="en-US" altLang="ko-KR" sz="1300" b="0" i="0" dirty="0">
                <a:solidFill>
                  <a:srgbClr val="272727"/>
                </a:solidFill>
                <a:effectLst/>
                <a:highlight>
                  <a:srgbClr val="FFFFFF"/>
                </a:highlight>
              </a:rPr>
              <a:t>30~150 nm </a:t>
            </a:r>
            <a:r>
              <a:rPr lang="ko-KR" altLang="en-US" sz="1300" b="0" i="0" dirty="0">
                <a:solidFill>
                  <a:srgbClr val="272727"/>
                </a:solidFill>
                <a:effectLst/>
                <a:highlight>
                  <a:srgbClr val="FFFFFF"/>
                </a:highlight>
              </a:rPr>
              <a:t>크기의 </a:t>
            </a:r>
            <a:r>
              <a:rPr lang="ko-KR" altLang="en-US" sz="1300" b="0" i="0" dirty="0" err="1">
                <a:solidFill>
                  <a:srgbClr val="272727"/>
                </a:solidFill>
                <a:effectLst/>
                <a:highlight>
                  <a:srgbClr val="FFFFFF"/>
                </a:highlight>
              </a:rPr>
              <a:t>지질이중막</a:t>
            </a:r>
            <a:r>
              <a:rPr lang="ko-KR" altLang="en-US" sz="1300" b="0" i="0" dirty="0">
                <a:solidFill>
                  <a:srgbClr val="272727"/>
                </a:solidFill>
                <a:effectLst/>
                <a:highlight>
                  <a:srgbClr val="FFFFFF"/>
                </a:highlight>
              </a:rPr>
              <a:t> 구조로 되어 있습니다</a:t>
            </a:r>
            <a:r>
              <a:rPr lang="en-US" altLang="ko-KR" sz="1300" b="0" i="0" dirty="0">
                <a:solidFill>
                  <a:srgbClr val="272727"/>
                </a:solidFill>
                <a:effectLst/>
                <a:highlight>
                  <a:srgbClr val="FFFFFF"/>
                </a:highlight>
              </a:rPr>
              <a:t>.</a:t>
            </a:r>
          </a:p>
          <a:p>
            <a:pPr algn="just" fontAlgn="base">
              <a:lnSpc>
                <a:spcPct val="150000"/>
              </a:lnSpc>
            </a:pPr>
            <a:endParaRPr lang="en-US" altLang="ko-KR" sz="600" b="0" i="0" dirty="0">
              <a:solidFill>
                <a:srgbClr val="272727"/>
              </a:solidFill>
              <a:effectLst/>
              <a:highlight>
                <a:srgbClr val="FFFFFF"/>
              </a:highlight>
            </a:endParaRPr>
          </a:p>
          <a:p>
            <a:pPr marL="285750" indent="-285750" algn="just" fontAlgn="base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300" b="0" i="0" dirty="0" err="1">
                <a:solidFill>
                  <a:srgbClr val="272727"/>
                </a:solidFill>
                <a:effectLst/>
                <a:highlight>
                  <a:srgbClr val="FFFFFF"/>
                </a:highlight>
              </a:rPr>
              <a:t>엑소좀은</a:t>
            </a:r>
            <a:r>
              <a:rPr lang="ko-KR" altLang="en-US" sz="1300" b="0" i="0" dirty="0">
                <a:solidFill>
                  <a:srgbClr val="272727"/>
                </a:solidFill>
                <a:effectLst/>
                <a:highlight>
                  <a:srgbClr val="FFFFFF"/>
                </a:highlight>
              </a:rPr>
              <a:t> 성장인자</a:t>
            </a:r>
            <a:r>
              <a:rPr lang="en-US" altLang="ko-KR" sz="1300" b="0" i="0" dirty="0">
                <a:solidFill>
                  <a:srgbClr val="272727"/>
                </a:solidFill>
                <a:effectLst/>
                <a:highlight>
                  <a:srgbClr val="FFFFFF"/>
                </a:highlight>
              </a:rPr>
              <a:t>, </a:t>
            </a:r>
            <a:r>
              <a:rPr lang="ko-KR" altLang="en-US" sz="1300" b="0" i="0" dirty="0" err="1">
                <a:solidFill>
                  <a:srgbClr val="272727"/>
                </a:solidFill>
                <a:effectLst/>
                <a:highlight>
                  <a:srgbClr val="FFFFFF"/>
                </a:highlight>
              </a:rPr>
              <a:t>사이토카인과</a:t>
            </a:r>
            <a:r>
              <a:rPr lang="ko-KR" altLang="en-US" sz="1300" b="0" i="0" dirty="0">
                <a:solidFill>
                  <a:srgbClr val="272727"/>
                </a:solidFill>
                <a:effectLst/>
                <a:highlight>
                  <a:srgbClr val="FFFFFF"/>
                </a:highlight>
              </a:rPr>
              <a:t> 같은 각종 단백질</a:t>
            </a:r>
            <a:r>
              <a:rPr lang="en-US" altLang="ko-KR" sz="1300" b="0" i="0" dirty="0">
                <a:solidFill>
                  <a:srgbClr val="272727"/>
                </a:solidFill>
                <a:effectLst/>
                <a:highlight>
                  <a:srgbClr val="FFFFFF"/>
                </a:highlight>
              </a:rPr>
              <a:t>, miRNA, mRNA, DNA</a:t>
            </a:r>
            <a:r>
              <a:rPr lang="ko-KR" altLang="en-US" sz="1300" b="0" i="0" dirty="0">
                <a:solidFill>
                  <a:srgbClr val="272727"/>
                </a:solidFill>
                <a:effectLst/>
                <a:highlight>
                  <a:srgbClr val="FFFFFF"/>
                </a:highlight>
              </a:rPr>
              <a:t>와 같은 핵산</a:t>
            </a:r>
            <a:r>
              <a:rPr lang="en-US" altLang="ko-KR" sz="1300" b="0" i="0" dirty="0">
                <a:solidFill>
                  <a:srgbClr val="272727"/>
                </a:solidFill>
                <a:effectLst/>
                <a:highlight>
                  <a:srgbClr val="FFFFFF"/>
                </a:highlight>
              </a:rPr>
              <a:t>, </a:t>
            </a:r>
            <a:r>
              <a:rPr lang="ko-KR" altLang="en-US" sz="1300" b="0" i="0" dirty="0">
                <a:solidFill>
                  <a:srgbClr val="272727"/>
                </a:solidFill>
                <a:effectLst/>
                <a:highlight>
                  <a:srgbClr val="FFFFFF"/>
                </a:highlight>
              </a:rPr>
              <a:t>지질 등을 포함하고 있습니다</a:t>
            </a:r>
            <a:r>
              <a:rPr lang="en-US" altLang="ko-KR" sz="1300" b="0" i="0" dirty="0">
                <a:solidFill>
                  <a:srgbClr val="272727"/>
                </a:solidFill>
                <a:effectLst/>
                <a:highlight>
                  <a:srgbClr val="FFFFFF"/>
                </a:highlight>
              </a:rPr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CA6A7A-A517-41E8-90DD-6C75B8A0E2B7}"/>
              </a:ext>
            </a:extLst>
          </p:cNvPr>
          <p:cNvSpPr txBox="1"/>
          <p:nvPr/>
        </p:nvSpPr>
        <p:spPr>
          <a:xfrm>
            <a:off x="405244" y="707055"/>
            <a:ext cx="295042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엑소좀</a:t>
            </a:r>
            <a:r>
              <a:rPr lang="ko-KR" altLang="en-US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ko-KR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(Exosome)</a:t>
            </a:r>
            <a:endParaRPr lang="ko-KR" altLang="en-US" sz="2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8" name="도형 1682">
            <a:extLst>
              <a:ext uri="{FF2B5EF4-FFF2-40B4-BE49-F238E27FC236}">
                <a16:creationId xmlns:a16="http://schemas.microsoft.com/office/drawing/2014/main" id="{C79F6E30-306A-4582-A03E-4BB38BD5D578}"/>
              </a:ext>
            </a:extLst>
          </p:cNvPr>
          <p:cNvSpPr>
            <a:spLocks/>
          </p:cNvSpPr>
          <p:nvPr/>
        </p:nvSpPr>
        <p:spPr>
          <a:xfrm>
            <a:off x="7895331" y="5738307"/>
            <a:ext cx="3769017" cy="7882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050" dirty="0"/>
              <a:t>다른 세포 또는 자가 세포에게 단백질</a:t>
            </a:r>
            <a:r>
              <a:rPr lang="en-US" altLang="ko-KR" sz="1050" dirty="0"/>
              <a:t>, </a:t>
            </a:r>
            <a:r>
              <a:rPr lang="ko-KR" altLang="en-US" sz="1050" dirty="0"/>
              <a:t>지질</a:t>
            </a:r>
            <a:r>
              <a:rPr lang="en-US" altLang="ko-KR" sz="1050" dirty="0"/>
              <a:t>, </a:t>
            </a:r>
            <a:r>
              <a:rPr lang="ko-KR" altLang="en-US" sz="1050" dirty="0"/>
              <a:t>유전물질 등을 전달하여</a:t>
            </a:r>
            <a:r>
              <a:rPr lang="en-US" altLang="ko-KR" sz="1050" dirty="0"/>
              <a:t> </a:t>
            </a:r>
            <a:r>
              <a:rPr lang="ko-KR" altLang="en-US" sz="1050" dirty="0"/>
              <a:t>세포의 증식과 분화</a:t>
            </a:r>
            <a:r>
              <a:rPr lang="en-US" altLang="ko-KR" sz="1050" dirty="0"/>
              <a:t>, </a:t>
            </a:r>
            <a:r>
              <a:rPr lang="ko-KR" altLang="en-US" sz="1050" dirty="0" err="1"/>
              <a:t>혈관신생</a:t>
            </a:r>
            <a:r>
              <a:rPr lang="ko-KR" altLang="en-US" sz="1050" dirty="0"/>
              <a:t> 등을 조절하고 </a:t>
            </a:r>
            <a:endParaRPr lang="en-US" altLang="ko-KR" sz="1050" dirty="0"/>
          </a:p>
          <a:p>
            <a:pPr algn="ctr">
              <a:lnSpc>
                <a:spcPct val="150000"/>
              </a:lnSpc>
            </a:pPr>
            <a:r>
              <a:rPr lang="ko-KR" altLang="en-US" sz="1050" dirty="0"/>
              <a:t>세포 간 커뮤니케이션을 유도합니다</a:t>
            </a:r>
            <a:r>
              <a:rPr lang="en-US" altLang="ko-KR" sz="1050" dirty="0"/>
              <a:t>.</a:t>
            </a:r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E9DE84D6-6D21-406E-8780-A61F21F8B6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6831" y="4092531"/>
            <a:ext cx="3326018" cy="1702080"/>
          </a:xfrm>
          <a:prstGeom prst="rect">
            <a:avLst/>
          </a:prstGeom>
          <a:effectLst>
            <a:softEdge rad="63500"/>
          </a:effectLst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E15D2D61-1830-42B9-B284-BE6681234575}"/>
              </a:ext>
            </a:extLst>
          </p:cNvPr>
          <p:cNvSpPr txBox="1"/>
          <p:nvPr/>
        </p:nvSpPr>
        <p:spPr>
          <a:xfrm>
            <a:off x="8142232" y="3719861"/>
            <a:ext cx="2089117" cy="276999"/>
          </a:xfrm>
          <a:prstGeom prst="rect">
            <a:avLst/>
          </a:prstGeom>
          <a:solidFill>
            <a:srgbClr val="7C7C7C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ko-KR" altLang="en-US" sz="1200" dirty="0"/>
              <a:t>세포 간 </a:t>
            </a:r>
            <a:r>
              <a:rPr lang="ko-KR" altLang="en-US" sz="1200" dirty="0" err="1"/>
              <a:t>엑소좀</a:t>
            </a:r>
            <a:r>
              <a:rPr lang="ko-KR" altLang="en-US" sz="1200" dirty="0"/>
              <a:t> 전달 과정</a:t>
            </a:r>
            <a:endParaRPr lang="en-US" altLang="ko-KR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225E8CE-B514-474A-B5C0-D9425513E8E7}"/>
              </a:ext>
            </a:extLst>
          </p:cNvPr>
          <p:cNvSpPr txBox="1"/>
          <p:nvPr/>
        </p:nvSpPr>
        <p:spPr>
          <a:xfrm>
            <a:off x="430645" y="1297751"/>
            <a:ext cx="2210862" cy="1329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FF0000"/>
                </a:solidFill>
              </a:rPr>
              <a:t>#</a:t>
            </a:r>
            <a:r>
              <a:rPr lang="ko-KR" altLang="en-US" sz="1100" dirty="0">
                <a:solidFill>
                  <a:srgbClr val="FF0000"/>
                </a:solidFill>
              </a:rPr>
              <a:t>피부 재생 촉진</a:t>
            </a:r>
            <a:endParaRPr lang="en-US" altLang="ko-KR" sz="1100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FF0000"/>
                </a:solidFill>
              </a:rPr>
              <a:t>#</a:t>
            </a:r>
            <a:r>
              <a:rPr lang="ko-KR" altLang="en-US" sz="1100" dirty="0" err="1">
                <a:solidFill>
                  <a:srgbClr val="FF0000"/>
                </a:solidFill>
              </a:rPr>
              <a:t>항염</a:t>
            </a:r>
            <a:r>
              <a:rPr lang="ko-KR" altLang="en-US" sz="1100" dirty="0">
                <a:solidFill>
                  <a:srgbClr val="FF0000"/>
                </a:solidFill>
              </a:rPr>
              <a:t> 및 진정 효과</a:t>
            </a:r>
            <a:endParaRPr lang="en-US" altLang="ko-KR" sz="1100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FF0000"/>
                </a:solidFill>
              </a:rPr>
              <a:t>#</a:t>
            </a:r>
            <a:r>
              <a:rPr lang="ko-KR" altLang="en-US" sz="1100" dirty="0">
                <a:solidFill>
                  <a:srgbClr val="FF0000"/>
                </a:solidFill>
              </a:rPr>
              <a:t>콜라겐 합성 촉진 및 탄력 개선</a:t>
            </a:r>
            <a:endParaRPr lang="en-US" altLang="ko-KR" sz="1100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FF0000"/>
                </a:solidFill>
              </a:rPr>
              <a:t>#</a:t>
            </a:r>
            <a:r>
              <a:rPr lang="ko-KR" altLang="en-US" sz="1100" dirty="0">
                <a:solidFill>
                  <a:srgbClr val="FF0000"/>
                </a:solidFill>
              </a:rPr>
              <a:t>피부 장벽 강화</a:t>
            </a:r>
            <a:endParaRPr lang="en-US" altLang="ko-KR" sz="1100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FF0000"/>
                </a:solidFill>
              </a:rPr>
              <a:t>#</a:t>
            </a:r>
            <a:r>
              <a:rPr lang="ko-KR" altLang="en-US" sz="1100" dirty="0">
                <a:solidFill>
                  <a:srgbClr val="FF0000"/>
                </a:solidFill>
              </a:rPr>
              <a:t>멜라닌 </a:t>
            </a:r>
            <a:r>
              <a:rPr lang="ko-KR" altLang="en-US" sz="1100" dirty="0" err="1">
                <a:solidFill>
                  <a:srgbClr val="FF0000"/>
                </a:solidFill>
              </a:rPr>
              <a:t>생생</a:t>
            </a:r>
            <a:r>
              <a:rPr lang="ko-KR" altLang="en-US" sz="1100" dirty="0">
                <a:solidFill>
                  <a:srgbClr val="FF0000"/>
                </a:solidFill>
              </a:rPr>
              <a:t> 억제</a:t>
            </a:r>
          </a:p>
        </p:txBody>
      </p:sp>
    </p:spTree>
    <p:extLst>
      <p:ext uri="{BB962C8B-B14F-4D97-AF65-F5344CB8AC3E}">
        <p14:creationId xmlns:p14="http://schemas.microsoft.com/office/powerpoint/2010/main" val="18286086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CCD4FA0D-AA99-4920-BFDA-C479FB9C44D8}"/>
              </a:ext>
            </a:extLst>
          </p:cNvPr>
          <p:cNvSpPr/>
          <p:nvPr/>
        </p:nvSpPr>
        <p:spPr>
          <a:xfrm rot="2681818">
            <a:off x="7708029" y="2480575"/>
            <a:ext cx="2340000" cy="2340000"/>
          </a:xfrm>
          <a:prstGeom prst="rect">
            <a:avLst/>
          </a:prstGeom>
          <a:noFill/>
          <a:ln w="5715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D58BE216-7A99-474E-9478-652B2D816A62}"/>
              </a:ext>
            </a:extLst>
          </p:cNvPr>
          <p:cNvCxnSpPr/>
          <p:nvPr/>
        </p:nvCxnSpPr>
        <p:spPr>
          <a:xfrm>
            <a:off x="0" y="406396"/>
            <a:ext cx="12192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그룹 2">
            <a:extLst>
              <a:ext uri="{FF2B5EF4-FFF2-40B4-BE49-F238E27FC236}">
                <a16:creationId xmlns:a16="http://schemas.microsoft.com/office/drawing/2014/main" id="{9118CE49-29FB-479F-A6B1-36270FB1C456}"/>
              </a:ext>
            </a:extLst>
          </p:cNvPr>
          <p:cNvGrpSpPr/>
          <p:nvPr/>
        </p:nvGrpSpPr>
        <p:grpSpPr>
          <a:xfrm>
            <a:off x="9559013" y="2660575"/>
            <a:ext cx="2189308" cy="1980000"/>
            <a:chOff x="4535507" y="2614768"/>
            <a:chExt cx="2189308" cy="1980000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3AD1E485-A3DB-4733-88A9-BDAEC5DB1BC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0" b="99483" l="0" r="100000">
                          <a14:foregroundMark x1="2491" y1="37554" x2="2491" y2="37554"/>
                          <a14:foregroundMark x1="2711" y1="57967" x2="2711" y2="57967"/>
                        </a14:backgroundRemoval>
                      </a14:imgEffect>
                      <a14:imgEffect>
                        <a14:brightnessContrast bright="-20000" contrast="-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flipH="1">
              <a:off x="4535507" y="2614768"/>
              <a:ext cx="2189308" cy="1980000"/>
            </a:xfrm>
            <a:prstGeom prst="rect">
              <a:avLst/>
            </a:prstGeom>
          </p:spPr>
        </p:pic>
        <p:pic>
          <p:nvPicPr>
            <p:cNvPr id="13" name="Picture 4" descr="토마토종자 – 미래농업을 선도하는 동오시드">
              <a:extLst>
                <a:ext uri="{FF2B5EF4-FFF2-40B4-BE49-F238E27FC236}">
                  <a16:creationId xmlns:a16="http://schemas.microsoft.com/office/drawing/2014/main" id="{AE38A13F-12ED-442B-B0E1-0CF42B1ED7F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4183" b="98099" l="1667" r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06990" y="3065667"/>
              <a:ext cx="1108745" cy="972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479A101D-2137-445E-86E2-D4B240CA1FB3}"/>
              </a:ext>
            </a:extLst>
          </p:cNvPr>
          <p:cNvSpPr txBox="1"/>
          <p:nvPr/>
        </p:nvSpPr>
        <p:spPr>
          <a:xfrm>
            <a:off x="8259417" y="698120"/>
            <a:ext cx="133882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500" i="1" dirty="0" err="1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병풀잎엑소좀</a:t>
            </a:r>
            <a:endParaRPr lang="ko-KR" altLang="en-US" sz="1500" i="1" dirty="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5BA03C6-00BB-4769-BAB9-16699F2103C3}"/>
              </a:ext>
            </a:extLst>
          </p:cNvPr>
          <p:cNvSpPr txBox="1"/>
          <p:nvPr/>
        </p:nvSpPr>
        <p:spPr>
          <a:xfrm>
            <a:off x="9984253" y="4622718"/>
            <a:ext cx="133882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500" i="1" dirty="0" err="1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토마토엑소좀</a:t>
            </a:r>
            <a:endParaRPr lang="ko-KR" altLang="en-US" sz="1500" i="1" dirty="0">
              <a:solidFill>
                <a:schemeClr val="accent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DE2B19A3-5D0E-4093-857A-B615D966D728}"/>
              </a:ext>
            </a:extLst>
          </p:cNvPr>
          <p:cNvGrpSpPr/>
          <p:nvPr/>
        </p:nvGrpSpPr>
        <p:grpSpPr>
          <a:xfrm>
            <a:off x="7960083" y="4386821"/>
            <a:ext cx="2189308" cy="1980000"/>
            <a:chOff x="2615283" y="4482661"/>
            <a:chExt cx="2189308" cy="1980000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74A142A2-B8F9-4C10-A244-2D97D2A71F6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0" b="99483" l="0" r="100000">
                          <a14:foregroundMark x1="2491" y1="37554" x2="2491" y2="37554"/>
                          <a14:foregroundMark x1="2711" y1="57967" x2="2711" y2="57967"/>
                        </a14:backgroundRemoval>
                      </a14:imgEffect>
                      <a14:imgEffect>
                        <a14:brightnessContrast bright="-20000" contrast="-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flipH="1">
              <a:off x="2615283" y="4482661"/>
              <a:ext cx="2189308" cy="1980000"/>
            </a:xfrm>
            <a:prstGeom prst="rect">
              <a:avLst/>
            </a:prstGeom>
          </p:spPr>
        </p:pic>
        <p:pic>
          <p:nvPicPr>
            <p:cNvPr id="19" name="Picture 4" descr="성남시 시정소식지 비전성남] 생태도시 성남 - 수중군자, 연꽃이야기">
              <a:extLst>
                <a:ext uri="{FF2B5EF4-FFF2-40B4-BE49-F238E27FC236}">
                  <a16:creationId xmlns:a16="http://schemas.microsoft.com/office/drawing/2014/main" id="{74ECA867-69A3-1130-9029-B6C32842700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0" b="96939" l="0" r="98889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88422" y="5070473"/>
              <a:ext cx="1083264" cy="90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8250591C-7CB2-4959-8E50-4D8F929AD486}"/>
              </a:ext>
            </a:extLst>
          </p:cNvPr>
          <p:cNvGrpSpPr/>
          <p:nvPr/>
        </p:nvGrpSpPr>
        <p:grpSpPr>
          <a:xfrm>
            <a:off x="6293201" y="2660575"/>
            <a:ext cx="2189307" cy="1980000"/>
            <a:chOff x="595354" y="2623235"/>
            <a:chExt cx="2189307" cy="1980000"/>
          </a:xfrm>
        </p:grpSpPr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BBE46C4D-6459-4EC9-9DE0-31F4FCB6BB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prstClr val="black"/>
                <a:schemeClr val="accent4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0" b="99483" l="0" r="100000">
                          <a14:foregroundMark x1="2491" y1="37554" x2="2491" y2="37554"/>
                          <a14:foregroundMark x1="2711" y1="57967" x2="2711" y2="57967"/>
                        </a14:backgroundRemoval>
                      </a14:imgEffect>
                      <a14:imgEffect>
                        <a14:brightnessContrast bright="-20000" contrast="-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flipH="1">
              <a:off x="595354" y="2623235"/>
              <a:ext cx="2189307" cy="1980000"/>
            </a:xfrm>
            <a:prstGeom prst="rect">
              <a:avLst/>
            </a:prstGeom>
          </p:spPr>
        </p:pic>
        <p:pic>
          <p:nvPicPr>
            <p:cNvPr id="20" name="Picture 10" descr="국산 햇 백작약 대 작약뿌리 300g">
              <a:extLst>
                <a:ext uri="{FF2B5EF4-FFF2-40B4-BE49-F238E27FC236}">
                  <a16:creationId xmlns:a16="http://schemas.microsoft.com/office/drawing/2014/main" id="{A8A9B4CC-DB21-55C9-8A93-653AE9B85F2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ackgroundRemoval t="3000" b="97200" l="1100" r="99900"/>
                      </a14:imgEffect>
                      <a14:imgEffect>
                        <a14:brightnessContrast contrast="-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4055" y="2953731"/>
              <a:ext cx="1151996" cy="1152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50731853-CC5F-4B9D-81FC-0C4C8C9CB5CC}"/>
              </a:ext>
            </a:extLst>
          </p:cNvPr>
          <p:cNvGrpSpPr/>
          <p:nvPr/>
        </p:nvGrpSpPr>
        <p:grpSpPr>
          <a:xfrm>
            <a:off x="7931002" y="1047133"/>
            <a:ext cx="2189308" cy="1980000"/>
            <a:chOff x="2646203" y="789601"/>
            <a:chExt cx="2189308" cy="1980000"/>
          </a:xfrm>
        </p:grpSpPr>
        <p:pic>
          <p:nvPicPr>
            <p:cNvPr id="14" name="Picture 6" descr="병풀(Gotu Kola ) H.S 워터 (100%증류 Hydrosol Water)">
              <a:extLst>
                <a:ext uri="{FF2B5EF4-FFF2-40B4-BE49-F238E27FC236}">
                  <a16:creationId xmlns:a16="http://schemas.microsoft.com/office/drawing/2014/main" id="{BBE96979-4035-41C5-A72A-B0D65C08EBC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backgroundRemoval t="0" b="99800" l="0" r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384923">
              <a:off x="3135687" y="1230481"/>
              <a:ext cx="1033795" cy="1044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19E8A3A7-B835-4DE5-BFEE-E2E6D51BAA0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0" b="99483" l="0" r="100000">
                          <a14:foregroundMark x1="2491" y1="37554" x2="2491" y2="37554"/>
                          <a14:foregroundMark x1="2711" y1="57967" x2="2711" y2="57967"/>
                        </a14:backgroundRemoval>
                      </a14:imgEffect>
                      <a14:imgEffect>
                        <a14:brightnessContrast bright="-20000" contrast="-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flipH="1">
              <a:off x="2646203" y="789601"/>
              <a:ext cx="2189308" cy="1980000"/>
            </a:xfrm>
            <a:prstGeom prst="rect">
              <a:avLst/>
            </a:prstGeom>
          </p:spPr>
        </p:pic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EE357C37-FEBC-421D-818E-3CC69302E91E}"/>
              </a:ext>
            </a:extLst>
          </p:cNvPr>
          <p:cNvSpPr txBox="1"/>
          <p:nvPr/>
        </p:nvSpPr>
        <p:spPr>
          <a:xfrm>
            <a:off x="8417081" y="6347008"/>
            <a:ext cx="114646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500" i="1" dirty="0" err="1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연꽃엑소좀</a:t>
            </a:r>
            <a:endParaRPr lang="ko-KR" altLang="en-US" sz="1500" i="1" dirty="0">
              <a:solidFill>
                <a:schemeClr val="bg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628999E-CB30-4DDD-AC80-1419C02AA558}"/>
              </a:ext>
            </a:extLst>
          </p:cNvPr>
          <p:cNvSpPr txBox="1"/>
          <p:nvPr/>
        </p:nvSpPr>
        <p:spPr>
          <a:xfrm>
            <a:off x="6532306" y="4620757"/>
            <a:ext cx="153118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500" i="1" dirty="0" err="1">
                <a:solidFill>
                  <a:srgbClr val="73605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작약뿌리엑소좀</a:t>
            </a:r>
            <a:endParaRPr lang="ko-KR" altLang="en-US" sz="1500" i="1" dirty="0">
              <a:solidFill>
                <a:srgbClr val="73605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93C5BDC-90AA-4836-A116-99D5891FBD64}"/>
              </a:ext>
            </a:extLst>
          </p:cNvPr>
          <p:cNvSpPr txBox="1"/>
          <p:nvPr/>
        </p:nvSpPr>
        <p:spPr>
          <a:xfrm>
            <a:off x="76200" y="33974"/>
            <a:ext cx="11352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EXOSOME</a:t>
            </a:r>
            <a:endParaRPr lang="ko-KR" altLang="en-US" sz="16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208AE62-CF08-4173-BF7A-B86CA1F9BC91}"/>
              </a:ext>
            </a:extLst>
          </p:cNvPr>
          <p:cNvSpPr txBox="1"/>
          <p:nvPr/>
        </p:nvSpPr>
        <p:spPr>
          <a:xfrm>
            <a:off x="405244" y="707055"/>
            <a:ext cx="3665362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Plant</a:t>
            </a:r>
            <a:r>
              <a:rPr lang="ko-KR" altLang="en-US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ko-KR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Exosome </a:t>
            </a:r>
            <a:r>
              <a:rPr lang="ko-KR" altLang="en-US" sz="1600" b="1" dirty="0" err="1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식물엑소좀</a:t>
            </a:r>
            <a:endParaRPr lang="ko-KR" altLang="en-US" sz="2600" b="1" dirty="0">
              <a:solidFill>
                <a:schemeClr val="accent3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0CB01A-B209-49A3-ACB1-322C9867C2EC}"/>
              </a:ext>
            </a:extLst>
          </p:cNvPr>
          <p:cNvSpPr txBox="1"/>
          <p:nvPr/>
        </p:nvSpPr>
        <p:spPr>
          <a:xfrm>
            <a:off x="408993" y="1260320"/>
            <a:ext cx="6566910" cy="697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/>
              <a:t>다양한 생체활성인자를 다량 함유하고 있는 식물 유래 </a:t>
            </a:r>
            <a:r>
              <a:rPr lang="ko-KR" altLang="en-US" sz="1400" dirty="0" err="1"/>
              <a:t>엑소좀은</a:t>
            </a:r>
            <a:r>
              <a:rPr lang="ko-KR" altLang="en-US" sz="1400" dirty="0"/>
              <a:t> 구조적으로 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ko-KR" altLang="en-US" sz="1400" b="1" dirty="0"/>
              <a:t>매우 안정적이고 생물학적 장벽을 쉽게 통과하는 높은 생체 적합성을 가집니다</a:t>
            </a:r>
            <a:r>
              <a:rPr lang="en-US" altLang="ko-KR" sz="1400" b="1" dirty="0"/>
              <a:t>.</a:t>
            </a:r>
            <a:endParaRPr lang="ko-KR" altLang="en-US" sz="1400" b="1" dirty="0"/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F123697A-AE14-4B4B-A982-699577C029DE}"/>
              </a:ext>
            </a:extLst>
          </p:cNvPr>
          <p:cNvCxnSpPr/>
          <p:nvPr/>
        </p:nvCxnSpPr>
        <p:spPr>
          <a:xfrm>
            <a:off x="617235" y="2112690"/>
            <a:ext cx="5148000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12" descr="Full view">
            <a:extLst>
              <a:ext uri="{FF2B5EF4-FFF2-40B4-BE49-F238E27FC236}">
                <a16:creationId xmlns:a16="http://schemas.microsoft.com/office/drawing/2014/main" id="{10BEF263-8AA6-41A6-A960-EEC41EB1F82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68" b="55686"/>
          <a:stretch/>
        </p:blipFill>
        <p:spPr bwMode="auto">
          <a:xfrm>
            <a:off x="617235" y="2121157"/>
            <a:ext cx="1330103" cy="1121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18" descr="추상 분자 디자인 분자 구조 | 프리미엄 벡터">
            <a:extLst>
              <a:ext uri="{FF2B5EF4-FFF2-40B4-BE49-F238E27FC236}">
                <a16:creationId xmlns:a16="http://schemas.microsoft.com/office/drawing/2014/main" id="{BC393FD5-8BCD-4FC8-8BF2-E419DCD5C21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84" t="26616" r="30613" b="16109"/>
          <a:stretch/>
        </p:blipFill>
        <p:spPr bwMode="auto">
          <a:xfrm>
            <a:off x="617234" y="3241207"/>
            <a:ext cx="1330104" cy="1121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D3273B65-14BB-4AF7-8682-34951495A24E}"/>
              </a:ext>
            </a:extLst>
          </p:cNvPr>
          <p:cNvSpPr txBox="1"/>
          <p:nvPr/>
        </p:nvSpPr>
        <p:spPr>
          <a:xfrm>
            <a:off x="2090430" y="2175695"/>
            <a:ext cx="298190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병풀잎소포</a:t>
            </a:r>
            <a:r>
              <a:rPr lang="ko-KR" altLang="en-US" sz="1500" dirty="0"/>
              <a:t>  </a:t>
            </a:r>
            <a:r>
              <a:rPr lang="en-US" altLang="ko-KR" sz="1050" b="1" dirty="0"/>
              <a:t>#</a:t>
            </a:r>
            <a:r>
              <a:rPr lang="ko-KR" altLang="en-US" sz="1050" b="1" dirty="0"/>
              <a:t>주름개선 </a:t>
            </a:r>
            <a:r>
              <a:rPr lang="en-US" altLang="ko-KR" sz="1050" b="1" dirty="0"/>
              <a:t>#</a:t>
            </a:r>
            <a:r>
              <a:rPr lang="ko-KR" altLang="en-US" sz="1050" b="1" dirty="0" err="1"/>
              <a:t>항염</a:t>
            </a:r>
            <a:r>
              <a:rPr lang="ko-KR" altLang="en-US" sz="1050" b="1" dirty="0"/>
              <a:t> </a:t>
            </a:r>
            <a:r>
              <a:rPr lang="en-US" altLang="ko-KR" sz="1050" b="1" dirty="0"/>
              <a:t>#</a:t>
            </a:r>
            <a:r>
              <a:rPr lang="ko-KR" altLang="en-US" sz="1050" b="1" dirty="0"/>
              <a:t>세포재생</a:t>
            </a:r>
            <a:endParaRPr lang="ko-KR" altLang="en-US" sz="1500" b="1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88E1FC9-1DEB-450E-BB67-707D6F1C9273}"/>
              </a:ext>
            </a:extLst>
          </p:cNvPr>
          <p:cNvSpPr txBox="1"/>
          <p:nvPr/>
        </p:nvSpPr>
        <p:spPr>
          <a:xfrm>
            <a:off x="2090430" y="2495845"/>
            <a:ext cx="35670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ko-KR" altLang="en-US" sz="1000" dirty="0" err="1"/>
              <a:t>상처난</a:t>
            </a:r>
            <a:r>
              <a:rPr lang="ko-KR" altLang="en-US" sz="1000" dirty="0"/>
              <a:t> 부위의 콜라겐을 생성시키는 피부 재생을 도와 상처를 빠르게 회복시키고 염증을 완화</a:t>
            </a:r>
            <a:endParaRPr lang="en-US" altLang="ko-KR" sz="1000" dirty="0"/>
          </a:p>
          <a:p>
            <a:pPr marL="171450" indent="-171450">
              <a:buFontTx/>
              <a:buChar char="-"/>
            </a:pPr>
            <a:r>
              <a:rPr lang="ko-KR" altLang="en-US" sz="1000" dirty="0"/>
              <a:t>노화를 촉진시키는 활성산소를 없애고 산화를 억제하는 뛰어난 항산화 작용으로 노화를 방지</a:t>
            </a: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58160E76-9D93-46EB-9D7C-97C8DAF65A55}"/>
              </a:ext>
            </a:extLst>
          </p:cNvPr>
          <p:cNvCxnSpPr/>
          <p:nvPr/>
        </p:nvCxnSpPr>
        <p:spPr>
          <a:xfrm>
            <a:off x="617233" y="3235382"/>
            <a:ext cx="5148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5B844ABD-AD82-48F7-8404-B9C49C9AFB4F}"/>
              </a:ext>
            </a:extLst>
          </p:cNvPr>
          <p:cNvSpPr txBox="1"/>
          <p:nvPr/>
        </p:nvSpPr>
        <p:spPr>
          <a:xfrm>
            <a:off x="2090430" y="3298386"/>
            <a:ext cx="290496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토마토소포</a:t>
            </a:r>
            <a:r>
              <a:rPr lang="ko-KR" altLang="en-US" sz="1500" dirty="0"/>
              <a:t>  </a:t>
            </a:r>
            <a:r>
              <a:rPr lang="en-US" altLang="ko-KR" sz="1050" b="1" dirty="0"/>
              <a:t>#</a:t>
            </a:r>
            <a:r>
              <a:rPr lang="ko-KR" altLang="en-US" sz="1050" b="1" dirty="0"/>
              <a:t>미백</a:t>
            </a:r>
            <a:r>
              <a:rPr lang="en-US" altLang="ko-KR" sz="1050" b="1" dirty="0"/>
              <a:t> #</a:t>
            </a:r>
            <a:r>
              <a:rPr lang="ko-KR" altLang="en-US" sz="1050" b="1" dirty="0"/>
              <a:t>색소침착억제 </a:t>
            </a:r>
            <a:r>
              <a:rPr lang="en-US" altLang="ko-KR" sz="1050" b="1" dirty="0"/>
              <a:t>#</a:t>
            </a:r>
            <a:r>
              <a:rPr lang="ko-KR" altLang="en-US" sz="1050" b="1" dirty="0"/>
              <a:t>보습</a:t>
            </a:r>
            <a:endParaRPr lang="ko-KR" altLang="en-US" sz="1500" b="1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12129A0-8E57-43EF-B44B-9F94EB37F8CD}"/>
              </a:ext>
            </a:extLst>
          </p:cNvPr>
          <p:cNvSpPr txBox="1"/>
          <p:nvPr/>
        </p:nvSpPr>
        <p:spPr>
          <a:xfrm>
            <a:off x="2090430" y="3618536"/>
            <a:ext cx="35670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ko-KR" altLang="en-US" sz="1000" dirty="0"/>
              <a:t>수분과 카로틴</a:t>
            </a:r>
            <a:r>
              <a:rPr lang="en-US" altLang="ko-KR" sz="1000" dirty="0"/>
              <a:t>, </a:t>
            </a:r>
            <a:r>
              <a:rPr lang="ko-KR" altLang="en-US" sz="1000" dirty="0"/>
              <a:t>비타민</a:t>
            </a:r>
            <a:r>
              <a:rPr lang="en-US" altLang="ko-KR" sz="1000" dirty="0"/>
              <a:t>C</a:t>
            </a:r>
            <a:r>
              <a:rPr lang="ko-KR" altLang="en-US" sz="1000" dirty="0"/>
              <a:t>가 풍부하여 미백</a:t>
            </a:r>
            <a:r>
              <a:rPr lang="en-US" altLang="ko-KR" sz="1000" dirty="0"/>
              <a:t>, </a:t>
            </a:r>
            <a:r>
              <a:rPr lang="ko-KR" altLang="en-US" sz="1000" dirty="0"/>
              <a:t>색소침착 억제 및 보습에 효과적 완화</a:t>
            </a:r>
            <a:endParaRPr lang="en-US" altLang="ko-KR" sz="1000" dirty="0"/>
          </a:p>
          <a:p>
            <a:pPr marL="171450" indent="-171450">
              <a:buFontTx/>
              <a:buChar char="-"/>
            </a:pPr>
            <a:r>
              <a:rPr lang="ko-KR" altLang="en-US" sz="1000" dirty="0"/>
              <a:t>뛰어난 항산화 작용을 통해 피부 유해 산소를 없애 피부 노화를 방지</a:t>
            </a:r>
          </a:p>
        </p:txBody>
      </p:sp>
      <p:pic>
        <p:nvPicPr>
          <p:cNvPr id="41" name="Picture 18" descr="추상 분자 디자인 분자 구조 | 프리미엄 벡터">
            <a:extLst>
              <a:ext uri="{FF2B5EF4-FFF2-40B4-BE49-F238E27FC236}">
                <a16:creationId xmlns:a16="http://schemas.microsoft.com/office/drawing/2014/main" id="{008133E6-111C-4780-9044-757C3604874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84" t="26616" r="30613" b="16109"/>
          <a:stretch/>
        </p:blipFill>
        <p:spPr bwMode="auto">
          <a:xfrm>
            <a:off x="617235" y="5492876"/>
            <a:ext cx="1330104" cy="1121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521AD601-0986-4681-8996-88278234CCC3}"/>
              </a:ext>
            </a:extLst>
          </p:cNvPr>
          <p:cNvCxnSpPr/>
          <p:nvPr/>
        </p:nvCxnSpPr>
        <p:spPr>
          <a:xfrm>
            <a:off x="617233" y="4360182"/>
            <a:ext cx="5148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D6089D2F-82ED-422E-8E1D-C26808DB97FB}"/>
              </a:ext>
            </a:extLst>
          </p:cNvPr>
          <p:cNvCxnSpPr/>
          <p:nvPr/>
        </p:nvCxnSpPr>
        <p:spPr>
          <a:xfrm>
            <a:off x="612470" y="5488113"/>
            <a:ext cx="5148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6" name="Picture 2">
            <a:extLst>
              <a:ext uri="{FF2B5EF4-FFF2-40B4-BE49-F238E27FC236}">
                <a16:creationId xmlns:a16="http://schemas.microsoft.com/office/drawing/2014/main" id="{89266255-C955-4111-ABCE-C4516EB2A49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8" t="14039" r="1569" b="19792"/>
          <a:stretch/>
        </p:blipFill>
        <p:spPr bwMode="auto">
          <a:xfrm>
            <a:off x="614851" y="4364883"/>
            <a:ext cx="1337096" cy="1121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5FBF377D-2F97-4F01-9490-96054B77D5A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42" t="16931" b="8433"/>
          <a:stretch/>
        </p:blipFill>
        <p:spPr bwMode="auto">
          <a:xfrm>
            <a:off x="621014" y="5492875"/>
            <a:ext cx="1337096" cy="1121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8124748D-F2CB-4B96-BDDF-9DE0CED9ED99}"/>
              </a:ext>
            </a:extLst>
          </p:cNvPr>
          <p:cNvCxnSpPr/>
          <p:nvPr/>
        </p:nvCxnSpPr>
        <p:spPr>
          <a:xfrm>
            <a:off x="620937" y="6614700"/>
            <a:ext cx="5148000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FA160262-EC34-4DD7-9327-6310171EFF18}"/>
              </a:ext>
            </a:extLst>
          </p:cNvPr>
          <p:cNvSpPr txBox="1"/>
          <p:nvPr/>
        </p:nvSpPr>
        <p:spPr>
          <a:xfrm>
            <a:off x="2090430" y="4431792"/>
            <a:ext cx="263565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연꽃잎소포</a:t>
            </a:r>
            <a:r>
              <a:rPr lang="ko-KR" altLang="en-US" sz="1500" dirty="0"/>
              <a:t>  </a:t>
            </a:r>
            <a:r>
              <a:rPr lang="en-US" altLang="ko-KR" sz="1050" b="1" dirty="0"/>
              <a:t>#</a:t>
            </a:r>
            <a:r>
              <a:rPr lang="ko-KR" altLang="en-US" sz="1050" b="1" dirty="0"/>
              <a:t>장벽강화 </a:t>
            </a:r>
            <a:r>
              <a:rPr lang="en-US" altLang="ko-KR" sz="1050" b="1" dirty="0"/>
              <a:t>#</a:t>
            </a:r>
            <a:r>
              <a:rPr lang="ko-KR" altLang="en-US" sz="1050" b="1" dirty="0"/>
              <a:t>보습 </a:t>
            </a:r>
            <a:r>
              <a:rPr lang="en-US" altLang="ko-KR" sz="1050" b="1" dirty="0"/>
              <a:t>#</a:t>
            </a:r>
            <a:r>
              <a:rPr lang="ko-KR" altLang="en-US" sz="1050" b="1" dirty="0"/>
              <a:t>진정</a:t>
            </a:r>
            <a:endParaRPr lang="ko-KR" altLang="en-US" sz="1500" b="1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F81B508-5D3B-4FC3-A2E1-2E9D04B6D5FB}"/>
              </a:ext>
            </a:extLst>
          </p:cNvPr>
          <p:cNvSpPr txBox="1"/>
          <p:nvPr/>
        </p:nvSpPr>
        <p:spPr>
          <a:xfrm>
            <a:off x="2090430" y="4751942"/>
            <a:ext cx="33705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ko-KR" altLang="en-US" sz="1000" dirty="0" err="1"/>
              <a:t>연잎에</a:t>
            </a:r>
            <a:r>
              <a:rPr lang="ko-KR" altLang="en-US" sz="1000" dirty="0"/>
              <a:t> 함유된 호박산</a:t>
            </a:r>
            <a:r>
              <a:rPr lang="en-US" altLang="ko-KR" sz="1000" dirty="0"/>
              <a:t>, </a:t>
            </a:r>
            <a:r>
              <a:rPr lang="ko-KR" altLang="en-US" sz="1000" dirty="0" err="1"/>
              <a:t>탄닌</a:t>
            </a:r>
            <a:r>
              <a:rPr lang="ko-KR" altLang="en-US" sz="1000" dirty="0"/>
              <a:t> 등의 성분이 피부 보습과 진정 효과를 줌</a:t>
            </a:r>
            <a:endParaRPr lang="en-US" altLang="ko-KR" sz="1000" dirty="0"/>
          </a:p>
          <a:p>
            <a:pPr marL="171450" indent="-171450">
              <a:buFontTx/>
              <a:buChar char="-"/>
            </a:pPr>
            <a:r>
              <a:rPr lang="ko-KR" altLang="en-US" sz="1000" dirty="0"/>
              <a:t>피부 보습과 장벽 강화 효과가 뛰어나 피부 보호와 항산화에도 도움을 줌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AE71A45-E8FE-4815-B293-06FD47360763}"/>
              </a:ext>
            </a:extLst>
          </p:cNvPr>
          <p:cNvSpPr txBox="1"/>
          <p:nvPr/>
        </p:nvSpPr>
        <p:spPr>
          <a:xfrm>
            <a:off x="2090430" y="5554483"/>
            <a:ext cx="294984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작약뿌리소포</a:t>
            </a:r>
            <a:r>
              <a:rPr lang="ko-KR" altLang="en-US" sz="1500" dirty="0"/>
              <a:t>  </a:t>
            </a:r>
            <a:r>
              <a:rPr lang="en-US" altLang="ko-KR" sz="1050" b="1" dirty="0"/>
              <a:t>#</a:t>
            </a:r>
            <a:r>
              <a:rPr lang="ko-KR" altLang="en-US" sz="1050" b="1" dirty="0"/>
              <a:t>항산화</a:t>
            </a:r>
            <a:r>
              <a:rPr lang="en-US" altLang="ko-KR" sz="1050" b="1" dirty="0"/>
              <a:t> #</a:t>
            </a:r>
            <a:r>
              <a:rPr lang="ko-KR" altLang="en-US" sz="1050" b="1" dirty="0"/>
              <a:t>피부보호 </a:t>
            </a:r>
            <a:r>
              <a:rPr lang="en-US" altLang="ko-KR" sz="1050" b="1" dirty="0"/>
              <a:t>#</a:t>
            </a:r>
            <a:r>
              <a:rPr lang="ko-KR" altLang="en-US" sz="1050" b="1" dirty="0"/>
              <a:t>진정</a:t>
            </a:r>
            <a:endParaRPr lang="ko-KR" altLang="en-US" sz="1500" b="1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A9B7FAB-B991-45A1-A2B9-19DF500501DC}"/>
              </a:ext>
            </a:extLst>
          </p:cNvPr>
          <p:cNvSpPr txBox="1"/>
          <p:nvPr/>
        </p:nvSpPr>
        <p:spPr>
          <a:xfrm>
            <a:off x="2090430" y="5874633"/>
            <a:ext cx="35670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ko-KR" altLang="en-US" sz="1000" dirty="0"/>
              <a:t>작약에 함유된 </a:t>
            </a:r>
            <a:r>
              <a:rPr lang="ko-KR" altLang="en-US" sz="1000" dirty="0" err="1"/>
              <a:t>페오니플로린</a:t>
            </a:r>
            <a:r>
              <a:rPr lang="ko-KR" altLang="en-US" sz="1000" dirty="0"/>
              <a:t> 성분은 비타민</a:t>
            </a:r>
            <a:r>
              <a:rPr lang="en-US" altLang="ko-KR" sz="1000" dirty="0"/>
              <a:t>E</a:t>
            </a:r>
            <a:r>
              <a:rPr lang="ko-KR" altLang="en-US" sz="1000" dirty="0"/>
              <a:t>와 유사한 특성으로 항산화 효능이 우수</a:t>
            </a:r>
            <a:endParaRPr lang="en-US" altLang="ko-KR" sz="1000" dirty="0"/>
          </a:p>
          <a:p>
            <a:pPr marL="171450" indent="-171450">
              <a:buFontTx/>
              <a:buChar char="-"/>
            </a:pPr>
            <a:r>
              <a:rPr lang="ko-KR" altLang="en-US" sz="1000" dirty="0" err="1"/>
              <a:t>페오니플로린의</a:t>
            </a:r>
            <a:r>
              <a:rPr lang="ko-KR" altLang="en-US" sz="1000" dirty="0"/>
              <a:t> </a:t>
            </a:r>
            <a:r>
              <a:rPr lang="ko-KR" altLang="en-US" sz="1000" dirty="0" err="1"/>
              <a:t>항염</a:t>
            </a:r>
            <a:r>
              <a:rPr lang="ko-KR" altLang="en-US" sz="1000" dirty="0"/>
              <a:t> 작용으로 피부 질환을 완화시키고 피부를 진저</a:t>
            </a:r>
          </a:p>
        </p:txBody>
      </p:sp>
    </p:spTree>
    <p:extLst>
      <p:ext uri="{BB962C8B-B14F-4D97-AF65-F5344CB8AC3E}">
        <p14:creationId xmlns:p14="http://schemas.microsoft.com/office/powerpoint/2010/main" val="3547145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EAE7A143-AE7F-4AB8-A6E4-A9294ACF287A}"/>
              </a:ext>
            </a:extLst>
          </p:cNvPr>
          <p:cNvCxnSpPr/>
          <p:nvPr/>
        </p:nvCxnSpPr>
        <p:spPr>
          <a:xfrm>
            <a:off x="0" y="406396"/>
            <a:ext cx="12192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15D34F4E-D8D4-47CC-81E9-BBE8FEF93A1F}"/>
              </a:ext>
            </a:extLst>
          </p:cNvPr>
          <p:cNvSpPr txBox="1"/>
          <p:nvPr/>
        </p:nvSpPr>
        <p:spPr>
          <a:xfrm>
            <a:off x="76200" y="33974"/>
            <a:ext cx="13484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INGREDIENT</a:t>
            </a:r>
            <a:endParaRPr lang="ko-KR" altLang="en-US" sz="16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BF83D14-A02C-488C-8620-94CBE5372162}"/>
              </a:ext>
            </a:extLst>
          </p:cNvPr>
          <p:cNvSpPr txBox="1"/>
          <p:nvPr/>
        </p:nvSpPr>
        <p:spPr>
          <a:xfrm>
            <a:off x="5253716" y="612213"/>
            <a:ext cx="16845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#Brightening</a:t>
            </a:r>
            <a:endParaRPr lang="ko-KR" altLang="en-US" sz="2000" i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351532-7EF4-4C84-B0A6-1D138468D730}"/>
              </a:ext>
            </a:extLst>
          </p:cNvPr>
          <p:cNvSpPr txBox="1"/>
          <p:nvPr/>
        </p:nvSpPr>
        <p:spPr>
          <a:xfrm>
            <a:off x="2362622" y="1025003"/>
            <a:ext cx="74558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검증된 효과의 미백 기능성 </a:t>
            </a:r>
            <a:r>
              <a:rPr lang="en-US" altLang="ko-KR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r>
              <a:rPr lang="ko-KR" altLang="en-US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종으로 시작하는 </a:t>
            </a:r>
            <a:r>
              <a:rPr lang="ko-KR" altLang="en-US" sz="20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브라이트닝</a:t>
            </a:r>
            <a:r>
              <a:rPr lang="ko-KR" altLang="en-US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케어</a:t>
            </a: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4D953E6C-5E5C-45B3-BD45-7F6687222B45}"/>
              </a:ext>
            </a:extLst>
          </p:cNvPr>
          <p:cNvSpPr/>
          <p:nvPr/>
        </p:nvSpPr>
        <p:spPr>
          <a:xfrm>
            <a:off x="3954369" y="2029863"/>
            <a:ext cx="4130856" cy="1428664"/>
          </a:xfrm>
          <a:prstGeom prst="ellipse">
            <a:avLst/>
          </a:prstGeom>
          <a:solidFill>
            <a:srgbClr val="FCEEE4">
              <a:alpha val="40000"/>
            </a:srgbClr>
          </a:solidFill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alpha val="4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1" name="화살표: 아래쪽 10">
            <a:extLst>
              <a:ext uri="{FF2B5EF4-FFF2-40B4-BE49-F238E27FC236}">
                <a16:creationId xmlns:a16="http://schemas.microsoft.com/office/drawing/2014/main" id="{362BF433-785E-46E9-A87D-15580AA257CA}"/>
              </a:ext>
            </a:extLst>
          </p:cNvPr>
          <p:cNvSpPr/>
          <p:nvPr/>
        </p:nvSpPr>
        <p:spPr>
          <a:xfrm>
            <a:off x="5619520" y="5581602"/>
            <a:ext cx="800554" cy="510237"/>
          </a:xfrm>
          <a:prstGeom prst="downArrow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2" name="자유형: 도형 11">
            <a:extLst>
              <a:ext uri="{FF2B5EF4-FFF2-40B4-BE49-F238E27FC236}">
                <a16:creationId xmlns:a16="http://schemas.microsoft.com/office/drawing/2014/main" id="{06617512-C75D-45F4-A509-121FC25C9DD8}"/>
              </a:ext>
            </a:extLst>
          </p:cNvPr>
          <p:cNvSpPr/>
          <p:nvPr/>
        </p:nvSpPr>
        <p:spPr>
          <a:xfrm>
            <a:off x="4267197" y="5319239"/>
            <a:ext cx="3505200" cy="876300"/>
          </a:xfrm>
          <a:custGeom>
            <a:avLst/>
            <a:gdLst>
              <a:gd name="connsiteX0" fmla="*/ 0 w 3505200"/>
              <a:gd name="connsiteY0" fmla="*/ 0 h 876300"/>
              <a:gd name="connsiteX1" fmla="*/ 3505200 w 3505200"/>
              <a:gd name="connsiteY1" fmla="*/ 0 h 876300"/>
              <a:gd name="connsiteX2" fmla="*/ 3505200 w 3505200"/>
              <a:gd name="connsiteY2" fmla="*/ 876300 h 876300"/>
              <a:gd name="connsiteX3" fmla="*/ 0 w 3505200"/>
              <a:gd name="connsiteY3" fmla="*/ 876300 h 876300"/>
              <a:gd name="connsiteX4" fmla="*/ 0 w 3505200"/>
              <a:gd name="connsiteY4" fmla="*/ 0 h 876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05200" h="876300">
                <a:moveTo>
                  <a:pt x="0" y="0"/>
                </a:moveTo>
                <a:lnTo>
                  <a:pt x="3505200" y="0"/>
                </a:lnTo>
                <a:lnTo>
                  <a:pt x="3505200" y="876300"/>
                </a:lnTo>
                <a:lnTo>
                  <a:pt x="0" y="8763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77800" tIns="177800" rIns="177800" bIns="177800" numCol="1" spcCol="1270" anchor="ctr" anchorCtr="0">
            <a:noAutofit/>
          </a:bodyPr>
          <a:lstStyle/>
          <a:p>
            <a:pPr marL="0" lvl="0" indent="0" algn="ctr" defTabSz="111125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2500" kern="12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66B7E28-C527-4D61-B92E-55C16EF55A5A}"/>
              </a:ext>
            </a:extLst>
          </p:cNvPr>
          <p:cNvSpPr txBox="1"/>
          <p:nvPr/>
        </p:nvSpPr>
        <p:spPr>
          <a:xfrm>
            <a:off x="5099980" y="6126285"/>
            <a:ext cx="18710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b="1" dirty="0">
                <a:solidFill>
                  <a:srgbClr val="C00000"/>
                </a:solidFill>
              </a:rPr>
              <a:t>피부 </a:t>
            </a:r>
            <a:r>
              <a:rPr lang="ko-KR" altLang="en-US" sz="2400" b="1" dirty="0">
                <a:solidFill>
                  <a:srgbClr val="C00000"/>
                </a:solidFill>
              </a:rPr>
              <a:t>미백 </a:t>
            </a:r>
            <a:r>
              <a:rPr lang="ko-KR" altLang="en-US" sz="2800" b="1" dirty="0">
                <a:solidFill>
                  <a:srgbClr val="C00000"/>
                </a:solidFill>
              </a:rPr>
              <a:t>업</a:t>
            </a:r>
            <a:endParaRPr lang="ko-KR" altLang="en-US" sz="2000" b="1" dirty="0">
              <a:solidFill>
                <a:srgbClr val="C00000"/>
              </a:solidFill>
            </a:endParaRPr>
          </a:p>
        </p:txBody>
      </p:sp>
      <p:pic>
        <p:nvPicPr>
          <p:cNvPr id="27" name="Picture 2" descr="BioSpectrum, Inc. - Alpha-Melight (ECO) KFDA Grade">
            <a:extLst>
              <a:ext uri="{FF2B5EF4-FFF2-40B4-BE49-F238E27FC236}">
                <a16:creationId xmlns:a16="http://schemas.microsoft.com/office/drawing/2014/main" id="{83B994D7-2B4A-4836-9C38-98DA84AC32B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56" t="30586" r="16311" b="16580"/>
          <a:stretch/>
        </p:blipFill>
        <p:spPr bwMode="auto">
          <a:xfrm>
            <a:off x="4263930" y="2239079"/>
            <a:ext cx="1512000" cy="151200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4" descr="감초뿌리 추출물 원료소개 - 네추럴에이드">
            <a:extLst>
              <a:ext uri="{FF2B5EF4-FFF2-40B4-BE49-F238E27FC236}">
                <a16:creationId xmlns:a16="http://schemas.microsoft.com/office/drawing/2014/main" id="{6F7A1961-3AC2-4D25-B1A5-60ED05DFD5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446123" y="3519121"/>
            <a:ext cx="1512000" cy="151200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도형 13">
            <a:extLst>
              <a:ext uri="{FF2B5EF4-FFF2-40B4-BE49-F238E27FC236}">
                <a16:creationId xmlns:a16="http://schemas.microsoft.com/office/drawing/2014/main" id="{5D4778B8-21F4-4A0C-A93E-FD2112D8929D}"/>
              </a:ext>
            </a:extLst>
          </p:cNvPr>
          <p:cNvSpPr/>
          <p:nvPr/>
        </p:nvSpPr>
        <p:spPr>
          <a:xfrm>
            <a:off x="3778247" y="1866116"/>
            <a:ext cx="4483100" cy="3571661"/>
          </a:xfrm>
          <a:prstGeom prst="funnel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1">
            <a:scrgbClr r="0" g="0" b="0"/>
          </a:lnRef>
          <a:fillRef idx="1">
            <a:schemeClr val="lt1">
              <a:alpha val="4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2767E7C-58AC-4F46-8D97-9B9E7151EB0D}"/>
              </a:ext>
            </a:extLst>
          </p:cNvPr>
          <p:cNvSpPr txBox="1"/>
          <p:nvPr/>
        </p:nvSpPr>
        <p:spPr>
          <a:xfrm>
            <a:off x="7766943" y="1804241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알부틴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76CB882-AEB0-45FC-ACDD-744AD99743C7}"/>
              </a:ext>
            </a:extLst>
          </p:cNvPr>
          <p:cNvSpPr txBox="1"/>
          <p:nvPr/>
        </p:nvSpPr>
        <p:spPr>
          <a:xfrm>
            <a:off x="7008359" y="3866057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감초뿌리추출물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914167C-997D-43EC-A519-62E2468D1F1D}"/>
              </a:ext>
            </a:extLst>
          </p:cNvPr>
          <p:cNvSpPr txBox="1"/>
          <p:nvPr/>
        </p:nvSpPr>
        <p:spPr>
          <a:xfrm>
            <a:off x="7772397" y="2191034"/>
            <a:ext cx="4265023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 err="1"/>
              <a:t>알부틴은</a:t>
            </a:r>
            <a:r>
              <a:rPr lang="ko-KR" altLang="en-US" sz="1200" dirty="0"/>
              <a:t> 멜라닌 생성을 유도하는 효소 </a:t>
            </a:r>
            <a:r>
              <a:rPr lang="en-US" altLang="ko-KR" sz="1200" dirty="0"/>
              <a:t>‘</a:t>
            </a:r>
            <a:r>
              <a:rPr lang="ko-KR" altLang="en-US" sz="1200" dirty="0" err="1"/>
              <a:t>티로시나아제</a:t>
            </a:r>
            <a:r>
              <a:rPr lang="en-US" altLang="ko-KR" sz="1200" dirty="0"/>
              <a:t>’</a:t>
            </a:r>
            <a:r>
              <a:rPr lang="ko-KR" altLang="en-US" sz="1200" dirty="0"/>
              <a:t>를</a:t>
            </a:r>
            <a:endParaRPr lang="en-US" altLang="ko-KR" sz="1200" dirty="0"/>
          </a:p>
          <a:p>
            <a:r>
              <a:rPr lang="ko-KR" altLang="en-US" sz="1200" dirty="0"/>
              <a:t>억제해 </a:t>
            </a:r>
            <a:r>
              <a:rPr lang="ko-KR" altLang="en-US" sz="1200" b="1" dirty="0"/>
              <a:t>색소 침착을 근본적으로 차단하고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기미</a:t>
            </a:r>
            <a:r>
              <a:rPr lang="en-US" altLang="ko-KR" sz="1200" b="1" dirty="0"/>
              <a:t>/</a:t>
            </a:r>
            <a:r>
              <a:rPr lang="ko-KR" altLang="en-US" sz="1200" b="1" dirty="0"/>
              <a:t>잡티 </a:t>
            </a:r>
            <a:endParaRPr lang="en-US" altLang="ko-KR" sz="1200" b="1" dirty="0"/>
          </a:p>
          <a:p>
            <a:r>
              <a:rPr lang="ko-KR" altLang="en-US" sz="1200" b="1" dirty="0"/>
              <a:t>완화에 도움을 줍니다</a:t>
            </a:r>
            <a:r>
              <a:rPr lang="en-US" altLang="ko-KR" sz="1200" b="1" dirty="0"/>
              <a:t>. </a:t>
            </a:r>
          </a:p>
          <a:p>
            <a:endParaRPr lang="en-US" altLang="ko-KR" sz="600" dirty="0"/>
          </a:p>
          <a:p>
            <a:r>
              <a:rPr lang="ko-KR" altLang="en-US" sz="1200" b="1" dirty="0"/>
              <a:t>피부 톤을 균일하게 밝히고 투명도를 개선하는 대표적인 기능성 미백 성분</a:t>
            </a:r>
            <a:r>
              <a:rPr lang="ko-KR" altLang="en-US" sz="1200" dirty="0"/>
              <a:t>으로</a:t>
            </a:r>
            <a:r>
              <a:rPr lang="en-US" altLang="ko-KR" sz="1200" dirty="0"/>
              <a:t>, </a:t>
            </a:r>
            <a:r>
              <a:rPr lang="ko-KR" altLang="en-US" sz="1200" dirty="0"/>
              <a:t>피부 속 멜라닌 축적을 방지하여 맑고 깨끗한 피부로 가꿔줍니다</a:t>
            </a:r>
            <a:r>
              <a:rPr lang="en-US" altLang="ko-KR" sz="1200" dirty="0"/>
              <a:t>.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51ADE4C-3CAA-417D-A19E-E07D9C04BFCF}"/>
              </a:ext>
            </a:extLst>
          </p:cNvPr>
          <p:cNvSpPr txBox="1"/>
          <p:nvPr/>
        </p:nvSpPr>
        <p:spPr>
          <a:xfrm>
            <a:off x="7036500" y="4279705"/>
            <a:ext cx="459161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/>
              <a:t>감초뿌리추출물은 </a:t>
            </a:r>
            <a:r>
              <a:rPr lang="ko-KR" altLang="en-US" sz="1200" dirty="0" err="1"/>
              <a:t>플라보노이드</a:t>
            </a:r>
            <a:r>
              <a:rPr lang="ko-KR" altLang="en-US" sz="1200" dirty="0"/>
              <a:t> 및 </a:t>
            </a:r>
            <a:r>
              <a:rPr lang="ko-KR" altLang="en-US" sz="1200" dirty="0" err="1"/>
              <a:t>글라브리딘</a:t>
            </a:r>
            <a:r>
              <a:rPr lang="ko-KR" altLang="en-US" sz="1200" dirty="0"/>
              <a:t> 성분을 함유해</a:t>
            </a:r>
            <a:endParaRPr lang="en-US" altLang="ko-KR" sz="1200" dirty="0"/>
          </a:p>
          <a:p>
            <a:r>
              <a:rPr lang="ko-KR" altLang="en-US" sz="1200" b="1" dirty="0"/>
              <a:t>멜라닌 생성을 억제하고 항산화 효과가 뛰어납니다</a:t>
            </a:r>
            <a:r>
              <a:rPr lang="en-US" altLang="ko-KR" sz="1200" b="1" dirty="0"/>
              <a:t>.</a:t>
            </a:r>
          </a:p>
          <a:p>
            <a:endParaRPr lang="en-US" altLang="ko-KR" sz="600" dirty="0"/>
          </a:p>
          <a:p>
            <a:r>
              <a:rPr lang="ko-KR" altLang="en-US" sz="1200" dirty="0"/>
              <a:t>피부 자극을 완화하는 진정 효과와 피부 본연의 밝은 톤을</a:t>
            </a:r>
            <a:endParaRPr lang="en-US" altLang="ko-KR" sz="1200" dirty="0"/>
          </a:p>
          <a:p>
            <a:r>
              <a:rPr lang="ko-KR" altLang="en-US" sz="1200" dirty="0"/>
              <a:t>자연스럽게 되살리는 효과로 </a:t>
            </a:r>
            <a:r>
              <a:rPr lang="ko-KR" altLang="en-US" sz="1200" b="1" dirty="0"/>
              <a:t>순한 기능성 미백 원료입니다</a:t>
            </a:r>
            <a:r>
              <a:rPr lang="en-US" altLang="ko-KR" sz="1200" dirty="0"/>
              <a:t>. </a:t>
            </a:r>
            <a:endParaRPr lang="ko-KR" altLang="en-US" sz="1200" dirty="0"/>
          </a:p>
        </p:txBody>
      </p:sp>
      <p:pic>
        <p:nvPicPr>
          <p:cNvPr id="29" name="Picture 6" descr="알파 알부틴 VS 베타 알부틴 | 레인보우 바이오텍">
            <a:extLst>
              <a:ext uri="{FF2B5EF4-FFF2-40B4-BE49-F238E27FC236}">
                <a16:creationId xmlns:a16="http://schemas.microsoft.com/office/drawing/2014/main" id="{B4978DFB-9CB6-4012-A1C8-8A63D38535C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2" t="596" r="2588" b="596"/>
          <a:stretch/>
        </p:blipFill>
        <p:spPr bwMode="auto">
          <a:xfrm>
            <a:off x="6150429" y="1783630"/>
            <a:ext cx="1512000" cy="151200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3238469-4A55-43DE-B96F-0BE8117D440D}"/>
              </a:ext>
            </a:extLst>
          </p:cNvPr>
          <p:cNvSpPr txBox="1"/>
          <p:nvPr/>
        </p:nvSpPr>
        <p:spPr>
          <a:xfrm>
            <a:off x="2458425" y="2374863"/>
            <a:ext cx="1765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Alpha-</a:t>
            </a:r>
            <a:r>
              <a:rPr lang="en-US" altLang="ko-KR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Melight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0298514-20E3-4272-B845-B54580778D09}"/>
              </a:ext>
            </a:extLst>
          </p:cNvPr>
          <p:cNvSpPr txBox="1"/>
          <p:nvPr/>
        </p:nvSpPr>
        <p:spPr>
          <a:xfrm>
            <a:off x="185052" y="2769596"/>
            <a:ext cx="4035333" cy="1523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/>
              <a:t>Alpha-</a:t>
            </a:r>
            <a:r>
              <a:rPr lang="en-US" altLang="ko-KR" sz="1200" dirty="0" err="1"/>
              <a:t>Melight</a:t>
            </a:r>
            <a:r>
              <a:rPr lang="ko-KR" altLang="en-US" sz="1200" dirty="0"/>
              <a:t>는 멜라닌 생성을 억제하는 </a:t>
            </a:r>
            <a:endParaRPr lang="en-US" altLang="ko-KR" sz="1200" dirty="0"/>
          </a:p>
          <a:p>
            <a:pPr algn="r"/>
            <a:r>
              <a:rPr lang="ko-KR" altLang="en-US" sz="1200" b="1" dirty="0"/>
              <a:t>기능성 미백 원료로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피부 톤을 균일하고 맑게 </a:t>
            </a:r>
            <a:endParaRPr lang="en-US" altLang="ko-KR" sz="1200" b="1" dirty="0"/>
          </a:p>
          <a:p>
            <a:pPr algn="r"/>
            <a:r>
              <a:rPr lang="ko-KR" altLang="en-US" sz="1200" b="1" dirty="0"/>
              <a:t>개선하는 데 도움을 줍니다</a:t>
            </a:r>
            <a:r>
              <a:rPr lang="en-US" altLang="ko-KR" sz="1200" b="1" dirty="0"/>
              <a:t>.</a:t>
            </a:r>
          </a:p>
          <a:p>
            <a:pPr algn="r"/>
            <a:endParaRPr lang="en-US" altLang="ko-KR" sz="900" dirty="0"/>
          </a:p>
          <a:p>
            <a:pPr algn="r"/>
            <a:r>
              <a:rPr lang="ko-KR" altLang="en-US" sz="1200" dirty="0"/>
              <a:t>자외선으로 인한 색소 침착을 완화하고</a:t>
            </a:r>
            <a:r>
              <a:rPr lang="en-US" altLang="ko-KR" sz="1200" dirty="0"/>
              <a:t>, </a:t>
            </a:r>
            <a:r>
              <a:rPr lang="ko-KR" altLang="en-US" sz="1200" dirty="0"/>
              <a:t>칙칙한</a:t>
            </a:r>
            <a:endParaRPr lang="en-US" altLang="ko-KR" sz="1200" dirty="0"/>
          </a:p>
          <a:p>
            <a:pPr algn="r"/>
            <a:r>
              <a:rPr lang="ko-KR" altLang="en-US" sz="1200" dirty="0"/>
              <a:t>피부를 환하고 투명하게 밝혀주는 </a:t>
            </a:r>
            <a:r>
              <a:rPr lang="ko-KR" altLang="en-US" sz="1200" dirty="0" err="1"/>
              <a:t>브라이트닝</a:t>
            </a:r>
            <a:endParaRPr lang="en-US" altLang="ko-KR" sz="1200" dirty="0"/>
          </a:p>
          <a:p>
            <a:pPr algn="r"/>
            <a:r>
              <a:rPr lang="ko-KR" altLang="en-US" sz="1200" dirty="0"/>
              <a:t>활성 성분으로</a:t>
            </a:r>
            <a:r>
              <a:rPr lang="en-US" altLang="ko-KR" sz="1200" dirty="0"/>
              <a:t>, </a:t>
            </a:r>
            <a:r>
              <a:rPr lang="ko-KR" altLang="en-US" sz="1200" dirty="0"/>
              <a:t>자극이 적어 민감성 피부에도 </a:t>
            </a:r>
            <a:endParaRPr lang="en-US" altLang="ko-KR" sz="1200" dirty="0"/>
          </a:p>
          <a:p>
            <a:pPr algn="r"/>
            <a:r>
              <a:rPr lang="ko-KR" altLang="en-US" sz="1200" dirty="0"/>
              <a:t>적용이</a:t>
            </a:r>
            <a:r>
              <a:rPr lang="en-US" altLang="ko-KR" sz="1200" dirty="0"/>
              <a:t> </a:t>
            </a:r>
            <a:r>
              <a:rPr lang="ko-KR" altLang="en-US" sz="1200" dirty="0"/>
              <a:t>가능해 </a:t>
            </a:r>
            <a:r>
              <a:rPr lang="ko-KR" altLang="en-US" sz="1200" b="1" dirty="0"/>
              <a:t>안정적인 미백 효과를 제공</a:t>
            </a:r>
            <a:r>
              <a:rPr lang="ko-KR" altLang="en-US" sz="1200" dirty="0"/>
              <a:t>합니다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BFC5BDA-DBD7-4051-9E73-D1F9A4276E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220" y="4377697"/>
            <a:ext cx="3505200" cy="1219582"/>
          </a:xfrm>
          <a:prstGeom prst="rect">
            <a:avLst/>
          </a:prstGeom>
        </p:spPr>
      </p:pic>
      <p:pic>
        <p:nvPicPr>
          <p:cNvPr id="32" name="Picture 4" descr="특허 PNG, 일러스트, PSD 및 클립 아트에 대한 무료 다운로드 | Pngtree">
            <a:extLst>
              <a:ext uri="{FF2B5EF4-FFF2-40B4-BE49-F238E27FC236}">
                <a16:creationId xmlns:a16="http://schemas.microsoft.com/office/drawing/2014/main" id="{30D827AA-84B5-483D-B831-5F369A87AA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36" t="24395" r="18784" b="24376"/>
          <a:stretch/>
        </p:blipFill>
        <p:spPr bwMode="auto">
          <a:xfrm>
            <a:off x="2202718" y="2170495"/>
            <a:ext cx="774222" cy="383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29380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012BD4FB-2ABC-442B-8BD5-54CC4BA73756}"/>
              </a:ext>
            </a:extLst>
          </p:cNvPr>
          <p:cNvSpPr/>
          <p:nvPr/>
        </p:nvSpPr>
        <p:spPr>
          <a:xfrm>
            <a:off x="8216892" y="1790140"/>
            <a:ext cx="3458641" cy="4478862"/>
          </a:xfrm>
          <a:prstGeom prst="roundRect">
            <a:avLst>
              <a:gd name="adj" fmla="val 7593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EAE7A143-AE7F-4AB8-A6E4-A9294ACF287A}"/>
              </a:ext>
            </a:extLst>
          </p:cNvPr>
          <p:cNvCxnSpPr/>
          <p:nvPr/>
        </p:nvCxnSpPr>
        <p:spPr>
          <a:xfrm>
            <a:off x="0" y="406396"/>
            <a:ext cx="12192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15D34F4E-D8D4-47CC-81E9-BBE8FEF93A1F}"/>
              </a:ext>
            </a:extLst>
          </p:cNvPr>
          <p:cNvSpPr txBox="1"/>
          <p:nvPr/>
        </p:nvSpPr>
        <p:spPr>
          <a:xfrm>
            <a:off x="76200" y="33974"/>
            <a:ext cx="13484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INGREDIENT</a:t>
            </a:r>
            <a:endParaRPr lang="ko-KR" altLang="en-US" sz="16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BF83D14-A02C-488C-8620-94CBE5372162}"/>
              </a:ext>
            </a:extLst>
          </p:cNvPr>
          <p:cNvSpPr txBox="1"/>
          <p:nvPr/>
        </p:nvSpPr>
        <p:spPr>
          <a:xfrm>
            <a:off x="5440047" y="612213"/>
            <a:ext cx="13118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#Tone Up</a:t>
            </a:r>
            <a:endParaRPr lang="ko-KR" altLang="en-US" sz="2000" i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96BCAFF-5B18-49FD-A483-15FF0C2A79B4}"/>
              </a:ext>
            </a:extLst>
          </p:cNvPr>
          <p:cNvSpPr txBox="1"/>
          <p:nvPr/>
        </p:nvSpPr>
        <p:spPr>
          <a:xfrm>
            <a:off x="2271782" y="1027224"/>
            <a:ext cx="76426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속부터 환하게</a:t>
            </a:r>
            <a:r>
              <a:rPr lang="en-US" altLang="ko-KR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ko-KR" altLang="en-US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피부 본연의 맑은 빛을 상큼하게 깨우는 </a:t>
            </a:r>
            <a:r>
              <a:rPr lang="ko-KR" altLang="en-US" sz="20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톤업</a:t>
            </a:r>
            <a:r>
              <a:rPr lang="ko-KR" altLang="en-US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케어</a:t>
            </a:r>
          </a:p>
        </p:txBody>
      </p:sp>
      <p:pic>
        <p:nvPicPr>
          <p:cNvPr id="28" name="Picture 2" descr="길라에잇 비타민 C 17% 리바이탈 세럼 상품의 정보 및 후기/리뷰, 성분 그리고 가격, 랭킹, 할인 혜택을 확인하고 구매해 보세요">
            <a:extLst>
              <a:ext uri="{FF2B5EF4-FFF2-40B4-BE49-F238E27FC236}">
                <a16:creationId xmlns:a16="http://schemas.microsoft.com/office/drawing/2014/main" id="{D32FAB3B-02C5-44D8-8446-3F9D6BA2734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222" r="31264"/>
          <a:stretch/>
        </p:blipFill>
        <p:spPr bwMode="auto">
          <a:xfrm>
            <a:off x="685824" y="1610803"/>
            <a:ext cx="1377706" cy="4589990"/>
          </a:xfrm>
          <a:prstGeom prst="roundRect">
            <a:avLst>
              <a:gd name="adj" fmla="val 50000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9041BBD5-CE6D-4CF3-9978-F034D0425E91}"/>
              </a:ext>
            </a:extLst>
          </p:cNvPr>
          <p:cNvSpPr txBox="1"/>
          <p:nvPr/>
        </p:nvSpPr>
        <p:spPr>
          <a:xfrm>
            <a:off x="2505724" y="2061098"/>
            <a:ext cx="31563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DUAL VITAMIN C</a:t>
            </a:r>
            <a:endParaRPr lang="ko-KR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B6A7F25-4D8E-4674-BE18-C619CD6D5445}"/>
              </a:ext>
            </a:extLst>
          </p:cNvPr>
          <p:cNvSpPr txBox="1"/>
          <p:nvPr/>
        </p:nvSpPr>
        <p:spPr>
          <a:xfrm>
            <a:off x="2558203" y="3486881"/>
            <a:ext cx="5489003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7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아스코빅애씨드</a:t>
            </a:r>
            <a:endParaRPr lang="en-US" altLang="ko-KR" sz="17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altLang="ko-KR" sz="400" dirty="0"/>
          </a:p>
          <a:p>
            <a:r>
              <a:rPr lang="ko-KR" altLang="en-US" sz="1400" dirty="0"/>
              <a:t>멜라닌 생성을 억제하여 </a:t>
            </a:r>
            <a:r>
              <a:rPr lang="ko-KR" altLang="en-US" sz="1400" dirty="0" err="1"/>
              <a:t>톤업</a:t>
            </a:r>
            <a:r>
              <a:rPr lang="en-US" altLang="ko-KR" sz="1400" dirty="0"/>
              <a:t>&amp;</a:t>
            </a:r>
            <a:r>
              <a:rPr lang="ko-KR" altLang="en-US" sz="1400" dirty="0"/>
              <a:t>광채에 효과적인 </a:t>
            </a:r>
            <a:r>
              <a:rPr lang="ko-KR" altLang="en-US" sz="1400" b="1" dirty="0"/>
              <a:t>순수비타민</a:t>
            </a:r>
            <a:r>
              <a:rPr lang="en-US" altLang="ko-KR" sz="1400" b="1" dirty="0"/>
              <a:t>C </a:t>
            </a:r>
            <a:r>
              <a:rPr lang="ko-KR" altLang="en-US" sz="1400" b="1" dirty="0"/>
              <a:t>성분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54B2610-D9BF-4DBB-ACBB-C6D55DDE2189}"/>
              </a:ext>
            </a:extLst>
          </p:cNvPr>
          <p:cNvSpPr txBox="1"/>
          <p:nvPr/>
        </p:nvSpPr>
        <p:spPr>
          <a:xfrm>
            <a:off x="2558203" y="3022126"/>
            <a:ext cx="234205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200" b="1" dirty="0">
                <a:solidFill>
                  <a:srgbClr val="EF7D08"/>
                </a:solidFill>
              </a:rPr>
              <a:t>ASCORBIC ACID</a:t>
            </a:r>
            <a:endParaRPr lang="ko-KR" altLang="en-US" sz="2200" b="1" dirty="0">
              <a:solidFill>
                <a:srgbClr val="EF7D08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73F0854-EED4-4BFA-BEFA-0BEE0C81845F}"/>
              </a:ext>
            </a:extLst>
          </p:cNvPr>
          <p:cNvSpPr txBox="1"/>
          <p:nvPr/>
        </p:nvSpPr>
        <p:spPr>
          <a:xfrm>
            <a:off x="2558203" y="5120944"/>
            <a:ext cx="4984057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7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아스코빌글루코사이드</a:t>
            </a:r>
            <a:endParaRPr lang="en-US" altLang="ko-KR" sz="17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altLang="ko-KR" sz="400" dirty="0"/>
          </a:p>
          <a:p>
            <a:r>
              <a:rPr lang="ko-KR" altLang="en-US" sz="1400" dirty="0"/>
              <a:t>안정성이 뛰어나 오래 지속되는 </a:t>
            </a:r>
            <a:r>
              <a:rPr lang="ko-KR" altLang="en-US" sz="1400" b="1" dirty="0"/>
              <a:t>순수비타민</a:t>
            </a:r>
            <a:r>
              <a:rPr lang="en-US" altLang="ko-KR" sz="1400" b="1" dirty="0"/>
              <a:t>C</a:t>
            </a:r>
            <a:r>
              <a:rPr lang="ko-KR" altLang="en-US" sz="1400" b="1" dirty="0"/>
              <a:t>의 유도체 성분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7B77608-06C0-4105-BC67-0DF6E899F49D}"/>
              </a:ext>
            </a:extLst>
          </p:cNvPr>
          <p:cNvSpPr txBox="1"/>
          <p:nvPr/>
        </p:nvSpPr>
        <p:spPr>
          <a:xfrm>
            <a:off x="2558203" y="4656189"/>
            <a:ext cx="326544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200" b="1" dirty="0">
                <a:solidFill>
                  <a:srgbClr val="EF7D08"/>
                </a:solidFill>
              </a:rPr>
              <a:t>ASCORBYL GLUCOSIDE</a:t>
            </a:r>
            <a:endParaRPr lang="ko-KR" altLang="en-US" sz="2200" b="1" dirty="0">
              <a:solidFill>
                <a:srgbClr val="EF7D08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D3CF9C1-D436-4763-B9AE-D4A4390A681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01"/>
          <a:stretch/>
        </p:blipFill>
        <p:spPr>
          <a:xfrm>
            <a:off x="8436680" y="2056628"/>
            <a:ext cx="1130661" cy="112691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7464C23-1659-4FFA-9EBF-07CCAA8BAF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5144" y="3466112"/>
            <a:ext cx="1132197" cy="112691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86B3904-DDDD-4087-B10F-4765850F03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5665" y="4875596"/>
            <a:ext cx="1121676" cy="112691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DDF8025-4CF2-4C14-A5B3-400E7CB2BC2D}"/>
              </a:ext>
            </a:extLst>
          </p:cNvPr>
          <p:cNvSpPr txBox="1"/>
          <p:nvPr/>
        </p:nvSpPr>
        <p:spPr>
          <a:xfrm>
            <a:off x="9795943" y="2271562"/>
            <a:ext cx="1752600" cy="697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/>
              <a:t>얼룩덜룩한 피부 톤 정리에</a:t>
            </a:r>
            <a:r>
              <a:rPr lang="en-US" altLang="ko-KR" sz="1400" b="1" dirty="0"/>
              <a:t> </a:t>
            </a:r>
            <a:r>
              <a:rPr lang="ko-KR" altLang="en-US" sz="1400" b="1" dirty="0"/>
              <a:t>도움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D39470A-8D60-4E95-B615-EC52FDE51D73}"/>
              </a:ext>
            </a:extLst>
          </p:cNvPr>
          <p:cNvSpPr txBox="1"/>
          <p:nvPr/>
        </p:nvSpPr>
        <p:spPr>
          <a:xfrm>
            <a:off x="9795943" y="3662874"/>
            <a:ext cx="1752600" cy="697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/>
              <a:t>색소침착과 숨은 </a:t>
            </a:r>
            <a:endParaRPr lang="en-US" altLang="ko-KR" sz="1400" b="1" dirty="0"/>
          </a:p>
          <a:p>
            <a:pPr>
              <a:lnSpc>
                <a:spcPct val="150000"/>
              </a:lnSpc>
            </a:pPr>
            <a:r>
              <a:rPr lang="ko-KR" altLang="en-US" sz="1400" b="1" dirty="0"/>
              <a:t>기미 케어에 도움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4C46BED-4D69-4780-8F1A-FA8455E7E345}"/>
              </a:ext>
            </a:extLst>
          </p:cNvPr>
          <p:cNvSpPr txBox="1"/>
          <p:nvPr/>
        </p:nvSpPr>
        <p:spPr>
          <a:xfrm>
            <a:off x="9795943" y="5090530"/>
            <a:ext cx="1752600" cy="697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/>
              <a:t>거뭇거뭇한 피부 </a:t>
            </a:r>
            <a:endParaRPr lang="en-US" altLang="ko-KR" sz="1400" b="1" dirty="0"/>
          </a:p>
          <a:p>
            <a:pPr>
              <a:lnSpc>
                <a:spcPct val="150000"/>
              </a:lnSpc>
            </a:pPr>
            <a:r>
              <a:rPr lang="ko-KR" altLang="en-US" sz="1400" b="1" dirty="0"/>
              <a:t>표면을 밝게 케어</a:t>
            </a:r>
          </a:p>
        </p:txBody>
      </p:sp>
    </p:spTree>
    <p:extLst>
      <p:ext uri="{BB962C8B-B14F-4D97-AF65-F5344CB8AC3E}">
        <p14:creationId xmlns:p14="http://schemas.microsoft.com/office/powerpoint/2010/main" val="13744277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Picture 8">
            <a:extLst>
              <a:ext uri="{FF2B5EF4-FFF2-40B4-BE49-F238E27FC236}">
                <a16:creationId xmlns:a16="http://schemas.microsoft.com/office/drawing/2014/main" id="{0CA245E9-3E5D-4714-AB61-349087CFF2C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72" t="25820" r="18918" b="26683"/>
          <a:stretch/>
        </p:blipFill>
        <p:spPr bwMode="auto">
          <a:xfrm>
            <a:off x="6456528" y="1770412"/>
            <a:ext cx="2700000" cy="270000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EAE7A143-AE7F-4AB8-A6E4-A9294ACF287A}"/>
              </a:ext>
            </a:extLst>
          </p:cNvPr>
          <p:cNvCxnSpPr/>
          <p:nvPr/>
        </p:nvCxnSpPr>
        <p:spPr>
          <a:xfrm>
            <a:off x="0" y="406396"/>
            <a:ext cx="12192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15D34F4E-D8D4-47CC-81E9-BBE8FEF93A1F}"/>
              </a:ext>
            </a:extLst>
          </p:cNvPr>
          <p:cNvSpPr txBox="1"/>
          <p:nvPr/>
        </p:nvSpPr>
        <p:spPr>
          <a:xfrm>
            <a:off x="76200" y="33974"/>
            <a:ext cx="13484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INGREDIENT</a:t>
            </a:r>
            <a:endParaRPr lang="ko-KR" altLang="en-US" sz="16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BF83D14-A02C-488C-8620-94CBE5372162}"/>
              </a:ext>
            </a:extLst>
          </p:cNvPr>
          <p:cNvSpPr txBox="1"/>
          <p:nvPr/>
        </p:nvSpPr>
        <p:spPr>
          <a:xfrm>
            <a:off x="5328255" y="612213"/>
            <a:ext cx="15354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#Whitening</a:t>
            </a:r>
            <a:endParaRPr lang="ko-KR" altLang="en-US" sz="2000" i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96BCAFF-5B18-49FD-A483-15FF0C2A79B4}"/>
              </a:ext>
            </a:extLst>
          </p:cNvPr>
          <p:cNvSpPr txBox="1"/>
          <p:nvPr/>
        </p:nvSpPr>
        <p:spPr>
          <a:xfrm>
            <a:off x="2517321" y="1027224"/>
            <a:ext cx="71516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매일 환하게 맑아지는 빛</a:t>
            </a:r>
            <a:r>
              <a:rPr lang="en-US" altLang="ko-KR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ko-KR" altLang="en-US" sz="20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화이트닝</a:t>
            </a:r>
            <a:r>
              <a:rPr lang="ko-KR" altLang="en-US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케어</a:t>
            </a: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1325DDAB-89C3-4EF4-BC3F-157BDCCC94D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75000"/>
          </a:blip>
          <a:srcRect l="10700" t="5516" r="14235" b="3223"/>
          <a:stretch/>
        </p:blipFill>
        <p:spPr>
          <a:xfrm>
            <a:off x="330119" y="1769852"/>
            <a:ext cx="2700560" cy="2700560"/>
          </a:xfrm>
          <a:prstGeom prst="ellipse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A1B2C195-79BF-4FE0-AF6C-48923AC4DA90}"/>
              </a:ext>
            </a:extLst>
          </p:cNvPr>
          <p:cNvSpPr txBox="1"/>
          <p:nvPr/>
        </p:nvSpPr>
        <p:spPr>
          <a:xfrm>
            <a:off x="2285956" y="2282453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글루타티온</a:t>
            </a:r>
            <a:endParaRPr lang="ko-KR" altLang="en-US" sz="16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620706-4B3E-454E-AB6C-2DF6443A4F92}"/>
              </a:ext>
            </a:extLst>
          </p:cNvPr>
          <p:cNvSpPr txBox="1"/>
          <p:nvPr/>
        </p:nvSpPr>
        <p:spPr>
          <a:xfrm>
            <a:off x="2311355" y="2805219"/>
            <a:ext cx="3562067" cy="14677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dirty="0" err="1"/>
              <a:t>글루타티온은</a:t>
            </a:r>
            <a:r>
              <a:rPr lang="ko-KR" altLang="en-US" sz="1100" dirty="0"/>
              <a:t> 피부 미백과 관련해 국내외에서 </a:t>
            </a:r>
            <a:endParaRPr lang="en-US" altLang="ko-KR" sz="1100" dirty="0"/>
          </a:p>
          <a:p>
            <a:pPr>
              <a:lnSpc>
                <a:spcPct val="150000"/>
              </a:lnSpc>
            </a:pPr>
            <a:r>
              <a:rPr lang="ko-KR" altLang="en-US" sz="1100" dirty="0"/>
              <a:t>주목받고 있는 </a:t>
            </a:r>
            <a:r>
              <a:rPr lang="en-US" altLang="ko-KR" sz="11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‘</a:t>
            </a:r>
            <a:r>
              <a:rPr lang="ko-KR" altLang="en-US" sz="11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백옥주사</a:t>
            </a:r>
            <a:r>
              <a:rPr lang="en-US" altLang="ko-KR" sz="11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’</a:t>
            </a:r>
            <a:r>
              <a:rPr lang="ko-KR" altLang="en-US" sz="11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의 핵심 성분</a:t>
            </a:r>
            <a:r>
              <a:rPr lang="en-US" altLang="ko-KR" sz="11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ct val="150000"/>
              </a:lnSpc>
            </a:pPr>
            <a:r>
              <a:rPr lang="ko-KR" altLang="en-US" sz="1100" dirty="0"/>
              <a:t>체내에서 자연적으로 생성되는 </a:t>
            </a:r>
            <a:r>
              <a:rPr lang="ko-KR" altLang="en-US" sz="1100" b="1" dirty="0"/>
              <a:t>강력한 항산화 물질</a:t>
            </a:r>
            <a:r>
              <a:rPr lang="ko-KR" altLang="en-US" sz="1100" dirty="0"/>
              <a:t>로 </a:t>
            </a:r>
            <a:endParaRPr lang="en-US" altLang="ko-KR" sz="1100" dirty="0"/>
          </a:p>
          <a:p>
            <a:pPr>
              <a:lnSpc>
                <a:spcPct val="150000"/>
              </a:lnSpc>
            </a:pPr>
            <a:r>
              <a:rPr lang="ko-KR" altLang="en-US" sz="1100" b="1" dirty="0"/>
              <a:t>세포 내 활성산소와 독소를 제거</a:t>
            </a:r>
            <a:r>
              <a:rPr lang="ko-KR" altLang="en-US" sz="1100" dirty="0"/>
              <a:t>하고 </a:t>
            </a:r>
            <a:r>
              <a:rPr lang="ko-KR" altLang="en-US" sz="1100" b="1" dirty="0"/>
              <a:t>멜라닌 색소의 </a:t>
            </a:r>
            <a:endParaRPr lang="en-US" altLang="ko-KR" sz="1100" b="1" dirty="0"/>
          </a:p>
          <a:p>
            <a:pPr>
              <a:lnSpc>
                <a:spcPct val="150000"/>
              </a:lnSpc>
            </a:pPr>
            <a:r>
              <a:rPr lang="ko-KR" altLang="en-US" sz="1100" b="1" dirty="0"/>
              <a:t>합성을 억제해 피부 미백에 도움</a:t>
            </a:r>
            <a:r>
              <a:rPr lang="ko-KR" altLang="en-US" sz="1100" dirty="0"/>
              <a:t>을 줍니다</a:t>
            </a:r>
            <a:r>
              <a:rPr lang="en-US" altLang="ko-KR" sz="1100" dirty="0"/>
              <a:t>.</a:t>
            </a: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DABC69FF-9A4F-4950-92C5-363B108C907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95" t="383" r="1046" b="452"/>
          <a:stretch/>
        </p:blipFill>
        <p:spPr>
          <a:xfrm>
            <a:off x="3072996" y="4657639"/>
            <a:ext cx="2582738" cy="1862821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9A04FBE2-2C4C-4848-B288-1F5441BCD417}"/>
              </a:ext>
            </a:extLst>
          </p:cNvPr>
          <p:cNvSpPr txBox="1"/>
          <p:nvPr/>
        </p:nvSpPr>
        <p:spPr>
          <a:xfrm>
            <a:off x="619778" y="4742493"/>
            <a:ext cx="2453218" cy="1642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dirty="0"/>
              <a:t>경구 미백제로서의 </a:t>
            </a:r>
            <a:r>
              <a:rPr lang="ko-KR" altLang="en-US" sz="1100" dirty="0" err="1"/>
              <a:t>글루타티온</a:t>
            </a:r>
            <a:endParaRPr lang="en-US" altLang="ko-KR" sz="1100" dirty="0"/>
          </a:p>
          <a:p>
            <a:pPr>
              <a:lnSpc>
                <a:spcPct val="150000"/>
              </a:lnSpc>
            </a:pPr>
            <a:endParaRPr lang="en-US" altLang="ko-KR" sz="500" dirty="0"/>
          </a:p>
          <a:p>
            <a:pPr>
              <a:lnSpc>
                <a:spcPct val="150000"/>
              </a:lnSpc>
            </a:pPr>
            <a:r>
              <a:rPr lang="en-US" altLang="ko-KR" sz="1050" dirty="0"/>
              <a:t>“60</a:t>
            </a:r>
            <a:r>
              <a:rPr lang="ko-KR" altLang="en-US" sz="1050" dirty="0"/>
              <a:t>명의 피험자 모두 연구를 </a:t>
            </a:r>
            <a:endParaRPr lang="en-US" altLang="ko-KR" sz="1050" dirty="0"/>
          </a:p>
          <a:p>
            <a:pPr>
              <a:lnSpc>
                <a:spcPct val="150000"/>
              </a:lnSpc>
            </a:pPr>
            <a:r>
              <a:rPr lang="ko-KR" altLang="en-US" sz="1050" dirty="0"/>
              <a:t>마쳤으며</a:t>
            </a:r>
            <a:r>
              <a:rPr lang="en-US" altLang="ko-KR" sz="1050" dirty="0"/>
              <a:t>, </a:t>
            </a:r>
            <a:r>
              <a:rPr lang="ko-KR" altLang="en-US" sz="1050" dirty="0" err="1"/>
              <a:t>글루타티온</a:t>
            </a:r>
            <a:r>
              <a:rPr lang="ko-KR" altLang="en-US" sz="1050" dirty="0"/>
              <a:t> 섭취군의 </a:t>
            </a:r>
            <a:endParaRPr lang="en-US" altLang="ko-KR" sz="1050" dirty="0"/>
          </a:p>
          <a:p>
            <a:pPr>
              <a:lnSpc>
                <a:spcPct val="150000"/>
              </a:lnSpc>
            </a:pPr>
            <a:r>
              <a:rPr lang="ko-KR" altLang="en-US" sz="1050" b="1" dirty="0"/>
              <a:t>멜라닌 지수는 섭취 </a:t>
            </a:r>
            <a:r>
              <a:rPr lang="en-US" altLang="ko-KR" sz="1050" b="1" dirty="0"/>
              <a:t>4</a:t>
            </a:r>
            <a:r>
              <a:rPr lang="ko-KR" altLang="en-US" sz="1050" b="1" dirty="0"/>
              <a:t>주간 </a:t>
            </a:r>
            <a:endParaRPr lang="en-US" altLang="ko-KR" sz="1050" b="1" dirty="0"/>
          </a:p>
          <a:p>
            <a:pPr>
              <a:lnSpc>
                <a:spcPct val="150000"/>
              </a:lnSpc>
            </a:pPr>
            <a:r>
              <a:rPr lang="ko-KR" altLang="en-US" sz="1050" b="1" dirty="0"/>
              <a:t>관찰된 </a:t>
            </a:r>
            <a:r>
              <a:rPr lang="en-US" altLang="ko-KR" sz="1050" b="1" dirty="0"/>
              <a:t>6</a:t>
            </a:r>
            <a:r>
              <a:rPr lang="ko-KR" altLang="en-US" sz="1050" b="1" dirty="0"/>
              <a:t>개 신체부위 모두에서 </a:t>
            </a:r>
            <a:endParaRPr lang="en-US" altLang="ko-KR" sz="1050" b="1" dirty="0"/>
          </a:p>
          <a:p>
            <a:pPr>
              <a:lnSpc>
                <a:spcPct val="150000"/>
              </a:lnSpc>
            </a:pPr>
            <a:r>
              <a:rPr lang="ko-KR" altLang="en-US" sz="1050" b="1" dirty="0"/>
              <a:t>지속적으로 감소</a:t>
            </a:r>
            <a:r>
              <a:rPr lang="ko-KR" altLang="en-US" sz="1050" dirty="0"/>
              <a:t>했다</a:t>
            </a:r>
            <a:r>
              <a:rPr lang="en-US" altLang="ko-KR" sz="1050" dirty="0"/>
              <a:t>.＂</a:t>
            </a:r>
            <a:endParaRPr lang="ko-KR" altLang="en-US" sz="1050" dirty="0"/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77C48B71-1717-42DC-8B56-1E887E1AB7C5}"/>
              </a:ext>
            </a:extLst>
          </p:cNvPr>
          <p:cNvCxnSpPr>
            <a:cxnSpLocks/>
          </p:cNvCxnSpPr>
          <p:nvPr/>
        </p:nvCxnSpPr>
        <p:spPr>
          <a:xfrm>
            <a:off x="6093883" y="1813683"/>
            <a:ext cx="0" cy="4644000"/>
          </a:xfrm>
          <a:prstGeom prst="line">
            <a:avLst/>
          </a:prstGeom>
          <a:ln w="952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CEF43693-B016-47A8-ABF8-5C32B92D9880}"/>
              </a:ext>
            </a:extLst>
          </p:cNvPr>
          <p:cNvSpPr txBox="1"/>
          <p:nvPr/>
        </p:nvSpPr>
        <p:spPr>
          <a:xfrm>
            <a:off x="8412365" y="2282453"/>
            <a:ext cx="34170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WHITE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FLOWER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COMPLEX</a:t>
            </a:r>
            <a:endParaRPr lang="ko-KR" altLang="en-US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0DD165C-2E1C-4865-B0E1-60539F6F63FC}"/>
              </a:ext>
            </a:extLst>
          </p:cNvPr>
          <p:cNvSpPr txBox="1"/>
          <p:nvPr/>
        </p:nvSpPr>
        <p:spPr>
          <a:xfrm>
            <a:off x="8437764" y="2805219"/>
            <a:ext cx="3562067" cy="1421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dirty="0"/>
              <a:t>WHITE FLOWER COMPLEX</a:t>
            </a:r>
            <a:r>
              <a:rPr lang="ko-KR" altLang="en-US" sz="1100" dirty="0"/>
              <a:t>는 </a:t>
            </a:r>
            <a:r>
              <a:rPr lang="ko-KR" altLang="en-US" sz="11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피부 미백과 톤 개선을</a:t>
            </a:r>
            <a:endParaRPr lang="en-US" altLang="ko-KR" sz="1100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ct val="150000"/>
              </a:lnSpc>
            </a:pPr>
            <a:r>
              <a:rPr lang="ko-KR" altLang="en-US" sz="11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위해 엄선된 </a:t>
            </a:r>
            <a:r>
              <a:rPr lang="en-US" altLang="ko-KR" sz="11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  <a:r>
              <a:rPr lang="ko-KR" altLang="en-US" sz="11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가지 화이트 플라워 복합 성분</a:t>
            </a:r>
            <a:r>
              <a:rPr lang="en-US" altLang="ko-KR" sz="11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ct val="150000"/>
              </a:lnSpc>
            </a:pPr>
            <a:r>
              <a:rPr lang="ko-KR" altLang="en-US" sz="1100" dirty="0"/>
              <a:t>각 꽃의 천연 활성 성분이 </a:t>
            </a:r>
            <a:r>
              <a:rPr lang="ko-KR" altLang="en-US" sz="1100" b="1" dirty="0"/>
              <a:t>피부에 맑고 깨끗한 빛을</a:t>
            </a:r>
            <a:endParaRPr lang="en-US" altLang="ko-KR" sz="1100" b="1" dirty="0"/>
          </a:p>
          <a:p>
            <a:pPr>
              <a:lnSpc>
                <a:spcPct val="150000"/>
              </a:lnSpc>
            </a:pPr>
            <a:r>
              <a:rPr lang="ko-KR" altLang="en-US" sz="1100" b="1" dirty="0"/>
              <a:t>부여</a:t>
            </a:r>
            <a:r>
              <a:rPr lang="ko-KR" altLang="en-US" sz="1100" dirty="0"/>
              <a:t>하고 자극 없이 부드럽게 작용해 </a:t>
            </a:r>
            <a:r>
              <a:rPr lang="ko-KR" altLang="en-US" sz="1100" b="1" dirty="0"/>
              <a:t>화사하고 생기</a:t>
            </a:r>
            <a:endParaRPr lang="en-US" altLang="ko-KR" sz="1100" b="1" dirty="0"/>
          </a:p>
          <a:p>
            <a:pPr>
              <a:lnSpc>
                <a:spcPct val="150000"/>
              </a:lnSpc>
            </a:pPr>
            <a:r>
              <a:rPr lang="ko-KR" altLang="en-US" sz="1100" b="1" dirty="0"/>
              <a:t>있는 피부</a:t>
            </a:r>
            <a:r>
              <a:rPr lang="ko-KR" altLang="en-US" sz="1100" dirty="0"/>
              <a:t>로 개선해 줍니다</a:t>
            </a:r>
            <a:r>
              <a:rPr lang="en-US" altLang="ko-KR" sz="1100" dirty="0"/>
              <a:t>.</a:t>
            </a:r>
          </a:p>
        </p:txBody>
      </p:sp>
      <p:pic>
        <p:nvPicPr>
          <p:cNvPr id="4106" name="Picture 10" descr="10x10: 작약부쉬 화이트">
            <a:extLst>
              <a:ext uri="{FF2B5EF4-FFF2-40B4-BE49-F238E27FC236}">
                <a16:creationId xmlns:a16="http://schemas.microsoft.com/office/drawing/2014/main" id="{15E42EFA-7075-4A4D-8272-891A63ECB2F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23" b="11023"/>
          <a:stretch/>
        </p:blipFill>
        <p:spPr bwMode="auto">
          <a:xfrm>
            <a:off x="6837278" y="4700054"/>
            <a:ext cx="1015976" cy="792000"/>
          </a:xfrm>
          <a:prstGeom prst="round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8" name="Picture 12" descr="부케로 인기있는 은방울꽃 꽃말 알아보기. 색깔별 꽃말과 뜻 : 네이버 블로그">
            <a:extLst>
              <a:ext uri="{FF2B5EF4-FFF2-40B4-BE49-F238E27FC236}">
                <a16:creationId xmlns:a16="http://schemas.microsoft.com/office/drawing/2014/main" id="{35D654F3-D04C-4185-975D-5A1C80BA96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64" b="12582"/>
          <a:stretch/>
        </p:blipFill>
        <p:spPr bwMode="auto">
          <a:xfrm>
            <a:off x="6842243" y="5622003"/>
            <a:ext cx="1015977" cy="792000"/>
          </a:xfrm>
          <a:prstGeom prst="round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0" name="Picture 14" descr="자목련 | 대림원예종묘농업회사법인(주)">
            <a:extLst>
              <a:ext uri="{FF2B5EF4-FFF2-40B4-BE49-F238E27FC236}">
                <a16:creationId xmlns:a16="http://schemas.microsoft.com/office/drawing/2014/main" id="{7FA3B183-AF98-4FA7-BE11-F713C279B9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12" b="14733"/>
          <a:stretch/>
        </p:blipFill>
        <p:spPr bwMode="auto">
          <a:xfrm>
            <a:off x="9312899" y="4700054"/>
            <a:ext cx="1015976" cy="792000"/>
          </a:xfrm>
          <a:prstGeom prst="round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2" name="Picture 16" descr="마돈나 릴리 (관리, 특징, 꽃, 이미지)">
            <a:extLst>
              <a:ext uri="{FF2B5EF4-FFF2-40B4-BE49-F238E27FC236}">
                <a16:creationId xmlns:a16="http://schemas.microsoft.com/office/drawing/2014/main" id="{716F8BBB-4283-4E0E-BCD0-06302AA697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90" b="11355"/>
          <a:stretch/>
        </p:blipFill>
        <p:spPr bwMode="auto">
          <a:xfrm>
            <a:off x="9312899" y="5614451"/>
            <a:ext cx="1015974" cy="792000"/>
          </a:xfrm>
          <a:prstGeom prst="round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FFDAB21-B9DB-4F9C-A4C2-B9D24965163C}"/>
              </a:ext>
            </a:extLst>
          </p:cNvPr>
          <p:cNvSpPr txBox="1"/>
          <p:nvPr/>
        </p:nvSpPr>
        <p:spPr>
          <a:xfrm>
            <a:off x="7961408" y="4772888"/>
            <a:ext cx="9893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/>
              <a:t>작약</a:t>
            </a:r>
            <a:endParaRPr lang="en-US" altLang="ko-KR" sz="1200" b="1" dirty="0"/>
          </a:p>
          <a:p>
            <a:endParaRPr lang="en-US" altLang="ko-KR" sz="200" b="1" dirty="0"/>
          </a:p>
          <a:p>
            <a:r>
              <a:rPr lang="ko-KR" altLang="en-US" sz="1100" dirty="0"/>
              <a:t>피부 톤 정돈</a:t>
            </a:r>
            <a:endParaRPr lang="en-US" altLang="ko-KR" sz="1100" dirty="0"/>
          </a:p>
          <a:p>
            <a:r>
              <a:rPr lang="ko-KR" altLang="en-US" sz="1100" dirty="0"/>
              <a:t>생기 부여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85F6022-4E79-422B-B31B-D97BDCFA2592}"/>
              </a:ext>
            </a:extLst>
          </p:cNvPr>
          <p:cNvSpPr txBox="1"/>
          <p:nvPr/>
        </p:nvSpPr>
        <p:spPr>
          <a:xfrm>
            <a:off x="7961408" y="5687285"/>
            <a:ext cx="8002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/>
              <a:t>은방울꽃</a:t>
            </a:r>
            <a:endParaRPr lang="en-US" altLang="ko-KR" sz="1200" b="1" dirty="0"/>
          </a:p>
          <a:p>
            <a:endParaRPr lang="en-US" altLang="ko-KR" sz="200" b="1" dirty="0"/>
          </a:p>
          <a:p>
            <a:r>
              <a:rPr lang="ko-KR" altLang="en-US" sz="1100" dirty="0"/>
              <a:t>피부 밝기</a:t>
            </a:r>
            <a:endParaRPr lang="en-US" altLang="ko-KR" sz="1100" dirty="0"/>
          </a:p>
          <a:p>
            <a:r>
              <a:rPr lang="ko-KR" altLang="en-US" sz="1100" dirty="0"/>
              <a:t>자극 완화</a:t>
            </a:r>
            <a:endParaRPr lang="en-US" altLang="ko-KR" sz="11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8A14B3D-5B6F-4253-93DD-445B4DCDF665}"/>
              </a:ext>
            </a:extLst>
          </p:cNvPr>
          <p:cNvSpPr txBox="1"/>
          <p:nvPr/>
        </p:nvSpPr>
        <p:spPr>
          <a:xfrm>
            <a:off x="10429092" y="4772888"/>
            <a:ext cx="9396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 err="1"/>
              <a:t>자목련꽃</a:t>
            </a:r>
            <a:endParaRPr lang="en-US" altLang="ko-KR" sz="1200" b="1" dirty="0"/>
          </a:p>
          <a:p>
            <a:endParaRPr lang="en-US" altLang="ko-KR" sz="200" b="1" dirty="0"/>
          </a:p>
          <a:p>
            <a:r>
              <a:rPr lang="ko-KR" altLang="en-US" sz="1100" dirty="0"/>
              <a:t>피부 보호</a:t>
            </a:r>
            <a:endParaRPr lang="en-US" altLang="ko-KR" sz="1100" dirty="0"/>
          </a:p>
          <a:p>
            <a:r>
              <a:rPr lang="ko-KR" altLang="en-US" sz="1100" dirty="0"/>
              <a:t>칙칙함 완화</a:t>
            </a:r>
            <a:endParaRPr lang="en-US" altLang="ko-KR" sz="11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8BE4BAC-15FD-42C2-9738-55A921C80296}"/>
              </a:ext>
            </a:extLst>
          </p:cNvPr>
          <p:cNvSpPr txBox="1"/>
          <p:nvPr/>
        </p:nvSpPr>
        <p:spPr>
          <a:xfrm>
            <a:off x="10429092" y="5687284"/>
            <a:ext cx="12715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/>
              <a:t>마돈나백합</a:t>
            </a:r>
            <a:endParaRPr lang="en-US" altLang="ko-KR" sz="1200" b="1" dirty="0"/>
          </a:p>
          <a:p>
            <a:endParaRPr lang="en-US" altLang="ko-KR" sz="200" b="1" dirty="0"/>
          </a:p>
          <a:p>
            <a:r>
              <a:rPr lang="ko-KR" altLang="en-US" sz="1100" dirty="0"/>
              <a:t>멜라닌 축적 방지</a:t>
            </a:r>
            <a:endParaRPr lang="en-US" altLang="ko-KR" sz="1100" dirty="0"/>
          </a:p>
          <a:p>
            <a:r>
              <a:rPr lang="ko-KR" altLang="en-US" sz="1100" dirty="0"/>
              <a:t>피부 </a:t>
            </a:r>
            <a:r>
              <a:rPr lang="ko-KR" altLang="en-US" sz="1100" dirty="0" err="1"/>
              <a:t>톤업</a:t>
            </a:r>
            <a:endParaRPr lang="en-US" altLang="ko-KR" sz="1100" dirty="0"/>
          </a:p>
        </p:txBody>
      </p:sp>
    </p:spTree>
    <p:extLst>
      <p:ext uri="{BB962C8B-B14F-4D97-AF65-F5344CB8AC3E}">
        <p14:creationId xmlns:p14="http://schemas.microsoft.com/office/powerpoint/2010/main" val="1964357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2" descr="여미지식물원">
            <a:extLst>
              <a:ext uri="{FF2B5EF4-FFF2-40B4-BE49-F238E27FC236}">
                <a16:creationId xmlns:a16="http://schemas.microsoft.com/office/drawing/2014/main" id="{B034B425-D1C3-4C4A-8DA0-05CB9213300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alphaModFix amt="3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80" t="11901" r="10574" b="11782"/>
          <a:stretch/>
        </p:blipFill>
        <p:spPr bwMode="auto">
          <a:xfrm>
            <a:off x="779852" y="1755166"/>
            <a:ext cx="3225802" cy="44790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EAE7A143-AE7F-4AB8-A6E4-A9294ACF287A}"/>
              </a:ext>
            </a:extLst>
          </p:cNvPr>
          <p:cNvCxnSpPr/>
          <p:nvPr/>
        </p:nvCxnSpPr>
        <p:spPr>
          <a:xfrm>
            <a:off x="0" y="406396"/>
            <a:ext cx="12192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15D34F4E-D8D4-47CC-81E9-BBE8FEF93A1F}"/>
              </a:ext>
            </a:extLst>
          </p:cNvPr>
          <p:cNvSpPr txBox="1"/>
          <p:nvPr/>
        </p:nvSpPr>
        <p:spPr>
          <a:xfrm>
            <a:off x="76200" y="33974"/>
            <a:ext cx="13484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INGREDIENT</a:t>
            </a:r>
            <a:endParaRPr lang="ko-KR" altLang="en-US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B1543A-D9CB-4350-934F-9596593B4A1C}"/>
              </a:ext>
            </a:extLst>
          </p:cNvPr>
          <p:cNvSpPr txBox="1"/>
          <p:nvPr/>
        </p:nvSpPr>
        <p:spPr>
          <a:xfrm>
            <a:off x="1031798" y="2963590"/>
            <a:ext cx="2721910" cy="2959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400" dirty="0"/>
              <a:t>알프스의 영원한 꽃으로</a:t>
            </a:r>
            <a:r>
              <a:rPr lang="en-US" altLang="ko-KR" sz="1400" dirty="0"/>
              <a:t> </a:t>
            </a:r>
            <a:r>
              <a:rPr lang="ko-KR" altLang="en-US" sz="1400" dirty="0"/>
              <a:t>불리는 </a:t>
            </a:r>
            <a:endParaRPr lang="en-US" altLang="ko-KR" sz="1400" dirty="0"/>
          </a:p>
          <a:p>
            <a:pPr algn="ctr">
              <a:lnSpc>
                <a:spcPct val="150000"/>
              </a:lnSpc>
            </a:pPr>
            <a:r>
              <a:rPr lang="ko-KR" altLang="en-US" sz="1400" dirty="0" err="1"/>
              <a:t>에델바이스캘러스배양추출물은</a:t>
            </a:r>
            <a:r>
              <a:rPr lang="ko-KR" altLang="en-US" sz="1400" dirty="0"/>
              <a:t> </a:t>
            </a:r>
            <a:r>
              <a:rPr lang="ko-KR" altLang="en-US" sz="1400" u="sng" dirty="0"/>
              <a:t>외부의 강한 자극으로부터 </a:t>
            </a:r>
            <a:endParaRPr lang="en-US" altLang="ko-KR" sz="1400" u="sng" dirty="0"/>
          </a:p>
          <a:p>
            <a:pPr algn="ctr">
              <a:lnSpc>
                <a:spcPct val="150000"/>
              </a:lnSpc>
            </a:pPr>
            <a:r>
              <a:rPr lang="ko-KR" altLang="en-US" sz="1400" u="sng" dirty="0"/>
              <a:t>스스로를 보호</a:t>
            </a:r>
            <a:r>
              <a:rPr lang="ko-KR" altLang="en-US" sz="1400" dirty="0"/>
              <a:t>하는 </a:t>
            </a:r>
            <a:r>
              <a:rPr lang="ko-KR" altLang="en-US" sz="1400" dirty="0" err="1"/>
              <a:t>매커니즘</a:t>
            </a:r>
            <a:r>
              <a:rPr lang="ko-KR" altLang="en-US" sz="1400" dirty="0"/>
              <a:t> </a:t>
            </a:r>
            <a:endParaRPr lang="en-US" altLang="ko-KR" sz="1400" dirty="0"/>
          </a:p>
          <a:p>
            <a:pPr algn="ctr">
              <a:lnSpc>
                <a:spcPct val="150000"/>
              </a:lnSpc>
            </a:pPr>
            <a:r>
              <a:rPr lang="ko-KR" altLang="en-US" sz="1400" dirty="0"/>
              <a:t>및 대사물질들을 다량 지니고 있어</a:t>
            </a:r>
            <a:r>
              <a:rPr lang="en-US" altLang="ko-KR" sz="1400" dirty="0"/>
              <a:t>, </a:t>
            </a:r>
            <a:r>
              <a:rPr lang="ko-KR" altLang="en-US" sz="1400" b="1" dirty="0"/>
              <a:t>피부를 지키고 건강한</a:t>
            </a:r>
            <a:endParaRPr lang="en-US" altLang="ko-KR" sz="1400" b="1" dirty="0"/>
          </a:p>
          <a:p>
            <a:pPr algn="ctr">
              <a:lnSpc>
                <a:spcPct val="150000"/>
              </a:lnSpc>
            </a:pPr>
            <a:r>
              <a:rPr lang="ko-KR" altLang="en-US" sz="1400" b="1" dirty="0"/>
              <a:t>피부 컨디션을 유지하며 피부 본연의 힘을 깨워주는</a:t>
            </a:r>
            <a:endParaRPr lang="en-US" altLang="ko-KR" sz="1400" b="1" dirty="0"/>
          </a:p>
          <a:p>
            <a:pPr algn="ctr">
              <a:lnSpc>
                <a:spcPct val="150000"/>
              </a:lnSpc>
            </a:pPr>
            <a:r>
              <a:rPr lang="ko-KR" altLang="en-US" sz="1400" b="1" dirty="0"/>
              <a:t>고기능 보호 성분입니다</a:t>
            </a:r>
            <a:r>
              <a:rPr lang="en-US" altLang="ko-KR" sz="1400" b="1" dirty="0"/>
              <a:t>.</a:t>
            </a:r>
            <a:endParaRPr lang="ko-KR" altLang="en-US" sz="1400" b="1" dirty="0"/>
          </a:p>
        </p:txBody>
      </p:sp>
      <p:pic>
        <p:nvPicPr>
          <p:cNvPr id="11" name="Picture 4" descr="특허 PNG, 일러스트, PSD 및 클립 아트에 대한 무료 다운로드 | Pngtree">
            <a:extLst>
              <a:ext uri="{FF2B5EF4-FFF2-40B4-BE49-F238E27FC236}">
                <a16:creationId xmlns:a16="http://schemas.microsoft.com/office/drawing/2014/main" id="{9A9AEBEF-5514-4577-991F-6E86EBA852D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36" t="24395" r="18784" b="24376"/>
          <a:stretch/>
        </p:blipFill>
        <p:spPr bwMode="auto">
          <a:xfrm>
            <a:off x="565586" y="1620948"/>
            <a:ext cx="932423" cy="461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FAE0B956-F281-4090-916F-9CF819F203CE}"/>
              </a:ext>
            </a:extLst>
          </p:cNvPr>
          <p:cNvSpPr txBox="1"/>
          <p:nvPr/>
        </p:nvSpPr>
        <p:spPr>
          <a:xfrm>
            <a:off x="800009" y="2121186"/>
            <a:ext cx="3185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에델바이스캘러스배양추출물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BF83D14-A02C-488C-8620-94CBE5372162}"/>
              </a:ext>
            </a:extLst>
          </p:cNvPr>
          <p:cNvSpPr txBox="1"/>
          <p:nvPr/>
        </p:nvSpPr>
        <p:spPr>
          <a:xfrm>
            <a:off x="5180042" y="612213"/>
            <a:ext cx="18319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#Care #Repair</a:t>
            </a:r>
            <a:endParaRPr lang="ko-KR" altLang="en-US" sz="2000" i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2" name="Picture 4" descr="10x10: 바이아우어 밀크프로틴 트리트먼트 스위트바닐라">
            <a:extLst>
              <a:ext uri="{FF2B5EF4-FFF2-40B4-BE49-F238E27FC236}">
                <a16:creationId xmlns:a16="http://schemas.microsoft.com/office/drawing/2014/main" id="{212DDB6B-5D50-41BF-AFCE-F82415F51D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22" t="2170" r="23113" b="71287"/>
          <a:stretch/>
        </p:blipFill>
        <p:spPr bwMode="auto">
          <a:xfrm rot="5400000">
            <a:off x="7552773" y="2381768"/>
            <a:ext cx="4479010" cy="3225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4">
            <a:extLst>
              <a:ext uri="{FF2B5EF4-FFF2-40B4-BE49-F238E27FC236}">
                <a16:creationId xmlns:a16="http://schemas.microsoft.com/office/drawing/2014/main" id="{3CBC8B9E-884F-426F-98A7-20E1FCD9E97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alphaModFix amt="3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78"/>
          <a:stretch/>
        </p:blipFill>
        <p:spPr bwMode="auto">
          <a:xfrm rot="5400000">
            <a:off x="3851050" y="2409552"/>
            <a:ext cx="4479008" cy="3170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96DA4840-C2B2-44A6-8E37-50C1551AF72A}"/>
              </a:ext>
            </a:extLst>
          </p:cNvPr>
          <p:cNvSpPr txBox="1"/>
          <p:nvPr/>
        </p:nvSpPr>
        <p:spPr>
          <a:xfrm>
            <a:off x="5358982" y="2115921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녹차추출물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0621FAF-044C-42C7-B616-49D189B27D36}"/>
              </a:ext>
            </a:extLst>
          </p:cNvPr>
          <p:cNvSpPr txBox="1"/>
          <p:nvPr/>
        </p:nvSpPr>
        <p:spPr>
          <a:xfrm>
            <a:off x="4729599" y="2963590"/>
            <a:ext cx="2721910" cy="2959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400" dirty="0"/>
              <a:t>맑고 깨끗한 자연의 에너지를 담은 녹차추출물은 외부 </a:t>
            </a:r>
            <a:endParaRPr lang="en-US" altLang="ko-KR" sz="1400" dirty="0"/>
          </a:p>
          <a:p>
            <a:pPr algn="ctr">
              <a:lnSpc>
                <a:spcPct val="150000"/>
              </a:lnSpc>
            </a:pPr>
            <a:r>
              <a:rPr lang="ko-KR" altLang="en-US" sz="1400" u="sng" dirty="0"/>
              <a:t>자극과 산화 스트레스로부터 </a:t>
            </a:r>
            <a:endParaRPr lang="en-US" altLang="ko-KR" sz="1400" u="sng" dirty="0"/>
          </a:p>
          <a:p>
            <a:pPr algn="ctr">
              <a:lnSpc>
                <a:spcPct val="150000"/>
              </a:lnSpc>
            </a:pPr>
            <a:r>
              <a:rPr lang="ko-KR" altLang="en-US" sz="1400" u="sng" dirty="0"/>
              <a:t>피부를 보호</a:t>
            </a:r>
            <a:r>
              <a:rPr lang="ko-KR" altLang="en-US" sz="1400" dirty="0"/>
              <a:t>하는 우수한 </a:t>
            </a:r>
            <a:endParaRPr lang="en-US" altLang="ko-KR" sz="1400" dirty="0"/>
          </a:p>
          <a:p>
            <a:pPr algn="ctr">
              <a:lnSpc>
                <a:spcPct val="150000"/>
              </a:lnSpc>
            </a:pPr>
            <a:r>
              <a:rPr lang="ko-KR" altLang="en-US" sz="1400" dirty="0"/>
              <a:t>항산화 성분과 진정 성분으로 </a:t>
            </a:r>
            <a:r>
              <a:rPr lang="ko-KR" altLang="en-US" sz="1400" b="1" dirty="0"/>
              <a:t>피부를 보호하고 피부 </a:t>
            </a:r>
            <a:endParaRPr lang="en-US" altLang="ko-KR" sz="1400" b="1" dirty="0"/>
          </a:p>
          <a:p>
            <a:pPr algn="ctr">
              <a:lnSpc>
                <a:spcPct val="150000"/>
              </a:lnSpc>
            </a:pPr>
            <a:r>
              <a:rPr lang="ko-KR" altLang="en-US" sz="1400" b="1" dirty="0"/>
              <a:t>본연의 균형과 생기를 </a:t>
            </a:r>
            <a:endParaRPr lang="en-US" altLang="ko-KR" sz="1400" b="1" dirty="0"/>
          </a:p>
          <a:p>
            <a:pPr algn="ctr">
              <a:lnSpc>
                <a:spcPct val="150000"/>
              </a:lnSpc>
            </a:pPr>
            <a:r>
              <a:rPr lang="ko-KR" altLang="en-US" sz="1400" b="1" dirty="0"/>
              <a:t>되찾아주는 </a:t>
            </a:r>
            <a:endParaRPr lang="en-US" altLang="ko-KR" sz="1400" b="1" dirty="0"/>
          </a:p>
          <a:p>
            <a:pPr algn="ctr">
              <a:lnSpc>
                <a:spcPct val="150000"/>
              </a:lnSpc>
            </a:pPr>
            <a:r>
              <a:rPr lang="ko-KR" altLang="en-US" sz="1400" b="1" dirty="0"/>
              <a:t>천연 보호 성분입니다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A3CAC67-F26C-4B43-B6A3-57A79886C297}"/>
              </a:ext>
            </a:extLst>
          </p:cNvPr>
          <p:cNvSpPr txBox="1"/>
          <p:nvPr/>
        </p:nvSpPr>
        <p:spPr>
          <a:xfrm>
            <a:off x="8308977" y="2963590"/>
            <a:ext cx="2966602" cy="2959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400" dirty="0"/>
              <a:t>피부 스스로의 회복력을 </a:t>
            </a:r>
            <a:endParaRPr lang="en-US" altLang="ko-KR" sz="1400" dirty="0"/>
          </a:p>
          <a:p>
            <a:pPr algn="ctr">
              <a:lnSpc>
                <a:spcPct val="150000"/>
              </a:lnSpc>
            </a:pPr>
            <a:r>
              <a:rPr lang="ko-KR" altLang="en-US" sz="1400" dirty="0"/>
              <a:t>깨워주는 </a:t>
            </a:r>
            <a:r>
              <a:rPr lang="ko-KR" altLang="en-US" sz="1400" dirty="0" err="1"/>
              <a:t>카퍼트라이펩타이드</a:t>
            </a:r>
            <a:r>
              <a:rPr lang="en-US" altLang="ko-KR" sz="1400" dirty="0"/>
              <a:t>-1</a:t>
            </a:r>
            <a:r>
              <a:rPr lang="ko-KR" altLang="en-US" sz="1400" dirty="0"/>
              <a:t>은 </a:t>
            </a:r>
            <a:r>
              <a:rPr lang="ko-KR" altLang="en-US" sz="1400" u="sng" dirty="0"/>
              <a:t>손상된 피부의 재생을 촉진하는 </a:t>
            </a:r>
            <a:endParaRPr lang="en-US" altLang="ko-KR" sz="1400" u="sng" dirty="0"/>
          </a:p>
          <a:p>
            <a:pPr algn="ctr">
              <a:lnSpc>
                <a:spcPct val="150000"/>
              </a:lnSpc>
            </a:pPr>
            <a:r>
              <a:rPr lang="ko-KR" altLang="en-US" sz="1400" u="sng" dirty="0"/>
              <a:t>강력한 </a:t>
            </a:r>
            <a:r>
              <a:rPr lang="ko-KR" altLang="en-US" sz="1400" u="sng" dirty="0" err="1"/>
              <a:t>리페어</a:t>
            </a:r>
            <a:r>
              <a:rPr lang="ko-KR" altLang="en-US" sz="1400" u="sng" dirty="0"/>
              <a:t> 성분</a:t>
            </a:r>
            <a:r>
              <a:rPr lang="ko-KR" altLang="en-US" sz="1400" dirty="0"/>
              <a:t>으로 외부 </a:t>
            </a:r>
            <a:endParaRPr lang="en-US" altLang="ko-KR" sz="1400" dirty="0"/>
          </a:p>
          <a:p>
            <a:pPr algn="ctr">
              <a:lnSpc>
                <a:spcPct val="150000"/>
              </a:lnSpc>
            </a:pPr>
            <a:r>
              <a:rPr lang="ko-KR" altLang="en-US" sz="1400" dirty="0"/>
              <a:t>자극에도 흔들리지 않는 탄탄한 </a:t>
            </a:r>
            <a:endParaRPr lang="en-US" altLang="ko-KR" sz="1400" dirty="0"/>
          </a:p>
          <a:p>
            <a:pPr algn="ctr">
              <a:lnSpc>
                <a:spcPct val="150000"/>
              </a:lnSpc>
            </a:pPr>
            <a:r>
              <a:rPr lang="ko-KR" altLang="en-US" sz="1400" dirty="0"/>
              <a:t>피부 바탕을 만들어 주고 </a:t>
            </a:r>
            <a:r>
              <a:rPr lang="ko-KR" altLang="en-US" sz="1400" b="1" dirty="0"/>
              <a:t>피부 </a:t>
            </a:r>
            <a:endParaRPr lang="en-US" altLang="ko-KR" sz="1400" b="1" dirty="0"/>
          </a:p>
          <a:p>
            <a:pPr algn="ctr">
              <a:lnSpc>
                <a:spcPct val="150000"/>
              </a:lnSpc>
            </a:pPr>
            <a:r>
              <a:rPr lang="ko-KR" altLang="en-US" sz="1400" b="1" dirty="0"/>
              <a:t>장벽을 강화하여 젊고 건강한 </a:t>
            </a:r>
            <a:endParaRPr lang="en-US" altLang="ko-KR" sz="1400" b="1" dirty="0"/>
          </a:p>
          <a:p>
            <a:pPr algn="ctr">
              <a:lnSpc>
                <a:spcPct val="150000"/>
              </a:lnSpc>
            </a:pPr>
            <a:r>
              <a:rPr lang="ko-KR" altLang="en-US" sz="1400" b="1" dirty="0"/>
              <a:t>피부로 가꿔주는 고기능 </a:t>
            </a:r>
            <a:endParaRPr lang="en-US" altLang="ko-KR" sz="1400" b="1" dirty="0"/>
          </a:p>
          <a:p>
            <a:pPr algn="ctr">
              <a:lnSpc>
                <a:spcPct val="150000"/>
              </a:lnSpc>
            </a:pPr>
            <a:r>
              <a:rPr lang="ko-KR" altLang="en-US" sz="1400" b="1" dirty="0"/>
              <a:t>피부 재생 성분입니다</a:t>
            </a:r>
            <a:r>
              <a:rPr lang="en-US" altLang="ko-KR" sz="1400" b="1" dirty="0"/>
              <a:t>.</a:t>
            </a:r>
            <a:endParaRPr lang="ko-KR" altLang="en-US" sz="14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C7E0E63-36ED-451C-9444-932BF95C3C2F}"/>
              </a:ext>
            </a:extLst>
          </p:cNvPr>
          <p:cNvSpPr txBox="1"/>
          <p:nvPr/>
        </p:nvSpPr>
        <p:spPr>
          <a:xfrm>
            <a:off x="8418344" y="2088078"/>
            <a:ext cx="27478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카퍼트라이펩타이드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-1</a:t>
            </a:r>
            <a:endParaRPr lang="ko-KR" alt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B103854-FF47-4713-B84D-F03AFFC76A76}"/>
              </a:ext>
            </a:extLst>
          </p:cNvPr>
          <p:cNvSpPr txBox="1"/>
          <p:nvPr/>
        </p:nvSpPr>
        <p:spPr>
          <a:xfrm>
            <a:off x="4023321" y="1025003"/>
            <a:ext cx="41344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피부를 지키고 되살리는 이중 케어</a:t>
            </a:r>
          </a:p>
        </p:txBody>
      </p:sp>
    </p:spTree>
    <p:extLst>
      <p:ext uri="{BB962C8B-B14F-4D97-AF65-F5344CB8AC3E}">
        <p14:creationId xmlns:p14="http://schemas.microsoft.com/office/powerpoint/2010/main" val="22983522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EAE7A143-AE7F-4AB8-A6E4-A9294ACF287A}"/>
              </a:ext>
            </a:extLst>
          </p:cNvPr>
          <p:cNvCxnSpPr/>
          <p:nvPr/>
        </p:nvCxnSpPr>
        <p:spPr>
          <a:xfrm>
            <a:off x="0" y="406396"/>
            <a:ext cx="12192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15D34F4E-D8D4-47CC-81E9-BBE8FEF93A1F}"/>
              </a:ext>
            </a:extLst>
          </p:cNvPr>
          <p:cNvSpPr txBox="1"/>
          <p:nvPr/>
        </p:nvSpPr>
        <p:spPr>
          <a:xfrm>
            <a:off x="76200" y="33974"/>
            <a:ext cx="13484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INGREDIENT</a:t>
            </a:r>
            <a:endParaRPr lang="ko-KR" altLang="en-US" sz="16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BF83D14-A02C-488C-8620-94CBE5372162}"/>
              </a:ext>
            </a:extLst>
          </p:cNvPr>
          <p:cNvSpPr txBox="1"/>
          <p:nvPr/>
        </p:nvSpPr>
        <p:spPr>
          <a:xfrm>
            <a:off x="5206973" y="612213"/>
            <a:ext cx="17780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#Moisturizing</a:t>
            </a:r>
            <a:endParaRPr lang="ko-KR" altLang="en-US" sz="2000" i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96BCAFF-5B18-49FD-A483-15FF0C2A79B4}"/>
              </a:ext>
            </a:extLst>
          </p:cNvPr>
          <p:cNvSpPr txBox="1"/>
          <p:nvPr/>
        </p:nvSpPr>
        <p:spPr>
          <a:xfrm>
            <a:off x="2990989" y="1025003"/>
            <a:ext cx="61991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촉촉함을 넘어 수분 에너지를 가득 채우는 보습 케어</a:t>
            </a:r>
          </a:p>
        </p:txBody>
      </p:sp>
      <p:pic>
        <p:nvPicPr>
          <p:cNvPr id="18" name="Picture 2" descr="Ingredient series – Aquaxyl – THE MOTHER MADE EDIT">
            <a:extLst>
              <a:ext uri="{FF2B5EF4-FFF2-40B4-BE49-F238E27FC236}">
                <a16:creationId xmlns:a16="http://schemas.microsoft.com/office/drawing/2014/main" id="{230B8E29-08FB-41A7-B6FA-71906DBC69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178" y="1826139"/>
            <a:ext cx="1980000" cy="198000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" descr="히알루론산과 피부의 상관관계 MAGAZINE - (주)닥터로하스">
            <a:extLst>
              <a:ext uri="{FF2B5EF4-FFF2-40B4-BE49-F238E27FC236}">
                <a16:creationId xmlns:a16="http://schemas.microsoft.com/office/drawing/2014/main" id="{303CD14B-2B95-4D5A-9256-02AD4D0B9BC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29" r="7329"/>
          <a:stretch/>
        </p:blipFill>
        <p:spPr bwMode="auto">
          <a:xfrm>
            <a:off x="516178" y="4295871"/>
            <a:ext cx="1980000" cy="198000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4">
            <a:extLst>
              <a:ext uri="{FF2B5EF4-FFF2-40B4-BE49-F238E27FC236}">
                <a16:creationId xmlns:a16="http://schemas.microsoft.com/office/drawing/2014/main" id="{45CE72A4-3E8F-46E7-99C1-D3AEB51A5EC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57" r="17857"/>
          <a:stretch/>
        </p:blipFill>
        <p:spPr bwMode="auto">
          <a:xfrm>
            <a:off x="6276823" y="4295871"/>
            <a:ext cx="1980000" cy="198000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E48A2001-F065-4A2F-80F3-0AAC660015A3}"/>
              </a:ext>
            </a:extLst>
          </p:cNvPr>
          <p:cNvSpPr txBox="1"/>
          <p:nvPr/>
        </p:nvSpPr>
        <p:spPr>
          <a:xfrm>
            <a:off x="2646844" y="5020466"/>
            <a:ext cx="34267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8</a:t>
            </a:r>
            <a:r>
              <a:rPr lang="ko-KR" altLang="en-US" sz="1200" dirty="0"/>
              <a:t>가지 </a:t>
            </a:r>
            <a:r>
              <a:rPr lang="ko-KR" altLang="en-US" sz="1200" dirty="0" err="1"/>
              <a:t>히알루론산이</a:t>
            </a:r>
            <a:r>
              <a:rPr lang="ko-KR" altLang="en-US" sz="1200" dirty="0"/>
              <a:t> 피부 수분량을 약 </a:t>
            </a:r>
            <a:r>
              <a:rPr lang="en-US" altLang="ko-KR" sz="1200" dirty="0"/>
              <a:t>1,000</a:t>
            </a:r>
            <a:r>
              <a:rPr lang="ko-KR" altLang="en-US" sz="1200" dirty="0"/>
              <a:t>배 이상 끌어당겨서 피부의 모든 층에 수분을 공급하고</a:t>
            </a:r>
            <a:r>
              <a:rPr lang="en-US" altLang="ko-KR" sz="1200" dirty="0"/>
              <a:t> </a:t>
            </a:r>
            <a:r>
              <a:rPr lang="ko-KR" altLang="en-US" sz="1200" dirty="0"/>
              <a:t>표피와 진피에 </a:t>
            </a:r>
            <a:r>
              <a:rPr lang="ko-KR" altLang="en-US" sz="1200" b="1" dirty="0"/>
              <a:t>수분을 </a:t>
            </a:r>
            <a:r>
              <a:rPr lang="ko-KR" altLang="en-US" sz="1200" b="1" dirty="0" err="1"/>
              <a:t>잡아두며</a:t>
            </a:r>
            <a:r>
              <a:rPr lang="ko-KR" altLang="en-US" sz="1200" b="1" dirty="0"/>
              <a:t> 피부를 </a:t>
            </a:r>
            <a:endParaRPr lang="en-US" altLang="ko-KR" sz="1200" b="1" dirty="0"/>
          </a:p>
          <a:p>
            <a:r>
              <a:rPr lang="ko-KR" altLang="en-US" sz="1200" b="1" dirty="0"/>
              <a:t>촉촉하게 유지하는 역할을 합니다</a:t>
            </a:r>
            <a:r>
              <a:rPr lang="en-US" altLang="ko-KR" sz="1200" b="1" dirty="0"/>
              <a:t>.</a:t>
            </a:r>
            <a:endParaRPr lang="ko-KR" altLang="en-US" sz="12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95C6DDA-4A35-4A32-A330-7C9CA4EAA813}"/>
              </a:ext>
            </a:extLst>
          </p:cNvPr>
          <p:cNvSpPr txBox="1"/>
          <p:nvPr/>
        </p:nvSpPr>
        <p:spPr>
          <a:xfrm>
            <a:off x="2646844" y="4540279"/>
            <a:ext cx="20697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복합 </a:t>
            </a:r>
            <a:r>
              <a:rPr lang="ko-KR" alt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히알루론산</a:t>
            </a:r>
            <a:endParaRPr lang="ko-KR" alt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B42DC1D2-1321-4165-B5AE-4C46F3AE789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5762" r="5762"/>
          <a:stretch/>
        </p:blipFill>
        <p:spPr>
          <a:xfrm>
            <a:off x="6276823" y="1826139"/>
            <a:ext cx="1980000" cy="1980000"/>
          </a:xfrm>
          <a:prstGeom prst="ellipse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DB35B941-3258-4909-9BA3-9C76159B052D}"/>
              </a:ext>
            </a:extLst>
          </p:cNvPr>
          <p:cNvSpPr txBox="1"/>
          <p:nvPr/>
        </p:nvSpPr>
        <p:spPr>
          <a:xfrm>
            <a:off x="2646845" y="5849931"/>
            <a:ext cx="30935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solidFill>
                  <a:schemeClr val="bg2">
                    <a:lumMod val="50000"/>
                  </a:schemeClr>
                </a:solidFill>
              </a:rPr>
              <a:t>Hydrolyzed Glycosaminoglycans / Sodium Hyaluronate / Sodium Hyaluronate </a:t>
            </a:r>
            <a:r>
              <a:rPr lang="en-US" altLang="ko-KR" sz="800" dirty="0" err="1">
                <a:solidFill>
                  <a:schemeClr val="bg2">
                    <a:lumMod val="50000"/>
                  </a:schemeClr>
                </a:solidFill>
              </a:rPr>
              <a:t>Crosspolymer</a:t>
            </a:r>
            <a:r>
              <a:rPr lang="en-US" altLang="ko-KR" sz="800" dirty="0">
                <a:solidFill>
                  <a:schemeClr val="bg2">
                    <a:lumMod val="50000"/>
                  </a:schemeClr>
                </a:solidFill>
              </a:rPr>
              <a:t> / Hydrolyzed Hyaluronic Acid / </a:t>
            </a:r>
            <a:r>
              <a:rPr lang="en-US" altLang="ko-KR" sz="800" dirty="0" err="1">
                <a:solidFill>
                  <a:schemeClr val="bg2">
                    <a:lumMod val="50000"/>
                  </a:schemeClr>
                </a:solidFill>
              </a:rPr>
              <a:t>Hydroxypropyltrimonium</a:t>
            </a:r>
            <a:r>
              <a:rPr lang="en-US" altLang="ko-KR" sz="800" dirty="0">
                <a:solidFill>
                  <a:schemeClr val="bg2">
                    <a:lumMod val="50000"/>
                  </a:schemeClr>
                </a:solidFill>
              </a:rPr>
              <a:t> Hyaluronate / Hyaluronic Acid / Sodium Acetylated Hyaluronate</a:t>
            </a:r>
            <a:endParaRPr lang="ko-KR" altLang="en-US" sz="8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FE1E5C8-4FDA-4AD9-B695-4B15B2699FF9}"/>
              </a:ext>
            </a:extLst>
          </p:cNvPr>
          <p:cNvSpPr txBox="1"/>
          <p:nvPr/>
        </p:nvSpPr>
        <p:spPr>
          <a:xfrm>
            <a:off x="8412645" y="5020466"/>
            <a:ext cx="36248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아미노산 </a:t>
            </a:r>
            <a:r>
              <a:rPr lang="en-US" altLang="ko-KR" sz="1200" dirty="0"/>
              <a:t>17 </a:t>
            </a:r>
            <a:r>
              <a:rPr lang="ko-KR" altLang="en-US" sz="1200" dirty="0"/>
              <a:t>복합체가 피부 속 수분을 효과적으로 끌어당겨 장시간 촉촉한 상태를 유지하도록 돕고 </a:t>
            </a:r>
            <a:r>
              <a:rPr lang="ko-KR" altLang="en-US" sz="1200" b="1" dirty="0"/>
              <a:t>건조로 인한 손상을 방지하여 외부 자극에도 무너지지 않은 탄탄한 피부로 가꿔줍니다</a:t>
            </a:r>
            <a:r>
              <a:rPr lang="en-US" altLang="ko-KR" sz="1200" b="1" dirty="0"/>
              <a:t>.</a:t>
            </a:r>
            <a:endParaRPr lang="ko-KR" altLang="en-US" sz="1200" b="1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DE6A610-7F95-4B2F-A682-94538D4A6193}"/>
              </a:ext>
            </a:extLst>
          </p:cNvPr>
          <p:cNvSpPr txBox="1"/>
          <p:nvPr/>
        </p:nvSpPr>
        <p:spPr>
          <a:xfrm>
            <a:off x="8412645" y="4540279"/>
            <a:ext cx="27735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Amino Acid Complex</a:t>
            </a:r>
            <a:endParaRPr lang="ko-KR" alt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7" name="Picture 4" descr="특허 PNG, 일러스트, PSD 및 클립 아트에 대한 무료 다운로드 | Pngtree">
            <a:extLst>
              <a:ext uri="{FF2B5EF4-FFF2-40B4-BE49-F238E27FC236}">
                <a16:creationId xmlns:a16="http://schemas.microsoft.com/office/drawing/2014/main" id="{B194FFBB-42BF-4E58-AC94-9406D5F87E3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36" t="24395" r="18784" b="24376"/>
          <a:stretch/>
        </p:blipFill>
        <p:spPr bwMode="auto">
          <a:xfrm>
            <a:off x="8117853" y="4269408"/>
            <a:ext cx="932423" cy="461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75BE101B-F178-4F77-A365-7AB1CEA637DA}"/>
              </a:ext>
            </a:extLst>
          </p:cNvPr>
          <p:cNvSpPr txBox="1"/>
          <p:nvPr/>
        </p:nvSpPr>
        <p:spPr>
          <a:xfrm>
            <a:off x="2646844" y="2582338"/>
            <a:ext cx="34267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수분 </a:t>
            </a:r>
            <a:r>
              <a:rPr lang="ko-KR" altLang="en-US" sz="1200" dirty="0" err="1"/>
              <a:t>보유력을</a:t>
            </a:r>
            <a:r>
              <a:rPr lang="ko-KR" altLang="en-US" sz="1200" dirty="0"/>
              <a:t> 높여 촉촉함을 오래 유지하고 </a:t>
            </a:r>
            <a:endParaRPr lang="en-US" altLang="ko-KR" sz="1200" dirty="0"/>
          </a:p>
          <a:p>
            <a:r>
              <a:rPr lang="ko-KR" altLang="en-US" sz="1200" dirty="0"/>
              <a:t>수분 손실을 효과적으로 방지해 피부 속까지</a:t>
            </a:r>
            <a:endParaRPr lang="en-US" altLang="ko-KR" sz="1200" dirty="0"/>
          </a:p>
          <a:p>
            <a:r>
              <a:rPr lang="ko-KR" altLang="en-US" sz="1200" dirty="0"/>
              <a:t>수분 에너지를 가득 채워주어 </a:t>
            </a:r>
            <a:r>
              <a:rPr lang="ko-KR" altLang="en-US" sz="1200" b="1" dirty="0"/>
              <a:t>건강하고 촉촉한</a:t>
            </a:r>
            <a:endParaRPr lang="en-US" altLang="ko-KR" sz="1200" b="1" dirty="0"/>
          </a:p>
          <a:p>
            <a:r>
              <a:rPr lang="ko-KR" altLang="en-US" sz="1200" b="1" dirty="0"/>
              <a:t>피부 밸런스를 위한 액티브 성분입니다</a:t>
            </a:r>
            <a:r>
              <a:rPr lang="en-US" altLang="ko-KR" sz="1200" b="1" dirty="0"/>
              <a:t>.</a:t>
            </a:r>
            <a:endParaRPr lang="ko-KR" altLang="en-US" sz="1200" b="1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3E29D39-C958-4D49-8221-777A5F2A09BA}"/>
              </a:ext>
            </a:extLst>
          </p:cNvPr>
          <p:cNvSpPr txBox="1"/>
          <p:nvPr/>
        </p:nvSpPr>
        <p:spPr>
          <a:xfrm>
            <a:off x="2646844" y="2119085"/>
            <a:ext cx="13824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AQUAXYL</a:t>
            </a:r>
            <a:endParaRPr lang="ko-KR" alt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2" name="TextBox 11">
            <a:extLst>
              <a:ext uri="{FF2B5EF4-FFF2-40B4-BE49-F238E27FC236}">
                <a16:creationId xmlns:a16="http://schemas.microsoft.com/office/drawing/2014/main" id="{E5B78B66-6DE9-4E3D-870F-DFA2FB7D29A9}"/>
              </a:ext>
            </a:extLst>
          </p:cNvPr>
          <p:cNvSpPr txBox="1"/>
          <p:nvPr/>
        </p:nvSpPr>
        <p:spPr>
          <a:xfrm>
            <a:off x="8412643" y="5841428"/>
            <a:ext cx="30935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2">
                    <a:lumMod val="50000"/>
                  </a:schemeClr>
                </a:solidFill>
              </a:rPr>
              <a:t>Lysine / Arginine / Aspartic acid / Threonine / Serine / </a:t>
            </a:r>
            <a:r>
              <a:rPr lang="en-US" altLang="ko-KR" sz="800" dirty="0" err="1">
                <a:solidFill>
                  <a:schemeClr val="bg2">
                    <a:lumMod val="50000"/>
                  </a:schemeClr>
                </a:solidFill>
              </a:rPr>
              <a:t>Glutamin</a:t>
            </a:r>
            <a:r>
              <a:rPr lang="en-US" altLang="ko-KR" sz="800" dirty="0">
                <a:solidFill>
                  <a:schemeClr val="bg2">
                    <a:lumMod val="50000"/>
                  </a:schemeClr>
                </a:solidFill>
              </a:rPr>
              <a:t> acid / Proline / Glycine / Alanine / Valine / Methionine / Isoleucine / Leucine / Tyrosine / Phenylalanine / Histidine / Cysteine</a:t>
            </a:r>
            <a:endParaRPr lang="ko-KR" altLang="en-US" sz="8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DD4B9A9-DA62-4C24-BE4B-3B64C70E8B90}"/>
              </a:ext>
            </a:extLst>
          </p:cNvPr>
          <p:cNvSpPr txBox="1"/>
          <p:nvPr/>
        </p:nvSpPr>
        <p:spPr>
          <a:xfrm>
            <a:off x="8412643" y="2582338"/>
            <a:ext cx="34267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피부</a:t>
            </a:r>
            <a:r>
              <a:rPr lang="en-US" altLang="ko-KR" sz="1200" dirty="0"/>
              <a:t> </a:t>
            </a:r>
            <a:r>
              <a:rPr lang="ko-KR" altLang="en-US" sz="1200" dirty="0"/>
              <a:t>표면에 수분을 공급하고 손상된 피부 </a:t>
            </a:r>
            <a:endParaRPr lang="en-US" altLang="ko-KR" sz="1200" dirty="0"/>
          </a:p>
          <a:p>
            <a:r>
              <a:rPr lang="ko-KR" altLang="en-US" sz="1200" dirty="0"/>
              <a:t>장벽을 복원하여 균형 잡힌 </a:t>
            </a:r>
            <a:r>
              <a:rPr lang="ko-KR" altLang="en-US" sz="1200" b="1" dirty="0"/>
              <a:t>건강한 피부 </a:t>
            </a:r>
            <a:endParaRPr lang="en-US" altLang="ko-KR" sz="1200" b="1" dirty="0"/>
          </a:p>
          <a:p>
            <a:r>
              <a:rPr lang="ko-KR" altLang="en-US" sz="1200" b="1" dirty="0"/>
              <a:t>상태를 유지하도록 돕는 보습</a:t>
            </a:r>
            <a:r>
              <a:rPr lang="en-US" altLang="ko-KR" sz="1200" b="1" dirty="0"/>
              <a:t>&amp;</a:t>
            </a:r>
            <a:r>
              <a:rPr lang="ko-KR" altLang="en-US" sz="1200" b="1" dirty="0"/>
              <a:t>장벽 케어 </a:t>
            </a:r>
            <a:endParaRPr lang="en-US" altLang="ko-KR" sz="1200" b="1" dirty="0"/>
          </a:p>
          <a:p>
            <a:r>
              <a:rPr lang="ko-KR" altLang="en-US" sz="1200" b="1" dirty="0"/>
              <a:t>성분입니다</a:t>
            </a:r>
            <a:r>
              <a:rPr lang="en-US" altLang="ko-KR" sz="1200" b="1" dirty="0"/>
              <a:t>.</a:t>
            </a:r>
            <a:endParaRPr lang="ko-KR" altLang="en-US" sz="1200" b="1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9A5E17D-90D7-4DFA-A083-4CAE406AF9AA}"/>
              </a:ext>
            </a:extLst>
          </p:cNvPr>
          <p:cNvSpPr txBox="1"/>
          <p:nvPr/>
        </p:nvSpPr>
        <p:spPr>
          <a:xfrm>
            <a:off x="8412643" y="2119085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판테놀</a:t>
            </a:r>
            <a:endParaRPr lang="ko-KR" alt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2" name="Picture 4" descr="특허 PNG, 일러스트, PSD 및 클립 아트에 대한 무료 다운로드 | Pngtree">
            <a:extLst>
              <a:ext uri="{FF2B5EF4-FFF2-40B4-BE49-F238E27FC236}">
                <a16:creationId xmlns:a16="http://schemas.microsoft.com/office/drawing/2014/main" id="{194D5700-4D28-461B-83EF-1799636D7B7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36" t="24395" r="18784" b="24376"/>
          <a:stretch/>
        </p:blipFill>
        <p:spPr bwMode="auto">
          <a:xfrm>
            <a:off x="2360779" y="1835876"/>
            <a:ext cx="932423" cy="461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03283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33575277-27C8-4E9C-A9D5-261C7A23650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095" b="13281"/>
          <a:stretch/>
        </p:blipFill>
        <p:spPr bwMode="auto">
          <a:xfrm rot="21042597">
            <a:off x="246350" y="445038"/>
            <a:ext cx="5937559" cy="5217805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EAE7A143-AE7F-4AB8-A6E4-A9294ACF287A}"/>
              </a:ext>
            </a:extLst>
          </p:cNvPr>
          <p:cNvCxnSpPr/>
          <p:nvPr/>
        </p:nvCxnSpPr>
        <p:spPr>
          <a:xfrm>
            <a:off x="0" y="406396"/>
            <a:ext cx="12192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15D34F4E-D8D4-47CC-81E9-BBE8FEF93A1F}"/>
              </a:ext>
            </a:extLst>
          </p:cNvPr>
          <p:cNvSpPr txBox="1"/>
          <p:nvPr/>
        </p:nvSpPr>
        <p:spPr>
          <a:xfrm>
            <a:off x="76200" y="33974"/>
            <a:ext cx="11138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PRODUCT</a:t>
            </a:r>
            <a:endParaRPr lang="ko-KR" altLang="en-US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4CB415-A568-4A7C-846B-2EED3B21C331}"/>
              </a:ext>
            </a:extLst>
          </p:cNvPr>
          <p:cNvSpPr txBox="1"/>
          <p:nvPr/>
        </p:nvSpPr>
        <p:spPr>
          <a:xfrm>
            <a:off x="3270387" y="1395199"/>
            <a:ext cx="78168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DR.CGF MELA EXOSOME SPICULE AMPOULE</a:t>
            </a:r>
            <a:endParaRPr lang="ko-KR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45F835-B486-4DA2-A782-11A347001CE5}"/>
              </a:ext>
            </a:extLst>
          </p:cNvPr>
          <p:cNvSpPr txBox="1"/>
          <p:nvPr/>
        </p:nvSpPr>
        <p:spPr>
          <a:xfrm>
            <a:off x="3270387" y="2037471"/>
            <a:ext cx="80563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chemeClr val="bg2">
                    <a:lumMod val="50000"/>
                  </a:schemeClr>
                </a:solidFill>
              </a:rPr>
              <a:t>Volume</a:t>
            </a:r>
            <a:r>
              <a:rPr lang="en-US" altLang="ko-KR" sz="1400" dirty="0"/>
              <a:t> 50ml   </a:t>
            </a:r>
            <a:r>
              <a:rPr lang="en-US" altLang="ko-KR" sz="1400" b="1" dirty="0">
                <a:solidFill>
                  <a:schemeClr val="bg2">
                    <a:lumMod val="50000"/>
                  </a:schemeClr>
                </a:solidFill>
              </a:rPr>
              <a:t>Texture</a:t>
            </a:r>
            <a:r>
              <a:rPr lang="en-US" altLang="ko-KR" sz="1400" b="1" dirty="0"/>
              <a:t> </a:t>
            </a:r>
            <a:r>
              <a:rPr lang="ko-KR" altLang="en-US" sz="1400" dirty="0"/>
              <a:t>촉촉한 </a:t>
            </a:r>
            <a:r>
              <a:rPr lang="ko-KR" altLang="en-US" sz="1400" dirty="0" err="1"/>
              <a:t>보습력과</a:t>
            </a:r>
            <a:r>
              <a:rPr lang="ko-KR" altLang="en-US" sz="1400" dirty="0"/>
              <a:t> 영양감을 주면서 산뜻하게 마무리되는 고농축 앰플 제형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5AFAEF-766F-4EBB-85F4-975BD32A2804}"/>
              </a:ext>
            </a:extLst>
          </p:cNvPr>
          <p:cNvSpPr txBox="1"/>
          <p:nvPr/>
        </p:nvSpPr>
        <p:spPr>
          <a:xfrm>
            <a:off x="3418443" y="2666904"/>
            <a:ext cx="7794121" cy="33686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/>
              <a:t>피부</a:t>
            </a:r>
            <a:r>
              <a:rPr lang="en-US" altLang="ko-KR" sz="1600" dirty="0"/>
              <a:t> </a:t>
            </a:r>
            <a:r>
              <a:rPr lang="ko-KR" altLang="en-US" sz="1600" dirty="0"/>
              <a:t>깊숙이 스며드는 미세 </a:t>
            </a:r>
            <a:r>
              <a:rPr lang="ko-KR" altLang="en-US" sz="1600" dirty="0" err="1"/>
              <a:t>스피큘과</a:t>
            </a:r>
            <a:r>
              <a:rPr lang="ko-KR" altLang="en-US" sz="1600" dirty="0"/>
              <a:t> 생체 활성 인자가</a:t>
            </a:r>
            <a:r>
              <a:rPr lang="en-US" altLang="ko-KR" sz="1600" dirty="0"/>
              <a:t> </a:t>
            </a:r>
            <a:r>
              <a:rPr lang="ko-KR" altLang="en-US" sz="1600" dirty="0"/>
              <a:t>풍부한 </a:t>
            </a:r>
            <a:r>
              <a:rPr lang="ko-KR" altLang="en-US" sz="1600" dirty="0" err="1"/>
              <a:t>엑소좀의</a:t>
            </a:r>
            <a:r>
              <a:rPr lang="ko-KR" altLang="en-US" sz="1600" dirty="0"/>
              <a:t> 시너지로</a:t>
            </a:r>
            <a:r>
              <a:rPr lang="en-US" altLang="ko-KR" sz="1600" dirty="0"/>
              <a:t>, </a:t>
            </a:r>
          </a:p>
          <a:p>
            <a:pPr>
              <a:lnSpc>
                <a:spcPct val="150000"/>
              </a:lnSpc>
            </a:pPr>
            <a:r>
              <a:rPr lang="ko-KR" altLang="en-US" sz="1600" b="1" dirty="0"/>
              <a:t>피부의 근본부터 환하게 밝혀주는</a:t>
            </a:r>
            <a:r>
              <a:rPr lang="en-US" altLang="ko-KR" sz="1600" b="1" dirty="0"/>
              <a:t> </a:t>
            </a:r>
            <a:r>
              <a:rPr lang="ko-KR" altLang="en-US" sz="1600" b="1" dirty="0"/>
              <a:t>고기능 </a:t>
            </a:r>
            <a:r>
              <a:rPr lang="ko-KR" altLang="en-US" sz="1600" b="1" dirty="0" err="1"/>
              <a:t>엑소좀</a:t>
            </a:r>
            <a:r>
              <a:rPr lang="ko-KR" altLang="en-US" sz="1600" b="1" dirty="0"/>
              <a:t> </a:t>
            </a:r>
            <a:r>
              <a:rPr lang="ko-KR" altLang="en-US" sz="1600" b="1" dirty="0" err="1"/>
              <a:t>스피큘</a:t>
            </a:r>
            <a:r>
              <a:rPr lang="ko-KR" altLang="en-US" sz="1600" b="1" dirty="0"/>
              <a:t> 앰플입니다</a:t>
            </a:r>
            <a:r>
              <a:rPr lang="en-US" altLang="ko-KR" sz="1600" b="1" dirty="0"/>
              <a:t>.</a:t>
            </a:r>
            <a:endParaRPr lang="en-US" altLang="ko-KR" sz="500" b="1" dirty="0"/>
          </a:p>
          <a:p>
            <a:pPr>
              <a:lnSpc>
                <a:spcPct val="150000"/>
              </a:lnSpc>
            </a:pPr>
            <a:endParaRPr lang="en-US" altLang="ko-KR" sz="1600" dirty="0"/>
          </a:p>
          <a:p>
            <a:pPr>
              <a:lnSpc>
                <a:spcPct val="150000"/>
              </a:lnSpc>
            </a:pPr>
            <a:r>
              <a:rPr lang="ko-KR" altLang="en-US" sz="1600" dirty="0" err="1"/>
              <a:t>닥터씨지에프</a:t>
            </a:r>
            <a:r>
              <a:rPr lang="ko-KR" altLang="en-US" sz="1600" dirty="0"/>
              <a:t> </a:t>
            </a:r>
            <a:r>
              <a:rPr lang="ko-KR" altLang="en-US" sz="1600" dirty="0" err="1"/>
              <a:t>멜라</a:t>
            </a:r>
            <a:r>
              <a:rPr lang="ko-KR" altLang="en-US" sz="1600" dirty="0"/>
              <a:t> </a:t>
            </a:r>
            <a:r>
              <a:rPr lang="ko-KR" altLang="en-US" sz="1600" dirty="0" err="1"/>
              <a:t>엑소좀</a:t>
            </a:r>
            <a:r>
              <a:rPr lang="ko-KR" altLang="en-US" sz="1600" dirty="0"/>
              <a:t> </a:t>
            </a:r>
            <a:r>
              <a:rPr lang="ko-KR" altLang="en-US" sz="1600" dirty="0" err="1"/>
              <a:t>스피큘</a:t>
            </a:r>
            <a:r>
              <a:rPr lang="ko-KR" altLang="en-US" sz="1600" dirty="0"/>
              <a:t> 앰플은 칙칙하고 </a:t>
            </a:r>
            <a:r>
              <a:rPr lang="ko-KR" altLang="en-US" sz="1600" dirty="0" err="1"/>
              <a:t>불균일한</a:t>
            </a:r>
            <a:r>
              <a:rPr lang="en-US" altLang="ko-KR" sz="1600" dirty="0"/>
              <a:t> </a:t>
            </a:r>
            <a:r>
              <a:rPr lang="ko-KR" altLang="en-US" sz="1600" dirty="0"/>
              <a:t>피부 톤을 개선하고</a:t>
            </a:r>
            <a:r>
              <a:rPr lang="en-US" altLang="ko-KR" sz="1600" dirty="0"/>
              <a:t>, </a:t>
            </a:r>
          </a:p>
          <a:p>
            <a:pPr>
              <a:lnSpc>
                <a:spcPct val="150000"/>
              </a:lnSpc>
            </a:pPr>
            <a:r>
              <a:rPr lang="ko-KR" altLang="en-US" sz="1600" dirty="0"/>
              <a:t>손상된 피부의 </a:t>
            </a:r>
            <a:r>
              <a:rPr lang="ko-KR" altLang="en-US" sz="1600" dirty="0" err="1"/>
              <a:t>재생력을</a:t>
            </a:r>
            <a:r>
              <a:rPr lang="ko-KR" altLang="en-US" sz="1600" dirty="0"/>
              <a:t> 끌어올려 탄탄하고</a:t>
            </a:r>
            <a:r>
              <a:rPr lang="en-US" altLang="ko-KR" sz="1600" dirty="0"/>
              <a:t> </a:t>
            </a:r>
            <a:r>
              <a:rPr lang="ko-KR" altLang="en-US" sz="1600" dirty="0"/>
              <a:t>맑은 피부 컨디션으로 가꿔줍니다</a:t>
            </a:r>
            <a:r>
              <a:rPr lang="en-US" altLang="ko-KR" sz="16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b="1" dirty="0" err="1"/>
              <a:t>엑소좀과</a:t>
            </a:r>
            <a:r>
              <a:rPr lang="ko-KR" altLang="en-US" sz="1600" b="1" dirty="0"/>
              <a:t> </a:t>
            </a:r>
            <a:r>
              <a:rPr lang="ko-KR" altLang="en-US" sz="1600" b="1" dirty="0" err="1"/>
              <a:t>스피큘이</a:t>
            </a:r>
            <a:r>
              <a:rPr lang="ko-KR" altLang="en-US" sz="1600" b="1" dirty="0"/>
              <a:t> 시너지를 이루어 피부 재생과 활력 공급을 담당하고</a:t>
            </a:r>
            <a:r>
              <a:rPr lang="en-US" altLang="ko-KR" sz="1600" b="1" dirty="0"/>
              <a:t>, </a:t>
            </a:r>
            <a:r>
              <a:rPr lang="ko-KR" altLang="en-US" sz="1600" b="1" dirty="0"/>
              <a:t>즉각적인 </a:t>
            </a:r>
            <a:endParaRPr lang="en-US" altLang="ko-KR" sz="1600" b="1" dirty="0"/>
          </a:p>
          <a:p>
            <a:pPr>
              <a:lnSpc>
                <a:spcPct val="150000"/>
              </a:lnSpc>
            </a:pPr>
            <a:r>
              <a:rPr lang="ko-KR" altLang="en-US" sz="1600" b="1" dirty="0"/>
              <a:t>광채와 투명한 피부 톤을 선사합니다</a:t>
            </a:r>
            <a:r>
              <a:rPr lang="en-US" altLang="ko-KR" sz="1600" b="1" dirty="0"/>
              <a:t>.</a:t>
            </a:r>
          </a:p>
          <a:p>
            <a:pPr>
              <a:lnSpc>
                <a:spcPct val="150000"/>
              </a:lnSpc>
            </a:pPr>
            <a:endParaRPr lang="en-US" altLang="ko-KR" sz="1600" dirty="0"/>
          </a:p>
          <a:p>
            <a:pPr>
              <a:lnSpc>
                <a:spcPct val="150000"/>
              </a:lnSpc>
            </a:pPr>
            <a:r>
              <a:rPr lang="ko-KR" altLang="en-US" sz="1600" dirty="0">
                <a:effectLst>
                  <a:reflection blurRad="6350" stA="55000" endA="300" endPos="45500" dir="5400000" sy="-100000" algn="bl" rotWithShape="0"/>
                </a:effectLst>
              </a:rPr>
              <a:t>활력과 빛을 머금은 한 방울로</a:t>
            </a:r>
            <a:r>
              <a:rPr lang="en-US" altLang="ko-KR" sz="1600" dirty="0">
                <a:effectLst>
                  <a:reflection blurRad="6350" stA="55000" endA="300" endPos="45500" dir="5400000" sy="-100000" algn="bl" rotWithShape="0"/>
                </a:effectLst>
              </a:rPr>
              <a:t>, </a:t>
            </a:r>
            <a:r>
              <a:rPr lang="ko-KR" altLang="en-US" sz="1600" dirty="0">
                <a:effectLst>
                  <a:reflection blurRad="6350" stA="55000" endA="300" endPos="45500" dir="5400000" sy="-100000" algn="bl" rotWithShape="0"/>
                </a:effectLst>
              </a:rPr>
              <a:t>어제보다 맑고 건강한 피부를 만나보세요</a:t>
            </a:r>
            <a:r>
              <a:rPr lang="en-US" altLang="ko-KR" sz="1600" dirty="0">
                <a:effectLst>
                  <a:reflection blurRad="6350" stA="55000" endA="300" endPos="45500" dir="5400000" sy="-100000" algn="bl" rotWithShape="0"/>
                </a:effectLst>
              </a:rPr>
              <a:t>.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FFA6A99-90DE-4621-BEF4-438DABF901FB}"/>
              </a:ext>
            </a:extLst>
          </p:cNvPr>
          <p:cNvSpPr txBox="1"/>
          <p:nvPr/>
        </p:nvSpPr>
        <p:spPr>
          <a:xfrm>
            <a:off x="3244263" y="1056645"/>
            <a:ext cx="50946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/>
              <a:t>빛나는 피부 본연의 잠재력을 깨우는 집중 케어 앰플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06EBDD5E-EC21-499D-8487-8468D44E29A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319" t="2922" r="8153" b="2924"/>
          <a:stretch/>
        </p:blipFill>
        <p:spPr>
          <a:xfrm>
            <a:off x="1184246" y="1733309"/>
            <a:ext cx="1218635" cy="4301065"/>
          </a:xfrm>
          <a:custGeom>
            <a:avLst/>
            <a:gdLst>
              <a:gd name="connsiteX0" fmla="*/ 158003 w 1218635"/>
              <a:gd name="connsiteY0" fmla="*/ 0 h 4301065"/>
              <a:gd name="connsiteX1" fmla="*/ 1042681 w 1218635"/>
              <a:gd name="connsiteY1" fmla="*/ 0 h 4301065"/>
              <a:gd name="connsiteX2" fmla="*/ 1055114 w 1218635"/>
              <a:gd name="connsiteY2" fmla="*/ 4467 h 4301065"/>
              <a:gd name="connsiteX3" fmla="*/ 1084963 w 1218635"/>
              <a:gd name="connsiteY3" fmla="*/ 31515 h 4301065"/>
              <a:gd name="connsiteX4" fmla="*/ 1100202 w 1218635"/>
              <a:gd name="connsiteY4" fmla="*/ 60301 h 4301065"/>
              <a:gd name="connsiteX5" fmla="*/ 1100202 w 1218635"/>
              <a:gd name="connsiteY5" fmla="*/ 597162 h 4301065"/>
              <a:gd name="connsiteX6" fmla="*/ 924521 w 1218635"/>
              <a:gd name="connsiteY6" fmla="*/ 597162 h 4301065"/>
              <a:gd name="connsiteX7" fmla="*/ 957536 w 1218635"/>
              <a:gd name="connsiteY7" fmla="*/ 871007 h 4301065"/>
              <a:gd name="connsiteX8" fmla="*/ 1011201 w 1218635"/>
              <a:gd name="connsiteY8" fmla="*/ 871007 h 4301065"/>
              <a:gd name="connsiteX9" fmla="*/ 1011201 w 1218635"/>
              <a:gd name="connsiteY9" fmla="*/ 915455 h 4301065"/>
              <a:gd name="connsiteX10" fmla="*/ 1100202 w 1218635"/>
              <a:gd name="connsiteY10" fmla="*/ 915455 h 4301065"/>
              <a:gd name="connsiteX11" fmla="*/ 1100202 w 1218635"/>
              <a:gd name="connsiteY11" fmla="*/ 915456 h 4301065"/>
              <a:gd name="connsiteX12" fmla="*/ 1120981 w 1218635"/>
              <a:gd name="connsiteY12" fmla="*/ 915456 h 4301065"/>
              <a:gd name="connsiteX13" fmla="*/ 1119874 w 1218635"/>
              <a:gd name="connsiteY13" fmla="*/ 926209 h 4301065"/>
              <a:gd name="connsiteX14" fmla="*/ 1214030 w 1218635"/>
              <a:gd name="connsiteY14" fmla="*/ 1048409 h 4301065"/>
              <a:gd name="connsiteX15" fmla="*/ 1218635 w 1218635"/>
              <a:gd name="connsiteY15" fmla="*/ 1048409 h 4301065"/>
              <a:gd name="connsiteX16" fmla="*/ 1218635 w 1218635"/>
              <a:gd name="connsiteY16" fmla="*/ 4258827 h 4301065"/>
              <a:gd name="connsiteX17" fmla="*/ 1176397 w 1218635"/>
              <a:gd name="connsiteY17" fmla="*/ 4301065 h 4301065"/>
              <a:gd name="connsiteX18" fmla="*/ 42238 w 1218635"/>
              <a:gd name="connsiteY18" fmla="*/ 4301065 h 4301065"/>
              <a:gd name="connsiteX19" fmla="*/ 16692 w 1218635"/>
              <a:gd name="connsiteY19" fmla="*/ 4290483 h 4301065"/>
              <a:gd name="connsiteX20" fmla="*/ 10585 w 1218635"/>
              <a:gd name="connsiteY20" fmla="*/ 4284380 h 4301065"/>
              <a:gd name="connsiteX21" fmla="*/ 2323 w 1218635"/>
              <a:gd name="connsiteY21" fmla="*/ 4264435 h 4301065"/>
              <a:gd name="connsiteX22" fmla="*/ 0 w 1218635"/>
              <a:gd name="connsiteY22" fmla="*/ 4256238 h 4301065"/>
              <a:gd name="connsiteX23" fmla="*/ 0 w 1218635"/>
              <a:gd name="connsiteY23" fmla="*/ 1048409 h 4301065"/>
              <a:gd name="connsiteX24" fmla="*/ 6201 w 1218635"/>
              <a:gd name="connsiteY24" fmla="*/ 1048409 h 4301065"/>
              <a:gd name="connsiteX25" fmla="*/ 100357 w 1218635"/>
              <a:gd name="connsiteY25" fmla="*/ 926209 h 4301065"/>
              <a:gd name="connsiteX26" fmla="*/ 99250 w 1218635"/>
              <a:gd name="connsiteY26" fmla="*/ 915456 h 4301065"/>
              <a:gd name="connsiteX27" fmla="*/ 123296 w 1218635"/>
              <a:gd name="connsiteY27" fmla="*/ 915456 h 4301065"/>
              <a:gd name="connsiteX28" fmla="*/ 123296 w 1218635"/>
              <a:gd name="connsiteY28" fmla="*/ 915455 h 4301065"/>
              <a:gd name="connsiteX29" fmla="*/ 207434 w 1218635"/>
              <a:gd name="connsiteY29" fmla="*/ 915455 h 4301065"/>
              <a:gd name="connsiteX30" fmla="*/ 207434 w 1218635"/>
              <a:gd name="connsiteY30" fmla="*/ 871007 h 4301065"/>
              <a:gd name="connsiteX31" fmla="*/ 261902 w 1218635"/>
              <a:gd name="connsiteY31" fmla="*/ 871007 h 4301065"/>
              <a:gd name="connsiteX32" fmla="*/ 294917 w 1218635"/>
              <a:gd name="connsiteY32" fmla="*/ 597162 h 4301065"/>
              <a:gd name="connsiteX33" fmla="*/ 123296 w 1218635"/>
              <a:gd name="connsiteY33" fmla="*/ 597162 h 4301065"/>
              <a:gd name="connsiteX34" fmla="*/ 123296 w 1218635"/>
              <a:gd name="connsiteY34" fmla="*/ 44291 h 4301065"/>
              <a:gd name="connsiteX35" fmla="*/ 136363 w 1218635"/>
              <a:gd name="connsiteY35" fmla="*/ 19610 h 4301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218635" h="4301065">
                <a:moveTo>
                  <a:pt x="158003" y="0"/>
                </a:moveTo>
                <a:lnTo>
                  <a:pt x="1042681" y="0"/>
                </a:lnTo>
                <a:lnTo>
                  <a:pt x="1055114" y="4467"/>
                </a:lnTo>
                <a:cubicBezTo>
                  <a:pt x="1066459" y="11396"/>
                  <a:pt x="1076550" y="20596"/>
                  <a:pt x="1084963" y="31515"/>
                </a:cubicBezTo>
                <a:lnTo>
                  <a:pt x="1100202" y="60301"/>
                </a:lnTo>
                <a:lnTo>
                  <a:pt x="1100202" y="597162"/>
                </a:lnTo>
                <a:lnTo>
                  <a:pt x="924521" y="597162"/>
                </a:lnTo>
                <a:lnTo>
                  <a:pt x="957536" y="871007"/>
                </a:lnTo>
                <a:lnTo>
                  <a:pt x="1011201" y="871007"/>
                </a:lnTo>
                <a:lnTo>
                  <a:pt x="1011201" y="915455"/>
                </a:lnTo>
                <a:lnTo>
                  <a:pt x="1100202" y="915455"/>
                </a:lnTo>
                <a:lnTo>
                  <a:pt x="1100202" y="915456"/>
                </a:lnTo>
                <a:lnTo>
                  <a:pt x="1120981" y="915456"/>
                </a:lnTo>
                <a:lnTo>
                  <a:pt x="1119874" y="926209"/>
                </a:lnTo>
                <a:cubicBezTo>
                  <a:pt x="1173580" y="933558"/>
                  <a:pt x="1214030" y="986056"/>
                  <a:pt x="1214030" y="1048409"/>
                </a:cubicBezTo>
                <a:lnTo>
                  <a:pt x="1218635" y="1048409"/>
                </a:lnTo>
                <a:lnTo>
                  <a:pt x="1218635" y="4258827"/>
                </a:lnTo>
                <a:cubicBezTo>
                  <a:pt x="1218635" y="4282154"/>
                  <a:pt x="1199724" y="4301065"/>
                  <a:pt x="1176397" y="4301065"/>
                </a:cubicBezTo>
                <a:lnTo>
                  <a:pt x="42238" y="4301065"/>
                </a:lnTo>
                <a:lnTo>
                  <a:pt x="16692" y="4290483"/>
                </a:lnTo>
                <a:lnTo>
                  <a:pt x="10585" y="4284380"/>
                </a:lnTo>
                <a:lnTo>
                  <a:pt x="2323" y="4264435"/>
                </a:lnTo>
                <a:lnTo>
                  <a:pt x="0" y="4256238"/>
                </a:lnTo>
                <a:lnTo>
                  <a:pt x="0" y="1048409"/>
                </a:lnTo>
                <a:lnTo>
                  <a:pt x="6201" y="1048409"/>
                </a:lnTo>
                <a:cubicBezTo>
                  <a:pt x="6201" y="986056"/>
                  <a:pt x="46651" y="933558"/>
                  <a:pt x="100357" y="926209"/>
                </a:cubicBezTo>
                <a:lnTo>
                  <a:pt x="99250" y="915456"/>
                </a:lnTo>
                <a:lnTo>
                  <a:pt x="123296" y="915456"/>
                </a:lnTo>
                <a:lnTo>
                  <a:pt x="123296" y="915455"/>
                </a:lnTo>
                <a:lnTo>
                  <a:pt x="207434" y="915455"/>
                </a:lnTo>
                <a:lnTo>
                  <a:pt x="207434" y="871007"/>
                </a:lnTo>
                <a:lnTo>
                  <a:pt x="261902" y="871007"/>
                </a:lnTo>
                <a:lnTo>
                  <a:pt x="294917" y="597162"/>
                </a:lnTo>
                <a:lnTo>
                  <a:pt x="123296" y="597162"/>
                </a:lnTo>
                <a:lnTo>
                  <a:pt x="123296" y="44291"/>
                </a:lnTo>
                <a:lnTo>
                  <a:pt x="136363" y="1961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1108198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05C63F9E-B971-4798-A1AC-F07D25A33BE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9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40" t="4060" r="4381" b="4060"/>
          <a:stretch/>
        </p:blipFill>
        <p:spPr bwMode="auto">
          <a:xfrm>
            <a:off x="915589" y="822417"/>
            <a:ext cx="3912383" cy="3912383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EAE7A143-AE7F-4AB8-A6E4-A9294ACF287A}"/>
              </a:ext>
            </a:extLst>
          </p:cNvPr>
          <p:cNvCxnSpPr/>
          <p:nvPr/>
        </p:nvCxnSpPr>
        <p:spPr>
          <a:xfrm>
            <a:off x="0" y="406396"/>
            <a:ext cx="12192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15D34F4E-D8D4-47CC-81E9-BBE8FEF93A1F}"/>
              </a:ext>
            </a:extLst>
          </p:cNvPr>
          <p:cNvSpPr txBox="1"/>
          <p:nvPr/>
        </p:nvSpPr>
        <p:spPr>
          <a:xfrm>
            <a:off x="76200" y="33974"/>
            <a:ext cx="11138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PRODUCT</a:t>
            </a:r>
            <a:endParaRPr lang="ko-KR" altLang="en-US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FE400E-0012-4840-9444-B1A9E848713D}"/>
              </a:ext>
            </a:extLst>
          </p:cNvPr>
          <p:cNvSpPr txBox="1"/>
          <p:nvPr/>
        </p:nvSpPr>
        <p:spPr>
          <a:xfrm>
            <a:off x="3244263" y="1056645"/>
            <a:ext cx="62408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/>
              <a:t>밤 사이 피부를 맑고 탄탄하게 채우는 집중 미백 케어 나이트 크림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4CB415-A568-4A7C-846B-2EED3B21C331}"/>
              </a:ext>
            </a:extLst>
          </p:cNvPr>
          <p:cNvSpPr txBox="1"/>
          <p:nvPr/>
        </p:nvSpPr>
        <p:spPr>
          <a:xfrm>
            <a:off x="3270387" y="1395199"/>
            <a:ext cx="86058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DR.CGF MELA EXOSOME SPICULE NIGHT CREAM</a:t>
            </a:r>
            <a:endParaRPr lang="ko-KR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45F835-B486-4DA2-A782-11A347001CE5}"/>
              </a:ext>
            </a:extLst>
          </p:cNvPr>
          <p:cNvSpPr txBox="1"/>
          <p:nvPr/>
        </p:nvSpPr>
        <p:spPr>
          <a:xfrm>
            <a:off x="3270387" y="2037471"/>
            <a:ext cx="85612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chemeClr val="bg2">
                    <a:lumMod val="50000"/>
                  </a:schemeClr>
                </a:solidFill>
              </a:rPr>
              <a:t>Volume</a:t>
            </a:r>
            <a:r>
              <a:rPr lang="en-US" altLang="ko-KR" sz="1400" dirty="0"/>
              <a:t> 50g   </a:t>
            </a:r>
            <a:r>
              <a:rPr lang="en-US" altLang="ko-KR" sz="1400" b="1" dirty="0">
                <a:solidFill>
                  <a:schemeClr val="bg2">
                    <a:lumMod val="50000"/>
                  </a:schemeClr>
                </a:solidFill>
              </a:rPr>
              <a:t>Texture</a:t>
            </a:r>
            <a:r>
              <a:rPr lang="en-US" altLang="ko-KR" sz="1400" b="1" dirty="0"/>
              <a:t> </a:t>
            </a:r>
            <a:r>
              <a:rPr lang="ko-KR" altLang="en-US" sz="1400" dirty="0"/>
              <a:t>리치하면서 부드럽게 </a:t>
            </a:r>
            <a:r>
              <a:rPr lang="ko-KR" altLang="en-US" sz="1400" dirty="0" err="1"/>
              <a:t>녹아들어</a:t>
            </a:r>
            <a:r>
              <a:rPr lang="ko-KR" altLang="en-US" sz="1400" dirty="0"/>
              <a:t> 풍부한 보습막을 형성하는 노란빛의 크림 제형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5AFAEF-766F-4EBB-85F4-975BD32A2804}"/>
              </a:ext>
            </a:extLst>
          </p:cNvPr>
          <p:cNvSpPr txBox="1"/>
          <p:nvPr/>
        </p:nvSpPr>
        <p:spPr>
          <a:xfrm>
            <a:off x="3418443" y="2666904"/>
            <a:ext cx="8026556" cy="33686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/>
              <a:t>하루 동안 건조와 자극으로 지친 피부를 부드럽게 감싸 </a:t>
            </a:r>
            <a:r>
              <a:rPr lang="ko-KR" altLang="en-US" sz="1600" b="1" dirty="0"/>
              <a:t>맑고 촉촉한 피부로 가꿔주는 </a:t>
            </a:r>
            <a:endParaRPr lang="en-US" altLang="ko-KR" sz="1600" b="1" dirty="0"/>
          </a:p>
          <a:p>
            <a:pPr>
              <a:lnSpc>
                <a:spcPct val="150000"/>
              </a:lnSpc>
            </a:pPr>
            <a:r>
              <a:rPr lang="ko-KR" altLang="en-US" sz="1600" b="1" dirty="0" err="1"/>
              <a:t>고보습</a:t>
            </a:r>
            <a:r>
              <a:rPr lang="ko-KR" altLang="en-US" sz="1600" b="1" dirty="0"/>
              <a:t> </a:t>
            </a:r>
            <a:r>
              <a:rPr lang="ko-KR" altLang="en-US" sz="1600" b="1" dirty="0" err="1"/>
              <a:t>엑소좀</a:t>
            </a:r>
            <a:r>
              <a:rPr lang="en-US" altLang="ko-KR" sz="1600" b="1" dirty="0"/>
              <a:t> </a:t>
            </a:r>
            <a:r>
              <a:rPr lang="ko-KR" altLang="en-US" sz="1600" b="1" dirty="0" err="1"/>
              <a:t>스피큘</a:t>
            </a:r>
            <a:r>
              <a:rPr lang="ko-KR" altLang="en-US" sz="1600" b="1" dirty="0"/>
              <a:t> 크림입니다</a:t>
            </a:r>
            <a:r>
              <a:rPr lang="en-US" altLang="ko-KR" sz="1600" b="1" dirty="0"/>
              <a:t>.</a:t>
            </a:r>
            <a:endParaRPr lang="en-US" altLang="ko-KR" sz="500" b="1" dirty="0"/>
          </a:p>
          <a:p>
            <a:pPr>
              <a:lnSpc>
                <a:spcPct val="150000"/>
              </a:lnSpc>
            </a:pPr>
            <a:endParaRPr lang="en-US" altLang="ko-KR" sz="1600" dirty="0"/>
          </a:p>
          <a:p>
            <a:pPr>
              <a:lnSpc>
                <a:spcPct val="150000"/>
              </a:lnSpc>
            </a:pPr>
            <a:r>
              <a:rPr lang="ko-KR" altLang="en-US" sz="1600" dirty="0" err="1"/>
              <a:t>닥터씨지에프</a:t>
            </a:r>
            <a:r>
              <a:rPr lang="ko-KR" altLang="en-US" sz="1600" dirty="0"/>
              <a:t> </a:t>
            </a:r>
            <a:r>
              <a:rPr lang="ko-KR" altLang="en-US" sz="1600" dirty="0" err="1"/>
              <a:t>멜라</a:t>
            </a:r>
            <a:r>
              <a:rPr lang="ko-KR" altLang="en-US" sz="1600" dirty="0"/>
              <a:t> </a:t>
            </a:r>
            <a:r>
              <a:rPr lang="ko-KR" altLang="en-US" sz="1600" dirty="0" err="1"/>
              <a:t>엑소좀</a:t>
            </a:r>
            <a:r>
              <a:rPr lang="ko-KR" altLang="en-US" sz="1600" dirty="0"/>
              <a:t> </a:t>
            </a:r>
            <a:r>
              <a:rPr lang="ko-KR" altLang="en-US" sz="1600" dirty="0" err="1"/>
              <a:t>스피큘</a:t>
            </a:r>
            <a:r>
              <a:rPr lang="ko-KR" altLang="en-US" sz="1600" dirty="0"/>
              <a:t> 나이트 크림은 </a:t>
            </a:r>
            <a:r>
              <a:rPr lang="ko-KR" altLang="en-US" sz="1600" dirty="0" err="1"/>
              <a:t>엑소좀과</a:t>
            </a:r>
            <a:r>
              <a:rPr lang="ko-KR" altLang="en-US" sz="1600" dirty="0"/>
              <a:t> </a:t>
            </a:r>
            <a:r>
              <a:rPr lang="ko-KR" altLang="en-US" sz="1600" dirty="0" err="1"/>
              <a:t>스피큘이</a:t>
            </a:r>
            <a:r>
              <a:rPr lang="ko-KR" altLang="en-US" sz="1600" dirty="0"/>
              <a:t> 만나 피부에 </a:t>
            </a:r>
            <a:endParaRPr lang="en-US" altLang="ko-KR" sz="1600" dirty="0"/>
          </a:p>
          <a:p>
            <a:pPr>
              <a:lnSpc>
                <a:spcPct val="150000"/>
              </a:lnSpc>
            </a:pPr>
            <a:r>
              <a:rPr lang="ko-KR" altLang="en-US" sz="1600" dirty="0"/>
              <a:t>생기를 불어넣어</a:t>
            </a:r>
            <a:r>
              <a:rPr lang="en-US" altLang="ko-KR" sz="1600" dirty="0"/>
              <a:t> </a:t>
            </a:r>
            <a:r>
              <a:rPr lang="ko-KR" altLang="en-US" sz="1600" dirty="0"/>
              <a:t>맑고 화사하게 빛나는 피부로 가꿔주며 풍부한 보습감이 수분을 </a:t>
            </a:r>
            <a:endParaRPr lang="en-US" altLang="ko-KR" sz="1600" dirty="0"/>
          </a:p>
          <a:p>
            <a:pPr>
              <a:lnSpc>
                <a:spcPct val="150000"/>
              </a:lnSpc>
            </a:pPr>
            <a:r>
              <a:rPr lang="ko-KR" altLang="en-US" sz="1600" dirty="0"/>
              <a:t>꽉 잡아줘서</a:t>
            </a:r>
            <a:r>
              <a:rPr lang="en-US" altLang="ko-KR" sz="1600" dirty="0"/>
              <a:t> </a:t>
            </a:r>
            <a:r>
              <a:rPr lang="en-US" altLang="ko-KR" sz="1600" b="1" dirty="0"/>
              <a:t>24</a:t>
            </a:r>
            <a:r>
              <a:rPr lang="ko-KR" altLang="en-US" sz="1600" b="1" dirty="0"/>
              <a:t>시간 내내 건조함 없이 촉촉한 피부는 물론 한층 더 밝고</a:t>
            </a:r>
            <a:r>
              <a:rPr lang="en-US" altLang="ko-KR" sz="1600" b="1" dirty="0"/>
              <a:t> </a:t>
            </a:r>
            <a:r>
              <a:rPr lang="ko-KR" altLang="en-US" sz="1600" b="1" dirty="0"/>
              <a:t>투명한 </a:t>
            </a:r>
            <a:endParaRPr lang="en-US" altLang="ko-KR" sz="1600" b="1" dirty="0"/>
          </a:p>
          <a:p>
            <a:pPr>
              <a:lnSpc>
                <a:spcPct val="150000"/>
              </a:lnSpc>
            </a:pPr>
            <a:r>
              <a:rPr lang="ko-KR" altLang="en-US" sz="1600" b="1" dirty="0"/>
              <a:t>피부를 느낄 수 있습니다</a:t>
            </a:r>
            <a:r>
              <a:rPr lang="en-US" altLang="ko-KR" sz="1600" b="1" dirty="0"/>
              <a:t>.</a:t>
            </a:r>
          </a:p>
          <a:p>
            <a:pPr>
              <a:lnSpc>
                <a:spcPct val="150000"/>
              </a:lnSpc>
            </a:pPr>
            <a:endParaRPr lang="en-US" altLang="ko-KR" sz="1600" dirty="0"/>
          </a:p>
          <a:p>
            <a:pPr>
              <a:lnSpc>
                <a:spcPct val="150000"/>
              </a:lnSpc>
            </a:pPr>
            <a:r>
              <a:rPr lang="ko-KR" altLang="en-US" sz="1600" dirty="0">
                <a:effectLst>
                  <a:reflection blurRad="6350" stA="55000" endA="300" endPos="45500" dir="5400000" sy="-100000" algn="bl" rotWithShape="0"/>
                </a:effectLst>
              </a:rPr>
              <a:t>피부도 함께 숙면하여 매일 아침 상쾌한 피부를 경험해 보세요</a:t>
            </a:r>
            <a:r>
              <a:rPr lang="en-US" altLang="ko-KR" sz="1600" dirty="0">
                <a:effectLst>
                  <a:reflection blurRad="6350" stA="55000" endA="300" endPos="45500" dir="5400000" sy="-100000" algn="bl" rotWithShape="0"/>
                </a:effectLst>
              </a:rPr>
              <a:t>.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AACE7475-8CA7-4030-9FEC-C90754275CC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356" t="6024" r="3504" b="2263"/>
          <a:stretch/>
        </p:blipFill>
        <p:spPr>
          <a:xfrm>
            <a:off x="738896" y="3239366"/>
            <a:ext cx="2120880" cy="2529416"/>
          </a:xfrm>
          <a:prstGeom prst="roundRect">
            <a:avLst>
              <a:gd name="adj" fmla="val 1769"/>
            </a:avLst>
          </a:prstGeom>
        </p:spPr>
      </p:pic>
    </p:spTree>
    <p:extLst>
      <p:ext uri="{BB962C8B-B14F-4D97-AF65-F5344CB8AC3E}">
        <p14:creationId xmlns:p14="http://schemas.microsoft.com/office/powerpoint/2010/main" val="38407553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EAE7A143-AE7F-4AB8-A6E4-A9294ACF287A}"/>
              </a:ext>
            </a:extLst>
          </p:cNvPr>
          <p:cNvCxnSpPr/>
          <p:nvPr/>
        </p:nvCxnSpPr>
        <p:spPr>
          <a:xfrm>
            <a:off x="0" y="406396"/>
            <a:ext cx="12192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15D34F4E-D8D4-47CC-81E9-BBE8FEF93A1F}"/>
              </a:ext>
            </a:extLst>
          </p:cNvPr>
          <p:cNvSpPr txBox="1"/>
          <p:nvPr/>
        </p:nvSpPr>
        <p:spPr>
          <a:xfrm>
            <a:off x="76200" y="33974"/>
            <a:ext cx="11138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PRODUCT</a:t>
            </a:r>
            <a:endParaRPr lang="ko-KR" altLang="en-US" sz="1600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AB0D6D0-5C9D-4C46-B6FA-8F12D7A1F1B6}"/>
              </a:ext>
            </a:extLst>
          </p:cNvPr>
          <p:cNvSpPr/>
          <p:nvPr/>
        </p:nvSpPr>
        <p:spPr>
          <a:xfrm>
            <a:off x="2708833" y="3831389"/>
            <a:ext cx="2304185" cy="124460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54B6EBC-8C7E-4F1A-BC83-7246354627BF}"/>
              </a:ext>
            </a:extLst>
          </p:cNvPr>
          <p:cNvSpPr/>
          <p:nvPr/>
        </p:nvSpPr>
        <p:spPr>
          <a:xfrm>
            <a:off x="2708832" y="5230295"/>
            <a:ext cx="2304185" cy="124460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F7FCB7EB-D308-4F04-A910-27112662B65A}"/>
              </a:ext>
            </a:extLst>
          </p:cNvPr>
          <p:cNvSpPr/>
          <p:nvPr/>
        </p:nvSpPr>
        <p:spPr>
          <a:xfrm>
            <a:off x="309121" y="1067556"/>
            <a:ext cx="4693433" cy="262890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90987C7-62D9-488A-8DC1-3902A97E30B2}"/>
              </a:ext>
            </a:extLst>
          </p:cNvPr>
          <p:cNvSpPr txBox="1"/>
          <p:nvPr/>
        </p:nvSpPr>
        <p:spPr>
          <a:xfrm>
            <a:off x="2685146" y="1458863"/>
            <a:ext cx="223398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/>
              <a:t>SPICULE + </a:t>
            </a:r>
          </a:p>
          <a:p>
            <a:r>
              <a:rPr lang="en-US" altLang="ko-KR" sz="1600" b="1" dirty="0"/>
              <a:t>TRANEXAMIX ACID</a:t>
            </a:r>
            <a:endParaRPr lang="ko-KR" altLang="en-US" sz="1600" b="1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940EB13-913E-4556-AF3B-FCA82B82028D}"/>
              </a:ext>
            </a:extLst>
          </p:cNvPr>
          <p:cNvSpPr txBox="1"/>
          <p:nvPr/>
        </p:nvSpPr>
        <p:spPr>
          <a:xfrm>
            <a:off x="2677304" y="3121371"/>
            <a:ext cx="14510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altLang="ko-KR" sz="1000" i="1" dirty="0">
                <a:solidFill>
                  <a:srgbClr val="C00000"/>
                </a:solidFill>
              </a:rPr>
              <a:t>AMPOULE, CREAM</a:t>
            </a:r>
            <a:endParaRPr lang="ko-KR" altLang="en-US" sz="1000" i="1" dirty="0">
              <a:solidFill>
                <a:srgbClr val="C00000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0D660DD-42E1-4A95-88AC-F23019067107}"/>
              </a:ext>
            </a:extLst>
          </p:cNvPr>
          <p:cNvSpPr txBox="1"/>
          <p:nvPr/>
        </p:nvSpPr>
        <p:spPr>
          <a:xfrm>
            <a:off x="2717857" y="2126801"/>
            <a:ext cx="1316386" cy="8876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/>
              <a:t>#</a:t>
            </a:r>
            <a:r>
              <a:rPr lang="ko-KR" altLang="en-US" sz="1200" dirty="0"/>
              <a:t>유효</a:t>
            </a:r>
            <a:r>
              <a:rPr lang="en-US" altLang="ko-KR" sz="1200" dirty="0"/>
              <a:t> </a:t>
            </a:r>
            <a:r>
              <a:rPr lang="ko-KR" altLang="en-US" sz="1200" dirty="0"/>
              <a:t>성분 전달</a:t>
            </a:r>
            <a:endParaRPr lang="en-US" altLang="ko-KR" sz="1200" dirty="0"/>
          </a:p>
          <a:p>
            <a:pPr>
              <a:lnSpc>
                <a:spcPct val="150000"/>
              </a:lnSpc>
            </a:pPr>
            <a:r>
              <a:rPr lang="en-US" altLang="ko-KR" sz="1200" dirty="0"/>
              <a:t>#</a:t>
            </a:r>
            <a:r>
              <a:rPr lang="ko-KR" altLang="en-US" sz="1200" dirty="0"/>
              <a:t>기미</a:t>
            </a:r>
            <a:r>
              <a:rPr lang="en-US" altLang="ko-KR" sz="1200" dirty="0"/>
              <a:t>/</a:t>
            </a:r>
            <a:r>
              <a:rPr lang="ko-KR" altLang="en-US" sz="1200" dirty="0"/>
              <a:t>잡티 개선</a:t>
            </a:r>
            <a:endParaRPr lang="en-US" altLang="ko-KR" sz="1200" dirty="0"/>
          </a:p>
          <a:p>
            <a:pPr>
              <a:lnSpc>
                <a:spcPct val="150000"/>
              </a:lnSpc>
            </a:pPr>
            <a:r>
              <a:rPr lang="en-US" altLang="ko-KR" sz="1200" dirty="0"/>
              <a:t>#</a:t>
            </a:r>
            <a:r>
              <a:rPr lang="ko-KR" altLang="en-US" sz="1200" dirty="0"/>
              <a:t>미백 효과</a:t>
            </a:r>
          </a:p>
        </p:txBody>
      </p:sp>
      <p:pic>
        <p:nvPicPr>
          <p:cNvPr id="41" name="Picture 8" descr="HENGYISEN 헝이센 칼라민 습진 로션 베이비 스페셜 가려움증 완화 항균 로션 80ml/병 - Yami">
            <a:extLst>
              <a:ext uri="{FF2B5EF4-FFF2-40B4-BE49-F238E27FC236}">
                <a16:creationId xmlns:a16="http://schemas.microsoft.com/office/drawing/2014/main" id="{1487FAF3-25FB-4372-8CB4-62EC04B0F1D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9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03" t="5819" r="20414" b="43934"/>
          <a:stretch/>
        </p:blipFill>
        <p:spPr bwMode="auto">
          <a:xfrm>
            <a:off x="808683" y="1474837"/>
            <a:ext cx="1744130" cy="174413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타원 35">
            <a:extLst>
              <a:ext uri="{FF2B5EF4-FFF2-40B4-BE49-F238E27FC236}">
                <a16:creationId xmlns:a16="http://schemas.microsoft.com/office/drawing/2014/main" id="{8BE56AC7-8B07-4634-A4AC-53E5FFFA5E9B}"/>
              </a:ext>
            </a:extLst>
          </p:cNvPr>
          <p:cNvSpPr/>
          <p:nvPr/>
        </p:nvSpPr>
        <p:spPr>
          <a:xfrm rot="20090770">
            <a:off x="1068795" y="1255382"/>
            <a:ext cx="148635" cy="2275316"/>
          </a:xfrm>
          <a:prstGeom prst="ellipse">
            <a:avLst/>
          </a:prstGeom>
          <a:pattFill prst="pct10">
            <a:fgClr>
              <a:schemeClr val="tx1">
                <a:lumMod val="50000"/>
                <a:lumOff val="50000"/>
              </a:schemeClr>
            </a:fgClr>
            <a:bgClr>
              <a:schemeClr val="bg1"/>
            </a:bgClr>
          </a:pattFill>
          <a:ln>
            <a:solidFill>
              <a:schemeClr val="bg1">
                <a:lumMod val="95000"/>
              </a:schemeClr>
            </a:solidFill>
          </a:ln>
          <a:scene3d>
            <a:camera prst="orthographicFront"/>
            <a:lightRig rig="balanced" dir="t"/>
          </a:scene3d>
          <a:sp3d extrusionH="63500" contourW="12700">
            <a:bevelT w="82550"/>
            <a:contourClr>
              <a:schemeClr val="bg1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A9AA2768-8C4F-48BF-84F1-A60851492C37}"/>
              </a:ext>
            </a:extLst>
          </p:cNvPr>
          <p:cNvGrpSpPr/>
          <p:nvPr/>
        </p:nvGrpSpPr>
        <p:grpSpPr>
          <a:xfrm>
            <a:off x="2782764" y="3985691"/>
            <a:ext cx="1080000" cy="936000"/>
            <a:chOff x="4535507" y="2614768"/>
            <a:chExt cx="2189308" cy="1980000"/>
          </a:xfrm>
        </p:grpSpPr>
        <p:pic>
          <p:nvPicPr>
            <p:cNvPr id="51" name="그림 50">
              <a:extLst>
                <a:ext uri="{FF2B5EF4-FFF2-40B4-BE49-F238E27FC236}">
                  <a16:creationId xmlns:a16="http://schemas.microsoft.com/office/drawing/2014/main" id="{137946A3-9983-4A2C-8D1F-02A6ABDBE0E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0" b="99483" l="0" r="100000">
                          <a14:foregroundMark x1="2491" y1="37554" x2="2491" y2="37554"/>
                          <a14:foregroundMark x1="2711" y1="57967" x2="2711" y2="57967"/>
                        </a14:backgroundRemoval>
                      </a14:imgEffect>
                      <a14:imgEffect>
                        <a14:brightnessContrast bright="-20000" contrast="-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flipH="1">
              <a:off x="4535507" y="2614768"/>
              <a:ext cx="2189308" cy="1980000"/>
            </a:xfrm>
            <a:prstGeom prst="rect">
              <a:avLst/>
            </a:prstGeom>
          </p:spPr>
        </p:pic>
        <p:pic>
          <p:nvPicPr>
            <p:cNvPr id="52" name="Picture 4" descr="토마토종자 – 미래농업을 선도하는 동오시드">
              <a:extLst>
                <a:ext uri="{FF2B5EF4-FFF2-40B4-BE49-F238E27FC236}">
                  <a16:creationId xmlns:a16="http://schemas.microsoft.com/office/drawing/2014/main" id="{B09749BD-B931-47C7-ACAA-C471BA41F3D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4183" b="98099" l="1667" r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06990" y="3065667"/>
              <a:ext cx="1108745" cy="972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B8851D20-A7AB-47AA-B358-F17B38018496}"/>
              </a:ext>
            </a:extLst>
          </p:cNvPr>
          <p:cNvGrpSpPr/>
          <p:nvPr/>
        </p:nvGrpSpPr>
        <p:grpSpPr>
          <a:xfrm>
            <a:off x="2782764" y="5384597"/>
            <a:ext cx="1080000" cy="936000"/>
            <a:chOff x="595354" y="2623235"/>
            <a:chExt cx="2189307" cy="1980000"/>
          </a:xfrm>
        </p:grpSpPr>
        <p:pic>
          <p:nvPicPr>
            <p:cNvPr id="57" name="그림 56">
              <a:extLst>
                <a:ext uri="{FF2B5EF4-FFF2-40B4-BE49-F238E27FC236}">
                  <a16:creationId xmlns:a16="http://schemas.microsoft.com/office/drawing/2014/main" id="{EA20D424-D6D3-4BD1-9656-07245A0462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prstClr val="black"/>
                <a:schemeClr val="accent4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0" b="99483" l="0" r="100000">
                          <a14:foregroundMark x1="2491" y1="37554" x2="2491" y2="37554"/>
                          <a14:foregroundMark x1="2711" y1="57967" x2="2711" y2="57967"/>
                        </a14:backgroundRemoval>
                      </a14:imgEffect>
                      <a14:imgEffect>
                        <a14:brightnessContrast bright="-20000" contrast="-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flipH="1">
              <a:off x="595354" y="2623235"/>
              <a:ext cx="2189307" cy="1980000"/>
            </a:xfrm>
            <a:prstGeom prst="rect">
              <a:avLst/>
            </a:prstGeom>
          </p:spPr>
        </p:pic>
        <p:pic>
          <p:nvPicPr>
            <p:cNvPr id="58" name="Picture 10" descr="국산 햇 백작약 대 작약뿌리 300g">
              <a:extLst>
                <a:ext uri="{FF2B5EF4-FFF2-40B4-BE49-F238E27FC236}">
                  <a16:creationId xmlns:a16="http://schemas.microsoft.com/office/drawing/2014/main" id="{AC5E8B77-A471-49CC-99CA-7D533F8D58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3000" b="97200" l="1100" r="99900"/>
                      </a14:imgEffect>
                      <a14:imgEffect>
                        <a14:brightnessContrast contrast="-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4055" y="2953731"/>
              <a:ext cx="1151996" cy="1152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24BD2BFD-0E4D-4C10-891B-C2096FDE622F}"/>
              </a:ext>
            </a:extLst>
          </p:cNvPr>
          <p:cNvSpPr txBox="1"/>
          <p:nvPr/>
        </p:nvSpPr>
        <p:spPr>
          <a:xfrm>
            <a:off x="3896377" y="3951338"/>
            <a:ext cx="1080000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b="1" dirty="0" err="1"/>
              <a:t>토마토엑소좀</a:t>
            </a:r>
            <a:endParaRPr lang="en-US" altLang="ko-KR" sz="1100" b="1" dirty="0"/>
          </a:p>
          <a:p>
            <a:endParaRPr lang="en-US" altLang="ko-KR" sz="200" b="1" dirty="0"/>
          </a:p>
          <a:p>
            <a:r>
              <a:rPr lang="en-US" altLang="ko-KR" sz="1100" dirty="0"/>
              <a:t>#</a:t>
            </a:r>
            <a:r>
              <a:rPr lang="ko-KR" altLang="en-US" sz="1100" dirty="0"/>
              <a:t>미백</a:t>
            </a:r>
            <a:endParaRPr lang="en-US" altLang="ko-KR" sz="1100" dirty="0"/>
          </a:p>
          <a:p>
            <a:r>
              <a:rPr lang="en-US" altLang="ko-KR" sz="1100" dirty="0"/>
              <a:t>#</a:t>
            </a:r>
            <a:r>
              <a:rPr lang="ko-KR" altLang="en-US" sz="1050" dirty="0"/>
              <a:t>색소침착억제</a:t>
            </a:r>
            <a:endParaRPr lang="en-US" altLang="ko-KR" sz="1050" dirty="0"/>
          </a:p>
          <a:p>
            <a:r>
              <a:rPr lang="en-US" altLang="ko-KR" sz="1100" dirty="0"/>
              <a:t>#</a:t>
            </a:r>
            <a:r>
              <a:rPr lang="ko-KR" altLang="en-US" sz="1100" dirty="0"/>
              <a:t>보습</a:t>
            </a:r>
            <a:endParaRPr lang="en-US" altLang="ko-KR" sz="1100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459E207-253A-4C29-806E-A248698F5537}"/>
              </a:ext>
            </a:extLst>
          </p:cNvPr>
          <p:cNvSpPr txBox="1"/>
          <p:nvPr/>
        </p:nvSpPr>
        <p:spPr>
          <a:xfrm>
            <a:off x="3911294" y="4750012"/>
            <a:ext cx="78579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altLang="ko-KR" sz="1000" i="1" dirty="0">
                <a:solidFill>
                  <a:srgbClr val="C00000"/>
                </a:solidFill>
              </a:rPr>
              <a:t>CREAM</a:t>
            </a:r>
            <a:endParaRPr lang="ko-KR" altLang="en-US" sz="1000" i="1" dirty="0">
              <a:solidFill>
                <a:srgbClr val="C00000"/>
              </a:solidFill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40B9863-AC4E-48A5-BC06-03132D7C3D95}"/>
              </a:ext>
            </a:extLst>
          </p:cNvPr>
          <p:cNvSpPr txBox="1"/>
          <p:nvPr/>
        </p:nvSpPr>
        <p:spPr>
          <a:xfrm>
            <a:off x="3896376" y="5338096"/>
            <a:ext cx="1149251" cy="792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b="1" dirty="0" err="1"/>
              <a:t>작약뿌리엑소좀</a:t>
            </a:r>
            <a:endParaRPr lang="en-US" altLang="ko-KR" sz="1050" b="1" dirty="0"/>
          </a:p>
          <a:p>
            <a:endParaRPr lang="en-US" altLang="ko-KR" sz="200" b="1" dirty="0"/>
          </a:p>
          <a:p>
            <a:r>
              <a:rPr lang="en-US" altLang="ko-KR" sz="1100" dirty="0"/>
              <a:t>#</a:t>
            </a:r>
            <a:r>
              <a:rPr lang="ko-KR" altLang="en-US" sz="1100" dirty="0"/>
              <a:t>항산화</a:t>
            </a:r>
            <a:endParaRPr lang="en-US" altLang="ko-KR" sz="1100" dirty="0"/>
          </a:p>
          <a:p>
            <a:r>
              <a:rPr lang="en-US" altLang="ko-KR" sz="1100" dirty="0"/>
              <a:t>#</a:t>
            </a:r>
            <a:r>
              <a:rPr lang="ko-KR" altLang="en-US" sz="1100" dirty="0"/>
              <a:t>피부보호</a:t>
            </a:r>
            <a:endParaRPr lang="en-US" altLang="ko-KR" sz="1100" dirty="0"/>
          </a:p>
          <a:p>
            <a:r>
              <a:rPr lang="en-US" altLang="ko-KR" sz="1100" dirty="0"/>
              <a:t>#</a:t>
            </a:r>
            <a:r>
              <a:rPr lang="ko-KR" altLang="en-US" sz="1100" dirty="0"/>
              <a:t>진정</a:t>
            </a:r>
            <a:endParaRPr lang="en-US" altLang="ko-KR" sz="11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E086D3D-CEB8-46B6-90E1-50EEDFA656A9}"/>
              </a:ext>
            </a:extLst>
          </p:cNvPr>
          <p:cNvSpPr txBox="1"/>
          <p:nvPr/>
        </p:nvSpPr>
        <p:spPr>
          <a:xfrm>
            <a:off x="3911294" y="6136770"/>
            <a:ext cx="78579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altLang="ko-KR" sz="1000" i="1" dirty="0">
                <a:solidFill>
                  <a:srgbClr val="C00000"/>
                </a:solidFill>
              </a:rPr>
              <a:t>CREAM</a:t>
            </a:r>
            <a:endParaRPr lang="ko-KR" altLang="en-US" sz="1000" i="1" dirty="0">
              <a:solidFill>
                <a:srgbClr val="C00000"/>
              </a:solidFill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E5367DB5-64D8-4F4D-BCEB-DAABE60B0661}"/>
              </a:ext>
            </a:extLst>
          </p:cNvPr>
          <p:cNvSpPr/>
          <p:nvPr/>
        </p:nvSpPr>
        <p:spPr>
          <a:xfrm>
            <a:off x="5160015" y="1066803"/>
            <a:ext cx="1224000" cy="172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616130EF-FAEC-4C54-8A8A-7631D9939544}"/>
              </a:ext>
            </a:extLst>
          </p:cNvPr>
          <p:cNvSpPr/>
          <p:nvPr/>
        </p:nvSpPr>
        <p:spPr>
          <a:xfrm>
            <a:off x="5156006" y="2909974"/>
            <a:ext cx="1224000" cy="172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F5F6BC8E-0E54-40F7-9ADE-422F2911FBF9}"/>
              </a:ext>
            </a:extLst>
          </p:cNvPr>
          <p:cNvSpPr/>
          <p:nvPr/>
        </p:nvSpPr>
        <p:spPr>
          <a:xfrm>
            <a:off x="6531772" y="1066803"/>
            <a:ext cx="1224000" cy="172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6A54F5A1-A9BC-44E8-A410-D8F68A4E4D15}"/>
              </a:ext>
            </a:extLst>
          </p:cNvPr>
          <p:cNvSpPr/>
          <p:nvPr/>
        </p:nvSpPr>
        <p:spPr>
          <a:xfrm>
            <a:off x="6527763" y="2909974"/>
            <a:ext cx="1224000" cy="172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A7488E1F-A91F-4F2D-A521-E82BA16CBDB5}"/>
              </a:ext>
            </a:extLst>
          </p:cNvPr>
          <p:cNvSpPr/>
          <p:nvPr/>
        </p:nvSpPr>
        <p:spPr>
          <a:xfrm>
            <a:off x="7905972" y="1062666"/>
            <a:ext cx="1224000" cy="172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21D18378-1046-43BE-8D63-793F534AC903}"/>
              </a:ext>
            </a:extLst>
          </p:cNvPr>
          <p:cNvSpPr/>
          <p:nvPr/>
        </p:nvSpPr>
        <p:spPr>
          <a:xfrm>
            <a:off x="7901963" y="2905837"/>
            <a:ext cx="1224000" cy="172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941E4C8C-552F-431B-9821-9ECD8278A611}"/>
              </a:ext>
            </a:extLst>
          </p:cNvPr>
          <p:cNvSpPr/>
          <p:nvPr/>
        </p:nvSpPr>
        <p:spPr>
          <a:xfrm>
            <a:off x="9276163" y="1059383"/>
            <a:ext cx="1224000" cy="172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3338C700-0CD6-4D7E-B80E-61579D56BF6F}"/>
              </a:ext>
            </a:extLst>
          </p:cNvPr>
          <p:cNvSpPr/>
          <p:nvPr/>
        </p:nvSpPr>
        <p:spPr>
          <a:xfrm>
            <a:off x="9272154" y="2902554"/>
            <a:ext cx="1224000" cy="172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63E0CD86-947C-4FE6-8F0A-605890815F15}"/>
              </a:ext>
            </a:extLst>
          </p:cNvPr>
          <p:cNvSpPr/>
          <p:nvPr/>
        </p:nvSpPr>
        <p:spPr>
          <a:xfrm>
            <a:off x="10646354" y="1059383"/>
            <a:ext cx="1224000" cy="172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6" name="Picture 2" descr="BioSpectrum, Inc. - Alpha-Melight (ECO) KFDA Grade">
            <a:extLst>
              <a:ext uri="{FF2B5EF4-FFF2-40B4-BE49-F238E27FC236}">
                <a16:creationId xmlns:a16="http://schemas.microsoft.com/office/drawing/2014/main" id="{9D487B0D-EE89-4A1E-B383-3EC80C2C3D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56" t="30586" r="16311" b="29592"/>
          <a:stretch/>
        </p:blipFill>
        <p:spPr bwMode="auto">
          <a:xfrm>
            <a:off x="5162457" y="1064489"/>
            <a:ext cx="1224000" cy="922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7" name="TextBox 96">
            <a:extLst>
              <a:ext uri="{FF2B5EF4-FFF2-40B4-BE49-F238E27FC236}">
                <a16:creationId xmlns:a16="http://schemas.microsoft.com/office/drawing/2014/main" id="{7D74E4E9-85FF-4BC8-98A1-B2E63F0EA052}"/>
              </a:ext>
            </a:extLst>
          </p:cNvPr>
          <p:cNvSpPr txBox="1"/>
          <p:nvPr/>
        </p:nvSpPr>
        <p:spPr>
          <a:xfrm>
            <a:off x="5171884" y="2084988"/>
            <a:ext cx="1174701" cy="4231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/>
              <a:t>Alpha-</a:t>
            </a:r>
            <a:r>
              <a:rPr lang="en-US" altLang="ko-KR" sz="1050" b="1" dirty="0" err="1"/>
              <a:t>Melight</a:t>
            </a:r>
            <a:endParaRPr lang="en-US" altLang="ko-KR" sz="1050" b="1" dirty="0"/>
          </a:p>
          <a:p>
            <a:endParaRPr lang="en-US" altLang="ko-KR" sz="100" b="1" dirty="0"/>
          </a:p>
          <a:p>
            <a:r>
              <a:rPr lang="en-US" altLang="ko-KR" sz="1000" dirty="0"/>
              <a:t>#</a:t>
            </a:r>
            <a:r>
              <a:rPr lang="ko-KR" altLang="en-US" sz="1000" dirty="0"/>
              <a:t>미백</a:t>
            </a:r>
            <a:r>
              <a:rPr lang="en-US" altLang="ko-KR" sz="1000" dirty="0"/>
              <a:t> #</a:t>
            </a:r>
            <a:r>
              <a:rPr lang="ko-KR" altLang="en-US" sz="1000" dirty="0" err="1"/>
              <a:t>항염</a:t>
            </a:r>
            <a:endParaRPr lang="en-US" altLang="ko-KR" sz="1000" dirty="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E6351D0F-F769-4F0B-8BE1-8473916F2907}"/>
              </a:ext>
            </a:extLst>
          </p:cNvPr>
          <p:cNvSpPr txBox="1"/>
          <p:nvPr/>
        </p:nvSpPr>
        <p:spPr>
          <a:xfrm>
            <a:off x="5176192" y="2481690"/>
            <a:ext cx="60625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i="1" dirty="0">
                <a:solidFill>
                  <a:srgbClr val="C00000"/>
                </a:solidFill>
              </a:rPr>
              <a:t>- CREAM</a:t>
            </a:r>
            <a:endParaRPr lang="ko-KR" altLang="en-US" sz="800" i="1" dirty="0">
              <a:solidFill>
                <a:srgbClr val="C00000"/>
              </a:solidFill>
            </a:endParaRPr>
          </a:p>
        </p:txBody>
      </p:sp>
      <p:pic>
        <p:nvPicPr>
          <p:cNvPr id="99" name="Picture 6" descr="알파 알부틴 VS 베타 알부틴 | 레인보우 바이오텍">
            <a:extLst>
              <a:ext uri="{FF2B5EF4-FFF2-40B4-BE49-F238E27FC236}">
                <a16:creationId xmlns:a16="http://schemas.microsoft.com/office/drawing/2014/main" id="{58386953-A077-4285-BA62-697A7FF1FB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2" t="8436" r="2588" b="17277"/>
          <a:stretch/>
        </p:blipFill>
        <p:spPr bwMode="auto">
          <a:xfrm>
            <a:off x="6534213" y="1066802"/>
            <a:ext cx="1223999" cy="920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" name="TextBox 99">
            <a:extLst>
              <a:ext uri="{FF2B5EF4-FFF2-40B4-BE49-F238E27FC236}">
                <a16:creationId xmlns:a16="http://schemas.microsoft.com/office/drawing/2014/main" id="{9DB1C779-F60D-4953-86F8-A31BC34B1632}"/>
              </a:ext>
            </a:extLst>
          </p:cNvPr>
          <p:cNvSpPr txBox="1"/>
          <p:nvPr/>
        </p:nvSpPr>
        <p:spPr>
          <a:xfrm>
            <a:off x="6548161" y="2084988"/>
            <a:ext cx="1174701" cy="4231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b="1" dirty="0" err="1"/>
              <a:t>알부틴</a:t>
            </a:r>
            <a:endParaRPr lang="en-US" altLang="ko-KR" sz="1050" b="1" dirty="0"/>
          </a:p>
          <a:p>
            <a:endParaRPr lang="en-US" altLang="ko-KR" sz="100" b="1" dirty="0"/>
          </a:p>
          <a:p>
            <a:r>
              <a:rPr lang="en-US" altLang="ko-KR" sz="1000" dirty="0"/>
              <a:t>#</a:t>
            </a:r>
            <a:r>
              <a:rPr lang="ko-KR" altLang="en-US" sz="1000" dirty="0"/>
              <a:t>미백</a:t>
            </a:r>
            <a:r>
              <a:rPr lang="en-US" altLang="ko-KR" sz="1000" dirty="0"/>
              <a:t> #</a:t>
            </a:r>
            <a:r>
              <a:rPr lang="ko-KR" altLang="en-US" sz="1000" dirty="0"/>
              <a:t>잡티완화</a:t>
            </a:r>
            <a:endParaRPr lang="en-US" altLang="ko-KR" sz="1000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9EC529E8-B6FE-4949-B096-5713FBADCA41}"/>
              </a:ext>
            </a:extLst>
          </p:cNvPr>
          <p:cNvSpPr txBox="1"/>
          <p:nvPr/>
        </p:nvSpPr>
        <p:spPr>
          <a:xfrm>
            <a:off x="6552469" y="2481690"/>
            <a:ext cx="114165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i="1" dirty="0">
                <a:solidFill>
                  <a:srgbClr val="C00000"/>
                </a:solidFill>
              </a:rPr>
              <a:t>- AMPOULE, CREAM</a:t>
            </a:r>
            <a:endParaRPr lang="ko-KR" altLang="en-US" sz="800" i="1" dirty="0">
              <a:solidFill>
                <a:srgbClr val="C00000"/>
              </a:solidFill>
            </a:endParaRPr>
          </a:p>
        </p:txBody>
      </p:sp>
      <p:pic>
        <p:nvPicPr>
          <p:cNvPr id="102" name="Picture 4" descr="감초뿌리 추출물 원료소개 - 네추럴에이드">
            <a:extLst>
              <a:ext uri="{FF2B5EF4-FFF2-40B4-BE49-F238E27FC236}">
                <a16:creationId xmlns:a16="http://schemas.microsoft.com/office/drawing/2014/main" id="{08145AC5-5CA4-4035-A2E1-357BD880EDE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019" b="6798"/>
          <a:stretch/>
        </p:blipFill>
        <p:spPr bwMode="auto">
          <a:xfrm>
            <a:off x="7908412" y="1066803"/>
            <a:ext cx="1223999" cy="920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" name="TextBox 102">
            <a:extLst>
              <a:ext uri="{FF2B5EF4-FFF2-40B4-BE49-F238E27FC236}">
                <a16:creationId xmlns:a16="http://schemas.microsoft.com/office/drawing/2014/main" id="{91098030-E553-46A8-A64F-ED97A8E4124E}"/>
              </a:ext>
            </a:extLst>
          </p:cNvPr>
          <p:cNvSpPr txBox="1"/>
          <p:nvPr/>
        </p:nvSpPr>
        <p:spPr>
          <a:xfrm>
            <a:off x="7931087" y="2079576"/>
            <a:ext cx="1174701" cy="4231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b="1" dirty="0"/>
              <a:t>감초뿌리추출물</a:t>
            </a:r>
            <a:endParaRPr lang="en-US" altLang="ko-KR" sz="1050" b="1" dirty="0"/>
          </a:p>
          <a:p>
            <a:endParaRPr lang="en-US" altLang="ko-KR" sz="100" b="1" dirty="0"/>
          </a:p>
          <a:p>
            <a:r>
              <a:rPr lang="en-US" altLang="ko-KR" sz="1000" dirty="0"/>
              <a:t>#</a:t>
            </a:r>
            <a:r>
              <a:rPr lang="ko-KR" altLang="en-US" sz="1000" dirty="0"/>
              <a:t>미백</a:t>
            </a:r>
            <a:r>
              <a:rPr lang="en-US" altLang="ko-KR" sz="1000" dirty="0"/>
              <a:t> #</a:t>
            </a:r>
            <a:r>
              <a:rPr lang="ko-KR" altLang="en-US" sz="1000" dirty="0"/>
              <a:t>진정</a:t>
            </a:r>
            <a:endParaRPr lang="en-US" altLang="ko-KR" sz="1000" dirty="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DFF0F7C1-AF14-444B-92D1-BDA5B8780505}"/>
              </a:ext>
            </a:extLst>
          </p:cNvPr>
          <p:cNvSpPr txBox="1"/>
          <p:nvPr/>
        </p:nvSpPr>
        <p:spPr>
          <a:xfrm>
            <a:off x="7935395" y="2476278"/>
            <a:ext cx="60625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i="1" dirty="0">
                <a:solidFill>
                  <a:srgbClr val="C00000"/>
                </a:solidFill>
              </a:rPr>
              <a:t>- CREAM</a:t>
            </a:r>
            <a:endParaRPr lang="ko-KR" altLang="en-US" sz="800" i="1" dirty="0">
              <a:solidFill>
                <a:srgbClr val="C00000"/>
              </a:solidFill>
            </a:endParaRPr>
          </a:p>
        </p:txBody>
      </p:sp>
      <p:pic>
        <p:nvPicPr>
          <p:cNvPr id="105" name="Picture 6" descr="주요성분 - GTNC - 지티앤씨 - 순수 비타민C​ - 글루타치온​">
            <a:extLst>
              <a:ext uri="{FF2B5EF4-FFF2-40B4-BE49-F238E27FC236}">
                <a16:creationId xmlns:a16="http://schemas.microsoft.com/office/drawing/2014/main" id="{AAF28E53-8633-4BCB-BC00-E9372BA2F17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65" b="21652"/>
          <a:stretch/>
        </p:blipFill>
        <p:spPr bwMode="auto">
          <a:xfrm>
            <a:off x="9278601" y="1059383"/>
            <a:ext cx="1224000" cy="933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6" name="TextBox 105">
            <a:extLst>
              <a:ext uri="{FF2B5EF4-FFF2-40B4-BE49-F238E27FC236}">
                <a16:creationId xmlns:a16="http://schemas.microsoft.com/office/drawing/2014/main" id="{7F5D15D9-F8AF-46A2-8A29-A77246763C81}"/>
              </a:ext>
            </a:extLst>
          </p:cNvPr>
          <p:cNvSpPr txBox="1"/>
          <p:nvPr/>
        </p:nvSpPr>
        <p:spPr>
          <a:xfrm>
            <a:off x="9300812" y="2079576"/>
            <a:ext cx="1174701" cy="4231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b="1" dirty="0" err="1"/>
              <a:t>아스코빅애씨드</a:t>
            </a:r>
            <a:endParaRPr lang="en-US" altLang="ko-KR" sz="1050" b="1" dirty="0"/>
          </a:p>
          <a:p>
            <a:endParaRPr lang="en-US" altLang="ko-KR" sz="100" b="1" dirty="0"/>
          </a:p>
          <a:p>
            <a:r>
              <a:rPr lang="en-US" altLang="ko-KR" sz="1000" dirty="0"/>
              <a:t>#</a:t>
            </a:r>
            <a:r>
              <a:rPr lang="ko-KR" altLang="en-US" sz="1000" dirty="0"/>
              <a:t>미백</a:t>
            </a:r>
            <a:r>
              <a:rPr lang="en-US" altLang="ko-KR" sz="1000" dirty="0"/>
              <a:t> #</a:t>
            </a:r>
            <a:r>
              <a:rPr lang="ko-KR" altLang="en-US" sz="1000" dirty="0"/>
              <a:t>잡티개선</a:t>
            </a:r>
            <a:endParaRPr lang="en-US" altLang="ko-KR" sz="1000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A8557913-F466-4DCD-98E0-136BBAAFD094}"/>
              </a:ext>
            </a:extLst>
          </p:cNvPr>
          <p:cNvSpPr txBox="1"/>
          <p:nvPr/>
        </p:nvSpPr>
        <p:spPr>
          <a:xfrm>
            <a:off x="9305120" y="2476278"/>
            <a:ext cx="73930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i="1" dirty="0">
                <a:solidFill>
                  <a:srgbClr val="C00000"/>
                </a:solidFill>
              </a:rPr>
              <a:t>- AMPOULE</a:t>
            </a:r>
            <a:endParaRPr lang="ko-KR" altLang="en-US" sz="800" i="1" dirty="0">
              <a:solidFill>
                <a:srgbClr val="C00000"/>
              </a:solidFill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CD13AF15-D9E3-459B-BEFE-4CCAADFF72C4}"/>
              </a:ext>
            </a:extLst>
          </p:cNvPr>
          <p:cNvSpPr txBox="1"/>
          <p:nvPr/>
        </p:nvSpPr>
        <p:spPr>
          <a:xfrm>
            <a:off x="10606114" y="2074316"/>
            <a:ext cx="135347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b="1" dirty="0" err="1"/>
              <a:t>아스코빌글루코사이드</a:t>
            </a:r>
            <a:endParaRPr lang="en-US" altLang="ko-KR" sz="900" b="1" dirty="0"/>
          </a:p>
          <a:p>
            <a:endParaRPr lang="en-US" altLang="ko-KR" sz="100" b="1" dirty="0"/>
          </a:p>
          <a:p>
            <a:r>
              <a:rPr lang="en-US" altLang="ko-KR" sz="1000" dirty="0"/>
              <a:t>#</a:t>
            </a:r>
            <a:r>
              <a:rPr lang="ko-KR" altLang="en-US" sz="1000" dirty="0"/>
              <a:t>미백</a:t>
            </a:r>
            <a:r>
              <a:rPr lang="en-US" altLang="ko-KR" sz="1000" dirty="0"/>
              <a:t> #</a:t>
            </a:r>
            <a:r>
              <a:rPr lang="ko-KR" altLang="en-US" sz="1000" dirty="0"/>
              <a:t>안정성</a:t>
            </a:r>
            <a:endParaRPr lang="en-US" altLang="ko-KR" sz="1000" dirty="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7F397B08-E18A-42D8-9038-46872D43E3B5}"/>
              </a:ext>
            </a:extLst>
          </p:cNvPr>
          <p:cNvSpPr txBox="1"/>
          <p:nvPr/>
        </p:nvSpPr>
        <p:spPr>
          <a:xfrm>
            <a:off x="10671383" y="2471018"/>
            <a:ext cx="60625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i="1" dirty="0">
                <a:solidFill>
                  <a:srgbClr val="C00000"/>
                </a:solidFill>
              </a:rPr>
              <a:t>- CREAM</a:t>
            </a:r>
            <a:endParaRPr lang="ko-KR" altLang="en-US" sz="800" i="1" dirty="0">
              <a:solidFill>
                <a:srgbClr val="C00000"/>
              </a:solidFill>
            </a:endParaRPr>
          </a:p>
        </p:txBody>
      </p:sp>
      <p:pic>
        <p:nvPicPr>
          <p:cNvPr id="5122" name="Picture 2" descr="벨라오로라">
            <a:extLst>
              <a:ext uri="{FF2B5EF4-FFF2-40B4-BE49-F238E27FC236}">
                <a16:creationId xmlns:a16="http://schemas.microsoft.com/office/drawing/2014/main" id="{0F277B52-4EA0-4D1E-AE96-B2E73B596E7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88" t="43130" r="49989" b="23046"/>
          <a:stretch/>
        </p:blipFill>
        <p:spPr bwMode="auto">
          <a:xfrm>
            <a:off x="10648793" y="1056529"/>
            <a:ext cx="1223998" cy="933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글루타티온과 피부 관리] 글루타티온이 피부 주름을 부드럽게 하고 피부의 힘을 강화하며 탄력을 증가시키는 인상적인 효과를 고려하면  글루타티온을 사용해 피부를 개선할 수 있다. 글루타티온이 존재하면 유멜라닌을 페오멜라닌으로 전환시켜 피부를 밝게 할 수 있다. :">
            <a:extLst>
              <a:ext uri="{FF2B5EF4-FFF2-40B4-BE49-F238E27FC236}">
                <a16:creationId xmlns:a16="http://schemas.microsoft.com/office/drawing/2014/main" id="{F154E455-0FA5-45B2-85E4-F46829E1DA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03" r="9685" b="4896"/>
          <a:stretch/>
        </p:blipFill>
        <p:spPr bwMode="auto">
          <a:xfrm>
            <a:off x="5157634" y="2909975"/>
            <a:ext cx="1224000" cy="92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2" name="TextBox 111">
            <a:extLst>
              <a:ext uri="{FF2B5EF4-FFF2-40B4-BE49-F238E27FC236}">
                <a16:creationId xmlns:a16="http://schemas.microsoft.com/office/drawing/2014/main" id="{F1B732D3-F389-4370-BD44-E076719DC141}"/>
              </a:ext>
            </a:extLst>
          </p:cNvPr>
          <p:cNvSpPr txBox="1"/>
          <p:nvPr/>
        </p:nvSpPr>
        <p:spPr>
          <a:xfrm>
            <a:off x="5176288" y="3928701"/>
            <a:ext cx="1174701" cy="4231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b="1" dirty="0" err="1"/>
              <a:t>글루타티온</a:t>
            </a:r>
            <a:endParaRPr lang="en-US" altLang="ko-KR" sz="1050" b="1" dirty="0"/>
          </a:p>
          <a:p>
            <a:endParaRPr lang="en-US" altLang="ko-KR" sz="100" b="1" dirty="0"/>
          </a:p>
          <a:p>
            <a:r>
              <a:rPr lang="en-US" altLang="ko-KR" sz="1000" dirty="0"/>
              <a:t>#</a:t>
            </a:r>
            <a:r>
              <a:rPr lang="ko-KR" altLang="en-US" sz="1000" dirty="0"/>
              <a:t>피부 미백</a:t>
            </a:r>
            <a:endParaRPr lang="en-US" altLang="ko-KR" sz="1000" dirty="0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AD4EAF99-2840-41D9-98D5-74851D844EA5}"/>
              </a:ext>
            </a:extLst>
          </p:cNvPr>
          <p:cNvSpPr txBox="1"/>
          <p:nvPr/>
        </p:nvSpPr>
        <p:spPr>
          <a:xfrm>
            <a:off x="5180596" y="4325403"/>
            <a:ext cx="114165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i="1" dirty="0">
                <a:solidFill>
                  <a:srgbClr val="C00000"/>
                </a:solidFill>
              </a:rPr>
              <a:t>- AMPOULE, CREAM</a:t>
            </a:r>
            <a:endParaRPr lang="ko-KR" altLang="en-US" sz="800" i="1" dirty="0">
              <a:solidFill>
                <a:srgbClr val="C00000"/>
              </a:solidFill>
            </a:endParaRPr>
          </a:p>
        </p:txBody>
      </p:sp>
      <p:pic>
        <p:nvPicPr>
          <p:cNvPr id="5126" name="Picture 6" descr="주)씨앤비바이오">
            <a:extLst>
              <a:ext uri="{FF2B5EF4-FFF2-40B4-BE49-F238E27FC236}">
                <a16:creationId xmlns:a16="http://schemas.microsoft.com/office/drawing/2014/main" id="{7EE0A3D0-9932-4B77-89EE-5E6116658BA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05"/>
          <a:stretch/>
        </p:blipFill>
        <p:spPr bwMode="auto">
          <a:xfrm>
            <a:off x="6523755" y="2910336"/>
            <a:ext cx="1232018" cy="920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5" name="TextBox 114">
            <a:extLst>
              <a:ext uri="{FF2B5EF4-FFF2-40B4-BE49-F238E27FC236}">
                <a16:creationId xmlns:a16="http://schemas.microsoft.com/office/drawing/2014/main" id="{9B37364A-864D-4484-B8E3-FA17946DDD09}"/>
              </a:ext>
            </a:extLst>
          </p:cNvPr>
          <p:cNvSpPr txBox="1"/>
          <p:nvPr/>
        </p:nvSpPr>
        <p:spPr>
          <a:xfrm>
            <a:off x="6548161" y="3928701"/>
            <a:ext cx="1174701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1" dirty="0"/>
              <a:t>WHITE FLOWER</a:t>
            </a:r>
          </a:p>
          <a:p>
            <a:endParaRPr lang="en-US" altLang="ko-KR" sz="100" b="1" dirty="0"/>
          </a:p>
          <a:p>
            <a:r>
              <a:rPr lang="en-US" altLang="ko-KR" sz="1000" dirty="0"/>
              <a:t>#</a:t>
            </a:r>
            <a:r>
              <a:rPr lang="ko-KR" altLang="en-US" sz="1000" dirty="0"/>
              <a:t>미백 </a:t>
            </a:r>
            <a:r>
              <a:rPr lang="en-US" altLang="ko-KR" sz="1000" dirty="0"/>
              <a:t>#</a:t>
            </a:r>
            <a:r>
              <a:rPr lang="ko-KR" altLang="en-US" sz="1000" dirty="0" err="1"/>
              <a:t>톤개선</a:t>
            </a:r>
            <a:endParaRPr lang="en-US" altLang="ko-KR" sz="1000" dirty="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980453E7-58D3-48AF-84DA-9CF8CE1842F3}"/>
              </a:ext>
            </a:extLst>
          </p:cNvPr>
          <p:cNvSpPr txBox="1"/>
          <p:nvPr/>
        </p:nvSpPr>
        <p:spPr>
          <a:xfrm>
            <a:off x="6552469" y="4325403"/>
            <a:ext cx="60625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i="1" dirty="0">
                <a:solidFill>
                  <a:srgbClr val="C00000"/>
                </a:solidFill>
              </a:rPr>
              <a:t>- CREAM</a:t>
            </a:r>
            <a:endParaRPr lang="ko-KR" altLang="en-US" sz="800" i="1" dirty="0">
              <a:solidFill>
                <a:srgbClr val="C00000"/>
              </a:solidFill>
            </a:endParaRPr>
          </a:p>
        </p:txBody>
      </p:sp>
      <p:pic>
        <p:nvPicPr>
          <p:cNvPr id="117" name="Picture 2" descr="여미지식물원">
            <a:extLst>
              <a:ext uri="{FF2B5EF4-FFF2-40B4-BE49-F238E27FC236}">
                <a16:creationId xmlns:a16="http://schemas.microsoft.com/office/drawing/2014/main" id="{882D04D5-B351-4FD7-B2BA-36FB1420619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6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38" t="16824" r="9415" b="41516"/>
          <a:stretch/>
        </p:blipFill>
        <p:spPr bwMode="auto">
          <a:xfrm>
            <a:off x="9276102" y="2905837"/>
            <a:ext cx="1220052" cy="924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0" name="TextBox 119">
            <a:extLst>
              <a:ext uri="{FF2B5EF4-FFF2-40B4-BE49-F238E27FC236}">
                <a16:creationId xmlns:a16="http://schemas.microsoft.com/office/drawing/2014/main" id="{F6264B33-1936-4698-AB00-C037E2C67E57}"/>
              </a:ext>
            </a:extLst>
          </p:cNvPr>
          <p:cNvSpPr txBox="1"/>
          <p:nvPr/>
        </p:nvSpPr>
        <p:spPr>
          <a:xfrm>
            <a:off x="9300812" y="3890601"/>
            <a:ext cx="1174701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b="1" dirty="0" err="1"/>
              <a:t>에델바이스캘러스배양추출물</a:t>
            </a:r>
            <a:endParaRPr lang="en-US" altLang="ko-KR" sz="900" b="1" dirty="0"/>
          </a:p>
          <a:p>
            <a:endParaRPr lang="en-US" altLang="ko-KR" sz="100" b="1" dirty="0"/>
          </a:p>
          <a:p>
            <a:r>
              <a:rPr lang="en-US" altLang="ko-KR" sz="1000" dirty="0"/>
              <a:t>#</a:t>
            </a:r>
            <a:r>
              <a:rPr lang="ko-KR" altLang="en-US" sz="1000" dirty="0"/>
              <a:t>피부 보호</a:t>
            </a:r>
            <a:endParaRPr lang="en-US" altLang="ko-KR" sz="1000" dirty="0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2C9286BE-E0AB-4CF1-A35E-E1D4008BD8A0}"/>
              </a:ext>
            </a:extLst>
          </p:cNvPr>
          <p:cNvSpPr txBox="1"/>
          <p:nvPr/>
        </p:nvSpPr>
        <p:spPr>
          <a:xfrm>
            <a:off x="9305120" y="4369853"/>
            <a:ext cx="60625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i="1" dirty="0">
                <a:solidFill>
                  <a:srgbClr val="C00000"/>
                </a:solidFill>
              </a:rPr>
              <a:t>- CREAM</a:t>
            </a:r>
            <a:endParaRPr lang="ko-KR" altLang="en-US" sz="800" i="1" dirty="0">
              <a:solidFill>
                <a:srgbClr val="C00000"/>
              </a:solidFill>
            </a:endParaRPr>
          </a:p>
        </p:txBody>
      </p: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AC4F08A2-F702-48F8-856C-33410ECB4420}"/>
              </a:ext>
            </a:extLst>
          </p:cNvPr>
          <p:cNvSpPr/>
          <p:nvPr/>
        </p:nvSpPr>
        <p:spPr>
          <a:xfrm>
            <a:off x="10647163" y="2902553"/>
            <a:ext cx="1224000" cy="172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7" name="Picture 4" descr="글루타티온과 피부 관리] 글루타티온이 피부 주름을 부드럽게 하고 피부의 힘을 강화하며 탄력을 증가시키는 인상적인 효과를 고려하면  글루타티온을 사용해 피부를 개선할 수 있다. 글루타티온이 존재하면 유멜라닌을 페오멜라닌으로 전환시켜 피부를 밝게 할 수 있다. :">
            <a:extLst>
              <a:ext uri="{FF2B5EF4-FFF2-40B4-BE49-F238E27FC236}">
                <a16:creationId xmlns:a16="http://schemas.microsoft.com/office/drawing/2014/main" id="{6819A258-F2A7-4A6E-AFE7-5222BB457E4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03" r="9685" b="4896"/>
          <a:stretch/>
        </p:blipFill>
        <p:spPr bwMode="auto">
          <a:xfrm>
            <a:off x="10648791" y="2902554"/>
            <a:ext cx="1224000" cy="92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8" name="TextBox 127">
            <a:extLst>
              <a:ext uri="{FF2B5EF4-FFF2-40B4-BE49-F238E27FC236}">
                <a16:creationId xmlns:a16="http://schemas.microsoft.com/office/drawing/2014/main" id="{5CB91383-8407-4A14-A4AB-86C7294560E4}"/>
              </a:ext>
            </a:extLst>
          </p:cNvPr>
          <p:cNvSpPr txBox="1"/>
          <p:nvPr/>
        </p:nvSpPr>
        <p:spPr>
          <a:xfrm>
            <a:off x="10667445" y="3921280"/>
            <a:ext cx="1174701" cy="4231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b="1" dirty="0"/>
              <a:t>녹차추출물</a:t>
            </a:r>
            <a:endParaRPr lang="en-US" altLang="ko-KR" sz="1050" b="1" dirty="0"/>
          </a:p>
          <a:p>
            <a:endParaRPr lang="en-US" altLang="ko-KR" sz="100" b="1" dirty="0"/>
          </a:p>
          <a:p>
            <a:r>
              <a:rPr lang="en-US" altLang="ko-KR" sz="1000" dirty="0"/>
              <a:t>#</a:t>
            </a:r>
            <a:r>
              <a:rPr lang="ko-KR" altLang="en-US" sz="1000" dirty="0"/>
              <a:t>피부보호 </a:t>
            </a:r>
            <a:r>
              <a:rPr lang="en-US" altLang="ko-KR" sz="1000" dirty="0"/>
              <a:t>#</a:t>
            </a:r>
            <a:r>
              <a:rPr lang="ko-KR" altLang="en-US" sz="1000" dirty="0"/>
              <a:t>진정</a:t>
            </a:r>
            <a:endParaRPr lang="en-US" altLang="ko-KR" sz="1000" dirty="0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7D70A2D3-A9CB-448A-A1C0-BB9AF4B0781B}"/>
              </a:ext>
            </a:extLst>
          </p:cNvPr>
          <p:cNvSpPr txBox="1"/>
          <p:nvPr/>
        </p:nvSpPr>
        <p:spPr>
          <a:xfrm>
            <a:off x="10671753" y="4317982"/>
            <a:ext cx="73930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i="1" dirty="0">
                <a:solidFill>
                  <a:srgbClr val="C00000"/>
                </a:solidFill>
              </a:rPr>
              <a:t>- AMPOULE</a:t>
            </a:r>
            <a:endParaRPr lang="ko-KR" altLang="en-US" sz="800" i="1" dirty="0">
              <a:solidFill>
                <a:srgbClr val="C00000"/>
              </a:solidFill>
            </a:endParaRPr>
          </a:p>
        </p:txBody>
      </p:sp>
      <p:pic>
        <p:nvPicPr>
          <p:cNvPr id="130" name="Picture 4">
            <a:extLst>
              <a:ext uri="{FF2B5EF4-FFF2-40B4-BE49-F238E27FC236}">
                <a16:creationId xmlns:a16="http://schemas.microsoft.com/office/drawing/2014/main" id="{869AD1DB-9B29-4B7B-A465-68AAFCA0735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7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78" r="5856"/>
          <a:stretch/>
        </p:blipFill>
        <p:spPr bwMode="auto">
          <a:xfrm>
            <a:off x="10648791" y="2902551"/>
            <a:ext cx="1224000" cy="920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E529FCA9-26E8-4C6F-B638-F632676A3329}"/>
              </a:ext>
            </a:extLst>
          </p:cNvPr>
          <p:cNvSpPr/>
          <p:nvPr/>
        </p:nvSpPr>
        <p:spPr>
          <a:xfrm>
            <a:off x="5151935" y="4752118"/>
            <a:ext cx="1224000" cy="172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A9F621CF-311F-4F81-87AC-EFE613696D92}"/>
              </a:ext>
            </a:extLst>
          </p:cNvPr>
          <p:cNvSpPr txBox="1"/>
          <p:nvPr/>
        </p:nvSpPr>
        <p:spPr>
          <a:xfrm>
            <a:off x="5172217" y="5770845"/>
            <a:ext cx="1220182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b="1" dirty="0" err="1"/>
              <a:t>카퍼트라이펩타이드</a:t>
            </a:r>
            <a:r>
              <a:rPr lang="en-US" altLang="ko-KR" sz="900" b="1" dirty="0"/>
              <a:t>-1</a:t>
            </a:r>
          </a:p>
          <a:p>
            <a:endParaRPr lang="en-US" altLang="ko-KR" sz="100" b="1" dirty="0"/>
          </a:p>
          <a:p>
            <a:r>
              <a:rPr lang="en-US" altLang="ko-KR" sz="1000" dirty="0"/>
              <a:t>#</a:t>
            </a:r>
            <a:r>
              <a:rPr lang="ko-KR" altLang="en-US" sz="1000" dirty="0"/>
              <a:t>재생 </a:t>
            </a:r>
            <a:r>
              <a:rPr lang="en-US" altLang="ko-KR" sz="1000" dirty="0"/>
              <a:t>#</a:t>
            </a:r>
            <a:r>
              <a:rPr lang="ko-KR" altLang="en-US" sz="1000" dirty="0"/>
              <a:t>탄력</a:t>
            </a:r>
            <a:endParaRPr lang="en-US" altLang="ko-KR" sz="1000" dirty="0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F3778B95-619D-4C8B-8EDE-903D1921C54B}"/>
              </a:ext>
            </a:extLst>
          </p:cNvPr>
          <p:cNvSpPr txBox="1"/>
          <p:nvPr/>
        </p:nvSpPr>
        <p:spPr>
          <a:xfrm>
            <a:off x="5176525" y="6243750"/>
            <a:ext cx="73930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i="1" dirty="0">
                <a:solidFill>
                  <a:srgbClr val="C00000"/>
                </a:solidFill>
              </a:rPr>
              <a:t>- AMPOULE</a:t>
            </a:r>
            <a:endParaRPr lang="ko-KR" altLang="en-US" sz="800" i="1" dirty="0">
              <a:solidFill>
                <a:srgbClr val="C00000"/>
              </a:solidFill>
            </a:endParaRPr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7109D59A-E07B-4040-AB50-DF36273DD552}"/>
              </a:ext>
            </a:extLst>
          </p:cNvPr>
          <p:cNvSpPr/>
          <p:nvPr/>
        </p:nvSpPr>
        <p:spPr>
          <a:xfrm>
            <a:off x="6536152" y="4752118"/>
            <a:ext cx="1224000" cy="172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763D3B30-78A3-42D3-AEF6-5F632EB60169}"/>
              </a:ext>
            </a:extLst>
          </p:cNvPr>
          <p:cNvSpPr txBox="1"/>
          <p:nvPr/>
        </p:nvSpPr>
        <p:spPr>
          <a:xfrm>
            <a:off x="6556434" y="5770845"/>
            <a:ext cx="1174701" cy="4231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/>
              <a:t>AQUAXYL</a:t>
            </a:r>
          </a:p>
          <a:p>
            <a:endParaRPr lang="en-US" altLang="ko-KR" sz="100" b="1" dirty="0"/>
          </a:p>
          <a:p>
            <a:r>
              <a:rPr lang="en-US" altLang="ko-KR" sz="1000" dirty="0"/>
              <a:t>#</a:t>
            </a:r>
            <a:r>
              <a:rPr lang="ko-KR" altLang="en-US" sz="1000" dirty="0"/>
              <a:t>피부 보습</a:t>
            </a:r>
            <a:endParaRPr lang="en-US" altLang="ko-KR" sz="1000" dirty="0"/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C202C506-3146-49B9-A072-14348249FB95}"/>
              </a:ext>
            </a:extLst>
          </p:cNvPr>
          <p:cNvSpPr txBox="1"/>
          <p:nvPr/>
        </p:nvSpPr>
        <p:spPr>
          <a:xfrm>
            <a:off x="6560742" y="6167547"/>
            <a:ext cx="73930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i="1" dirty="0">
                <a:solidFill>
                  <a:srgbClr val="C00000"/>
                </a:solidFill>
              </a:rPr>
              <a:t>- AMPOULE</a:t>
            </a:r>
            <a:endParaRPr lang="ko-KR" altLang="en-US" sz="800" i="1" dirty="0">
              <a:solidFill>
                <a:srgbClr val="C00000"/>
              </a:solidFill>
            </a:endParaRPr>
          </a:p>
        </p:txBody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BDA12F14-3F78-453F-B6A8-12BB8728173D}"/>
              </a:ext>
            </a:extLst>
          </p:cNvPr>
          <p:cNvSpPr/>
          <p:nvPr/>
        </p:nvSpPr>
        <p:spPr>
          <a:xfrm>
            <a:off x="7900335" y="4752118"/>
            <a:ext cx="1224000" cy="172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6DD357F3-B466-4804-A8CA-FE148EFFE617}"/>
              </a:ext>
            </a:extLst>
          </p:cNvPr>
          <p:cNvSpPr txBox="1"/>
          <p:nvPr/>
        </p:nvSpPr>
        <p:spPr>
          <a:xfrm>
            <a:off x="7920617" y="5770845"/>
            <a:ext cx="1174701" cy="4231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b="1" dirty="0" err="1"/>
              <a:t>판테놀</a:t>
            </a:r>
            <a:endParaRPr lang="en-US" altLang="ko-KR" sz="1050" b="1" dirty="0"/>
          </a:p>
          <a:p>
            <a:endParaRPr lang="en-US" altLang="ko-KR" sz="100" b="1" dirty="0"/>
          </a:p>
          <a:p>
            <a:r>
              <a:rPr lang="en-US" altLang="ko-KR" sz="1000" dirty="0"/>
              <a:t>#</a:t>
            </a:r>
            <a:r>
              <a:rPr lang="ko-KR" altLang="en-US" sz="1000" dirty="0"/>
              <a:t>보습</a:t>
            </a:r>
            <a:r>
              <a:rPr lang="en-US" altLang="ko-KR" sz="1000" dirty="0"/>
              <a:t>&amp;</a:t>
            </a:r>
            <a:r>
              <a:rPr lang="ko-KR" altLang="en-US" sz="1000" dirty="0"/>
              <a:t>장벽 케어</a:t>
            </a:r>
            <a:endParaRPr lang="en-US" altLang="ko-KR" sz="1000" dirty="0"/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9F2FB677-424C-4691-ACCC-9F92E7EE46FE}"/>
              </a:ext>
            </a:extLst>
          </p:cNvPr>
          <p:cNvSpPr txBox="1"/>
          <p:nvPr/>
        </p:nvSpPr>
        <p:spPr>
          <a:xfrm>
            <a:off x="7924925" y="6167547"/>
            <a:ext cx="114165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i="1" dirty="0">
                <a:solidFill>
                  <a:srgbClr val="C00000"/>
                </a:solidFill>
              </a:rPr>
              <a:t>- AMPOULE, CREAM</a:t>
            </a:r>
            <a:endParaRPr lang="ko-KR" altLang="en-US" sz="800" i="1" dirty="0">
              <a:solidFill>
                <a:srgbClr val="C00000"/>
              </a:solidFill>
            </a:endParaRPr>
          </a:p>
        </p:txBody>
      </p: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F7FF4AA2-C0B6-4319-99EF-89B974AA66F9}"/>
              </a:ext>
            </a:extLst>
          </p:cNvPr>
          <p:cNvSpPr/>
          <p:nvPr/>
        </p:nvSpPr>
        <p:spPr>
          <a:xfrm>
            <a:off x="9276973" y="4752118"/>
            <a:ext cx="1224000" cy="172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71EC4810-3EEA-4AC4-BF48-16C50EBDBC60}"/>
              </a:ext>
            </a:extLst>
          </p:cNvPr>
          <p:cNvSpPr txBox="1"/>
          <p:nvPr/>
        </p:nvSpPr>
        <p:spPr>
          <a:xfrm>
            <a:off x="9297255" y="5770845"/>
            <a:ext cx="1174701" cy="4231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b="1" dirty="0"/>
              <a:t>복합 </a:t>
            </a:r>
            <a:r>
              <a:rPr lang="ko-KR" altLang="en-US" sz="1050" b="1" dirty="0" err="1"/>
              <a:t>히알루론산</a:t>
            </a:r>
            <a:endParaRPr lang="en-US" altLang="ko-KR" sz="1050" b="1" dirty="0"/>
          </a:p>
          <a:p>
            <a:endParaRPr lang="en-US" altLang="ko-KR" sz="100" b="1" dirty="0"/>
          </a:p>
          <a:p>
            <a:r>
              <a:rPr lang="en-US" altLang="ko-KR" sz="1000" dirty="0"/>
              <a:t>#</a:t>
            </a:r>
            <a:r>
              <a:rPr lang="ko-KR" altLang="en-US" sz="1000" dirty="0"/>
              <a:t>피부 보습</a:t>
            </a:r>
            <a:endParaRPr lang="en-US" altLang="ko-KR" sz="1000" dirty="0"/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50756357-4B32-4DEA-9124-B3FE93D2CE48}"/>
              </a:ext>
            </a:extLst>
          </p:cNvPr>
          <p:cNvSpPr txBox="1"/>
          <p:nvPr/>
        </p:nvSpPr>
        <p:spPr>
          <a:xfrm>
            <a:off x="9301563" y="6167547"/>
            <a:ext cx="73930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i="1" dirty="0">
                <a:solidFill>
                  <a:srgbClr val="C00000"/>
                </a:solidFill>
              </a:rPr>
              <a:t>- AMPOULE</a:t>
            </a:r>
            <a:endParaRPr lang="ko-KR" altLang="en-US" sz="800" i="1" dirty="0">
              <a:solidFill>
                <a:srgbClr val="C00000"/>
              </a:solidFill>
            </a:endParaRPr>
          </a:p>
        </p:txBody>
      </p:sp>
      <p:sp>
        <p:nvSpPr>
          <p:cNvPr id="151" name="직사각형 150">
            <a:extLst>
              <a:ext uri="{FF2B5EF4-FFF2-40B4-BE49-F238E27FC236}">
                <a16:creationId xmlns:a16="http://schemas.microsoft.com/office/drawing/2014/main" id="{276C905C-D8BA-4569-871B-C97DDCE9E8C4}"/>
              </a:ext>
            </a:extLst>
          </p:cNvPr>
          <p:cNvSpPr/>
          <p:nvPr/>
        </p:nvSpPr>
        <p:spPr>
          <a:xfrm>
            <a:off x="10644726" y="4752118"/>
            <a:ext cx="1224000" cy="172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069AC732-870B-42BD-BC3E-A2194DAD8C93}"/>
              </a:ext>
            </a:extLst>
          </p:cNvPr>
          <p:cNvSpPr txBox="1"/>
          <p:nvPr/>
        </p:nvSpPr>
        <p:spPr>
          <a:xfrm>
            <a:off x="10665008" y="5770845"/>
            <a:ext cx="1174701" cy="4231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b="1" dirty="0"/>
              <a:t>복합 아미노산</a:t>
            </a:r>
            <a:endParaRPr lang="en-US" altLang="ko-KR" sz="1050" b="1" dirty="0"/>
          </a:p>
          <a:p>
            <a:endParaRPr lang="en-US" altLang="ko-KR" sz="100" b="1" dirty="0"/>
          </a:p>
          <a:p>
            <a:r>
              <a:rPr lang="en-US" altLang="ko-KR" sz="1000" dirty="0"/>
              <a:t>#</a:t>
            </a:r>
            <a:r>
              <a:rPr lang="ko-KR" altLang="en-US" sz="1000" dirty="0"/>
              <a:t>피부 보습</a:t>
            </a:r>
            <a:endParaRPr lang="en-US" altLang="ko-KR" sz="1000" dirty="0"/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21206B7C-58E5-4EF3-8529-444768399ACB}"/>
              </a:ext>
            </a:extLst>
          </p:cNvPr>
          <p:cNvSpPr txBox="1"/>
          <p:nvPr/>
        </p:nvSpPr>
        <p:spPr>
          <a:xfrm>
            <a:off x="10669316" y="6167547"/>
            <a:ext cx="114165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i="1" dirty="0">
                <a:solidFill>
                  <a:srgbClr val="C00000"/>
                </a:solidFill>
              </a:rPr>
              <a:t>- AMPOULE, CREAM</a:t>
            </a:r>
            <a:endParaRPr lang="ko-KR" altLang="en-US" sz="800" i="1" dirty="0">
              <a:solidFill>
                <a:srgbClr val="C00000"/>
              </a:solidFill>
            </a:endParaRPr>
          </a:p>
        </p:txBody>
      </p:sp>
      <p:pic>
        <p:nvPicPr>
          <p:cNvPr id="156" name="Picture 4" descr="10x10: 바이아우어 밀크프로틴 트리트먼트 스위트바닐라">
            <a:extLst>
              <a:ext uri="{FF2B5EF4-FFF2-40B4-BE49-F238E27FC236}">
                <a16:creationId xmlns:a16="http://schemas.microsoft.com/office/drawing/2014/main" id="{89D9E8D1-AEA5-4DC6-A2C8-939E081D5AA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8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67" t="2170" r="23113" b="71287"/>
          <a:stretch/>
        </p:blipFill>
        <p:spPr bwMode="auto">
          <a:xfrm>
            <a:off x="5150307" y="4748590"/>
            <a:ext cx="1227256" cy="921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8" name="Picture 2" descr="Ingredient series – Aquaxyl – THE MOTHER MADE EDIT">
            <a:extLst>
              <a:ext uri="{FF2B5EF4-FFF2-40B4-BE49-F238E27FC236}">
                <a16:creationId xmlns:a16="http://schemas.microsoft.com/office/drawing/2014/main" id="{62F12F95-486C-46DF-823F-ECAE3FE1314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26" b="17280"/>
          <a:stretch/>
        </p:blipFill>
        <p:spPr bwMode="auto">
          <a:xfrm>
            <a:off x="6535974" y="4748581"/>
            <a:ext cx="1227256" cy="921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2" name="Picture 2" descr="히알루론산과 피부의 상관관계 MAGAZINE - (주)닥터로하스">
            <a:extLst>
              <a:ext uri="{FF2B5EF4-FFF2-40B4-BE49-F238E27FC236}">
                <a16:creationId xmlns:a16="http://schemas.microsoft.com/office/drawing/2014/main" id="{64A89835-E707-414B-82C1-9EE48F5E69F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0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29" t="2898" r="7329" b="21152"/>
          <a:stretch/>
        </p:blipFill>
        <p:spPr bwMode="auto">
          <a:xfrm>
            <a:off x="9275371" y="4752117"/>
            <a:ext cx="1227229" cy="918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" name="그림 162">
            <a:extLst>
              <a:ext uri="{FF2B5EF4-FFF2-40B4-BE49-F238E27FC236}">
                <a16:creationId xmlns:a16="http://schemas.microsoft.com/office/drawing/2014/main" id="{2A4C68EB-F8E2-4FB0-BE18-DB24CA20681C}"/>
              </a:ext>
            </a:extLst>
          </p:cNvPr>
          <p:cNvPicPr>
            <a:picLocks noChangeAspect="1"/>
          </p:cNvPicPr>
          <p:nvPr/>
        </p:nvPicPr>
        <p:blipFill rotWithShape="1">
          <a:blip r:embed="rId21"/>
          <a:srcRect l="5762" t="21920" r="5762" b="2786"/>
          <a:stretch/>
        </p:blipFill>
        <p:spPr>
          <a:xfrm>
            <a:off x="7900339" y="4748581"/>
            <a:ext cx="1223996" cy="921601"/>
          </a:xfrm>
          <a:prstGeom prst="rect">
            <a:avLst/>
          </a:prstGeom>
        </p:spPr>
      </p:pic>
      <p:pic>
        <p:nvPicPr>
          <p:cNvPr id="165" name="Picture 4">
            <a:extLst>
              <a:ext uri="{FF2B5EF4-FFF2-40B4-BE49-F238E27FC236}">
                <a16:creationId xmlns:a16="http://schemas.microsoft.com/office/drawing/2014/main" id="{9BA1BCC8-FB3B-417F-9556-B9DC0F5BFCD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2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57" t="6712" r="17857" b="17994"/>
          <a:stretch/>
        </p:blipFill>
        <p:spPr bwMode="auto">
          <a:xfrm>
            <a:off x="10642283" y="4748581"/>
            <a:ext cx="1223996" cy="921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>
            <a:extLst>
              <a:ext uri="{FF2B5EF4-FFF2-40B4-BE49-F238E27FC236}">
                <a16:creationId xmlns:a16="http://schemas.microsoft.com/office/drawing/2014/main" id="{1762E336-CFFF-4F37-B1F2-94A01B1A178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420" b="14943"/>
          <a:stretch/>
        </p:blipFill>
        <p:spPr bwMode="auto">
          <a:xfrm>
            <a:off x="7897894" y="2905837"/>
            <a:ext cx="1230761" cy="924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7" name="TextBox 166">
            <a:extLst>
              <a:ext uri="{FF2B5EF4-FFF2-40B4-BE49-F238E27FC236}">
                <a16:creationId xmlns:a16="http://schemas.microsoft.com/office/drawing/2014/main" id="{FD81D2D6-E3CD-4609-9891-85338A21B640}"/>
              </a:ext>
            </a:extLst>
          </p:cNvPr>
          <p:cNvSpPr txBox="1"/>
          <p:nvPr/>
        </p:nvSpPr>
        <p:spPr>
          <a:xfrm>
            <a:off x="7944973" y="3934576"/>
            <a:ext cx="122399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 err="1"/>
              <a:t>트라넥사믹애씨드</a:t>
            </a:r>
            <a:endParaRPr lang="en-US" altLang="ko-KR" sz="1000" b="1" dirty="0"/>
          </a:p>
          <a:p>
            <a:endParaRPr lang="en-US" altLang="ko-KR" sz="100" b="1" dirty="0"/>
          </a:p>
          <a:p>
            <a:r>
              <a:rPr lang="en-US" altLang="ko-KR" sz="1000" dirty="0"/>
              <a:t>#</a:t>
            </a:r>
            <a:r>
              <a:rPr lang="ko-KR" altLang="en-US" sz="1000" dirty="0"/>
              <a:t>기미</a:t>
            </a:r>
            <a:r>
              <a:rPr lang="en-US" altLang="ko-KR" sz="1000" dirty="0"/>
              <a:t>/</a:t>
            </a:r>
            <a:r>
              <a:rPr lang="ko-KR" altLang="en-US" sz="1000" dirty="0"/>
              <a:t>잡티 제거</a:t>
            </a:r>
            <a:endParaRPr lang="en-US" altLang="ko-KR" sz="1000" dirty="0"/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E4F9AA79-C986-4D0F-858D-1D2CA1D38F8E}"/>
              </a:ext>
            </a:extLst>
          </p:cNvPr>
          <p:cNvSpPr txBox="1"/>
          <p:nvPr/>
        </p:nvSpPr>
        <p:spPr>
          <a:xfrm>
            <a:off x="7949281" y="4331278"/>
            <a:ext cx="114165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i="1" dirty="0">
                <a:solidFill>
                  <a:srgbClr val="C00000"/>
                </a:solidFill>
              </a:rPr>
              <a:t>- AMPOULE, CREAM</a:t>
            </a:r>
            <a:endParaRPr lang="ko-KR" altLang="en-US" sz="800" i="1" dirty="0">
              <a:solidFill>
                <a:srgbClr val="C00000"/>
              </a:solidFill>
            </a:endParaRP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BEC5F7A5-1F48-4A2F-B80C-85E33D8FF81E}"/>
              </a:ext>
            </a:extLst>
          </p:cNvPr>
          <p:cNvSpPr txBox="1"/>
          <p:nvPr/>
        </p:nvSpPr>
        <p:spPr>
          <a:xfrm>
            <a:off x="267236" y="552996"/>
            <a:ext cx="23041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ALL INGREDIENT</a:t>
            </a:r>
            <a:endParaRPr lang="ko-KR" altLang="en-US" sz="18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6" name="직사각형 165">
            <a:extLst>
              <a:ext uri="{FF2B5EF4-FFF2-40B4-BE49-F238E27FC236}">
                <a16:creationId xmlns:a16="http://schemas.microsoft.com/office/drawing/2014/main" id="{7CC9DD53-07ED-4A09-8305-248CE6F535FB}"/>
              </a:ext>
            </a:extLst>
          </p:cNvPr>
          <p:cNvSpPr/>
          <p:nvPr/>
        </p:nvSpPr>
        <p:spPr>
          <a:xfrm>
            <a:off x="305695" y="3835653"/>
            <a:ext cx="2304186" cy="124460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69" name="그룹 168">
            <a:extLst>
              <a:ext uri="{FF2B5EF4-FFF2-40B4-BE49-F238E27FC236}">
                <a16:creationId xmlns:a16="http://schemas.microsoft.com/office/drawing/2014/main" id="{075A85F1-6368-4E67-80B3-85806A03FC43}"/>
              </a:ext>
            </a:extLst>
          </p:cNvPr>
          <p:cNvGrpSpPr/>
          <p:nvPr/>
        </p:nvGrpSpPr>
        <p:grpSpPr>
          <a:xfrm>
            <a:off x="379625" y="4003424"/>
            <a:ext cx="1080000" cy="936000"/>
            <a:chOff x="2646203" y="789601"/>
            <a:chExt cx="2189308" cy="1980000"/>
          </a:xfrm>
        </p:grpSpPr>
        <p:pic>
          <p:nvPicPr>
            <p:cNvPr id="171" name="Picture 6" descr="병풀(Gotu Kola ) H.S 워터 (100%증류 Hydrosol Water)">
              <a:extLst>
                <a:ext uri="{FF2B5EF4-FFF2-40B4-BE49-F238E27FC236}">
                  <a16:creationId xmlns:a16="http://schemas.microsoft.com/office/drawing/2014/main" id="{B7C7B0B8-CDAA-454E-810D-8F6BB328A75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 cstate="print">
              <a:extLst>
                <a:ext uri="{BEBA8EAE-BF5A-486C-A8C5-ECC9F3942E4B}">
                  <a14:imgProps xmlns:a14="http://schemas.microsoft.com/office/drawing/2010/main">
                    <a14:imgLayer r:embed="rId25">
                      <a14:imgEffect>
                        <a14:backgroundRemoval t="0" b="99800" l="0" r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384923">
              <a:off x="3135687" y="1230481"/>
              <a:ext cx="1033795" cy="1044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2" name="그림 171">
              <a:extLst>
                <a:ext uri="{FF2B5EF4-FFF2-40B4-BE49-F238E27FC236}">
                  <a16:creationId xmlns:a16="http://schemas.microsoft.com/office/drawing/2014/main" id="{0D1AA4F8-8EF6-44AC-9598-E68F5766E15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0" b="99483" l="0" r="100000">
                          <a14:foregroundMark x1="2491" y1="37554" x2="2491" y2="37554"/>
                          <a14:foregroundMark x1="2711" y1="57967" x2="2711" y2="57967"/>
                        </a14:backgroundRemoval>
                      </a14:imgEffect>
                      <a14:imgEffect>
                        <a14:brightnessContrast bright="-20000" contrast="-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flipH="1">
              <a:off x="2646203" y="789601"/>
              <a:ext cx="2189308" cy="1980000"/>
            </a:xfrm>
            <a:prstGeom prst="rect">
              <a:avLst/>
            </a:prstGeom>
          </p:spPr>
        </p:pic>
      </p:grpSp>
      <p:sp>
        <p:nvSpPr>
          <p:cNvPr id="173" name="TextBox 172">
            <a:extLst>
              <a:ext uri="{FF2B5EF4-FFF2-40B4-BE49-F238E27FC236}">
                <a16:creationId xmlns:a16="http://schemas.microsoft.com/office/drawing/2014/main" id="{BBDEE9DA-7508-49E7-A669-E5C70C25E54E}"/>
              </a:ext>
            </a:extLst>
          </p:cNvPr>
          <p:cNvSpPr txBox="1"/>
          <p:nvPr/>
        </p:nvSpPr>
        <p:spPr>
          <a:xfrm>
            <a:off x="1493238" y="3963300"/>
            <a:ext cx="1022503" cy="81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 err="1"/>
              <a:t>병풀엑소좀</a:t>
            </a:r>
            <a:endParaRPr lang="en-US" altLang="ko-KR" sz="1200" b="1" dirty="0"/>
          </a:p>
          <a:p>
            <a:endParaRPr lang="en-US" altLang="ko-KR" sz="200" b="1" dirty="0"/>
          </a:p>
          <a:p>
            <a:r>
              <a:rPr lang="en-US" altLang="ko-KR" sz="1100" dirty="0"/>
              <a:t>#</a:t>
            </a:r>
            <a:r>
              <a:rPr lang="ko-KR" altLang="en-US" sz="1100" dirty="0"/>
              <a:t>세포재생</a:t>
            </a:r>
            <a:endParaRPr lang="en-US" altLang="ko-KR" sz="1100" dirty="0"/>
          </a:p>
          <a:p>
            <a:r>
              <a:rPr lang="en-US" altLang="ko-KR" sz="1100" dirty="0"/>
              <a:t>#</a:t>
            </a:r>
            <a:r>
              <a:rPr lang="ko-KR" altLang="en-US" sz="1100" dirty="0"/>
              <a:t>주름개선</a:t>
            </a:r>
            <a:endParaRPr lang="en-US" altLang="ko-KR" sz="1100" dirty="0"/>
          </a:p>
          <a:p>
            <a:r>
              <a:rPr lang="en-US" altLang="ko-KR" sz="1100" dirty="0"/>
              <a:t>#</a:t>
            </a:r>
            <a:r>
              <a:rPr lang="ko-KR" altLang="en-US" sz="1100" dirty="0" err="1"/>
              <a:t>항염</a:t>
            </a:r>
            <a:endParaRPr lang="en-US" altLang="ko-KR" sz="1100" dirty="0"/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630BE8D5-4D85-47D9-8B9F-97D821A2231B}"/>
              </a:ext>
            </a:extLst>
          </p:cNvPr>
          <p:cNvSpPr txBox="1"/>
          <p:nvPr/>
        </p:nvSpPr>
        <p:spPr>
          <a:xfrm>
            <a:off x="1508155" y="4761974"/>
            <a:ext cx="94929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altLang="ko-KR" sz="1000" i="1" dirty="0">
                <a:solidFill>
                  <a:srgbClr val="C00000"/>
                </a:solidFill>
              </a:rPr>
              <a:t>AMPOULE</a:t>
            </a:r>
            <a:endParaRPr lang="ko-KR" altLang="en-US" sz="1000" i="1" dirty="0">
              <a:solidFill>
                <a:srgbClr val="C00000"/>
              </a:solidFill>
            </a:endParaRPr>
          </a:p>
        </p:txBody>
      </p:sp>
      <p:sp>
        <p:nvSpPr>
          <p:cNvPr id="175" name="직사각형 174">
            <a:extLst>
              <a:ext uri="{FF2B5EF4-FFF2-40B4-BE49-F238E27FC236}">
                <a16:creationId xmlns:a16="http://schemas.microsoft.com/office/drawing/2014/main" id="{C108ADE7-4D0E-42AE-A0AA-931EFD800CA9}"/>
              </a:ext>
            </a:extLst>
          </p:cNvPr>
          <p:cNvSpPr/>
          <p:nvPr/>
        </p:nvSpPr>
        <p:spPr>
          <a:xfrm>
            <a:off x="305694" y="5235932"/>
            <a:ext cx="2304185" cy="123855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76" name="그룹 175">
            <a:extLst>
              <a:ext uri="{FF2B5EF4-FFF2-40B4-BE49-F238E27FC236}">
                <a16:creationId xmlns:a16="http://schemas.microsoft.com/office/drawing/2014/main" id="{080265D2-6102-48C9-A687-140C97D1417B}"/>
              </a:ext>
            </a:extLst>
          </p:cNvPr>
          <p:cNvGrpSpPr/>
          <p:nvPr/>
        </p:nvGrpSpPr>
        <p:grpSpPr>
          <a:xfrm>
            <a:off x="379625" y="5390234"/>
            <a:ext cx="1080000" cy="936000"/>
            <a:chOff x="2615283" y="4482661"/>
            <a:chExt cx="2189308" cy="1980000"/>
          </a:xfrm>
        </p:grpSpPr>
        <p:pic>
          <p:nvPicPr>
            <p:cNvPr id="177" name="그림 176">
              <a:extLst>
                <a:ext uri="{FF2B5EF4-FFF2-40B4-BE49-F238E27FC236}">
                  <a16:creationId xmlns:a16="http://schemas.microsoft.com/office/drawing/2014/main" id="{876932C6-F3FE-440D-A617-A54F926B53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0" b="99483" l="0" r="100000">
                          <a14:foregroundMark x1="2491" y1="37554" x2="2491" y2="37554"/>
                          <a14:foregroundMark x1="2711" y1="57967" x2="2711" y2="57967"/>
                        </a14:backgroundRemoval>
                      </a14:imgEffect>
                      <a14:imgEffect>
                        <a14:brightnessContrast bright="-20000" contrast="-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flipH="1">
              <a:off x="2615283" y="4482661"/>
              <a:ext cx="2189308" cy="1980000"/>
            </a:xfrm>
            <a:prstGeom prst="rect">
              <a:avLst/>
            </a:prstGeom>
          </p:spPr>
        </p:pic>
        <p:pic>
          <p:nvPicPr>
            <p:cNvPr id="178" name="Picture 4" descr="성남시 시정소식지 비전성남] 생태도시 성남 - 수중군자, 연꽃이야기">
              <a:extLst>
                <a:ext uri="{FF2B5EF4-FFF2-40B4-BE49-F238E27FC236}">
                  <a16:creationId xmlns:a16="http://schemas.microsoft.com/office/drawing/2014/main" id="{93AAEA5D-AE5C-4180-8C8E-948EB192A34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6" cstate="print">
              <a:extLst>
                <a:ext uri="{BEBA8EAE-BF5A-486C-A8C5-ECC9F3942E4B}">
                  <a14:imgProps xmlns:a14="http://schemas.microsoft.com/office/drawing/2010/main">
                    <a14:imgLayer r:embed="rId27">
                      <a14:imgEffect>
                        <a14:backgroundRemoval t="0" b="96939" l="0" r="98889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88422" y="5070473"/>
              <a:ext cx="1083264" cy="90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79" name="TextBox 178">
            <a:extLst>
              <a:ext uri="{FF2B5EF4-FFF2-40B4-BE49-F238E27FC236}">
                <a16:creationId xmlns:a16="http://schemas.microsoft.com/office/drawing/2014/main" id="{0E479F64-4C50-486E-8118-4D6949FCC6B6}"/>
              </a:ext>
            </a:extLst>
          </p:cNvPr>
          <p:cNvSpPr txBox="1"/>
          <p:nvPr/>
        </p:nvSpPr>
        <p:spPr>
          <a:xfrm>
            <a:off x="1493238" y="5348881"/>
            <a:ext cx="1022503" cy="81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 err="1"/>
              <a:t>연꽃엑소좀</a:t>
            </a:r>
            <a:endParaRPr lang="en-US" altLang="ko-KR" sz="1200" b="1" dirty="0"/>
          </a:p>
          <a:p>
            <a:endParaRPr lang="en-US" altLang="ko-KR" sz="200" b="1" dirty="0"/>
          </a:p>
          <a:p>
            <a:r>
              <a:rPr lang="en-US" altLang="ko-KR" sz="1100" dirty="0"/>
              <a:t>#</a:t>
            </a:r>
            <a:r>
              <a:rPr lang="ko-KR" altLang="en-US" sz="1100" dirty="0"/>
              <a:t>장벽강화</a:t>
            </a:r>
            <a:endParaRPr lang="en-US" altLang="ko-KR" sz="1100" dirty="0"/>
          </a:p>
          <a:p>
            <a:r>
              <a:rPr lang="en-US" altLang="ko-KR" sz="1100" dirty="0"/>
              <a:t>#</a:t>
            </a:r>
            <a:r>
              <a:rPr lang="ko-KR" altLang="en-US" sz="1100" dirty="0"/>
              <a:t>보습</a:t>
            </a:r>
            <a:endParaRPr lang="en-US" altLang="ko-KR" sz="1100" dirty="0"/>
          </a:p>
          <a:p>
            <a:r>
              <a:rPr lang="en-US" altLang="ko-KR" sz="1100" dirty="0"/>
              <a:t>#</a:t>
            </a:r>
            <a:r>
              <a:rPr lang="ko-KR" altLang="en-US" sz="1100" dirty="0"/>
              <a:t>진정</a:t>
            </a:r>
            <a:endParaRPr lang="en-US" altLang="ko-KR" sz="1100" dirty="0"/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6AAE64B5-F0DC-4DAB-8E92-48D10F4A5812}"/>
              </a:ext>
            </a:extLst>
          </p:cNvPr>
          <p:cNvSpPr txBox="1"/>
          <p:nvPr/>
        </p:nvSpPr>
        <p:spPr>
          <a:xfrm>
            <a:off x="1508155" y="6147555"/>
            <a:ext cx="94929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altLang="ko-KR" sz="1000" i="1" dirty="0">
                <a:solidFill>
                  <a:srgbClr val="C00000"/>
                </a:solidFill>
              </a:rPr>
              <a:t>AMPOULE</a:t>
            </a:r>
            <a:endParaRPr lang="ko-KR" altLang="en-US" sz="1000" i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00882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EAE7A143-AE7F-4AB8-A6E4-A9294ACF287A}"/>
              </a:ext>
            </a:extLst>
          </p:cNvPr>
          <p:cNvCxnSpPr/>
          <p:nvPr/>
        </p:nvCxnSpPr>
        <p:spPr>
          <a:xfrm>
            <a:off x="0" y="406396"/>
            <a:ext cx="12192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15D34F4E-D8D4-47CC-81E9-BBE8FEF93A1F}"/>
              </a:ext>
            </a:extLst>
          </p:cNvPr>
          <p:cNvSpPr txBox="1"/>
          <p:nvPr/>
        </p:nvSpPr>
        <p:spPr>
          <a:xfrm>
            <a:off x="76200" y="33974"/>
            <a:ext cx="14523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HOW TO USE</a:t>
            </a:r>
            <a:endParaRPr lang="ko-KR" altLang="en-US" sz="16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5089116-8571-4C4E-BE34-B84C638C8383}"/>
              </a:ext>
            </a:extLst>
          </p:cNvPr>
          <p:cNvSpPr txBox="1"/>
          <p:nvPr/>
        </p:nvSpPr>
        <p:spPr>
          <a:xfrm>
            <a:off x="3045884" y="526810"/>
            <a:ext cx="61002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PREMIUM 2 STEP PROGRAM</a:t>
            </a:r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9C673B59-EF8B-4714-AA4B-2986C5D2096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319" t="2922" r="8153" b="2924"/>
          <a:stretch/>
        </p:blipFill>
        <p:spPr>
          <a:xfrm>
            <a:off x="969808" y="1109131"/>
            <a:ext cx="270072" cy="953193"/>
          </a:xfrm>
          <a:custGeom>
            <a:avLst/>
            <a:gdLst>
              <a:gd name="connsiteX0" fmla="*/ 158003 w 1218635"/>
              <a:gd name="connsiteY0" fmla="*/ 0 h 4301065"/>
              <a:gd name="connsiteX1" fmla="*/ 1042681 w 1218635"/>
              <a:gd name="connsiteY1" fmla="*/ 0 h 4301065"/>
              <a:gd name="connsiteX2" fmla="*/ 1055114 w 1218635"/>
              <a:gd name="connsiteY2" fmla="*/ 4467 h 4301065"/>
              <a:gd name="connsiteX3" fmla="*/ 1084963 w 1218635"/>
              <a:gd name="connsiteY3" fmla="*/ 31515 h 4301065"/>
              <a:gd name="connsiteX4" fmla="*/ 1100202 w 1218635"/>
              <a:gd name="connsiteY4" fmla="*/ 60301 h 4301065"/>
              <a:gd name="connsiteX5" fmla="*/ 1100202 w 1218635"/>
              <a:gd name="connsiteY5" fmla="*/ 597162 h 4301065"/>
              <a:gd name="connsiteX6" fmla="*/ 924521 w 1218635"/>
              <a:gd name="connsiteY6" fmla="*/ 597162 h 4301065"/>
              <a:gd name="connsiteX7" fmla="*/ 957536 w 1218635"/>
              <a:gd name="connsiteY7" fmla="*/ 871007 h 4301065"/>
              <a:gd name="connsiteX8" fmla="*/ 1011201 w 1218635"/>
              <a:gd name="connsiteY8" fmla="*/ 871007 h 4301065"/>
              <a:gd name="connsiteX9" fmla="*/ 1011201 w 1218635"/>
              <a:gd name="connsiteY9" fmla="*/ 915455 h 4301065"/>
              <a:gd name="connsiteX10" fmla="*/ 1100202 w 1218635"/>
              <a:gd name="connsiteY10" fmla="*/ 915455 h 4301065"/>
              <a:gd name="connsiteX11" fmla="*/ 1100202 w 1218635"/>
              <a:gd name="connsiteY11" fmla="*/ 915456 h 4301065"/>
              <a:gd name="connsiteX12" fmla="*/ 1120981 w 1218635"/>
              <a:gd name="connsiteY12" fmla="*/ 915456 h 4301065"/>
              <a:gd name="connsiteX13" fmla="*/ 1119874 w 1218635"/>
              <a:gd name="connsiteY13" fmla="*/ 926209 h 4301065"/>
              <a:gd name="connsiteX14" fmla="*/ 1214030 w 1218635"/>
              <a:gd name="connsiteY14" fmla="*/ 1048409 h 4301065"/>
              <a:gd name="connsiteX15" fmla="*/ 1218635 w 1218635"/>
              <a:gd name="connsiteY15" fmla="*/ 1048409 h 4301065"/>
              <a:gd name="connsiteX16" fmla="*/ 1218635 w 1218635"/>
              <a:gd name="connsiteY16" fmla="*/ 4258827 h 4301065"/>
              <a:gd name="connsiteX17" fmla="*/ 1176397 w 1218635"/>
              <a:gd name="connsiteY17" fmla="*/ 4301065 h 4301065"/>
              <a:gd name="connsiteX18" fmla="*/ 42238 w 1218635"/>
              <a:gd name="connsiteY18" fmla="*/ 4301065 h 4301065"/>
              <a:gd name="connsiteX19" fmla="*/ 16692 w 1218635"/>
              <a:gd name="connsiteY19" fmla="*/ 4290483 h 4301065"/>
              <a:gd name="connsiteX20" fmla="*/ 10585 w 1218635"/>
              <a:gd name="connsiteY20" fmla="*/ 4284380 h 4301065"/>
              <a:gd name="connsiteX21" fmla="*/ 2323 w 1218635"/>
              <a:gd name="connsiteY21" fmla="*/ 4264435 h 4301065"/>
              <a:gd name="connsiteX22" fmla="*/ 0 w 1218635"/>
              <a:gd name="connsiteY22" fmla="*/ 4256238 h 4301065"/>
              <a:gd name="connsiteX23" fmla="*/ 0 w 1218635"/>
              <a:gd name="connsiteY23" fmla="*/ 1048409 h 4301065"/>
              <a:gd name="connsiteX24" fmla="*/ 6201 w 1218635"/>
              <a:gd name="connsiteY24" fmla="*/ 1048409 h 4301065"/>
              <a:gd name="connsiteX25" fmla="*/ 100357 w 1218635"/>
              <a:gd name="connsiteY25" fmla="*/ 926209 h 4301065"/>
              <a:gd name="connsiteX26" fmla="*/ 99250 w 1218635"/>
              <a:gd name="connsiteY26" fmla="*/ 915456 h 4301065"/>
              <a:gd name="connsiteX27" fmla="*/ 123296 w 1218635"/>
              <a:gd name="connsiteY27" fmla="*/ 915456 h 4301065"/>
              <a:gd name="connsiteX28" fmla="*/ 123296 w 1218635"/>
              <a:gd name="connsiteY28" fmla="*/ 915455 h 4301065"/>
              <a:gd name="connsiteX29" fmla="*/ 207434 w 1218635"/>
              <a:gd name="connsiteY29" fmla="*/ 915455 h 4301065"/>
              <a:gd name="connsiteX30" fmla="*/ 207434 w 1218635"/>
              <a:gd name="connsiteY30" fmla="*/ 871007 h 4301065"/>
              <a:gd name="connsiteX31" fmla="*/ 261902 w 1218635"/>
              <a:gd name="connsiteY31" fmla="*/ 871007 h 4301065"/>
              <a:gd name="connsiteX32" fmla="*/ 294917 w 1218635"/>
              <a:gd name="connsiteY32" fmla="*/ 597162 h 4301065"/>
              <a:gd name="connsiteX33" fmla="*/ 123296 w 1218635"/>
              <a:gd name="connsiteY33" fmla="*/ 597162 h 4301065"/>
              <a:gd name="connsiteX34" fmla="*/ 123296 w 1218635"/>
              <a:gd name="connsiteY34" fmla="*/ 44291 h 4301065"/>
              <a:gd name="connsiteX35" fmla="*/ 136363 w 1218635"/>
              <a:gd name="connsiteY35" fmla="*/ 19610 h 4301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218635" h="4301065">
                <a:moveTo>
                  <a:pt x="158003" y="0"/>
                </a:moveTo>
                <a:lnTo>
                  <a:pt x="1042681" y="0"/>
                </a:lnTo>
                <a:lnTo>
                  <a:pt x="1055114" y="4467"/>
                </a:lnTo>
                <a:cubicBezTo>
                  <a:pt x="1066459" y="11396"/>
                  <a:pt x="1076550" y="20596"/>
                  <a:pt x="1084963" y="31515"/>
                </a:cubicBezTo>
                <a:lnTo>
                  <a:pt x="1100202" y="60301"/>
                </a:lnTo>
                <a:lnTo>
                  <a:pt x="1100202" y="597162"/>
                </a:lnTo>
                <a:lnTo>
                  <a:pt x="924521" y="597162"/>
                </a:lnTo>
                <a:lnTo>
                  <a:pt x="957536" y="871007"/>
                </a:lnTo>
                <a:lnTo>
                  <a:pt x="1011201" y="871007"/>
                </a:lnTo>
                <a:lnTo>
                  <a:pt x="1011201" y="915455"/>
                </a:lnTo>
                <a:lnTo>
                  <a:pt x="1100202" y="915455"/>
                </a:lnTo>
                <a:lnTo>
                  <a:pt x="1100202" y="915456"/>
                </a:lnTo>
                <a:lnTo>
                  <a:pt x="1120981" y="915456"/>
                </a:lnTo>
                <a:lnTo>
                  <a:pt x="1119874" y="926209"/>
                </a:lnTo>
                <a:cubicBezTo>
                  <a:pt x="1173580" y="933558"/>
                  <a:pt x="1214030" y="986056"/>
                  <a:pt x="1214030" y="1048409"/>
                </a:cubicBezTo>
                <a:lnTo>
                  <a:pt x="1218635" y="1048409"/>
                </a:lnTo>
                <a:lnTo>
                  <a:pt x="1218635" y="4258827"/>
                </a:lnTo>
                <a:cubicBezTo>
                  <a:pt x="1218635" y="4282154"/>
                  <a:pt x="1199724" y="4301065"/>
                  <a:pt x="1176397" y="4301065"/>
                </a:cubicBezTo>
                <a:lnTo>
                  <a:pt x="42238" y="4301065"/>
                </a:lnTo>
                <a:lnTo>
                  <a:pt x="16692" y="4290483"/>
                </a:lnTo>
                <a:lnTo>
                  <a:pt x="10585" y="4284380"/>
                </a:lnTo>
                <a:lnTo>
                  <a:pt x="2323" y="4264435"/>
                </a:lnTo>
                <a:lnTo>
                  <a:pt x="0" y="4256238"/>
                </a:lnTo>
                <a:lnTo>
                  <a:pt x="0" y="1048409"/>
                </a:lnTo>
                <a:lnTo>
                  <a:pt x="6201" y="1048409"/>
                </a:lnTo>
                <a:cubicBezTo>
                  <a:pt x="6201" y="986056"/>
                  <a:pt x="46651" y="933558"/>
                  <a:pt x="100357" y="926209"/>
                </a:cubicBezTo>
                <a:lnTo>
                  <a:pt x="99250" y="915456"/>
                </a:lnTo>
                <a:lnTo>
                  <a:pt x="123296" y="915456"/>
                </a:lnTo>
                <a:lnTo>
                  <a:pt x="123296" y="915455"/>
                </a:lnTo>
                <a:lnTo>
                  <a:pt x="207434" y="915455"/>
                </a:lnTo>
                <a:lnTo>
                  <a:pt x="207434" y="871007"/>
                </a:lnTo>
                <a:lnTo>
                  <a:pt x="261902" y="871007"/>
                </a:lnTo>
                <a:lnTo>
                  <a:pt x="294917" y="597162"/>
                </a:lnTo>
                <a:lnTo>
                  <a:pt x="123296" y="597162"/>
                </a:lnTo>
                <a:lnTo>
                  <a:pt x="123296" y="44291"/>
                </a:lnTo>
                <a:lnTo>
                  <a:pt x="136363" y="19610"/>
                </a:lnTo>
                <a:close/>
              </a:path>
            </a:pathLst>
          </a:cu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72674AB7-5090-41E8-BA27-4F10856E19A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356" t="6024" r="3504" b="2263"/>
          <a:stretch/>
        </p:blipFill>
        <p:spPr>
          <a:xfrm>
            <a:off x="6530093" y="1456949"/>
            <a:ext cx="463371" cy="552628"/>
          </a:xfrm>
          <a:prstGeom prst="roundRect">
            <a:avLst>
              <a:gd name="adj" fmla="val 1769"/>
            </a:avLst>
          </a:prstGeom>
        </p:spPr>
      </p:pic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F718B49D-8C42-4862-82A0-EF5A107C8A3E}"/>
              </a:ext>
            </a:extLst>
          </p:cNvPr>
          <p:cNvSpPr/>
          <p:nvPr/>
        </p:nvSpPr>
        <p:spPr>
          <a:xfrm>
            <a:off x="1504294" y="1202958"/>
            <a:ext cx="728134" cy="210972"/>
          </a:xfrm>
          <a:prstGeom prst="roundRect">
            <a:avLst>
              <a:gd name="adj" fmla="val 50000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rgbClr val="C00000"/>
                </a:solidFill>
              </a:rPr>
              <a:t>STEP 1</a:t>
            </a:r>
            <a:endParaRPr lang="ko-KR" altLang="en-US" sz="1100" dirty="0">
              <a:solidFill>
                <a:srgbClr val="C00000"/>
              </a:solidFill>
            </a:endParaRP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19E0A0AA-CD01-4FD1-8863-EECE81C25FD0}"/>
              </a:ext>
            </a:extLst>
          </p:cNvPr>
          <p:cNvSpPr/>
          <p:nvPr/>
        </p:nvSpPr>
        <p:spPr>
          <a:xfrm>
            <a:off x="7188197" y="1202958"/>
            <a:ext cx="728134" cy="210972"/>
          </a:xfrm>
          <a:prstGeom prst="roundRect">
            <a:avLst>
              <a:gd name="adj" fmla="val 50000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rgbClr val="C00000"/>
                </a:solidFill>
              </a:rPr>
              <a:t>STEP 2</a:t>
            </a:r>
            <a:endParaRPr lang="ko-KR" altLang="en-US" sz="1100" dirty="0">
              <a:solidFill>
                <a:srgbClr val="C00000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DB8D904-6267-4242-BE02-34B09B3435A3}"/>
              </a:ext>
            </a:extLst>
          </p:cNvPr>
          <p:cNvSpPr txBox="1"/>
          <p:nvPr/>
        </p:nvSpPr>
        <p:spPr>
          <a:xfrm>
            <a:off x="1515533" y="1463391"/>
            <a:ext cx="3384388" cy="5875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dirty="0"/>
              <a:t>“</a:t>
            </a:r>
            <a:r>
              <a:rPr lang="ko-KR" altLang="en-US" sz="1100" dirty="0"/>
              <a:t>피부</a:t>
            </a:r>
            <a:r>
              <a:rPr lang="en-US" altLang="ko-KR" sz="1100" dirty="0"/>
              <a:t> </a:t>
            </a:r>
            <a:r>
              <a:rPr lang="ko-KR" altLang="en-US" sz="1100" dirty="0"/>
              <a:t>깊은 곳부터 깨어나는 맑고 건강한 생명력</a:t>
            </a:r>
            <a:r>
              <a:rPr lang="en-US" altLang="ko-KR" sz="1100" dirty="0"/>
              <a:t>”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Skin Awakening #Tone Up #Radiance Booster</a:t>
            </a:r>
            <a:endParaRPr lang="ko-KR" altLang="en-US" sz="12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5C31F08-17A7-49A0-81F2-DA05534F3FCB}"/>
              </a:ext>
            </a:extLst>
          </p:cNvPr>
          <p:cNvSpPr txBox="1"/>
          <p:nvPr/>
        </p:nvSpPr>
        <p:spPr>
          <a:xfrm>
            <a:off x="7188197" y="1463391"/>
            <a:ext cx="3741730" cy="5875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dirty="0"/>
              <a:t>“</a:t>
            </a:r>
            <a:r>
              <a:rPr lang="ko-KR" altLang="en-US" sz="1100" dirty="0"/>
              <a:t>투명하게 빛나는 피부 결을 완성하는 섬세한 광채 케어</a:t>
            </a:r>
            <a:r>
              <a:rPr lang="en-US" altLang="ko-KR" sz="1100" dirty="0"/>
              <a:t>”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#Overnight</a:t>
            </a:r>
            <a:r>
              <a:rPr lang="ko-KR" altLang="en-US" sz="120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ko-KR" sz="120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Care #Brightening #Barrier Recovery</a:t>
            </a:r>
            <a:endParaRPr lang="ko-KR" altLang="en-US" sz="1200"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2FF4009-4ECA-4D51-8920-B8A48C9AE55E}"/>
              </a:ext>
            </a:extLst>
          </p:cNvPr>
          <p:cNvSpPr txBox="1"/>
          <p:nvPr/>
        </p:nvSpPr>
        <p:spPr>
          <a:xfrm>
            <a:off x="2280550" y="1169944"/>
            <a:ext cx="35783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DR.CGF MELA EXOSOME SPICULE AMPOULE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5FEA1AC-ACBB-4243-9D48-09ED7F0E5BE9}"/>
              </a:ext>
            </a:extLst>
          </p:cNvPr>
          <p:cNvSpPr txBox="1"/>
          <p:nvPr/>
        </p:nvSpPr>
        <p:spPr>
          <a:xfrm>
            <a:off x="7950198" y="1169944"/>
            <a:ext cx="36999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DR.CGF MELA EXOSOME SPICULE NIGHT CREAM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65F7ECD3-F21E-40B6-9594-E337F74B4C53}"/>
              </a:ext>
            </a:extLst>
          </p:cNvPr>
          <p:cNvSpPr/>
          <p:nvPr/>
        </p:nvSpPr>
        <p:spPr>
          <a:xfrm>
            <a:off x="541867" y="2323604"/>
            <a:ext cx="11108265" cy="99727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535D97B9-BCF9-4497-8CDA-D041D099CAB7}"/>
              </a:ext>
            </a:extLst>
          </p:cNvPr>
          <p:cNvSpPr/>
          <p:nvPr/>
        </p:nvSpPr>
        <p:spPr>
          <a:xfrm>
            <a:off x="541867" y="4499733"/>
            <a:ext cx="9533467" cy="100291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F11865B-AE95-4724-A7F4-E18D1006312B}"/>
              </a:ext>
            </a:extLst>
          </p:cNvPr>
          <p:cNvSpPr txBox="1"/>
          <p:nvPr/>
        </p:nvSpPr>
        <p:spPr>
          <a:xfrm>
            <a:off x="2229641" y="2651266"/>
            <a:ext cx="7396959" cy="5674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/>
              <a:t>클렌징 후 피부 표면의 노폐물과 각질을 정돈하여 유효성분 흡수를 극대화할 수 있는 상태로 만들어 줍니다</a:t>
            </a:r>
            <a:r>
              <a:rPr lang="en-US" altLang="ko-KR" sz="1100" dirty="0"/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/>
              <a:t>토너 또는 </a:t>
            </a:r>
            <a:r>
              <a:rPr lang="ko-KR" altLang="en-US" sz="1100" dirty="0" err="1"/>
              <a:t>부스팅</a:t>
            </a:r>
            <a:r>
              <a:rPr lang="ko-KR" altLang="en-US" sz="1100" dirty="0"/>
              <a:t> </a:t>
            </a:r>
            <a:r>
              <a:rPr lang="ko-KR" altLang="en-US" sz="1100" dirty="0" err="1"/>
              <a:t>미스트로</a:t>
            </a:r>
            <a:r>
              <a:rPr lang="ko-KR" altLang="en-US" sz="1100" dirty="0"/>
              <a:t> 피부 결을 정돈하고 수분을 충분히 공급합니다</a:t>
            </a:r>
            <a:r>
              <a:rPr lang="en-US" altLang="ko-KR" sz="1100" dirty="0"/>
              <a:t>.</a:t>
            </a:r>
            <a:endParaRPr lang="ko-KR" altLang="en-US" sz="1100" dirty="0"/>
          </a:p>
        </p:txBody>
      </p:sp>
      <p:pic>
        <p:nvPicPr>
          <p:cNvPr id="46" name="Picture 4" descr="뷰티 스파, 얼굴 피부 및 신체 건강 관리 아이콘 - 로열티 프리 아이콘 벡터 아트">
            <a:extLst>
              <a:ext uri="{FF2B5EF4-FFF2-40B4-BE49-F238E27FC236}">
                <a16:creationId xmlns:a16="http://schemas.microsoft.com/office/drawing/2014/main" id="{65803421-DB10-4F83-974B-C07D87B477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25" t="53163" r="62461" b="29794"/>
          <a:stretch/>
        </p:blipFill>
        <p:spPr bwMode="auto">
          <a:xfrm>
            <a:off x="1260020" y="2402037"/>
            <a:ext cx="850560" cy="850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6561E43F-90F8-4F39-BAE1-48B7B485AE3C}"/>
              </a:ext>
            </a:extLst>
          </p:cNvPr>
          <p:cNvSpPr txBox="1"/>
          <p:nvPr/>
        </p:nvSpPr>
        <p:spPr>
          <a:xfrm>
            <a:off x="2229641" y="2413915"/>
            <a:ext cx="504045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/>
              <a:t>피부 준비 단계 </a:t>
            </a:r>
            <a:r>
              <a:rPr lang="en-US" altLang="ko-KR" sz="1200" b="1" dirty="0"/>
              <a:t>(Prepping) </a:t>
            </a:r>
            <a:r>
              <a:rPr lang="en-US" altLang="ko-KR" sz="1050" dirty="0"/>
              <a:t>#CLEANSING</a:t>
            </a:r>
            <a:r>
              <a:rPr lang="ko-KR" altLang="en-US" sz="1050" dirty="0"/>
              <a:t> </a:t>
            </a:r>
            <a:r>
              <a:rPr lang="en-US" altLang="ko-KR" sz="1050" dirty="0"/>
              <a:t>#TONER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A93EE5B3-219A-4E2C-A9F0-D36B1E953DE0}"/>
              </a:ext>
            </a:extLst>
          </p:cNvPr>
          <p:cNvSpPr/>
          <p:nvPr/>
        </p:nvSpPr>
        <p:spPr>
          <a:xfrm>
            <a:off x="541868" y="3410012"/>
            <a:ext cx="9533466" cy="99727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C076831-C90C-4D82-A1D1-76D1EDCC1E61}"/>
              </a:ext>
            </a:extLst>
          </p:cNvPr>
          <p:cNvSpPr txBox="1"/>
          <p:nvPr/>
        </p:nvSpPr>
        <p:spPr>
          <a:xfrm>
            <a:off x="2229642" y="3746141"/>
            <a:ext cx="7515492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 dirty="0"/>
              <a:t>손 또는 </a:t>
            </a:r>
            <a:r>
              <a:rPr lang="ko-KR" altLang="en-US" sz="1100" dirty="0" err="1"/>
              <a:t>브러쉬를</a:t>
            </a:r>
            <a:r>
              <a:rPr lang="ko-KR" altLang="en-US" sz="1100" dirty="0"/>
              <a:t> 이용해 얼굴 전체에 앰플을 고르게 도포합니다</a:t>
            </a:r>
            <a:r>
              <a:rPr lang="en-US" altLang="ko-KR" sz="110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 dirty="0"/>
              <a:t>부드럽게 롤링 후 손끝과 손바닥을 사용해 얼굴 전체를 가볍게 눌러 </a:t>
            </a:r>
            <a:r>
              <a:rPr lang="ko-KR" altLang="en-US" sz="1100" dirty="0" err="1"/>
              <a:t>스피큘이</a:t>
            </a:r>
            <a:r>
              <a:rPr lang="ko-KR" altLang="en-US" sz="1100" dirty="0"/>
              <a:t> 피부에 고르게 침투하도록 합니다</a:t>
            </a:r>
            <a:r>
              <a:rPr lang="en-US" altLang="ko-KR" sz="110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dirty="0"/>
              <a:t>2~3</a:t>
            </a:r>
            <a:r>
              <a:rPr lang="ko-KR" altLang="en-US" sz="1100" dirty="0"/>
              <a:t>분간 흡수 시간을 충분히 두어 활성 성분이 피부 깊숙이 전달되도록 합니다</a:t>
            </a:r>
            <a:r>
              <a:rPr lang="en-US" altLang="ko-KR" sz="1100" dirty="0"/>
              <a:t>.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79F0749-13F4-4C53-845D-69BE1A6E37E3}"/>
              </a:ext>
            </a:extLst>
          </p:cNvPr>
          <p:cNvSpPr txBox="1"/>
          <p:nvPr/>
        </p:nvSpPr>
        <p:spPr>
          <a:xfrm>
            <a:off x="2229641" y="3491856"/>
            <a:ext cx="79303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/>
              <a:t>앰플 도포 </a:t>
            </a:r>
            <a:r>
              <a:rPr lang="en-US" altLang="ko-KR" sz="1200" b="1" dirty="0"/>
              <a:t>(Ampoule) </a:t>
            </a:r>
            <a:r>
              <a:rPr lang="en-US" altLang="ko-KR" sz="1050" dirty="0"/>
              <a:t>#DR.CGF MELA EXOSOME SPICULE Ampoule</a:t>
            </a:r>
            <a:endParaRPr lang="ko-KR" altLang="en-US" sz="1050" dirty="0"/>
          </a:p>
        </p:txBody>
      </p:sp>
      <p:pic>
        <p:nvPicPr>
          <p:cNvPr id="51" name="Picture 4" descr="뷰티 스파, 얼굴 피부 및 신체 건강 관리 아이콘 - 로열티 프리 아이콘 벡터 아트">
            <a:extLst>
              <a:ext uri="{FF2B5EF4-FFF2-40B4-BE49-F238E27FC236}">
                <a16:creationId xmlns:a16="http://schemas.microsoft.com/office/drawing/2014/main" id="{E9D37FCB-EE9E-4945-868A-41A0D8C20F9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036" t="6381" r="43150" b="76576"/>
          <a:stretch/>
        </p:blipFill>
        <p:spPr bwMode="auto">
          <a:xfrm>
            <a:off x="1311657" y="4585335"/>
            <a:ext cx="859274" cy="859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Picture 4" descr="뷰티 스파, 얼굴 피부 및 신체 건강 관리 아이콘 - 로열티 프리 아이콘 벡터 아트">
            <a:extLst>
              <a:ext uri="{FF2B5EF4-FFF2-40B4-BE49-F238E27FC236}">
                <a16:creationId xmlns:a16="http://schemas.microsoft.com/office/drawing/2014/main" id="{C00CC9DD-8E79-46F4-9427-1A3E5E617E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036" t="76814" r="43150" b="6143"/>
          <a:stretch/>
        </p:blipFill>
        <p:spPr bwMode="auto">
          <a:xfrm>
            <a:off x="1311657" y="3491856"/>
            <a:ext cx="832115" cy="832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41C2C4DB-5887-4B69-A2AE-1110114D40F0}"/>
              </a:ext>
            </a:extLst>
          </p:cNvPr>
          <p:cNvSpPr txBox="1"/>
          <p:nvPr/>
        </p:nvSpPr>
        <p:spPr>
          <a:xfrm>
            <a:off x="10234292" y="3707054"/>
            <a:ext cx="1648503" cy="13926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rgbClr val="C00000"/>
                </a:solidFill>
              </a:rPr>
              <a:t>* </a:t>
            </a:r>
            <a:r>
              <a:rPr lang="ko-KR" altLang="en-US" sz="1100" dirty="0">
                <a:solidFill>
                  <a:srgbClr val="C00000"/>
                </a:solidFill>
              </a:rPr>
              <a:t>약간의 따가움이나 </a:t>
            </a:r>
            <a:endParaRPr lang="en-US" altLang="ko-KR" sz="1100" dirty="0">
              <a:solidFill>
                <a:srgbClr val="C00000"/>
              </a:solidFill>
            </a:endParaRP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rgbClr val="C00000"/>
                </a:solidFill>
              </a:rPr>
              <a:t>붉어짐은 </a:t>
            </a:r>
            <a:r>
              <a:rPr lang="ko-KR" altLang="en-US" sz="1100" dirty="0" err="1">
                <a:solidFill>
                  <a:srgbClr val="C00000"/>
                </a:solidFill>
              </a:rPr>
              <a:t>스피큘이</a:t>
            </a:r>
            <a:r>
              <a:rPr lang="ko-KR" altLang="en-US" sz="1100" dirty="0">
                <a:solidFill>
                  <a:srgbClr val="C00000"/>
                </a:solidFill>
              </a:rPr>
              <a:t> </a:t>
            </a:r>
            <a:endParaRPr lang="en-US" altLang="ko-KR" sz="1100" dirty="0">
              <a:solidFill>
                <a:srgbClr val="C00000"/>
              </a:solidFill>
            </a:endParaRP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rgbClr val="C00000"/>
                </a:solidFill>
              </a:rPr>
              <a:t>피부 속으로 침투되는 </a:t>
            </a:r>
            <a:endParaRPr lang="en-US" altLang="ko-KR" sz="1100" dirty="0">
              <a:solidFill>
                <a:srgbClr val="C00000"/>
              </a:solidFill>
            </a:endParaRP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rgbClr val="C00000"/>
                </a:solidFill>
              </a:rPr>
              <a:t>자연스러운 반응입니다</a:t>
            </a:r>
            <a:r>
              <a:rPr lang="en-US" altLang="ko-KR" sz="1100" dirty="0">
                <a:solidFill>
                  <a:srgbClr val="C00000"/>
                </a:solidFill>
              </a:rPr>
              <a:t>.</a:t>
            </a:r>
            <a:endParaRPr lang="ko-KR" altLang="en-US" sz="1100" dirty="0">
              <a:solidFill>
                <a:srgbClr val="C00000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2C4A087-FD06-4FDB-B2B4-485CA086B3D9}"/>
              </a:ext>
            </a:extLst>
          </p:cNvPr>
          <p:cNvSpPr txBox="1"/>
          <p:nvPr/>
        </p:nvSpPr>
        <p:spPr>
          <a:xfrm>
            <a:off x="2229641" y="4838841"/>
            <a:ext cx="75154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 dirty="0"/>
              <a:t>앰플 흡수 후 적당량의 크림을 손에 덜어 피부 결에 따라 부드럽게 마사지하듯 도포합니다</a:t>
            </a:r>
            <a:r>
              <a:rPr lang="en-US" altLang="ko-KR" sz="110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 dirty="0"/>
              <a:t>부드럽게 롤링 후 손끝과 손바닥을 사용해 얼굴 전체를 가볍게 눌러 </a:t>
            </a:r>
            <a:r>
              <a:rPr lang="ko-KR" altLang="en-US" sz="1100" dirty="0" err="1"/>
              <a:t>스피큘이</a:t>
            </a:r>
            <a:r>
              <a:rPr lang="ko-KR" altLang="en-US" sz="1100" dirty="0"/>
              <a:t> 피부에 고르게 침투하도록 합니다</a:t>
            </a:r>
            <a:r>
              <a:rPr lang="en-US" altLang="ko-KR" sz="1100" dirty="0"/>
              <a:t>.</a:t>
            </a:r>
          </a:p>
          <a:p>
            <a:endParaRPr lang="en-US" altLang="ko-KR" sz="300" dirty="0"/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ko-KR" altLang="en-US" sz="11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멜라닌 색소가 과도한 국소 부위에는 크림을 덧발라 각질을 탈락시켜 주세요</a:t>
            </a:r>
            <a:r>
              <a:rPr lang="en-US" altLang="ko-KR" sz="11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D3D813B-3586-4851-9F32-C991EDF79123}"/>
              </a:ext>
            </a:extLst>
          </p:cNvPr>
          <p:cNvSpPr txBox="1"/>
          <p:nvPr/>
        </p:nvSpPr>
        <p:spPr>
          <a:xfrm>
            <a:off x="2229641" y="4584556"/>
            <a:ext cx="79303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/>
              <a:t>크림 도포 </a:t>
            </a:r>
            <a:r>
              <a:rPr lang="en-US" altLang="ko-KR" sz="1200" b="1" dirty="0"/>
              <a:t>(Cream)</a:t>
            </a:r>
            <a:r>
              <a:rPr lang="en-US" altLang="ko-KR" sz="1200" dirty="0"/>
              <a:t> </a:t>
            </a:r>
            <a:r>
              <a:rPr lang="en-US" altLang="ko-KR" sz="1050" dirty="0"/>
              <a:t>#DR.CGF MELA EXOSOME SPICULE NIGHT CREAM</a:t>
            </a:r>
            <a:endParaRPr lang="ko-KR" altLang="en-US" sz="1050" dirty="0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06F9D2E7-BA01-4FE0-B0E6-3AEDBB00033E}"/>
              </a:ext>
            </a:extLst>
          </p:cNvPr>
          <p:cNvSpPr/>
          <p:nvPr/>
        </p:nvSpPr>
        <p:spPr>
          <a:xfrm>
            <a:off x="541868" y="5597914"/>
            <a:ext cx="11108264" cy="99727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88BDA7A-4A57-46A9-A4ED-74BE0EDE7E44}"/>
              </a:ext>
            </a:extLst>
          </p:cNvPr>
          <p:cNvSpPr txBox="1"/>
          <p:nvPr/>
        </p:nvSpPr>
        <p:spPr>
          <a:xfrm>
            <a:off x="2229643" y="5934043"/>
            <a:ext cx="5508892" cy="5674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/>
              <a:t>필요에 따라 </a:t>
            </a:r>
            <a:r>
              <a:rPr lang="ko-KR" altLang="en-US" sz="1100" dirty="0" err="1"/>
              <a:t>진정팩</a:t>
            </a:r>
            <a:r>
              <a:rPr lang="ko-KR" altLang="en-US" sz="1100" dirty="0"/>
              <a:t> 또는 쿨링 마스크를 적용하여 피부를 안정화 시킵니다</a:t>
            </a:r>
            <a:r>
              <a:rPr lang="en-US" altLang="ko-KR" sz="1100" dirty="0"/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/>
              <a:t>자외선 차단제를 덧발라 외부 자극으로부터 보호합니다</a:t>
            </a:r>
            <a:r>
              <a:rPr lang="en-US" altLang="ko-KR" sz="1100" dirty="0"/>
              <a:t>.</a:t>
            </a:r>
            <a:endParaRPr lang="ko-KR" altLang="en-US" sz="11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ABFE00A-7272-411C-8A02-3684352C8A96}"/>
              </a:ext>
            </a:extLst>
          </p:cNvPr>
          <p:cNvSpPr txBox="1"/>
          <p:nvPr/>
        </p:nvSpPr>
        <p:spPr>
          <a:xfrm>
            <a:off x="2229642" y="5696692"/>
            <a:ext cx="504045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/>
              <a:t>마무리 단계 </a:t>
            </a:r>
            <a:r>
              <a:rPr lang="en-US" altLang="ko-KR" sz="1200" b="1" dirty="0"/>
              <a:t>(Finishing) </a:t>
            </a:r>
            <a:r>
              <a:rPr lang="en-US" altLang="ko-KR" sz="1050" dirty="0"/>
              <a:t>#MASK</a:t>
            </a:r>
            <a:r>
              <a:rPr lang="ko-KR" altLang="en-US" sz="1050" dirty="0"/>
              <a:t> </a:t>
            </a:r>
            <a:r>
              <a:rPr lang="en-US" altLang="ko-KR" sz="1050" dirty="0"/>
              <a:t>#SUN CREAM</a:t>
            </a:r>
          </a:p>
        </p:txBody>
      </p:sp>
      <p:pic>
        <p:nvPicPr>
          <p:cNvPr id="62" name="Picture 6" descr="SPA와 뷰티 심플 라인 아이콘 세트. 피부 관리, 치료, 휴식, 럭셔리, 테라피, 마사지, 웰빙 - �로열티 프리 아이콘 벡터 아트">
            <a:extLst>
              <a:ext uri="{FF2B5EF4-FFF2-40B4-BE49-F238E27FC236}">
                <a16:creationId xmlns:a16="http://schemas.microsoft.com/office/drawing/2014/main" id="{F40228BE-0360-4092-A54C-0F9F3811615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832" t="62467" r="52885" b="24794"/>
          <a:stretch/>
        </p:blipFill>
        <p:spPr bwMode="auto">
          <a:xfrm>
            <a:off x="1359684" y="6009300"/>
            <a:ext cx="467695" cy="492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3" name="Picture 2" descr="생산가능 품목-마스크팩 - SJM COSMETIC">
            <a:extLst>
              <a:ext uri="{FF2B5EF4-FFF2-40B4-BE49-F238E27FC236}">
                <a16:creationId xmlns:a16="http://schemas.microsoft.com/office/drawing/2014/main" id="{E1752C60-66E7-49B5-A751-F2DFCD2234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0741" y="5694493"/>
            <a:ext cx="466601" cy="466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D5B40A8A-7867-460C-B8CC-26C0BF450D29}"/>
              </a:ext>
            </a:extLst>
          </p:cNvPr>
          <p:cNvSpPr txBox="1"/>
          <p:nvPr/>
        </p:nvSpPr>
        <p:spPr>
          <a:xfrm>
            <a:off x="685806" y="2363210"/>
            <a:ext cx="57573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>
                <a:solidFill>
                  <a:schemeClr val="accent5">
                    <a:lumMod val="50000"/>
                  </a:schemeClr>
                </a:solidFill>
              </a:rPr>
              <a:t>➊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F8783AC-1B58-4734-A469-C86051E3CFAB}"/>
              </a:ext>
            </a:extLst>
          </p:cNvPr>
          <p:cNvSpPr txBox="1"/>
          <p:nvPr/>
        </p:nvSpPr>
        <p:spPr>
          <a:xfrm>
            <a:off x="683893" y="4554582"/>
            <a:ext cx="57573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>
                <a:solidFill>
                  <a:schemeClr val="accent5">
                    <a:lumMod val="50000"/>
                  </a:schemeClr>
                </a:solidFill>
              </a:rPr>
              <a:t>➌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1D9BC29-BB0A-42A9-8A3F-F5CB729CF66D}"/>
              </a:ext>
            </a:extLst>
          </p:cNvPr>
          <p:cNvSpPr txBox="1"/>
          <p:nvPr/>
        </p:nvSpPr>
        <p:spPr>
          <a:xfrm>
            <a:off x="685805" y="3454869"/>
            <a:ext cx="57573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>
                <a:solidFill>
                  <a:schemeClr val="accent5">
                    <a:lumMod val="50000"/>
                  </a:schemeClr>
                </a:solidFill>
              </a:rPr>
              <a:t>➋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157FFC9-8768-49C0-A7A9-17A2376BCCC7}"/>
              </a:ext>
            </a:extLst>
          </p:cNvPr>
          <p:cNvSpPr txBox="1"/>
          <p:nvPr/>
        </p:nvSpPr>
        <p:spPr>
          <a:xfrm>
            <a:off x="683893" y="5644680"/>
            <a:ext cx="57573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>
                <a:solidFill>
                  <a:schemeClr val="accent5">
                    <a:lumMod val="50000"/>
                  </a:schemeClr>
                </a:solidFill>
              </a:rPr>
              <a:t>➍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45083CF-395F-4115-B5D5-028832F28192}"/>
              </a:ext>
            </a:extLst>
          </p:cNvPr>
          <p:cNvSpPr/>
          <p:nvPr/>
        </p:nvSpPr>
        <p:spPr>
          <a:xfrm>
            <a:off x="6222999" y="1024038"/>
            <a:ext cx="5427133" cy="1102268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456A830D-1453-4AAB-A741-5122D6294B88}"/>
              </a:ext>
            </a:extLst>
          </p:cNvPr>
          <p:cNvSpPr/>
          <p:nvPr/>
        </p:nvSpPr>
        <p:spPr>
          <a:xfrm>
            <a:off x="541867" y="1024038"/>
            <a:ext cx="5427133" cy="1102268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14999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EAE7A143-AE7F-4AB8-A6E4-A9294ACF287A}"/>
              </a:ext>
            </a:extLst>
          </p:cNvPr>
          <p:cNvCxnSpPr/>
          <p:nvPr/>
        </p:nvCxnSpPr>
        <p:spPr>
          <a:xfrm>
            <a:off x="0" y="406396"/>
            <a:ext cx="12192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15D34F4E-D8D4-47CC-81E9-BBE8FEF93A1F}"/>
              </a:ext>
            </a:extLst>
          </p:cNvPr>
          <p:cNvSpPr txBox="1"/>
          <p:nvPr/>
        </p:nvSpPr>
        <p:spPr>
          <a:xfrm>
            <a:off x="76200" y="33974"/>
            <a:ext cx="14866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RECOMMEND</a:t>
            </a:r>
            <a:endParaRPr lang="ko-KR" altLang="en-US" sz="1600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10261F02-D146-48C0-B192-E29C2E3DD6B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072"/>
          <a:stretch/>
        </p:blipFill>
        <p:spPr bwMode="auto">
          <a:xfrm>
            <a:off x="632580" y="1497874"/>
            <a:ext cx="3026768" cy="4207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39C997E-E531-46B5-A6E9-15FBF509009C}"/>
              </a:ext>
            </a:extLst>
          </p:cNvPr>
          <p:cNvSpPr txBox="1"/>
          <p:nvPr/>
        </p:nvSpPr>
        <p:spPr>
          <a:xfrm>
            <a:off x="4275865" y="1712339"/>
            <a:ext cx="7441461" cy="37782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/>
              <a:t>피부</a:t>
            </a:r>
            <a:r>
              <a:rPr lang="en-US" altLang="ko-KR" dirty="0"/>
              <a:t> </a:t>
            </a:r>
            <a:r>
              <a:rPr lang="ko-KR" altLang="en-US" dirty="0"/>
              <a:t>톤이 칙칙하고 </a:t>
            </a:r>
            <a:r>
              <a:rPr lang="ko-KR" altLang="en-US" b="1" dirty="0"/>
              <a:t>기미</a:t>
            </a:r>
            <a:r>
              <a:rPr lang="en-US" altLang="ko-KR" b="1" dirty="0"/>
              <a:t>·</a:t>
            </a:r>
            <a:r>
              <a:rPr lang="ko-KR" altLang="en-US" b="1" dirty="0"/>
              <a:t>잡티</a:t>
            </a:r>
            <a:r>
              <a:rPr lang="en-US" altLang="ko-KR" b="1" dirty="0"/>
              <a:t>·</a:t>
            </a:r>
            <a:r>
              <a:rPr lang="ko-KR" altLang="en-US" b="1" dirty="0"/>
              <a:t>색소침착</a:t>
            </a:r>
            <a:r>
              <a:rPr lang="ko-KR" altLang="en-US" dirty="0"/>
              <a:t>이 고민이신 분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/>
              <a:t>잦은 </a:t>
            </a:r>
            <a:r>
              <a:rPr lang="ko-KR" altLang="en-US" b="1" dirty="0"/>
              <a:t>외부 자극으로 잃어버린 피부 활력과 윤기</a:t>
            </a:r>
            <a:r>
              <a:rPr lang="ko-KR" altLang="en-US" dirty="0"/>
              <a:t>를 되찾고 싶으신 분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 err="1"/>
              <a:t>속건조</a:t>
            </a:r>
            <a:r>
              <a:rPr lang="en-US" altLang="ko-KR" dirty="0"/>
              <a:t>·</a:t>
            </a:r>
            <a:r>
              <a:rPr lang="ko-KR" altLang="en-US" dirty="0"/>
              <a:t>탄력 저하 등 </a:t>
            </a:r>
            <a:r>
              <a:rPr lang="ko-KR" altLang="en-US" b="1" dirty="0"/>
              <a:t>복합적인 피부 고민</a:t>
            </a:r>
            <a:r>
              <a:rPr lang="ko-KR" altLang="en-US" dirty="0"/>
              <a:t>을 케어하고 싶으신 분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/>
              <a:t>피부 본연의 </a:t>
            </a:r>
            <a:r>
              <a:rPr lang="ko-KR" altLang="en-US" b="1" dirty="0" err="1"/>
              <a:t>재생력을</a:t>
            </a:r>
            <a:r>
              <a:rPr lang="ko-KR" altLang="en-US" b="1" dirty="0"/>
              <a:t> 끌어올려 밝고 맑은 안색</a:t>
            </a:r>
            <a:r>
              <a:rPr lang="ko-KR" altLang="en-US" dirty="0"/>
              <a:t>을 원하시는 분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/>
              <a:t>일반 </a:t>
            </a:r>
            <a:r>
              <a:rPr lang="ko-KR" altLang="en-US" dirty="0" err="1"/>
              <a:t>홈케어만으로</a:t>
            </a:r>
            <a:r>
              <a:rPr lang="ko-KR" altLang="en-US" dirty="0"/>
              <a:t> 부족해 </a:t>
            </a:r>
            <a:r>
              <a:rPr lang="ko-KR" altLang="en-US" b="1" dirty="0"/>
              <a:t>전문 관리 프로그램</a:t>
            </a:r>
            <a:r>
              <a:rPr lang="ko-KR" altLang="en-US" dirty="0"/>
              <a:t>을 원하시는 분</a:t>
            </a:r>
          </a:p>
        </p:txBody>
      </p:sp>
    </p:spTree>
    <p:extLst>
      <p:ext uri="{BB962C8B-B14F-4D97-AF65-F5344CB8AC3E}">
        <p14:creationId xmlns:p14="http://schemas.microsoft.com/office/powerpoint/2010/main" val="10916885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타원 3">
            <a:extLst>
              <a:ext uri="{FF2B5EF4-FFF2-40B4-BE49-F238E27FC236}">
                <a16:creationId xmlns:a16="http://schemas.microsoft.com/office/drawing/2014/main" id="{8775AAA1-0696-4379-8366-8EB154BA30EE}"/>
              </a:ext>
            </a:extLst>
          </p:cNvPr>
          <p:cNvSpPr/>
          <p:nvPr/>
        </p:nvSpPr>
        <p:spPr>
          <a:xfrm>
            <a:off x="8685782" y="2060856"/>
            <a:ext cx="2757023" cy="273628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FDF976-5AB4-4EF1-8334-4E74C7C6F22C}"/>
              </a:ext>
            </a:extLst>
          </p:cNvPr>
          <p:cNvSpPr txBox="1"/>
          <p:nvPr/>
        </p:nvSpPr>
        <p:spPr>
          <a:xfrm>
            <a:off x="9013258" y="3167389"/>
            <a:ext cx="23762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b="1" i="0" u="none" strike="noStrike" baseline="0" dirty="0">
                <a:solidFill>
                  <a:schemeClr val="bg1"/>
                </a:solidFill>
                <a:latin typeface="Century Gothic" panose="020B0502020202020204" pitchFamily="34" charset="0"/>
                <a:ea typeface="맑은 고딕" panose="020B0503020000020004" pitchFamily="50" charset="-127"/>
              </a:rPr>
              <a:t>THANK YOU.</a:t>
            </a:r>
            <a:endParaRPr lang="ko-KR" altLang="en-US" sz="2800" b="1" dirty="0">
              <a:solidFill>
                <a:schemeClr val="bg1"/>
              </a:solidFill>
              <a:ea typeface="맑은 고딕" panose="020B0503020000020004" pitchFamily="50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06ED6972-7879-4A3A-B9FD-6FF05E1393D4}"/>
              </a:ext>
            </a:extLst>
          </p:cNvPr>
          <p:cNvCxnSpPr>
            <a:cxnSpLocks/>
          </p:cNvCxnSpPr>
          <p:nvPr/>
        </p:nvCxnSpPr>
        <p:spPr>
          <a:xfrm>
            <a:off x="730262" y="3425203"/>
            <a:ext cx="7776000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CF055B9-83CA-4E3D-83A1-0101A7311C52}"/>
              </a:ext>
            </a:extLst>
          </p:cNvPr>
          <p:cNvSpPr txBox="1"/>
          <p:nvPr/>
        </p:nvSpPr>
        <p:spPr>
          <a:xfrm>
            <a:off x="6538341" y="2999302"/>
            <a:ext cx="2009351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endParaRPr lang="en-US" altLang="ko-KR" sz="1100" b="0" i="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r"/>
            <a:r>
              <a:rPr lang="en-US" altLang="ko-KR" sz="1000" b="0" i="0" dirty="0">
                <a:solidFill>
                  <a:srgbClr val="000000"/>
                </a:solidFill>
                <a:effectLst/>
                <a:latin typeface="+mn-ea"/>
                <a:ea typeface="맑은 고딕" panose="020B0503020000020004" pitchFamily="50" charset="-127"/>
              </a:rPr>
              <a:t>Thank you for reading</a:t>
            </a:r>
            <a:endParaRPr lang="ko-KR" altLang="en-US" sz="1000" dirty="0">
              <a:latin typeface="+mn-ea"/>
              <a:ea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3A7914-A4BB-4D7B-826E-394C5E5A2D52}"/>
              </a:ext>
            </a:extLst>
          </p:cNvPr>
          <p:cNvSpPr txBox="1"/>
          <p:nvPr/>
        </p:nvSpPr>
        <p:spPr>
          <a:xfrm>
            <a:off x="6453534" y="3450630"/>
            <a:ext cx="209415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000" dirty="0">
                <a:ea typeface="맑은 고딕" panose="020B0503020000020004" pitchFamily="50" charset="-127"/>
              </a:rPr>
              <a:t>Contact us : www.bnglobal.co.kr</a:t>
            </a:r>
            <a:endParaRPr lang="ko-KR" altLang="en-US" sz="1000" dirty="0"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519190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20000000000000000000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20000000000000000000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21474836470000000000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21474836470000000000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1C3D62"/>
      </a:dk2>
      <a:lt2>
        <a:srgbClr val="E3DCC1"/>
      </a:lt2>
      <a:accent1>
        <a:srgbClr val="315F97"/>
      </a:accent1>
      <a:accent2>
        <a:srgbClr val="C75252"/>
      </a:accent2>
      <a:accent3>
        <a:srgbClr val="E9AE2B"/>
      </a:accent3>
      <a:accent4>
        <a:srgbClr val="699B37"/>
      </a:accent4>
      <a:accent5>
        <a:srgbClr val="358791"/>
      </a:accent5>
      <a:accent6>
        <a:srgbClr val="CA56A7"/>
      </a:accent6>
      <a:hlink>
        <a:srgbClr val="0000FF"/>
      </a:hlink>
      <a:folHlink>
        <a:srgbClr val="800080"/>
      </a:folHlink>
    </a:clrScheme>
    <a:fontScheme name="한컴오피스">
      <a:majorFont>
        <a:latin typeface="함초롬돋움"/>
        <a:ea typeface="함초롬돋움"/>
        <a:cs typeface="Times New Roman"/>
      </a:majorFont>
      <a:minorFont>
        <a:latin typeface="함초롬돋움"/>
        <a:ea typeface="함초롬돋움"/>
        <a:cs typeface="Times New Roman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</TotalTime>
  <Words>2730</Words>
  <Application>Microsoft Office PowerPoint</Application>
  <PresentationFormat>와이드스크린</PresentationFormat>
  <Paragraphs>525</Paragraphs>
  <Slides>26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17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26</vt:i4>
      </vt:variant>
    </vt:vector>
  </HeadingPairs>
  <TitlesOfParts>
    <vt:vector size="45" baseType="lpstr">
      <vt:lpstr>-apple-system</vt:lpstr>
      <vt:lpstr>G마켓 산스 Light</vt:lpstr>
      <vt:lpstr>G마켓 산스 Medium</vt:lpstr>
      <vt:lpstr>G마켓 산스 TTF Bold</vt:lpstr>
      <vt:lpstr>G마켓 산스 TTF Light</vt:lpstr>
      <vt:lpstr>G마켓 산스 TTF Medium</vt:lpstr>
      <vt:lpstr>HGGothicE</vt:lpstr>
      <vt:lpstr>HY헤드라인M</vt:lpstr>
      <vt:lpstr>KoPubWorld돋움체 Bold</vt:lpstr>
      <vt:lpstr>KoPubWorld돋움체 Medium</vt:lpstr>
      <vt:lpstr>굴림</vt:lpstr>
      <vt:lpstr>맑은 고딕</vt:lpstr>
      <vt:lpstr>함초롬돋움</vt:lpstr>
      <vt:lpstr>Arial</vt:lpstr>
      <vt:lpstr>Calibri</vt:lpstr>
      <vt:lpstr>Century Gothic</vt:lpstr>
      <vt:lpstr>Wingdings</vt:lpstr>
      <vt:lpstr>Office 테마</vt:lpstr>
      <vt:lpstr>1_Office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지은 배</dc:creator>
  <cp:lastModifiedBy>이재윤</cp:lastModifiedBy>
  <cp:revision>164</cp:revision>
  <dcterms:created xsi:type="dcterms:W3CDTF">2025-10-17T01:46:32Z</dcterms:created>
  <dcterms:modified xsi:type="dcterms:W3CDTF">2025-11-05T05:30:09Z</dcterms:modified>
  <cp:version>1000.0000.01</cp:version>
</cp:coreProperties>
</file>

<file path=[Content_Types].xml><?xml version="1.0" encoding="utf-8"?>
<Types xmlns="http://schemas.openxmlformats.org/package/2006/content-types">
  <Default Extension="jpg" ContentType="image/jp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
  </p:notesMasterIdLst>
  <p:sldIdLst>
    <p:sldId id="256" r:id="rId2"/>
    <p:sldId id="257" r:id="rId3"/>
    <p:sldId id="258" r:id="rId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25" d="100"/>
          <a:sy n="125" d="100"/>
        </p:scale>
        <p:origin x="-102" y="15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867988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dùng để mở đầu đào tạo và thống nhất tư duy: không tiếp cận khách hàng như một giao dịch đơn lẻ mà xây dựng hành trình đối tác dài hạn.
Huấn luyện đội ngũ tập trung vào 4 kết quả: tiếp cận đúng tệp Spa/Clinic, tạo trải nghiệm sản phẩm thật, chốt lịch chuyên gia và chuyển đổi thành đối tác hệ thống.
Điểm nhấn phân tích: khách chỉ tin khi họ nhìn thấy năng lực công ty, thấy sản phẩm có thể trải nghiệm, và thấy kế hoạch đồng hành sau bán.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là phần đào tạo thực chiến cho đội kinh doanh. Với khách mới, đội ngũ phải đi đủ 5 bước để tạo niềm tin trước khi chốt lịch chuyên gia.
Với khách đã biết sản phẩm, không tranh luận giá ngay. Hỏi về trải nghiệm, nguồn nhập và mong muốn hỗ trợ để tìm điểm đau.
Sau buổi gặp, bắt buộc cập nhật checklist: lưu thông tin, kết bạn Zalo, gửi catalogue/bảng giá, giới thiệu chính sách, hẹn lịch chuyên gia và đưa vào danh sách chăm sóc.</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chuẩn hóa hội thảo 20–30 khách theo mốc thời gian. Người phụ trách phải bám checklist trước sự kiện, trong sự kiện và sau sự kiện để không bỏ sót khâu chuyển đổi.
Trong ngày sự kiện, cấu trúc nên đi từ đón khách, giới thiệu thương hiệu, chuyên gia đào tạo, demo/soi da/trải nghiệm, ưu đãi và chốt đơn.
Sau sự kiện là phần quyết định doanh thu: gửi cảm ơn, ảnh/video, catalogue, chính sách, gọi chăm sóc, đặt lịch demo/đào tạo và theo dõi doanh số.</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BFA"/>
        </a:solidFill>
        <a:effectLst/>
      </p:bgPr>
    </p:bg>
    <p:spTree>
      <p:nvGrpSpPr>
        <p:cNvPr id="1" name=""/>
        <p:cNvGrpSpPr/>
        <p:nvPr/>
      </p:nvGrpSpPr>
      <p:grpSpPr>
        <a:xfrm>
          <a:off x="0" y="0"/>
          <a:ext cx="0" cy="0"/>
          <a:chOff x="0" y="0"/>
          <a:chExt cx="0" cy="0"/>
        </a:xfrm>
      </p:grpSpPr>
      <p:pic>
        <p:nvPicPr>
          <p:cNvPr id="2" name="Image 0" descr="/mnt/data/slide1_photo.jpg"/>
          <p:cNvPicPr>
            <a:picLocks noChangeAspect="1"/>
          </p:cNvPicPr>
          <p:nvPr/>
        </p:nvPicPr>
        <p:blipFill>
          <a:blip r:embed="rId3"/>
          <a:stretch>
            <a:fillRect/>
          </a:stretch>
        </p:blipFill>
        <p:spPr>
          <a:xfrm>
            <a:off x="7863840" y="0"/>
            <a:ext cx="4325112" cy="6858000"/>
          </a:xfrm>
          <a:prstGeom prst="rect">
            <a:avLst/>
          </a:prstGeom>
        </p:spPr>
      </p:pic>
      <p:sp>
        <p:nvSpPr>
          <p:cNvPr id="3" name="Text 0"/>
          <p:cNvSpPr/>
          <p:nvPr/>
        </p:nvSpPr>
        <p:spPr>
          <a:xfrm>
            <a:off x="502920" y="256032"/>
            <a:ext cx="7086600" cy="347472"/>
          </a:xfrm>
          <a:prstGeom prst="rect">
            <a:avLst/>
          </a:prstGeom>
          <a:noFill/>
          <a:ln/>
        </p:spPr>
        <p:txBody>
          <a:bodyPr wrap="square" lIns="0" tIns="0" rIns="0" bIns="0" rtlCol="0" anchor="ctr"/>
          <a:lstStyle/>
          <a:p>
            <a:pPr marL="0" indent="0">
              <a:buNone/>
            </a:pPr>
            <a:r>
              <a:rPr lang="en-US" sz="2400" b="1" dirty="0">
                <a:solidFill>
                  <a:srgbClr val="0D3B2E"/>
                </a:solidFill>
                <a:latin typeface="Aptos Display" pitchFamily="34" charset="0"/>
                <a:ea typeface="Aptos Display" pitchFamily="34" charset="-122"/>
                <a:cs typeface="Aptos Display" pitchFamily="34" charset="-120"/>
              </a:rPr>
              <a:t>ĐÀO TẠO KHAI THÁC &amp; CHUYỂN ĐỔI ĐỐI TÁC</a:t>
            </a:r>
            <a:endParaRPr lang="en-US" sz="2400" dirty="0"/>
          </a:p>
        </p:txBody>
      </p:sp>
      <p:sp>
        <p:nvSpPr>
          <p:cNvPr id="4" name="Text 1"/>
          <p:cNvSpPr/>
          <p:nvPr/>
        </p:nvSpPr>
        <p:spPr>
          <a:xfrm>
            <a:off x="530352" y="676656"/>
            <a:ext cx="6720840" cy="256032"/>
          </a:xfrm>
          <a:prstGeom prst="rect">
            <a:avLst/>
          </a:prstGeom>
          <a:noFill/>
          <a:ln/>
        </p:spPr>
        <p:txBody>
          <a:bodyPr wrap="square" lIns="0" tIns="0" rIns="0" bIns="0" rtlCol="0" anchor="ctr"/>
          <a:lstStyle/>
          <a:p>
            <a:pPr marL="0" indent="0">
              <a:buNone/>
            </a:pPr>
            <a:r>
              <a:rPr lang="en-US" sz="1200" b="1" dirty="0">
                <a:solidFill>
                  <a:srgbClr val="667572"/>
                </a:solidFill>
              </a:rPr>
              <a:t>3 nội dung lõi: khách hàng mới • khách đã biết sản phẩm • hội thảo 20–30 khách</a:t>
            </a:r>
            <a:endParaRPr lang="en-US" sz="1200" dirty="0"/>
          </a:p>
        </p:txBody>
      </p:sp>
      <p:sp>
        <p:nvSpPr>
          <p:cNvPr id="5" name="Shape 2"/>
          <p:cNvSpPr/>
          <p:nvPr/>
        </p:nvSpPr>
        <p:spPr>
          <a:xfrm>
            <a:off x="502920" y="978408"/>
            <a:ext cx="1920240" cy="0"/>
          </a:xfrm>
          <a:prstGeom prst="line">
            <a:avLst/>
          </a:prstGeom>
          <a:noFill/>
          <a:ln w="26670">
            <a:solidFill>
              <a:srgbClr val="C6A365"/>
            </a:solidFill>
            <a:prstDash val="solid"/>
          </a:ln>
        </p:spPr>
      </p:sp>
      <p:sp>
        <p:nvSpPr>
          <p:cNvPr id="6" name="Text 3"/>
          <p:cNvSpPr/>
          <p:nvPr/>
        </p:nvSpPr>
        <p:spPr>
          <a:xfrm>
            <a:off x="502920" y="1161288"/>
            <a:ext cx="2743200" cy="256032"/>
          </a:xfrm>
          <a:prstGeom prst="rect">
            <a:avLst/>
          </a:prstGeom>
          <a:noFill/>
          <a:ln/>
        </p:spPr>
        <p:txBody>
          <a:bodyPr wrap="square" lIns="0" tIns="0" rIns="0" bIns="0" rtlCol="0" anchor="ctr"/>
          <a:lstStyle/>
          <a:p>
            <a:pPr marL="0" indent="0">
              <a:buNone/>
            </a:pPr>
            <a:r>
              <a:rPr lang="en-US" sz="1600" b="1" dirty="0">
                <a:solidFill>
                  <a:srgbClr val="1E2A2A"/>
                </a:solidFill>
              </a:rPr>
              <a:t>Mục tiêu đào tạo</a:t>
            </a:r>
            <a:endParaRPr lang="en-US" sz="1600" dirty="0"/>
          </a:p>
        </p:txBody>
      </p:sp>
      <p:sp>
        <p:nvSpPr>
          <p:cNvPr id="7" name="Shape 4"/>
          <p:cNvSpPr/>
          <p:nvPr/>
        </p:nvSpPr>
        <p:spPr>
          <a:xfrm>
            <a:off x="502920" y="1527048"/>
            <a:ext cx="3337560" cy="850392"/>
          </a:xfrm>
          <a:prstGeom prst="roundRect">
            <a:avLst>
              <a:gd name="adj" fmla="val 6452"/>
            </a:avLst>
          </a:prstGeom>
          <a:solidFill>
            <a:srgbClr val="FFFFFF"/>
          </a:solidFill>
          <a:ln w="12700">
            <a:solidFill>
              <a:srgbClr val="D6E5E0">
                <a:alpha val="90000"/>
              </a:srgbClr>
            </a:solidFill>
            <a:prstDash val="solid"/>
          </a:ln>
          <a:effectLst>
            <a:outerShdw blurRad="12700" dist="50800" dir="2700000" algn="bl" rotWithShape="0">
              <a:srgbClr val="000000">
                <a:alpha val="6000"/>
              </a:srgbClr>
            </a:outerShdw>
          </a:effectLst>
        </p:spPr>
      </p:sp>
      <p:sp>
        <p:nvSpPr>
          <p:cNvPr id="8" name="Shape 5"/>
          <p:cNvSpPr/>
          <p:nvPr/>
        </p:nvSpPr>
        <p:spPr>
          <a:xfrm>
            <a:off x="612648" y="1655064"/>
            <a:ext cx="384048" cy="384048"/>
          </a:xfrm>
          <a:prstGeom prst="ellipse">
            <a:avLst/>
          </a:prstGeom>
          <a:solidFill>
            <a:srgbClr val="E8F3EF"/>
          </a:solidFill>
          <a:ln w="12700">
            <a:solidFill>
              <a:srgbClr val="E8F3EF"/>
            </a:solidFill>
            <a:prstDash val="solid"/>
          </a:ln>
        </p:spPr>
      </p:sp>
      <p:sp>
        <p:nvSpPr>
          <p:cNvPr id="9" name="Text 6"/>
          <p:cNvSpPr/>
          <p:nvPr/>
        </p:nvSpPr>
        <p:spPr>
          <a:xfrm>
            <a:off x="667512" y="1728216"/>
            <a:ext cx="274320" cy="182880"/>
          </a:xfrm>
          <a:prstGeom prst="rect">
            <a:avLst/>
          </a:prstGeom>
          <a:noFill/>
          <a:ln/>
        </p:spPr>
        <p:txBody>
          <a:bodyPr wrap="square" lIns="0" tIns="0" rIns="0" bIns="0" rtlCol="0" anchor="ctr"/>
          <a:lstStyle/>
          <a:p>
            <a:pPr marL="0" indent="0" algn="ctr">
              <a:buNone/>
            </a:pPr>
            <a:r>
              <a:rPr lang="en-US" sz="1100" dirty="0">
                <a:solidFill>
                  <a:srgbClr val="000000"/>
                </a:solidFill>
              </a:rPr>
              <a:t>🎯</a:t>
            </a:r>
            <a:endParaRPr lang="en-US" sz="1100" dirty="0"/>
          </a:p>
        </p:txBody>
      </p:sp>
      <p:sp>
        <p:nvSpPr>
          <p:cNvPr id="10" name="Text 7"/>
          <p:cNvSpPr/>
          <p:nvPr/>
        </p:nvSpPr>
        <p:spPr>
          <a:xfrm>
            <a:off x="1124712" y="1636776"/>
            <a:ext cx="2606040" cy="182880"/>
          </a:xfrm>
          <a:prstGeom prst="rect">
            <a:avLst/>
          </a:prstGeom>
          <a:noFill/>
          <a:ln/>
        </p:spPr>
        <p:txBody>
          <a:bodyPr wrap="square" lIns="0" tIns="0" rIns="0" bIns="0" rtlCol="0" anchor="ctr"/>
          <a:lstStyle/>
          <a:p>
            <a:pPr marL="0" indent="0">
              <a:buNone/>
            </a:pPr>
            <a:r>
              <a:rPr lang="en-US" sz="1100" b="1" dirty="0">
                <a:solidFill>
                  <a:srgbClr val="0D3B2E"/>
                </a:solidFill>
              </a:rPr>
              <a:t>Mở rộng thị trường</a:t>
            </a:r>
            <a:endParaRPr lang="en-US" sz="1100" dirty="0"/>
          </a:p>
        </p:txBody>
      </p:sp>
      <p:sp>
        <p:nvSpPr>
          <p:cNvPr id="11" name="Text 8"/>
          <p:cNvSpPr/>
          <p:nvPr/>
        </p:nvSpPr>
        <p:spPr>
          <a:xfrm>
            <a:off x="1124712" y="1856232"/>
            <a:ext cx="2587752" cy="438912"/>
          </a:xfrm>
          <a:prstGeom prst="rect">
            <a:avLst/>
          </a:prstGeom>
          <a:noFill/>
          <a:ln/>
        </p:spPr>
        <p:txBody>
          <a:bodyPr wrap="square" lIns="0" tIns="0" rIns="0" bIns="0" rtlCol="0" anchor="ctr">
            <a:noAutofit/>
          </a:bodyPr>
          <a:lstStyle/>
          <a:p>
            <a:pPr marL="0" indent="0">
              <a:buNone/>
            </a:pPr>
            <a:r>
              <a:rPr lang="en-US" sz="1100" dirty="0">
                <a:solidFill>
                  <a:srgbClr val="667572"/>
                </a:solidFill>
              </a:rPr>
              <a:t>Tiếp cận Spa, Thẩm mỹ viện, Clinic; tạo quan hệ ban đầu và định vị giải pháp Hàn Quốc.</a:t>
            </a:r>
            <a:endParaRPr lang="en-US" sz="1100" dirty="0"/>
          </a:p>
        </p:txBody>
      </p:sp>
      <p:sp>
        <p:nvSpPr>
          <p:cNvPr id="12" name="Shape 9"/>
          <p:cNvSpPr/>
          <p:nvPr/>
        </p:nvSpPr>
        <p:spPr>
          <a:xfrm>
            <a:off x="3977640" y="1527048"/>
            <a:ext cx="3337560" cy="850392"/>
          </a:xfrm>
          <a:prstGeom prst="roundRect">
            <a:avLst>
              <a:gd name="adj" fmla="val 6452"/>
            </a:avLst>
          </a:prstGeom>
          <a:solidFill>
            <a:srgbClr val="FFFFFF"/>
          </a:solidFill>
          <a:ln w="12700">
            <a:solidFill>
              <a:srgbClr val="D6E5E0">
                <a:alpha val="90000"/>
              </a:srgbClr>
            </a:solidFill>
            <a:prstDash val="solid"/>
          </a:ln>
          <a:effectLst>
            <a:outerShdw blurRad="12700" dist="50800" dir="2700000" algn="bl" rotWithShape="0">
              <a:srgbClr val="000000">
                <a:alpha val="6000"/>
              </a:srgbClr>
            </a:outerShdw>
          </a:effectLst>
        </p:spPr>
      </p:sp>
      <p:sp>
        <p:nvSpPr>
          <p:cNvPr id="13" name="Shape 10"/>
          <p:cNvSpPr/>
          <p:nvPr/>
        </p:nvSpPr>
        <p:spPr>
          <a:xfrm>
            <a:off x="4087368" y="1655064"/>
            <a:ext cx="384048" cy="384048"/>
          </a:xfrm>
          <a:prstGeom prst="ellipse">
            <a:avLst/>
          </a:prstGeom>
          <a:solidFill>
            <a:srgbClr val="E8F3EF"/>
          </a:solidFill>
          <a:ln w="12700">
            <a:solidFill>
              <a:srgbClr val="E8F3EF"/>
            </a:solidFill>
            <a:prstDash val="solid"/>
          </a:ln>
        </p:spPr>
      </p:sp>
      <p:sp>
        <p:nvSpPr>
          <p:cNvPr id="14" name="Text 11"/>
          <p:cNvSpPr/>
          <p:nvPr/>
        </p:nvSpPr>
        <p:spPr>
          <a:xfrm>
            <a:off x="4142232" y="1728216"/>
            <a:ext cx="274320" cy="182880"/>
          </a:xfrm>
          <a:prstGeom prst="rect">
            <a:avLst/>
          </a:prstGeom>
          <a:noFill/>
          <a:ln/>
        </p:spPr>
        <p:txBody>
          <a:bodyPr wrap="square" lIns="0" tIns="0" rIns="0" bIns="0" rtlCol="0" anchor="ctr"/>
          <a:lstStyle/>
          <a:p>
            <a:pPr marL="0" indent="0" algn="ctr">
              <a:buNone/>
            </a:pPr>
            <a:r>
              <a:rPr lang="en-US" sz="1100" dirty="0">
                <a:solidFill>
                  <a:srgbClr val="000000"/>
                </a:solidFill>
              </a:rPr>
              <a:t>💎</a:t>
            </a:r>
            <a:endParaRPr lang="en-US" sz="1100" dirty="0"/>
          </a:p>
        </p:txBody>
      </p:sp>
      <p:sp>
        <p:nvSpPr>
          <p:cNvPr id="15" name="Text 12"/>
          <p:cNvSpPr/>
          <p:nvPr/>
        </p:nvSpPr>
        <p:spPr>
          <a:xfrm>
            <a:off x="4599432" y="1636776"/>
            <a:ext cx="2606040" cy="182880"/>
          </a:xfrm>
          <a:prstGeom prst="rect">
            <a:avLst/>
          </a:prstGeom>
          <a:noFill/>
          <a:ln/>
        </p:spPr>
        <p:txBody>
          <a:bodyPr wrap="square" lIns="0" tIns="0" rIns="0" bIns="0" rtlCol="0" anchor="ctr"/>
          <a:lstStyle/>
          <a:p>
            <a:pPr marL="0" indent="0">
              <a:buNone/>
            </a:pPr>
            <a:r>
              <a:rPr lang="en-US" sz="1100" b="1" dirty="0">
                <a:solidFill>
                  <a:srgbClr val="0D3B2E"/>
                </a:solidFill>
              </a:rPr>
              <a:t>Tạo trải nghiệm thực tế</a:t>
            </a:r>
            <a:endParaRPr lang="en-US" sz="1100" dirty="0"/>
          </a:p>
        </p:txBody>
      </p:sp>
      <p:sp>
        <p:nvSpPr>
          <p:cNvPr id="16" name="Text 13"/>
          <p:cNvSpPr/>
          <p:nvPr/>
        </p:nvSpPr>
        <p:spPr>
          <a:xfrm>
            <a:off x="4599432" y="1856232"/>
            <a:ext cx="2587752" cy="438912"/>
          </a:xfrm>
          <a:prstGeom prst="rect">
            <a:avLst/>
          </a:prstGeom>
          <a:noFill/>
          <a:ln/>
        </p:spPr>
        <p:txBody>
          <a:bodyPr wrap="square" lIns="0" tIns="0" rIns="0" bIns="0" rtlCol="0" anchor="ctr">
            <a:normAutofit/>
          </a:bodyPr>
          <a:lstStyle/>
          <a:p>
            <a:pPr marL="0" indent="0">
              <a:buNone/>
            </a:pPr>
            <a:r>
              <a:rPr lang="en-US" sz="1100" dirty="0">
                <a:solidFill>
                  <a:srgbClr val="667572"/>
                </a:solidFill>
              </a:rPr>
              <a:t>Demo sản phẩm, test trên da, giải đáp thắc mắc để tăng niềm tin trước khi chốt lịch.</a:t>
            </a:r>
            <a:endParaRPr lang="en-US" sz="1100" dirty="0"/>
          </a:p>
        </p:txBody>
      </p:sp>
      <p:sp>
        <p:nvSpPr>
          <p:cNvPr id="17" name="Shape 14"/>
          <p:cNvSpPr/>
          <p:nvPr/>
        </p:nvSpPr>
        <p:spPr>
          <a:xfrm>
            <a:off x="502920" y="2532888"/>
            <a:ext cx="3337560" cy="914400"/>
          </a:xfrm>
          <a:prstGeom prst="roundRect">
            <a:avLst>
              <a:gd name="adj" fmla="val 6000"/>
            </a:avLst>
          </a:prstGeom>
          <a:solidFill>
            <a:srgbClr val="FFFFFF"/>
          </a:solidFill>
          <a:ln w="12700">
            <a:solidFill>
              <a:srgbClr val="D6E5E0">
                <a:alpha val="90000"/>
              </a:srgbClr>
            </a:solidFill>
            <a:prstDash val="solid"/>
          </a:ln>
          <a:effectLst>
            <a:outerShdw blurRad="12700" dist="50800" dir="2700000" algn="bl" rotWithShape="0">
              <a:srgbClr val="000000">
                <a:alpha val="6000"/>
              </a:srgbClr>
            </a:outerShdw>
          </a:effectLst>
        </p:spPr>
      </p:sp>
      <p:sp>
        <p:nvSpPr>
          <p:cNvPr id="18" name="Shape 15"/>
          <p:cNvSpPr/>
          <p:nvPr/>
        </p:nvSpPr>
        <p:spPr>
          <a:xfrm>
            <a:off x="612648" y="2660904"/>
            <a:ext cx="384048" cy="384048"/>
          </a:xfrm>
          <a:prstGeom prst="ellipse">
            <a:avLst/>
          </a:prstGeom>
          <a:solidFill>
            <a:srgbClr val="E8F3EF"/>
          </a:solidFill>
          <a:ln w="12700">
            <a:solidFill>
              <a:srgbClr val="E8F3EF"/>
            </a:solidFill>
            <a:prstDash val="solid"/>
          </a:ln>
        </p:spPr>
      </p:sp>
      <p:sp>
        <p:nvSpPr>
          <p:cNvPr id="19" name="Text 16"/>
          <p:cNvSpPr/>
          <p:nvPr/>
        </p:nvSpPr>
        <p:spPr>
          <a:xfrm>
            <a:off x="667512" y="2734056"/>
            <a:ext cx="274320" cy="182880"/>
          </a:xfrm>
          <a:prstGeom prst="rect">
            <a:avLst/>
          </a:prstGeom>
          <a:noFill/>
          <a:ln/>
        </p:spPr>
        <p:txBody>
          <a:bodyPr wrap="square" lIns="0" tIns="0" rIns="0" bIns="0" rtlCol="0" anchor="ctr"/>
          <a:lstStyle/>
          <a:p>
            <a:pPr marL="0" indent="0" algn="ctr">
              <a:buNone/>
            </a:pPr>
            <a:r>
              <a:rPr lang="en-US" sz="1100" dirty="0">
                <a:solidFill>
                  <a:srgbClr val="000000"/>
                </a:solidFill>
              </a:rPr>
              <a:t>👨‍⚕️</a:t>
            </a:r>
            <a:endParaRPr lang="en-US" sz="1100" dirty="0"/>
          </a:p>
        </p:txBody>
      </p:sp>
      <p:sp>
        <p:nvSpPr>
          <p:cNvPr id="20" name="Text 17"/>
          <p:cNvSpPr/>
          <p:nvPr/>
        </p:nvSpPr>
        <p:spPr>
          <a:xfrm>
            <a:off x="1124712" y="2642616"/>
            <a:ext cx="2606040" cy="182880"/>
          </a:xfrm>
          <a:prstGeom prst="rect">
            <a:avLst/>
          </a:prstGeom>
          <a:noFill/>
          <a:ln/>
        </p:spPr>
        <p:txBody>
          <a:bodyPr wrap="square" lIns="0" tIns="0" rIns="0" bIns="0" rtlCol="0" anchor="ctr"/>
          <a:lstStyle/>
          <a:p>
            <a:pPr marL="0" indent="0">
              <a:buNone/>
            </a:pPr>
            <a:r>
              <a:rPr lang="en-US" sz="1100" b="1" dirty="0">
                <a:solidFill>
                  <a:srgbClr val="0D3B2E"/>
                </a:solidFill>
              </a:rPr>
              <a:t>Chốt đào tạo chuyên gia</a:t>
            </a:r>
            <a:endParaRPr lang="en-US" sz="1100" dirty="0"/>
          </a:p>
        </p:txBody>
      </p:sp>
      <p:sp>
        <p:nvSpPr>
          <p:cNvPr id="21" name="Text 18"/>
          <p:cNvSpPr/>
          <p:nvPr/>
        </p:nvSpPr>
        <p:spPr>
          <a:xfrm>
            <a:off x="1124712" y="2862072"/>
            <a:ext cx="2587752" cy="502920"/>
          </a:xfrm>
          <a:prstGeom prst="rect">
            <a:avLst/>
          </a:prstGeom>
          <a:noFill/>
          <a:ln/>
        </p:spPr>
        <p:txBody>
          <a:bodyPr wrap="square" lIns="0" tIns="0" rIns="0" bIns="0" rtlCol="0" anchor="ctr">
            <a:normAutofit/>
          </a:bodyPr>
          <a:lstStyle/>
          <a:p>
            <a:pPr marL="0" indent="0">
              <a:buNone/>
            </a:pPr>
            <a:r>
              <a:rPr lang="en-US" sz="1100" dirty="0">
                <a:solidFill>
                  <a:srgbClr val="667572"/>
                </a:solidFill>
              </a:rPr>
              <a:t>Đưa khách vào lịch bác sĩ/chuyên gia: soi da, tư vấn phác đồ, demo công nghệ, hỗ trợ bán hàng.</a:t>
            </a:r>
            <a:endParaRPr lang="en-US" sz="1100" dirty="0"/>
          </a:p>
        </p:txBody>
      </p:sp>
      <p:sp>
        <p:nvSpPr>
          <p:cNvPr id="22" name="Shape 19"/>
          <p:cNvSpPr/>
          <p:nvPr/>
        </p:nvSpPr>
        <p:spPr>
          <a:xfrm>
            <a:off x="3977640" y="2532888"/>
            <a:ext cx="3337560" cy="914400"/>
          </a:xfrm>
          <a:prstGeom prst="roundRect">
            <a:avLst>
              <a:gd name="adj" fmla="val 6000"/>
            </a:avLst>
          </a:prstGeom>
          <a:solidFill>
            <a:srgbClr val="FFFFFF"/>
          </a:solidFill>
          <a:ln w="12700">
            <a:solidFill>
              <a:srgbClr val="D6E5E0">
                <a:alpha val="90000"/>
              </a:srgbClr>
            </a:solidFill>
            <a:prstDash val="solid"/>
          </a:ln>
          <a:effectLst>
            <a:outerShdw blurRad="12700" dist="50800" dir="2700000" algn="bl" rotWithShape="0">
              <a:srgbClr val="000000">
                <a:alpha val="6000"/>
              </a:srgbClr>
            </a:outerShdw>
          </a:effectLst>
        </p:spPr>
      </p:sp>
      <p:sp>
        <p:nvSpPr>
          <p:cNvPr id="23" name="Shape 20"/>
          <p:cNvSpPr/>
          <p:nvPr/>
        </p:nvSpPr>
        <p:spPr>
          <a:xfrm>
            <a:off x="4087368" y="2660904"/>
            <a:ext cx="384048" cy="384048"/>
          </a:xfrm>
          <a:prstGeom prst="ellipse">
            <a:avLst/>
          </a:prstGeom>
          <a:solidFill>
            <a:srgbClr val="E8F3EF"/>
          </a:solidFill>
          <a:ln w="12700">
            <a:solidFill>
              <a:srgbClr val="E8F3EF"/>
            </a:solidFill>
            <a:prstDash val="solid"/>
          </a:ln>
        </p:spPr>
      </p:sp>
      <p:sp>
        <p:nvSpPr>
          <p:cNvPr id="24" name="Text 21"/>
          <p:cNvSpPr/>
          <p:nvPr/>
        </p:nvSpPr>
        <p:spPr>
          <a:xfrm>
            <a:off x="4142232" y="2734056"/>
            <a:ext cx="274320" cy="182880"/>
          </a:xfrm>
          <a:prstGeom prst="rect">
            <a:avLst/>
          </a:prstGeom>
          <a:noFill/>
          <a:ln/>
        </p:spPr>
        <p:txBody>
          <a:bodyPr wrap="square" lIns="0" tIns="0" rIns="0" bIns="0" rtlCol="0" anchor="ctr"/>
          <a:lstStyle/>
          <a:p>
            <a:pPr marL="0" indent="0" algn="ctr">
              <a:buNone/>
            </a:pPr>
            <a:r>
              <a:rPr lang="en-US" sz="1100" dirty="0">
                <a:solidFill>
                  <a:srgbClr val="000000"/>
                </a:solidFill>
              </a:rPr>
              <a:t>🤝</a:t>
            </a:r>
            <a:endParaRPr lang="en-US" sz="1100" dirty="0"/>
          </a:p>
        </p:txBody>
      </p:sp>
      <p:sp>
        <p:nvSpPr>
          <p:cNvPr id="25" name="Text 22"/>
          <p:cNvSpPr/>
          <p:nvPr/>
        </p:nvSpPr>
        <p:spPr>
          <a:xfrm>
            <a:off x="4599432" y="2642616"/>
            <a:ext cx="2606040" cy="182880"/>
          </a:xfrm>
          <a:prstGeom prst="rect">
            <a:avLst/>
          </a:prstGeom>
          <a:noFill/>
          <a:ln/>
        </p:spPr>
        <p:txBody>
          <a:bodyPr wrap="square" lIns="0" tIns="0" rIns="0" bIns="0" rtlCol="0" anchor="ctr"/>
          <a:lstStyle/>
          <a:p>
            <a:pPr marL="0" indent="0">
              <a:buNone/>
            </a:pPr>
            <a:r>
              <a:rPr lang="en-US" sz="1100" b="1" dirty="0">
                <a:solidFill>
                  <a:srgbClr val="0D3B2E"/>
                </a:solidFill>
              </a:rPr>
              <a:t>Chuyển đổi đối tác</a:t>
            </a:r>
            <a:endParaRPr lang="en-US" sz="1100" dirty="0"/>
          </a:p>
        </p:txBody>
      </p:sp>
      <p:sp>
        <p:nvSpPr>
          <p:cNvPr id="26" name="Text 23"/>
          <p:cNvSpPr/>
          <p:nvPr/>
        </p:nvSpPr>
        <p:spPr>
          <a:xfrm>
            <a:off x="4599432" y="2862072"/>
            <a:ext cx="2587752" cy="502920"/>
          </a:xfrm>
          <a:prstGeom prst="rect">
            <a:avLst/>
          </a:prstGeom>
          <a:noFill/>
          <a:ln/>
        </p:spPr>
        <p:txBody>
          <a:bodyPr wrap="square" lIns="0" tIns="0" rIns="0" bIns="0" rtlCol="0" anchor="ctr">
            <a:normAutofit/>
          </a:bodyPr>
          <a:lstStyle/>
          <a:p>
            <a:pPr marL="0" indent="0">
              <a:buNone/>
            </a:pPr>
            <a:r>
              <a:rPr lang="en-US" sz="1100" dirty="0">
                <a:solidFill>
                  <a:srgbClr val="667572"/>
                </a:solidFill>
              </a:rPr>
              <a:t>Không bán bằng giá; bán bằng giá trị, giải pháp, chính sách đồng hành và hệ thống hỗ trợ.</a:t>
            </a:r>
            <a:endParaRPr lang="en-US" sz="1100" dirty="0"/>
          </a:p>
        </p:txBody>
      </p:sp>
      <p:sp>
        <p:nvSpPr>
          <p:cNvPr id="27" name="Text 24"/>
          <p:cNvSpPr/>
          <p:nvPr/>
        </p:nvSpPr>
        <p:spPr>
          <a:xfrm>
            <a:off x="502920" y="3730752"/>
            <a:ext cx="3383280" cy="228600"/>
          </a:xfrm>
          <a:prstGeom prst="rect">
            <a:avLst/>
          </a:prstGeom>
          <a:noFill/>
          <a:ln/>
        </p:spPr>
        <p:txBody>
          <a:bodyPr wrap="square" lIns="0" tIns="0" rIns="0" bIns="0" rtlCol="0" anchor="ctr"/>
          <a:lstStyle/>
          <a:p>
            <a:pPr marL="0" indent="0">
              <a:buNone/>
            </a:pPr>
            <a:r>
              <a:rPr lang="en-US" sz="1500" b="1" dirty="0">
                <a:solidFill>
                  <a:srgbClr val="1E2A2A"/>
                </a:solidFill>
              </a:rPr>
              <a:t>Hành trình hợp tác chuẩn</a:t>
            </a:r>
            <a:endParaRPr lang="en-US" sz="1500" dirty="0"/>
          </a:p>
        </p:txBody>
      </p:sp>
      <p:sp>
        <p:nvSpPr>
          <p:cNvPr id="28" name="Shape 25"/>
          <p:cNvSpPr/>
          <p:nvPr/>
        </p:nvSpPr>
        <p:spPr>
          <a:xfrm>
            <a:off x="594360" y="4187952"/>
            <a:ext cx="1078992" cy="786384"/>
          </a:xfrm>
          <a:prstGeom prst="roundRect">
            <a:avLst>
              <a:gd name="adj" fmla="val 6977"/>
            </a:avLst>
          </a:prstGeom>
          <a:solidFill>
            <a:srgbClr val="FFFFFF"/>
          </a:solidFill>
          <a:ln w="12700">
            <a:solidFill>
              <a:srgbClr val="D3E4DE"/>
            </a:solidFill>
            <a:prstDash val="solid"/>
          </a:ln>
        </p:spPr>
      </p:sp>
      <p:sp>
        <p:nvSpPr>
          <p:cNvPr id="29" name="Text 26"/>
          <p:cNvSpPr/>
          <p:nvPr/>
        </p:nvSpPr>
        <p:spPr>
          <a:xfrm>
            <a:off x="667512" y="4261104"/>
            <a:ext cx="219456" cy="164592"/>
          </a:xfrm>
          <a:prstGeom prst="rect">
            <a:avLst/>
          </a:prstGeom>
          <a:noFill/>
          <a:ln/>
        </p:spPr>
        <p:txBody>
          <a:bodyPr wrap="square" lIns="0" tIns="0" rIns="0" bIns="0" rtlCol="0" anchor="ctr"/>
          <a:lstStyle/>
          <a:p>
            <a:pPr marL="0" indent="0">
              <a:buNone/>
            </a:pPr>
            <a:r>
              <a:rPr lang="en-US" sz="1200" b="1" dirty="0">
                <a:solidFill>
                  <a:srgbClr val="C6A365"/>
                </a:solidFill>
              </a:rPr>
              <a:t>1</a:t>
            </a:r>
            <a:endParaRPr lang="en-US" sz="1200" dirty="0"/>
          </a:p>
        </p:txBody>
      </p:sp>
      <p:sp>
        <p:nvSpPr>
          <p:cNvPr id="30" name="Text 27"/>
          <p:cNvSpPr/>
          <p:nvPr/>
        </p:nvSpPr>
        <p:spPr>
          <a:xfrm>
            <a:off x="704088" y="4480560"/>
            <a:ext cx="859536" cy="329184"/>
          </a:xfrm>
          <a:prstGeom prst="rect">
            <a:avLst/>
          </a:prstGeom>
          <a:noFill/>
          <a:ln/>
        </p:spPr>
        <p:txBody>
          <a:bodyPr wrap="square" lIns="0" tIns="0" rIns="0" bIns="0" rtlCol="0" anchor="ctr">
            <a:normAutofit/>
          </a:bodyPr>
          <a:lstStyle/>
          <a:p>
            <a:pPr marL="0" indent="0" algn="ctr">
              <a:buNone/>
            </a:pPr>
            <a:r>
              <a:rPr lang="en-US" sz="1200" b="1" dirty="0">
                <a:solidFill>
                  <a:srgbClr val="0D3B2E"/>
                </a:solidFill>
              </a:rPr>
              <a:t>Làm quen</a:t>
            </a:r>
            <a:endParaRPr lang="en-US" sz="1200" dirty="0"/>
          </a:p>
        </p:txBody>
      </p:sp>
      <p:sp>
        <p:nvSpPr>
          <p:cNvPr id="31" name="Shape 28"/>
          <p:cNvSpPr/>
          <p:nvPr/>
        </p:nvSpPr>
        <p:spPr>
          <a:xfrm>
            <a:off x="1746504" y="4187952"/>
            <a:ext cx="1078992" cy="786384"/>
          </a:xfrm>
          <a:prstGeom prst="roundRect">
            <a:avLst>
              <a:gd name="adj" fmla="val 6977"/>
            </a:avLst>
          </a:prstGeom>
          <a:solidFill>
            <a:srgbClr val="E8F3EF"/>
          </a:solidFill>
          <a:ln w="12700">
            <a:solidFill>
              <a:srgbClr val="D3E4DE"/>
            </a:solidFill>
            <a:prstDash val="solid"/>
          </a:ln>
        </p:spPr>
      </p:sp>
      <p:sp>
        <p:nvSpPr>
          <p:cNvPr id="32" name="Text 29"/>
          <p:cNvSpPr/>
          <p:nvPr/>
        </p:nvSpPr>
        <p:spPr>
          <a:xfrm>
            <a:off x="1819656" y="4261104"/>
            <a:ext cx="219456" cy="164592"/>
          </a:xfrm>
          <a:prstGeom prst="rect">
            <a:avLst/>
          </a:prstGeom>
          <a:noFill/>
          <a:ln/>
        </p:spPr>
        <p:txBody>
          <a:bodyPr wrap="square" lIns="0" tIns="0" rIns="0" bIns="0" rtlCol="0" anchor="ctr"/>
          <a:lstStyle/>
          <a:p>
            <a:pPr marL="0" indent="0">
              <a:buNone/>
            </a:pPr>
            <a:r>
              <a:rPr lang="en-US" sz="1200" b="1" dirty="0">
                <a:solidFill>
                  <a:srgbClr val="C6A365"/>
                </a:solidFill>
              </a:rPr>
              <a:t>2</a:t>
            </a:r>
            <a:endParaRPr lang="en-US" sz="1200" dirty="0"/>
          </a:p>
        </p:txBody>
      </p:sp>
      <p:sp>
        <p:nvSpPr>
          <p:cNvPr id="33" name="Text 30"/>
          <p:cNvSpPr/>
          <p:nvPr/>
        </p:nvSpPr>
        <p:spPr>
          <a:xfrm>
            <a:off x="1856232" y="4480560"/>
            <a:ext cx="859536" cy="329184"/>
          </a:xfrm>
          <a:prstGeom prst="rect">
            <a:avLst/>
          </a:prstGeom>
          <a:noFill/>
          <a:ln/>
        </p:spPr>
        <p:txBody>
          <a:bodyPr wrap="square" lIns="0" tIns="0" rIns="0" bIns="0" rtlCol="0" anchor="ctr">
            <a:noAutofit/>
          </a:bodyPr>
          <a:lstStyle/>
          <a:p>
            <a:pPr marL="0" indent="0" algn="ctr">
              <a:buNone/>
            </a:pPr>
            <a:r>
              <a:rPr lang="en-US" sz="1200" b="1" dirty="0">
                <a:solidFill>
                  <a:srgbClr val="0D3B2E"/>
                </a:solidFill>
              </a:rPr>
              <a:t>Xây dựng</a:t>
            </a:r>
            <a:endParaRPr lang="en-US" sz="1200" dirty="0"/>
          </a:p>
          <a:p>
            <a:pPr marL="0" indent="0" algn="ctr">
              <a:buNone/>
            </a:pPr>
            <a:r>
              <a:rPr lang="en-US" sz="1200" b="1" dirty="0">
                <a:solidFill>
                  <a:srgbClr val="0D3B2E"/>
                </a:solidFill>
              </a:rPr>
              <a:t>niềm tin</a:t>
            </a:r>
            <a:endParaRPr lang="en-US" sz="1200" dirty="0"/>
          </a:p>
        </p:txBody>
      </p:sp>
      <p:sp>
        <p:nvSpPr>
          <p:cNvPr id="34" name="Shape 31"/>
          <p:cNvSpPr/>
          <p:nvPr/>
        </p:nvSpPr>
        <p:spPr>
          <a:xfrm>
            <a:off x="2898648" y="4187952"/>
            <a:ext cx="1078992" cy="786384"/>
          </a:xfrm>
          <a:prstGeom prst="roundRect">
            <a:avLst>
              <a:gd name="adj" fmla="val 6977"/>
            </a:avLst>
          </a:prstGeom>
          <a:solidFill>
            <a:srgbClr val="FFFFFF"/>
          </a:solidFill>
          <a:ln w="12700">
            <a:solidFill>
              <a:srgbClr val="D3E4DE"/>
            </a:solidFill>
            <a:prstDash val="solid"/>
          </a:ln>
        </p:spPr>
      </p:sp>
      <p:sp>
        <p:nvSpPr>
          <p:cNvPr id="35" name="Text 32"/>
          <p:cNvSpPr/>
          <p:nvPr/>
        </p:nvSpPr>
        <p:spPr>
          <a:xfrm>
            <a:off x="2971800" y="4261104"/>
            <a:ext cx="219456" cy="164592"/>
          </a:xfrm>
          <a:prstGeom prst="rect">
            <a:avLst/>
          </a:prstGeom>
          <a:noFill/>
          <a:ln/>
        </p:spPr>
        <p:txBody>
          <a:bodyPr wrap="square" lIns="0" tIns="0" rIns="0" bIns="0" rtlCol="0" anchor="ctr"/>
          <a:lstStyle/>
          <a:p>
            <a:pPr marL="0" indent="0">
              <a:buNone/>
            </a:pPr>
            <a:r>
              <a:rPr lang="en-US" sz="1200" b="1" dirty="0">
                <a:solidFill>
                  <a:srgbClr val="C6A365"/>
                </a:solidFill>
              </a:rPr>
              <a:t>3</a:t>
            </a:r>
            <a:endParaRPr lang="en-US" sz="1200" dirty="0"/>
          </a:p>
        </p:txBody>
      </p:sp>
      <p:sp>
        <p:nvSpPr>
          <p:cNvPr id="36" name="Text 33"/>
          <p:cNvSpPr/>
          <p:nvPr/>
        </p:nvSpPr>
        <p:spPr>
          <a:xfrm>
            <a:off x="3008376" y="4480560"/>
            <a:ext cx="859536" cy="329184"/>
          </a:xfrm>
          <a:prstGeom prst="rect">
            <a:avLst/>
          </a:prstGeom>
          <a:noFill/>
          <a:ln/>
        </p:spPr>
        <p:txBody>
          <a:bodyPr wrap="square" lIns="0" tIns="0" rIns="0" bIns="0" rtlCol="0" anchor="ctr">
            <a:normAutofit/>
          </a:bodyPr>
          <a:lstStyle/>
          <a:p>
            <a:pPr marL="0" indent="0" algn="ctr">
              <a:buNone/>
            </a:pPr>
            <a:r>
              <a:rPr lang="en-US" sz="1200" b="1" dirty="0">
                <a:solidFill>
                  <a:srgbClr val="0D3B2E"/>
                </a:solidFill>
              </a:rPr>
              <a:t>Trải nghiệm</a:t>
            </a:r>
            <a:endParaRPr lang="en-US" sz="1200" dirty="0"/>
          </a:p>
        </p:txBody>
      </p:sp>
      <p:sp>
        <p:nvSpPr>
          <p:cNvPr id="37" name="Shape 34"/>
          <p:cNvSpPr/>
          <p:nvPr/>
        </p:nvSpPr>
        <p:spPr>
          <a:xfrm>
            <a:off x="4050792" y="4187952"/>
            <a:ext cx="1078992" cy="786384"/>
          </a:xfrm>
          <a:prstGeom prst="roundRect">
            <a:avLst>
              <a:gd name="adj" fmla="val 6977"/>
            </a:avLst>
          </a:prstGeom>
          <a:solidFill>
            <a:srgbClr val="E8F3EF"/>
          </a:solidFill>
          <a:ln w="12700">
            <a:solidFill>
              <a:srgbClr val="D3E4DE"/>
            </a:solidFill>
            <a:prstDash val="solid"/>
          </a:ln>
        </p:spPr>
      </p:sp>
      <p:sp>
        <p:nvSpPr>
          <p:cNvPr id="38" name="Text 35"/>
          <p:cNvSpPr/>
          <p:nvPr/>
        </p:nvSpPr>
        <p:spPr>
          <a:xfrm>
            <a:off x="4123944" y="4261104"/>
            <a:ext cx="219456" cy="164592"/>
          </a:xfrm>
          <a:prstGeom prst="rect">
            <a:avLst/>
          </a:prstGeom>
          <a:noFill/>
          <a:ln/>
        </p:spPr>
        <p:txBody>
          <a:bodyPr wrap="square" lIns="0" tIns="0" rIns="0" bIns="0" rtlCol="0" anchor="ctr"/>
          <a:lstStyle/>
          <a:p>
            <a:pPr marL="0" indent="0">
              <a:buNone/>
            </a:pPr>
            <a:r>
              <a:rPr lang="en-US" sz="1200" b="1" dirty="0">
                <a:solidFill>
                  <a:srgbClr val="C6A365"/>
                </a:solidFill>
              </a:rPr>
              <a:t>4</a:t>
            </a:r>
            <a:endParaRPr lang="en-US" sz="1200" dirty="0"/>
          </a:p>
        </p:txBody>
      </p:sp>
      <p:sp>
        <p:nvSpPr>
          <p:cNvPr id="39" name="Text 36"/>
          <p:cNvSpPr/>
          <p:nvPr/>
        </p:nvSpPr>
        <p:spPr>
          <a:xfrm>
            <a:off x="4160520" y="4480560"/>
            <a:ext cx="859536" cy="329184"/>
          </a:xfrm>
          <a:prstGeom prst="rect">
            <a:avLst/>
          </a:prstGeom>
          <a:noFill/>
          <a:ln/>
        </p:spPr>
        <p:txBody>
          <a:bodyPr wrap="square" lIns="0" tIns="0" rIns="0" bIns="0" rtlCol="0" anchor="ctr">
            <a:normAutofit/>
          </a:bodyPr>
          <a:lstStyle/>
          <a:p>
            <a:pPr marL="0" indent="0" algn="ctr">
              <a:buNone/>
            </a:pPr>
            <a:r>
              <a:rPr lang="en-US" sz="1200" b="1" dirty="0">
                <a:solidFill>
                  <a:srgbClr val="0D3B2E"/>
                </a:solidFill>
              </a:rPr>
              <a:t>Đào tạo</a:t>
            </a:r>
            <a:endParaRPr lang="en-US" sz="1200" dirty="0"/>
          </a:p>
        </p:txBody>
      </p:sp>
      <p:sp>
        <p:nvSpPr>
          <p:cNvPr id="40" name="Shape 37"/>
          <p:cNvSpPr/>
          <p:nvPr/>
        </p:nvSpPr>
        <p:spPr>
          <a:xfrm>
            <a:off x="5202936" y="4187952"/>
            <a:ext cx="1078992" cy="786384"/>
          </a:xfrm>
          <a:prstGeom prst="roundRect">
            <a:avLst>
              <a:gd name="adj" fmla="val 6977"/>
            </a:avLst>
          </a:prstGeom>
          <a:solidFill>
            <a:srgbClr val="FFFFFF"/>
          </a:solidFill>
          <a:ln w="12700">
            <a:solidFill>
              <a:srgbClr val="D3E4DE"/>
            </a:solidFill>
            <a:prstDash val="solid"/>
          </a:ln>
        </p:spPr>
      </p:sp>
      <p:sp>
        <p:nvSpPr>
          <p:cNvPr id="41" name="Text 38"/>
          <p:cNvSpPr/>
          <p:nvPr/>
        </p:nvSpPr>
        <p:spPr>
          <a:xfrm>
            <a:off x="5276088" y="4261104"/>
            <a:ext cx="219456" cy="164592"/>
          </a:xfrm>
          <a:prstGeom prst="rect">
            <a:avLst/>
          </a:prstGeom>
          <a:noFill/>
          <a:ln/>
        </p:spPr>
        <p:txBody>
          <a:bodyPr wrap="square" lIns="0" tIns="0" rIns="0" bIns="0" rtlCol="0" anchor="ctr"/>
          <a:lstStyle/>
          <a:p>
            <a:pPr marL="0" indent="0">
              <a:buNone/>
            </a:pPr>
            <a:r>
              <a:rPr lang="en-US" sz="1200" b="1" dirty="0">
                <a:solidFill>
                  <a:srgbClr val="C6A365"/>
                </a:solidFill>
              </a:rPr>
              <a:t>5</a:t>
            </a:r>
            <a:endParaRPr lang="en-US" sz="1200" dirty="0"/>
          </a:p>
        </p:txBody>
      </p:sp>
      <p:sp>
        <p:nvSpPr>
          <p:cNvPr id="42" name="Text 39"/>
          <p:cNvSpPr/>
          <p:nvPr/>
        </p:nvSpPr>
        <p:spPr>
          <a:xfrm>
            <a:off x="5312664" y="4480560"/>
            <a:ext cx="859536" cy="329184"/>
          </a:xfrm>
          <a:prstGeom prst="rect">
            <a:avLst/>
          </a:prstGeom>
          <a:noFill/>
          <a:ln/>
        </p:spPr>
        <p:txBody>
          <a:bodyPr wrap="square" lIns="0" tIns="0" rIns="0" bIns="0" rtlCol="0" anchor="ctr">
            <a:normAutofit/>
          </a:bodyPr>
          <a:lstStyle/>
          <a:p>
            <a:pPr marL="0" indent="0" algn="ctr">
              <a:buNone/>
            </a:pPr>
            <a:r>
              <a:rPr lang="en-US" sz="1200" b="1" dirty="0">
                <a:solidFill>
                  <a:srgbClr val="0D3B2E"/>
                </a:solidFill>
              </a:rPr>
              <a:t>Hợp tác</a:t>
            </a:r>
            <a:endParaRPr lang="en-US" sz="1200" dirty="0"/>
          </a:p>
        </p:txBody>
      </p:sp>
      <p:sp>
        <p:nvSpPr>
          <p:cNvPr id="43" name="Shape 40"/>
          <p:cNvSpPr/>
          <p:nvPr/>
        </p:nvSpPr>
        <p:spPr>
          <a:xfrm>
            <a:off x="6355080" y="4187952"/>
            <a:ext cx="1078992" cy="786384"/>
          </a:xfrm>
          <a:prstGeom prst="roundRect">
            <a:avLst>
              <a:gd name="adj" fmla="val 6977"/>
            </a:avLst>
          </a:prstGeom>
          <a:solidFill>
            <a:srgbClr val="E8F3EF"/>
          </a:solidFill>
          <a:ln w="12700">
            <a:solidFill>
              <a:srgbClr val="D3E4DE"/>
            </a:solidFill>
            <a:prstDash val="solid"/>
          </a:ln>
        </p:spPr>
      </p:sp>
      <p:sp>
        <p:nvSpPr>
          <p:cNvPr id="44" name="Text 41"/>
          <p:cNvSpPr/>
          <p:nvPr/>
        </p:nvSpPr>
        <p:spPr>
          <a:xfrm>
            <a:off x="6428232" y="4261104"/>
            <a:ext cx="219456" cy="164592"/>
          </a:xfrm>
          <a:prstGeom prst="rect">
            <a:avLst/>
          </a:prstGeom>
          <a:noFill/>
          <a:ln/>
        </p:spPr>
        <p:txBody>
          <a:bodyPr wrap="square" lIns="0" tIns="0" rIns="0" bIns="0" rtlCol="0" anchor="ctr"/>
          <a:lstStyle/>
          <a:p>
            <a:pPr marL="0" indent="0">
              <a:buNone/>
            </a:pPr>
            <a:r>
              <a:rPr lang="en-US" sz="1200" b="1" dirty="0">
                <a:solidFill>
                  <a:srgbClr val="C6A365"/>
                </a:solidFill>
              </a:rPr>
              <a:t>6</a:t>
            </a:r>
            <a:endParaRPr lang="en-US" sz="1200" dirty="0"/>
          </a:p>
        </p:txBody>
      </p:sp>
      <p:sp>
        <p:nvSpPr>
          <p:cNvPr id="45" name="Text 42"/>
          <p:cNvSpPr/>
          <p:nvPr/>
        </p:nvSpPr>
        <p:spPr>
          <a:xfrm>
            <a:off x="6464808" y="4480560"/>
            <a:ext cx="859536" cy="329184"/>
          </a:xfrm>
          <a:prstGeom prst="rect">
            <a:avLst/>
          </a:prstGeom>
          <a:noFill/>
          <a:ln/>
        </p:spPr>
        <p:txBody>
          <a:bodyPr wrap="square" lIns="0" tIns="0" rIns="0" bIns="0" rtlCol="0" anchor="ctr">
            <a:normAutofit/>
          </a:bodyPr>
          <a:lstStyle/>
          <a:p>
            <a:pPr marL="0" indent="0" algn="ctr">
              <a:buNone/>
            </a:pPr>
            <a:r>
              <a:rPr lang="en-US" sz="1200" b="1" dirty="0">
                <a:solidFill>
                  <a:srgbClr val="0D3B2E"/>
                </a:solidFill>
              </a:rPr>
              <a:t>Đồng hành</a:t>
            </a:r>
            <a:endParaRPr lang="en-US" sz="1200" dirty="0"/>
          </a:p>
        </p:txBody>
      </p:sp>
      <p:sp>
        <p:nvSpPr>
          <p:cNvPr id="46" name="Shape 43"/>
          <p:cNvSpPr/>
          <p:nvPr/>
        </p:nvSpPr>
        <p:spPr>
          <a:xfrm>
            <a:off x="502920" y="5321808"/>
            <a:ext cx="6629400" cy="749808"/>
          </a:xfrm>
          <a:prstGeom prst="roundRect">
            <a:avLst>
              <a:gd name="adj" fmla="val 9756"/>
            </a:avLst>
          </a:prstGeom>
          <a:solidFill>
            <a:srgbClr val="0D3B2E"/>
          </a:solidFill>
          <a:ln w="12700">
            <a:solidFill>
              <a:srgbClr val="0D3B2E"/>
            </a:solidFill>
            <a:prstDash val="solid"/>
          </a:ln>
          <a:effectLst>
            <a:outerShdw blurRad="12700" dist="50800" dir="2700000" algn="bl" rotWithShape="0">
              <a:srgbClr val="000000">
                <a:alpha val="10000"/>
              </a:srgbClr>
            </a:outerShdw>
          </a:effectLst>
        </p:spPr>
      </p:sp>
      <p:sp>
        <p:nvSpPr>
          <p:cNvPr id="47" name="Text 44"/>
          <p:cNvSpPr/>
          <p:nvPr/>
        </p:nvSpPr>
        <p:spPr>
          <a:xfrm>
            <a:off x="731520" y="5577840"/>
            <a:ext cx="6172200" cy="228600"/>
          </a:xfrm>
          <a:prstGeom prst="rect">
            <a:avLst/>
          </a:prstGeom>
          <a:noFill/>
          <a:ln/>
        </p:spPr>
        <p:txBody>
          <a:bodyPr wrap="square" lIns="0" tIns="0" rIns="0" bIns="0" rtlCol="0" anchor="ctr">
            <a:noAutofit/>
          </a:bodyPr>
          <a:lstStyle/>
          <a:p>
            <a:pPr marL="0" indent="0" algn="ctr">
              <a:buNone/>
            </a:pPr>
            <a:r>
              <a:rPr lang="en-US" sz="1400" b="1" dirty="0">
                <a:solidFill>
                  <a:srgbClr val="FFFFFF"/>
                </a:solidFill>
              </a:rPr>
              <a:t>Thông điệp chính: “Thành công của đối tác cũng chính là thành công của Thuần Hoa Group.”</a:t>
            </a:r>
            <a:endParaRPr lang="en-US" sz="1400" dirty="0"/>
          </a:p>
        </p:txBody>
      </p:sp>
      <p:sp>
        <p:nvSpPr>
          <p:cNvPr id="48" name="Text 45"/>
          <p:cNvSpPr/>
          <p:nvPr/>
        </p:nvSpPr>
        <p:spPr>
          <a:xfrm>
            <a:off x="502920" y="6510528"/>
            <a:ext cx="3931920" cy="128016"/>
          </a:xfrm>
          <a:prstGeom prst="rect">
            <a:avLst/>
          </a:prstGeom>
          <a:noFill/>
          <a:ln/>
        </p:spPr>
        <p:txBody>
          <a:bodyPr wrap="square" lIns="0" tIns="0" rIns="0" bIns="0" rtlCol="0" anchor="ctr"/>
          <a:lstStyle/>
          <a:p>
            <a:pPr marL="0" indent="0">
              <a:buNone/>
            </a:pPr>
            <a:r>
              <a:rPr lang="en-US" sz="650" dirty="0">
                <a:solidFill>
                  <a:srgbClr val="81918D"/>
                </a:solidFill>
              </a:rPr>
              <a:t>Thuần Hoa Group | Bản đào tạo kinh doanh 1/3</a:t>
            </a:r>
            <a:endParaRPr lang="en-US" sz="6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BFA"/>
        </a:solidFill>
        <a:effectLst/>
      </p:bgPr>
    </p:bg>
    <p:spTree>
      <p:nvGrpSpPr>
        <p:cNvPr id="1" name=""/>
        <p:cNvGrpSpPr/>
        <p:nvPr/>
      </p:nvGrpSpPr>
      <p:grpSpPr>
        <a:xfrm>
          <a:off x="0" y="0"/>
          <a:ext cx="0" cy="0"/>
          <a:chOff x="0" y="0"/>
          <a:chExt cx="0" cy="0"/>
        </a:xfrm>
      </p:grpSpPr>
      <p:pic>
        <p:nvPicPr>
          <p:cNvPr id="2" name="Image 0" descr="/mnt/data/slide2_photo.jpg"/>
          <p:cNvPicPr>
            <a:picLocks noChangeAspect="1"/>
          </p:cNvPicPr>
          <p:nvPr/>
        </p:nvPicPr>
        <p:blipFill>
          <a:blip r:embed="rId3"/>
          <a:stretch>
            <a:fillRect/>
          </a:stretch>
        </p:blipFill>
        <p:spPr>
          <a:xfrm>
            <a:off x="8065008" y="548640"/>
            <a:ext cx="3657600" cy="2194560"/>
          </a:xfrm>
          <a:prstGeom prst="rect">
            <a:avLst/>
          </a:prstGeom>
        </p:spPr>
      </p:pic>
      <p:sp>
        <p:nvSpPr>
          <p:cNvPr id="3" name="Text 0"/>
          <p:cNvSpPr/>
          <p:nvPr/>
        </p:nvSpPr>
        <p:spPr>
          <a:xfrm>
            <a:off x="502920" y="256032"/>
            <a:ext cx="7086600" cy="347472"/>
          </a:xfrm>
          <a:prstGeom prst="rect">
            <a:avLst/>
          </a:prstGeom>
          <a:noFill/>
          <a:ln/>
        </p:spPr>
        <p:txBody>
          <a:bodyPr wrap="square" lIns="0" tIns="0" rIns="0" bIns="0" rtlCol="0" anchor="ctr"/>
          <a:lstStyle/>
          <a:p>
            <a:pPr marL="0" indent="0">
              <a:buNone/>
            </a:pPr>
            <a:r>
              <a:rPr lang="en-US" sz="2800" b="1" dirty="0">
                <a:solidFill>
                  <a:srgbClr val="0D3B2E"/>
                </a:solidFill>
                <a:latin typeface="Aptos Display" pitchFamily="34" charset="0"/>
                <a:ea typeface="Aptos Display" pitchFamily="34" charset="-122"/>
                <a:cs typeface="Aptos Display" pitchFamily="34" charset="-120"/>
              </a:rPr>
              <a:t>KỊCH BẢN TIẾP CẬN &amp; CHỐT LỊCH</a:t>
            </a:r>
            <a:endParaRPr lang="en-US" sz="2800" dirty="0"/>
          </a:p>
        </p:txBody>
      </p:sp>
      <p:sp>
        <p:nvSpPr>
          <p:cNvPr id="4" name="Text 1"/>
          <p:cNvSpPr/>
          <p:nvPr/>
        </p:nvSpPr>
        <p:spPr>
          <a:xfrm>
            <a:off x="530352" y="676656"/>
            <a:ext cx="6720840" cy="256032"/>
          </a:xfrm>
          <a:prstGeom prst="rect">
            <a:avLst/>
          </a:prstGeom>
          <a:noFill/>
          <a:ln/>
        </p:spPr>
        <p:txBody>
          <a:bodyPr wrap="square" lIns="0" tIns="0" rIns="0" bIns="0" rtlCol="0" anchor="ctr"/>
          <a:lstStyle/>
          <a:p>
            <a:pPr marL="0" indent="0">
              <a:buNone/>
            </a:pPr>
            <a:r>
              <a:rPr lang="en-US" sz="1200" b="1" dirty="0">
                <a:solidFill>
                  <a:srgbClr val="667572"/>
                </a:solidFill>
              </a:rPr>
              <a:t>Kết hợp khách hàng mới và khách đã biết/đã sử dụng sản phẩm để tăng tỷ lệ chuyển đổi</a:t>
            </a:r>
            <a:endParaRPr lang="en-US" sz="1200" dirty="0"/>
          </a:p>
        </p:txBody>
      </p:sp>
      <p:sp>
        <p:nvSpPr>
          <p:cNvPr id="5" name="Shape 2"/>
          <p:cNvSpPr/>
          <p:nvPr/>
        </p:nvSpPr>
        <p:spPr>
          <a:xfrm>
            <a:off x="502920" y="978408"/>
            <a:ext cx="1920240" cy="0"/>
          </a:xfrm>
          <a:prstGeom prst="line">
            <a:avLst/>
          </a:prstGeom>
          <a:noFill/>
          <a:ln w="26670">
            <a:solidFill>
              <a:srgbClr val="C6A365"/>
            </a:solidFill>
            <a:prstDash val="solid"/>
          </a:ln>
        </p:spPr>
      </p:sp>
      <p:sp>
        <p:nvSpPr>
          <p:cNvPr id="6" name="Shape 3"/>
          <p:cNvSpPr/>
          <p:nvPr/>
        </p:nvSpPr>
        <p:spPr>
          <a:xfrm>
            <a:off x="502920" y="1143000"/>
            <a:ext cx="3429000" cy="292608"/>
          </a:xfrm>
          <a:prstGeom prst="roundRect">
            <a:avLst>
              <a:gd name="adj" fmla="val 12500"/>
            </a:avLst>
          </a:prstGeom>
          <a:solidFill>
            <a:srgbClr val="0D3B2E"/>
          </a:solidFill>
          <a:ln w="12700">
            <a:solidFill>
              <a:srgbClr val="0D3B2E"/>
            </a:solidFill>
            <a:prstDash val="solid"/>
          </a:ln>
        </p:spPr>
      </p:sp>
      <p:sp>
        <p:nvSpPr>
          <p:cNvPr id="7" name="Text 4"/>
          <p:cNvSpPr/>
          <p:nvPr/>
        </p:nvSpPr>
        <p:spPr>
          <a:xfrm>
            <a:off x="576072" y="1216152"/>
            <a:ext cx="3282696" cy="146304"/>
          </a:xfrm>
          <a:prstGeom prst="rect">
            <a:avLst/>
          </a:prstGeom>
          <a:noFill/>
          <a:ln/>
        </p:spPr>
        <p:txBody>
          <a:bodyPr wrap="square" lIns="0" tIns="0" rIns="0" bIns="0" rtlCol="0" anchor="ctr"/>
          <a:lstStyle/>
          <a:p>
            <a:pPr marL="0" indent="0" algn="ctr">
              <a:buNone/>
            </a:pPr>
            <a:r>
              <a:rPr lang="en-US" sz="1000" b="1" dirty="0">
                <a:solidFill>
                  <a:srgbClr val="FFFFFF"/>
                </a:solidFill>
              </a:rPr>
              <a:t>A. KHÁCH HÀNG MỚI: 5 BƯỚC LÀM VIỆC</a:t>
            </a:r>
            <a:endParaRPr lang="en-US" sz="1000" dirty="0"/>
          </a:p>
        </p:txBody>
      </p:sp>
      <p:sp>
        <p:nvSpPr>
          <p:cNvPr id="8" name="Text 5"/>
          <p:cNvSpPr/>
          <p:nvPr/>
        </p:nvSpPr>
        <p:spPr>
          <a:xfrm>
            <a:off x="566928" y="1609344"/>
            <a:ext cx="338328" cy="228600"/>
          </a:xfrm>
          <a:prstGeom prst="rect">
            <a:avLst/>
          </a:prstGeom>
          <a:noFill/>
          <a:ln/>
        </p:spPr>
        <p:txBody>
          <a:bodyPr wrap="square" lIns="0" tIns="0" rIns="0" bIns="0" rtlCol="0" anchor="ctr"/>
          <a:lstStyle/>
          <a:p>
            <a:pPr marL="0" indent="0" algn="ctr">
              <a:buNone/>
            </a:pPr>
            <a:r>
              <a:rPr lang="en-US" b="1" dirty="0">
                <a:solidFill>
                  <a:srgbClr val="C6A365"/>
                </a:solidFill>
              </a:rPr>
              <a:t>01</a:t>
            </a:r>
            <a:endParaRPr lang="en-US" dirty="0"/>
          </a:p>
        </p:txBody>
      </p:sp>
      <p:sp>
        <p:nvSpPr>
          <p:cNvPr id="9" name="Text 6"/>
          <p:cNvSpPr/>
          <p:nvPr/>
        </p:nvSpPr>
        <p:spPr>
          <a:xfrm>
            <a:off x="1005840" y="1554480"/>
            <a:ext cx="2651760" cy="164592"/>
          </a:xfrm>
          <a:prstGeom prst="rect">
            <a:avLst/>
          </a:prstGeom>
          <a:noFill/>
          <a:ln/>
        </p:spPr>
        <p:txBody>
          <a:bodyPr wrap="square" lIns="0" tIns="0" rIns="0" bIns="0" rtlCol="0" anchor="ctr"/>
          <a:lstStyle/>
          <a:p>
            <a:pPr marL="0" indent="0">
              <a:buNone/>
            </a:pPr>
            <a:r>
              <a:rPr lang="en-US" sz="1200" b="1" dirty="0">
                <a:solidFill>
                  <a:srgbClr val="0D3B2E"/>
                </a:solidFill>
              </a:rPr>
              <a:t>Giới thiệu bản thân</a:t>
            </a:r>
            <a:endParaRPr lang="en-US" sz="1200" dirty="0"/>
          </a:p>
        </p:txBody>
      </p:sp>
      <p:sp>
        <p:nvSpPr>
          <p:cNvPr id="10" name="Text 7"/>
          <p:cNvSpPr/>
          <p:nvPr/>
        </p:nvSpPr>
        <p:spPr>
          <a:xfrm>
            <a:off x="1005840" y="1755648"/>
            <a:ext cx="2880360" cy="338328"/>
          </a:xfrm>
          <a:prstGeom prst="rect">
            <a:avLst/>
          </a:prstGeom>
          <a:noFill/>
          <a:ln/>
        </p:spPr>
        <p:txBody>
          <a:bodyPr wrap="square" lIns="0" tIns="0" rIns="0" bIns="0" rtlCol="0" anchor="ctr">
            <a:normAutofit/>
          </a:bodyPr>
          <a:lstStyle/>
          <a:p>
            <a:pPr marL="0" indent="0">
              <a:buNone/>
            </a:pPr>
            <a:r>
              <a:rPr lang="en-US" sz="1050" dirty="0">
                <a:solidFill>
                  <a:srgbClr val="667572"/>
                </a:solidFill>
              </a:rPr>
              <a:t>Tạo thiện cảm, nêu rõ đại diện Công ty TNHH TM Thuần Hoa và mục đích buổi gặp.</a:t>
            </a:r>
            <a:endParaRPr lang="en-US" sz="1050" dirty="0"/>
          </a:p>
        </p:txBody>
      </p:sp>
      <p:sp>
        <p:nvSpPr>
          <p:cNvPr id="11" name="Shape 8"/>
          <p:cNvSpPr/>
          <p:nvPr/>
        </p:nvSpPr>
        <p:spPr>
          <a:xfrm>
            <a:off x="731520" y="1901952"/>
            <a:ext cx="0" cy="384048"/>
          </a:xfrm>
          <a:prstGeom prst="line">
            <a:avLst/>
          </a:prstGeom>
          <a:noFill/>
          <a:ln w="12700">
            <a:solidFill>
              <a:srgbClr val="D4E3DE"/>
            </a:solidFill>
            <a:prstDash val="solid"/>
          </a:ln>
        </p:spPr>
      </p:sp>
      <p:sp>
        <p:nvSpPr>
          <p:cNvPr id="12" name="Text 9"/>
          <p:cNvSpPr/>
          <p:nvPr/>
        </p:nvSpPr>
        <p:spPr>
          <a:xfrm>
            <a:off x="566928" y="2395728"/>
            <a:ext cx="338328" cy="228600"/>
          </a:xfrm>
          <a:prstGeom prst="rect">
            <a:avLst/>
          </a:prstGeom>
          <a:noFill/>
          <a:ln/>
        </p:spPr>
        <p:txBody>
          <a:bodyPr wrap="square" lIns="0" tIns="0" rIns="0" bIns="0" rtlCol="0" anchor="ctr"/>
          <a:lstStyle/>
          <a:p>
            <a:pPr marL="0" indent="0" algn="ctr">
              <a:buNone/>
            </a:pPr>
            <a:r>
              <a:rPr lang="en-US" b="1" dirty="0">
                <a:solidFill>
                  <a:srgbClr val="C6A365"/>
                </a:solidFill>
              </a:rPr>
              <a:t>02</a:t>
            </a:r>
            <a:endParaRPr lang="en-US" dirty="0"/>
          </a:p>
        </p:txBody>
      </p:sp>
      <p:sp>
        <p:nvSpPr>
          <p:cNvPr id="13" name="Text 10"/>
          <p:cNvSpPr/>
          <p:nvPr/>
        </p:nvSpPr>
        <p:spPr>
          <a:xfrm>
            <a:off x="1005840" y="2340864"/>
            <a:ext cx="2651760" cy="164592"/>
          </a:xfrm>
          <a:prstGeom prst="rect">
            <a:avLst/>
          </a:prstGeom>
          <a:noFill/>
          <a:ln/>
        </p:spPr>
        <p:txBody>
          <a:bodyPr wrap="square" lIns="0" tIns="0" rIns="0" bIns="0" rtlCol="0" anchor="ctr"/>
          <a:lstStyle/>
          <a:p>
            <a:pPr marL="0" indent="0">
              <a:buNone/>
            </a:pPr>
            <a:r>
              <a:rPr lang="en-US" sz="1200" b="1" dirty="0">
                <a:solidFill>
                  <a:srgbClr val="0D3B2E"/>
                </a:solidFill>
              </a:rPr>
              <a:t>Giới thiệu công ty</a:t>
            </a:r>
            <a:endParaRPr lang="en-US" sz="1200" dirty="0"/>
          </a:p>
        </p:txBody>
      </p:sp>
      <p:sp>
        <p:nvSpPr>
          <p:cNvPr id="14" name="Text 11"/>
          <p:cNvSpPr/>
          <p:nvPr/>
        </p:nvSpPr>
        <p:spPr>
          <a:xfrm>
            <a:off x="1005840" y="2542032"/>
            <a:ext cx="2880360" cy="338328"/>
          </a:xfrm>
          <a:prstGeom prst="rect">
            <a:avLst/>
          </a:prstGeom>
          <a:noFill/>
          <a:ln/>
        </p:spPr>
        <p:txBody>
          <a:bodyPr wrap="square" lIns="0" tIns="0" rIns="0" bIns="0" rtlCol="0" anchor="ctr">
            <a:normAutofit/>
          </a:bodyPr>
          <a:lstStyle/>
          <a:p>
            <a:pPr marL="0" indent="0">
              <a:buNone/>
            </a:pPr>
            <a:r>
              <a:rPr lang="en-US" sz="1050" dirty="0">
                <a:solidFill>
                  <a:srgbClr val="667572"/>
                </a:solidFill>
              </a:rPr>
              <a:t>Nêu năng lực: công nghệ Hàn Quốc, đội ngũ chuyên gia, marketing, chuyển giao công nghệ.</a:t>
            </a:r>
            <a:endParaRPr lang="en-US" sz="1050" dirty="0"/>
          </a:p>
        </p:txBody>
      </p:sp>
      <p:sp>
        <p:nvSpPr>
          <p:cNvPr id="15" name="Shape 12"/>
          <p:cNvSpPr/>
          <p:nvPr/>
        </p:nvSpPr>
        <p:spPr>
          <a:xfrm>
            <a:off x="731520" y="2688336"/>
            <a:ext cx="0" cy="384048"/>
          </a:xfrm>
          <a:prstGeom prst="line">
            <a:avLst/>
          </a:prstGeom>
          <a:noFill/>
          <a:ln w="12700">
            <a:solidFill>
              <a:srgbClr val="D4E3DE"/>
            </a:solidFill>
            <a:prstDash val="solid"/>
          </a:ln>
        </p:spPr>
      </p:sp>
      <p:sp>
        <p:nvSpPr>
          <p:cNvPr id="16" name="Text 13"/>
          <p:cNvSpPr/>
          <p:nvPr/>
        </p:nvSpPr>
        <p:spPr>
          <a:xfrm>
            <a:off x="566928" y="3182112"/>
            <a:ext cx="338328" cy="228600"/>
          </a:xfrm>
          <a:prstGeom prst="rect">
            <a:avLst/>
          </a:prstGeom>
          <a:noFill/>
          <a:ln/>
        </p:spPr>
        <p:txBody>
          <a:bodyPr wrap="square" lIns="0" tIns="0" rIns="0" bIns="0" rtlCol="0" anchor="ctr"/>
          <a:lstStyle/>
          <a:p>
            <a:pPr marL="0" indent="0" algn="ctr">
              <a:buNone/>
            </a:pPr>
            <a:r>
              <a:rPr lang="en-US" b="1" dirty="0">
                <a:solidFill>
                  <a:srgbClr val="C6A365"/>
                </a:solidFill>
              </a:rPr>
              <a:t>03</a:t>
            </a:r>
            <a:endParaRPr lang="en-US" dirty="0"/>
          </a:p>
        </p:txBody>
      </p:sp>
      <p:sp>
        <p:nvSpPr>
          <p:cNvPr id="17" name="Text 14"/>
          <p:cNvSpPr/>
          <p:nvPr/>
        </p:nvSpPr>
        <p:spPr>
          <a:xfrm>
            <a:off x="1005840" y="3127248"/>
            <a:ext cx="2651760" cy="164592"/>
          </a:xfrm>
          <a:prstGeom prst="rect">
            <a:avLst/>
          </a:prstGeom>
          <a:noFill/>
          <a:ln/>
        </p:spPr>
        <p:txBody>
          <a:bodyPr wrap="square" lIns="0" tIns="0" rIns="0" bIns="0" rtlCol="0" anchor="ctr"/>
          <a:lstStyle/>
          <a:p>
            <a:pPr marL="0" indent="0">
              <a:buNone/>
            </a:pPr>
            <a:r>
              <a:rPr lang="en-US" sz="1200" b="1" dirty="0">
                <a:solidFill>
                  <a:srgbClr val="0D3B2E"/>
                </a:solidFill>
              </a:rPr>
              <a:t>Giới thiệu sản phẩm</a:t>
            </a:r>
            <a:endParaRPr lang="en-US" sz="1200" dirty="0"/>
          </a:p>
        </p:txBody>
      </p:sp>
      <p:sp>
        <p:nvSpPr>
          <p:cNvPr id="18" name="Text 15"/>
          <p:cNvSpPr/>
          <p:nvPr/>
        </p:nvSpPr>
        <p:spPr>
          <a:xfrm>
            <a:off x="1005840" y="3328416"/>
            <a:ext cx="2880360" cy="338328"/>
          </a:xfrm>
          <a:prstGeom prst="rect">
            <a:avLst/>
          </a:prstGeom>
          <a:noFill/>
          <a:ln/>
        </p:spPr>
        <p:txBody>
          <a:bodyPr wrap="square" lIns="0" tIns="0" rIns="0" bIns="0" rtlCol="0" anchor="ctr">
            <a:normAutofit/>
          </a:bodyPr>
          <a:lstStyle/>
          <a:p>
            <a:pPr marL="0" indent="0">
              <a:buNone/>
            </a:pPr>
            <a:r>
              <a:rPr lang="en-US" sz="1050" dirty="0">
                <a:solidFill>
                  <a:srgbClr val="667572"/>
                </a:solidFill>
              </a:rPr>
              <a:t>Tập trung giá trị điều trị, điểm khác biệt, cơ hội kinh doanh và hình ảnh kết quả.</a:t>
            </a:r>
            <a:endParaRPr lang="en-US" sz="1050" dirty="0"/>
          </a:p>
        </p:txBody>
      </p:sp>
      <p:sp>
        <p:nvSpPr>
          <p:cNvPr id="19" name="Shape 16"/>
          <p:cNvSpPr/>
          <p:nvPr/>
        </p:nvSpPr>
        <p:spPr>
          <a:xfrm>
            <a:off x="731520" y="3474720"/>
            <a:ext cx="0" cy="384048"/>
          </a:xfrm>
          <a:prstGeom prst="line">
            <a:avLst/>
          </a:prstGeom>
          <a:noFill/>
          <a:ln w="12700">
            <a:solidFill>
              <a:srgbClr val="D4E3DE"/>
            </a:solidFill>
            <a:prstDash val="solid"/>
          </a:ln>
        </p:spPr>
      </p:sp>
      <p:sp>
        <p:nvSpPr>
          <p:cNvPr id="20" name="Text 17"/>
          <p:cNvSpPr/>
          <p:nvPr/>
        </p:nvSpPr>
        <p:spPr>
          <a:xfrm>
            <a:off x="566928" y="3968496"/>
            <a:ext cx="338328" cy="228600"/>
          </a:xfrm>
          <a:prstGeom prst="rect">
            <a:avLst/>
          </a:prstGeom>
          <a:noFill/>
          <a:ln/>
        </p:spPr>
        <p:txBody>
          <a:bodyPr wrap="square" lIns="0" tIns="0" rIns="0" bIns="0" rtlCol="0" anchor="ctr"/>
          <a:lstStyle/>
          <a:p>
            <a:pPr marL="0" indent="0" algn="ctr">
              <a:buNone/>
            </a:pPr>
            <a:r>
              <a:rPr lang="en-US" b="1" dirty="0">
                <a:solidFill>
                  <a:srgbClr val="C6A365"/>
                </a:solidFill>
              </a:rPr>
              <a:t>04</a:t>
            </a:r>
            <a:endParaRPr lang="en-US" dirty="0"/>
          </a:p>
        </p:txBody>
      </p:sp>
      <p:sp>
        <p:nvSpPr>
          <p:cNvPr id="21" name="Text 18"/>
          <p:cNvSpPr/>
          <p:nvPr/>
        </p:nvSpPr>
        <p:spPr>
          <a:xfrm>
            <a:off x="1005840" y="3913632"/>
            <a:ext cx="2651760" cy="164592"/>
          </a:xfrm>
          <a:prstGeom prst="rect">
            <a:avLst/>
          </a:prstGeom>
          <a:noFill/>
          <a:ln/>
        </p:spPr>
        <p:txBody>
          <a:bodyPr wrap="square" lIns="0" tIns="0" rIns="0" bIns="0" rtlCol="0" anchor="ctr"/>
          <a:lstStyle/>
          <a:p>
            <a:pPr marL="0" indent="0">
              <a:buNone/>
            </a:pPr>
            <a:r>
              <a:rPr lang="en-US" sz="1200" b="1" dirty="0">
                <a:solidFill>
                  <a:srgbClr val="0D3B2E"/>
                </a:solidFill>
              </a:rPr>
              <a:t>Mời trải nghiệm</a:t>
            </a:r>
            <a:endParaRPr lang="en-US" sz="1200" dirty="0"/>
          </a:p>
        </p:txBody>
      </p:sp>
      <p:sp>
        <p:nvSpPr>
          <p:cNvPr id="22" name="Text 19"/>
          <p:cNvSpPr/>
          <p:nvPr/>
        </p:nvSpPr>
        <p:spPr>
          <a:xfrm>
            <a:off x="1005840" y="4114800"/>
            <a:ext cx="2880360" cy="338328"/>
          </a:xfrm>
          <a:prstGeom prst="rect">
            <a:avLst/>
          </a:prstGeom>
          <a:noFill/>
          <a:ln/>
        </p:spPr>
        <p:txBody>
          <a:bodyPr wrap="square" lIns="0" tIns="0" rIns="0" bIns="0" rtlCol="0" anchor="ctr">
            <a:normAutofit/>
          </a:bodyPr>
          <a:lstStyle/>
          <a:p>
            <a:pPr marL="0" indent="0">
              <a:buNone/>
            </a:pPr>
            <a:r>
              <a:rPr lang="en-US" sz="1050" dirty="0">
                <a:solidFill>
                  <a:srgbClr val="667572"/>
                </a:solidFill>
              </a:rPr>
              <a:t>Demo kết cấu, mùi hương, độ thấm; test trên da khi phù hợp.</a:t>
            </a:r>
            <a:endParaRPr lang="en-US" sz="1050" dirty="0"/>
          </a:p>
        </p:txBody>
      </p:sp>
      <p:sp>
        <p:nvSpPr>
          <p:cNvPr id="23" name="Shape 20"/>
          <p:cNvSpPr/>
          <p:nvPr/>
        </p:nvSpPr>
        <p:spPr>
          <a:xfrm>
            <a:off x="731520" y="4261104"/>
            <a:ext cx="0" cy="384048"/>
          </a:xfrm>
          <a:prstGeom prst="line">
            <a:avLst/>
          </a:prstGeom>
          <a:noFill/>
          <a:ln w="12700">
            <a:solidFill>
              <a:srgbClr val="D4E3DE"/>
            </a:solidFill>
            <a:prstDash val="solid"/>
          </a:ln>
        </p:spPr>
      </p:sp>
      <p:sp>
        <p:nvSpPr>
          <p:cNvPr id="24" name="Text 21"/>
          <p:cNvSpPr/>
          <p:nvPr/>
        </p:nvSpPr>
        <p:spPr>
          <a:xfrm>
            <a:off x="566928" y="4754880"/>
            <a:ext cx="338328" cy="228600"/>
          </a:xfrm>
          <a:prstGeom prst="rect">
            <a:avLst/>
          </a:prstGeom>
          <a:noFill/>
          <a:ln/>
        </p:spPr>
        <p:txBody>
          <a:bodyPr wrap="square" lIns="0" tIns="0" rIns="0" bIns="0" rtlCol="0" anchor="ctr"/>
          <a:lstStyle/>
          <a:p>
            <a:pPr marL="0" indent="0" algn="ctr">
              <a:buNone/>
            </a:pPr>
            <a:r>
              <a:rPr lang="en-US" b="1" dirty="0">
                <a:solidFill>
                  <a:srgbClr val="C6A365"/>
                </a:solidFill>
              </a:rPr>
              <a:t>05</a:t>
            </a:r>
            <a:endParaRPr lang="en-US" dirty="0"/>
          </a:p>
        </p:txBody>
      </p:sp>
      <p:sp>
        <p:nvSpPr>
          <p:cNvPr id="25" name="Text 22"/>
          <p:cNvSpPr/>
          <p:nvPr/>
        </p:nvSpPr>
        <p:spPr>
          <a:xfrm>
            <a:off x="1005840" y="4700016"/>
            <a:ext cx="2651760" cy="164592"/>
          </a:xfrm>
          <a:prstGeom prst="rect">
            <a:avLst/>
          </a:prstGeom>
          <a:noFill/>
          <a:ln/>
        </p:spPr>
        <p:txBody>
          <a:bodyPr wrap="square" lIns="0" tIns="0" rIns="0" bIns="0" rtlCol="0" anchor="ctr"/>
          <a:lstStyle/>
          <a:p>
            <a:pPr marL="0" indent="0">
              <a:buNone/>
            </a:pPr>
            <a:r>
              <a:rPr lang="en-US" sz="1200" b="1" dirty="0">
                <a:solidFill>
                  <a:srgbClr val="0D3B2E"/>
                </a:solidFill>
              </a:rPr>
              <a:t>Hẹn lịch chuyên gia</a:t>
            </a:r>
            <a:endParaRPr lang="en-US" sz="1200" dirty="0"/>
          </a:p>
        </p:txBody>
      </p:sp>
      <p:sp>
        <p:nvSpPr>
          <p:cNvPr id="26" name="Text 23"/>
          <p:cNvSpPr/>
          <p:nvPr/>
        </p:nvSpPr>
        <p:spPr>
          <a:xfrm>
            <a:off x="1005840" y="4901184"/>
            <a:ext cx="2880360" cy="338328"/>
          </a:xfrm>
          <a:prstGeom prst="rect">
            <a:avLst/>
          </a:prstGeom>
          <a:noFill/>
          <a:ln/>
        </p:spPr>
        <p:txBody>
          <a:bodyPr wrap="square" lIns="0" tIns="0" rIns="0" bIns="0" rtlCol="0" anchor="ctr">
            <a:normAutofit/>
          </a:bodyPr>
          <a:lstStyle/>
          <a:p>
            <a:pPr marL="0" indent="0">
              <a:buNone/>
            </a:pPr>
            <a:r>
              <a:rPr lang="en-US" sz="1050" dirty="0">
                <a:solidFill>
                  <a:srgbClr val="667572"/>
                </a:solidFill>
              </a:rPr>
              <a:t>Chốt lịch bác sĩ/chuyên gia: soi da, tư vấn phác đồ, đào tạo kỹ thuật và bán hàng.</a:t>
            </a:r>
            <a:endParaRPr lang="en-US" sz="1050" dirty="0"/>
          </a:p>
        </p:txBody>
      </p:sp>
      <p:sp>
        <p:nvSpPr>
          <p:cNvPr id="27" name="Shape 24"/>
          <p:cNvSpPr/>
          <p:nvPr/>
        </p:nvSpPr>
        <p:spPr>
          <a:xfrm>
            <a:off x="4251960" y="1143000"/>
            <a:ext cx="3429000" cy="292608"/>
          </a:xfrm>
          <a:prstGeom prst="roundRect">
            <a:avLst>
              <a:gd name="adj" fmla="val 12500"/>
            </a:avLst>
          </a:prstGeom>
          <a:solidFill>
            <a:srgbClr val="0D3B2E"/>
          </a:solidFill>
          <a:ln w="12700">
            <a:solidFill>
              <a:srgbClr val="0D3B2E"/>
            </a:solidFill>
            <a:prstDash val="solid"/>
          </a:ln>
        </p:spPr>
      </p:sp>
      <p:sp>
        <p:nvSpPr>
          <p:cNvPr id="28" name="Text 25"/>
          <p:cNvSpPr/>
          <p:nvPr/>
        </p:nvSpPr>
        <p:spPr>
          <a:xfrm>
            <a:off x="4325112" y="1216152"/>
            <a:ext cx="3282696" cy="146304"/>
          </a:xfrm>
          <a:prstGeom prst="rect">
            <a:avLst/>
          </a:prstGeom>
          <a:noFill/>
          <a:ln/>
        </p:spPr>
        <p:txBody>
          <a:bodyPr wrap="square" lIns="0" tIns="0" rIns="0" bIns="0" rtlCol="0" anchor="ctr"/>
          <a:lstStyle/>
          <a:p>
            <a:pPr marL="0" indent="0" algn="ctr">
              <a:buNone/>
            </a:pPr>
            <a:r>
              <a:rPr lang="en-US" sz="1000" b="1" dirty="0">
                <a:solidFill>
                  <a:srgbClr val="FFFFFF"/>
                </a:solidFill>
              </a:rPr>
              <a:t>B. KHÁCH ĐÃ BIẾT SẢN PHẨM: 4 CÂU HỎI MỞ</a:t>
            </a:r>
            <a:endParaRPr lang="en-US" sz="1000" dirty="0"/>
          </a:p>
        </p:txBody>
      </p:sp>
      <p:sp>
        <p:nvSpPr>
          <p:cNvPr id="29" name="Shape 26"/>
          <p:cNvSpPr/>
          <p:nvPr/>
        </p:nvSpPr>
        <p:spPr>
          <a:xfrm>
            <a:off x="4251960" y="1536192"/>
            <a:ext cx="3429000" cy="694944"/>
          </a:xfrm>
          <a:prstGeom prst="roundRect">
            <a:avLst>
              <a:gd name="adj" fmla="val 7895"/>
            </a:avLst>
          </a:prstGeom>
          <a:solidFill>
            <a:srgbClr val="FFFFFF"/>
          </a:solidFill>
          <a:ln w="12700">
            <a:solidFill>
              <a:srgbClr val="D6E5E0">
                <a:alpha val="90000"/>
              </a:srgbClr>
            </a:solidFill>
            <a:prstDash val="solid"/>
          </a:ln>
          <a:effectLst>
            <a:outerShdw blurRad="12700" dist="50800" dir="2700000" algn="bl" rotWithShape="0">
              <a:srgbClr val="000000">
                <a:alpha val="6000"/>
              </a:srgbClr>
            </a:outerShdw>
          </a:effectLst>
        </p:spPr>
      </p:sp>
      <p:sp>
        <p:nvSpPr>
          <p:cNvPr id="30" name="Shape 27"/>
          <p:cNvSpPr/>
          <p:nvPr/>
        </p:nvSpPr>
        <p:spPr>
          <a:xfrm>
            <a:off x="4361688" y="1664208"/>
            <a:ext cx="384048" cy="384048"/>
          </a:xfrm>
          <a:prstGeom prst="ellipse">
            <a:avLst/>
          </a:prstGeom>
          <a:solidFill>
            <a:srgbClr val="E8F3EF"/>
          </a:solidFill>
          <a:ln w="12700">
            <a:solidFill>
              <a:srgbClr val="E8F3EF"/>
            </a:solidFill>
            <a:prstDash val="solid"/>
          </a:ln>
        </p:spPr>
      </p:sp>
      <p:sp>
        <p:nvSpPr>
          <p:cNvPr id="31" name="Text 28"/>
          <p:cNvSpPr/>
          <p:nvPr/>
        </p:nvSpPr>
        <p:spPr>
          <a:xfrm>
            <a:off x="4416552" y="1737360"/>
            <a:ext cx="274320" cy="182880"/>
          </a:xfrm>
          <a:prstGeom prst="rect">
            <a:avLst/>
          </a:prstGeom>
          <a:noFill/>
          <a:ln/>
        </p:spPr>
        <p:txBody>
          <a:bodyPr wrap="square" lIns="0" tIns="0" rIns="0" bIns="0" rtlCol="0" anchor="ctr"/>
          <a:lstStyle/>
          <a:p>
            <a:pPr marL="0" indent="0" algn="ctr">
              <a:buNone/>
            </a:pPr>
            <a:r>
              <a:rPr lang="en-US" dirty="0">
                <a:solidFill>
                  <a:srgbClr val="000000"/>
                </a:solidFill>
              </a:rPr>
              <a:t>👋</a:t>
            </a:r>
            <a:endParaRPr lang="en-US" dirty="0"/>
          </a:p>
        </p:txBody>
      </p:sp>
      <p:sp>
        <p:nvSpPr>
          <p:cNvPr id="32" name="Text 29"/>
          <p:cNvSpPr/>
          <p:nvPr/>
        </p:nvSpPr>
        <p:spPr>
          <a:xfrm>
            <a:off x="4873752" y="1645920"/>
            <a:ext cx="2697480" cy="182880"/>
          </a:xfrm>
          <a:prstGeom prst="rect">
            <a:avLst/>
          </a:prstGeom>
          <a:noFill/>
          <a:ln/>
        </p:spPr>
        <p:txBody>
          <a:bodyPr wrap="square" lIns="0" tIns="0" rIns="0" bIns="0" rtlCol="0" anchor="ctr"/>
          <a:lstStyle/>
          <a:p>
            <a:pPr marL="0" indent="0">
              <a:buNone/>
            </a:pPr>
            <a:r>
              <a:rPr lang="en-US" sz="1100" b="1" dirty="0">
                <a:solidFill>
                  <a:srgbClr val="0D3B2E"/>
                </a:solidFill>
              </a:rPr>
              <a:t>Đã từng sử dụng?</a:t>
            </a:r>
            <a:endParaRPr lang="en-US" sz="1100" dirty="0"/>
          </a:p>
        </p:txBody>
      </p:sp>
      <p:sp>
        <p:nvSpPr>
          <p:cNvPr id="33" name="Text 30"/>
          <p:cNvSpPr/>
          <p:nvPr/>
        </p:nvSpPr>
        <p:spPr>
          <a:xfrm>
            <a:off x="4873752" y="1865376"/>
            <a:ext cx="2679192" cy="283464"/>
          </a:xfrm>
          <a:prstGeom prst="rect">
            <a:avLst/>
          </a:prstGeom>
          <a:noFill/>
          <a:ln/>
        </p:spPr>
        <p:txBody>
          <a:bodyPr wrap="square" lIns="0" tIns="0" rIns="0" bIns="0" rtlCol="0" anchor="ctr">
            <a:noAutofit/>
          </a:bodyPr>
          <a:lstStyle/>
          <a:p>
            <a:pPr marL="0" indent="0">
              <a:buNone/>
            </a:pPr>
            <a:r>
              <a:rPr lang="en-US" sz="1050" dirty="0">
                <a:solidFill>
                  <a:srgbClr val="667572"/>
                </a:solidFill>
              </a:rPr>
              <a:t>Xác định mức độ nhận diện và trải nghiệm thực tế.</a:t>
            </a:r>
            <a:endParaRPr lang="en-US" sz="1050" dirty="0"/>
          </a:p>
        </p:txBody>
      </p:sp>
      <p:sp>
        <p:nvSpPr>
          <p:cNvPr id="34" name="Shape 31"/>
          <p:cNvSpPr/>
          <p:nvPr/>
        </p:nvSpPr>
        <p:spPr>
          <a:xfrm>
            <a:off x="4251960" y="2368296"/>
            <a:ext cx="3429000" cy="694944"/>
          </a:xfrm>
          <a:prstGeom prst="roundRect">
            <a:avLst>
              <a:gd name="adj" fmla="val 7895"/>
            </a:avLst>
          </a:prstGeom>
          <a:solidFill>
            <a:srgbClr val="FFFFFF"/>
          </a:solidFill>
          <a:ln w="12700">
            <a:solidFill>
              <a:srgbClr val="D6E5E0">
                <a:alpha val="90000"/>
              </a:srgbClr>
            </a:solidFill>
            <a:prstDash val="solid"/>
          </a:ln>
          <a:effectLst>
            <a:outerShdw blurRad="12700" dist="50800" dir="2700000" algn="bl" rotWithShape="0">
              <a:srgbClr val="000000">
                <a:alpha val="6000"/>
              </a:srgbClr>
            </a:outerShdw>
          </a:effectLst>
        </p:spPr>
      </p:sp>
      <p:sp>
        <p:nvSpPr>
          <p:cNvPr id="35" name="Shape 32"/>
          <p:cNvSpPr/>
          <p:nvPr/>
        </p:nvSpPr>
        <p:spPr>
          <a:xfrm>
            <a:off x="4361688" y="2496312"/>
            <a:ext cx="384048" cy="384048"/>
          </a:xfrm>
          <a:prstGeom prst="ellipse">
            <a:avLst/>
          </a:prstGeom>
          <a:solidFill>
            <a:srgbClr val="E8F3EF"/>
          </a:solidFill>
          <a:ln w="12700">
            <a:solidFill>
              <a:srgbClr val="E8F3EF"/>
            </a:solidFill>
            <a:prstDash val="solid"/>
          </a:ln>
        </p:spPr>
      </p:sp>
      <p:sp>
        <p:nvSpPr>
          <p:cNvPr id="36" name="Text 33"/>
          <p:cNvSpPr/>
          <p:nvPr/>
        </p:nvSpPr>
        <p:spPr>
          <a:xfrm>
            <a:off x="4416552" y="2569464"/>
            <a:ext cx="274320" cy="182880"/>
          </a:xfrm>
          <a:prstGeom prst="rect">
            <a:avLst/>
          </a:prstGeom>
          <a:noFill/>
          <a:ln/>
        </p:spPr>
        <p:txBody>
          <a:bodyPr wrap="square" lIns="0" tIns="0" rIns="0" bIns="0" rtlCol="0" anchor="ctr"/>
          <a:lstStyle/>
          <a:p>
            <a:pPr marL="0" indent="0" algn="ctr">
              <a:buNone/>
            </a:pPr>
            <a:r>
              <a:rPr lang="en-US" dirty="0">
                <a:solidFill>
                  <a:srgbClr val="000000"/>
                </a:solidFill>
              </a:rPr>
              <a:t>⭐</a:t>
            </a:r>
            <a:endParaRPr lang="en-US" dirty="0"/>
          </a:p>
        </p:txBody>
      </p:sp>
      <p:sp>
        <p:nvSpPr>
          <p:cNvPr id="37" name="Text 34"/>
          <p:cNvSpPr/>
          <p:nvPr/>
        </p:nvSpPr>
        <p:spPr>
          <a:xfrm>
            <a:off x="4873752" y="2478024"/>
            <a:ext cx="2697480" cy="182880"/>
          </a:xfrm>
          <a:prstGeom prst="rect">
            <a:avLst/>
          </a:prstGeom>
          <a:noFill/>
          <a:ln/>
        </p:spPr>
        <p:txBody>
          <a:bodyPr wrap="square" lIns="0" tIns="0" rIns="0" bIns="0" rtlCol="0" anchor="ctr"/>
          <a:lstStyle/>
          <a:p>
            <a:pPr marL="0" indent="0">
              <a:buNone/>
            </a:pPr>
            <a:r>
              <a:rPr lang="en-US" sz="1100" b="1" dirty="0">
                <a:solidFill>
                  <a:srgbClr val="0D3B2E"/>
                </a:solidFill>
              </a:rPr>
              <a:t>Cảm nhận thế nào?</a:t>
            </a:r>
            <a:endParaRPr lang="en-US" sz="1100" dirty="0"/>
          </a:p>
        </p:txBody>
      </p:sp>
      <p:sp>
        <p:nvSpPr>
          <p:cNvPr id="38" name="Text 35"/>
          <p:cNvSpPr/>
          <p:nvPr/>
        </p:nvSpPr>
        <p:spPr>
          <a:xfrm>
            <a:off x="4873752" y="2697480"/>
            <a:ext cx="2679192" cy="283464"/>
          </a:xfrm>
          <a:prstGeom prst="rect">
            <a:avLst/>
          </a:prstGeom>
          <a:noFill/>
          <a:ln/>
        </p:spPr>
        <p:txBody>
          <a:bodyPr wrap="square" lIns="0" tIns="0" rIns="0" bIns="0" rtlCol="0" anchor="ctr">
            <a:normAutofit/>
          </a:bodyPr>
          <a:lstStyle/>
          <a:p>
            <a:pPr marL="0" indent="0">
              <a:buNone/>
            </a:pPr>
            <a:r>
              <a:rPr lang="en-US" sz="1050" dirty="0">
                <a:solidFill>
                  <a:srgbClr val="667572"/>
                </a:solidFill>
              </a:rPr>
              <a:t>Để khách tự nói về giá trị và điểm hài lòng.</a:t>
            </a:r>
            <a:endParaRPr lang="en-US" sz="1050" dirty="0"/>
          </a:p>
        </p:txBody>
      </p:sp>
      <p:sp>
        <p:nvSpPr>
          <p:cNvPr id="39" name="Shape 36"/>
          <p:cNvSpPr/>
          <p:nvPr/>
        </p:nvSpPr>
        <p:spPr>
          <a:xfrm>
            <a:off x="4251960" y="3200400"/>
            <a:ext cx="3429000" cy="694944"/>
          </a:xfrm>
          <a:prstGeom prst="roundRect">
            <a:avLst>
              <a:gd name="adj" fmla="val 7895"/>
            </a:avLst>
          </a:prstGeom>
          <a:solidFill>
            <a:srgbClr val="FFFFFF"/>
          </a:solidFill>
          <a:ln w="12700">
            <a:solidFill>
              <a:srgbClr val="D6E5E0">
                <a:alpha val="90000"/>
              </a:srgbClr>
            </a:solidFill>
            <a:prstDash val="solid"/>
          </a:ln>
          <a:effectLst>
            <a:outerShdw blurRad="12700" dist="50800" dir="2700000" algn="bl" rotWithShape="0">
              <a:srgbClr val="000000">
                <a:alpha val="6000"/>
              </a:srgbClr>
            </a:outerShdw>
          </a:effectLst>
        </p:spPr>
      </p:sp>
      <p:sp>
        <p:nvSpPr>
          <p:cNvPr id="40" name="Shape 37"/>
          <p:cNvSpPr/>
          <p:nvPr/>
        </p:nvSpPr>
        <p:spPr>
          <a:xfrm>
            <a:off x="4361688" y="3328416"/>
            <a:ext cx="384048" cy="384048"/>
          </a:xfrm>
          <a:prstGeom prst="ellipse">
            <a:avLst/>
          </a:prstGeom>
          <a:solidFill>
            <a:srgbClr val="E8F3EF"/>
          </a:solidFill>
          <a:ln w="12700">
            <a:solidFill>
              <a:srgbClr val="E8F3EF"/>
            </a:solidFill>
            <a:prstDash val="solid"/>
          </a:ln>
        </p:spPr>
      </p:sp>
      <p:sp>
        <p:nvSpPr>
          <p:cNvPr id="41" name="Text 38"/>
          <p:cNvSpPr/>
          <p:nvPr/>
        </p:nvSpPr>
        <p:spPr>
          <a:xfrm>
            <a:off x="4416552" y="3401568"/>
            <a:ext cx="274320" cy="182880"/>
          </a:xfrm>
          <a:prstGeom prst="rect">
            <a:avLst/>
          </a:prstGeom>
          <a:noFill/>
          <a:ln/>
        </p:spPr>
        <p:txBody>
          <a:bodyPr wrap="square" lIns="0" tIns="0" rIns="0" bIns="0" rtlCol="0" anchor="ctr"/>
          <a:lstStyle/>
          <a:p>
            <a:pPr marL="0" indent="0" algn="ctr">
              <a:buNone/>
            </a:pPr>
            <a:r>
              <a:rPr lang="en-US" dirty="0">
                <a:solidFill>
                  <a:srgbClr val="000000"/>
                </a:solidFill>
              </a:rPr>
              <a:t>📦</a:t>
            </a:r>
            <a:endParaRPr lang="en-US" dirty="0"/>
          </a:p>
        </p:txBody>
      </p:sp>
      <p:sp>
        <p:nvSpPr>
          <p:cNvPr id="42" name="Text 39"/>
          <p:cNvSpPr/>
          <p:nvPr/>
        </p:nvSpPr>
        <p:spPr>
          <a:xfrm>
            <a:off x="4873752" y="3310128"/>
            <a:ext cx="2697480" cy="182880"/>
          </a:xfrm>
          <a:prstGeom prst="rect">
            <a:avLst/>
          </a:prstGeom>
          <a:noFill/>
          <a:ln/>
        </p:spPr>
        <p:txBody>
          <a:bodyPr wrap="square" lIns="0" tIns="0" rIns="0" bIns="0" rtlCol="0" anchor="ctr"/>
          <a:lstStyle/>
          <a:p>
            <a:pPr marL="0" indent="0">
              <a:buNone/>
            </a:pPr>
            <a:r>
              <a:rPr lang="en-US" sz="1100" b="1" dirty="0">
                <a:solidFill>
                  <a:srgbClr val="0D3B2E"/>
                </a:solidFill>
              </a:rPr>
              <a:t>Đang nhập từ đâu?</a:t>
            </a:r>
            <a:endParaRPr lang="en-US" sz="1100" dirty="0"/>
          </a:p>
        </p:txBody>
      </p:sp>
      <p:sp>
        <p:nvSpPr>
          <p:cNvPr id="43" name="Text 40"/>
          <p:cNvSpPr/>
          <p:nvPr/>
        </p:nvSpPr>
        <p:spPr>
          <a:xfrm>
            <a:off x="4873752" y="3529584"/>
            <a:ext cx="2679192" cy="283464"/>
          </a:xfrm>
          <a:prstGeom prst="rect">
            <a:avLst/>
          </a:prstGeom>
          <a:noFill/>
          <a:ln/>
        </p:spPr>
        <p:txBody>
          <a:bodyPr wrap="square" lIns="0" tIns="0" rIns="0" bIns="0" rtlCol="0" anchor="ctr">
            <a:noAutofit/>
          </a:bodyPr>
          <a:lstStyle/>
          <a:p>
            <a:pPr marL="0" indent="0">
              <a:buNone/>
            </a:pPr>
            <a:r>
              <a:rPr lang="en-US" sz="1050" dirty="0">
                <a:solidFill>
                  <a:srgbClr val="667572"/>
                </a:solidFill>
              </a:rPr>
              <a:t>Nhận diện kênh phân phối và tình trạng hiện tại.</a:t>
            </a:r>
            <a:endParaRPr lang="en-US" sz="1050" dirty="0"/>
          </a:p>
        </p:txBody>
      </p:sp>
      <p:sp>
        <p:nvSpPr>
          <p:cNvPr id="44" name="Shape 41"/>
          <p:cNvSpPr/>
          <p:nvPr/>
        </p:nvSpPr>
        <p:spPr>
          <a:xfrm>
            <a:off x="4251960" y="4032504"/>
            <a:ext cx="3429000" cy="694944"/>
          </a:xfrm>
          <a:prstGeom prst="roundRect">
            <a:avLst>
              <a:gd name="adj" fmla="val 7895"/>
            </a:avLst>
          </a:prstGeom>
          <a:solidFill>
            <a:srgbClr val="FFFFFF"/>
          </a:solidFill>
          <a:ln w="12700">
            <a:solidFill>
              <a:srgbClr val="D6E5E0">
                <a:alpha val="90000"/>
              </a:srgbClr>
            </a:solidFill>
            <a:prstDash val="solid"/>
          </a:ln>
          <a:effectLst>
            <a:outerShdw blurRad="12700" dist="50800" dir="2700000" algn="bl" rotWithShape="0">
              <a:srgbClr val="000000">
                <a:alpha val="6000"/>
              </a:srgbClr>
            </a:outerShdw>
          </a:effectLst>
        </p:spPr>
      </p:sp>
      <p:sp>
        <p:nvSpPr>
          <p:cNvPr id="45" name="Shape 42"/>
          <p:cNvSpPr/>
          <p:nvPr/>
        </p:nvSpPr>
        <p:spPr>
          <a:xfrm>
            <a:off x="4361688" y="4160520"/>
            <a:ext cx="384048" cy="384048"/>
          </a:xfrm>
          <a:prstGeom prst="ellipse">
            <a:avLst/>
          </a:prstGeom>
          <a:solidFill>
            <a:srgbClr val="E8F3EF"/>
          </a:solidFill>
          <a:ln w="12700">
            <a:solidFill>
              <a:srgbClr val="E8F3EF"/>
            </a:solidFill>
            <a:prstDash val="solid"/>
          </a:ln>
        </p:spPr>
      </p:sp>
      <p:sp>
        <p:nvSpPr>
          <p:cNvPr id="46" name="Text 43"/>
          <p:cNvSpPr/>
          <p:nvPr/>
        </p:nvSpPr>
        <p:spPr>
          <a:xfrm>
            <a:off x="4416552" y="4233672"/>
            <a:ext cx="274320" cy="182880"/>
          </a:xfrm>
          <a:prstGeom prst="rect">
            <a:avLst/>
          </a:prstGeom>
          <a:noFill/>
          <a:ln/>
        </p:spPr>
        <p:txBody>
          <a:bodyPr wrap="square" lIns="0" tIns="0" rIns="0" bIns="0" rtlCol="0" anchor="ctr"/>
          <a:lstStyle/>
          <a:p>
            <a:pPr marL="0" indent="0" algn="ctr">
              <a:buNone/>
            </a:pPr>
            <a:r>
              <a:rPr lang="en-US" dirty="0">
                <a:solidFill>
                  <a:srgbClr val="000000"/>
                </a:solidFill>
              </a:rPr>
              <a:t>🔍</a:t>
            </a:r>
            <a:endParaRPr lang="en-US" dirty="0"/>
          </a:p>
        </p:txBody>
      </p:sp>
      <p:sp>
        <p:nvSpPr>
          <p:cNvPr id="47" name="Text 44"/>
          <p:cNvSpPr/>
          <p:nvPr/>
        </p:nvSpPr>
        <p:spPr>
          <a:xfrm>
            <a:off x="4873752" y="4142232"/>
            <a:ext cx="2697480" cy="182880"/>
          </a:xfrm>
          <a:prstGeom prst="rect">
            <a:avLst/>
          </a:prstGeom>
          <a:noFill/>
          <a:ln/>
        </p:spPr>
        <p:txBody>
          <a:bodyPr wrap="square" lIns="0" tIns="0" rIns="0" bIns="0" rtlCol="0" anchor="ctr"/>
          <a:lstStyle/>
          <a:p>
            <a:pPr marL="0" indent="0">
              <a:buNone/>
            </a:pPr>
            <a:r>
              <a:rPr lang="en-US" sz="1100" b="1" dirty="0">
                <a:solidFill>
                  <a:srgbClr val="0D3B2E"/>
                </a:solidFill>
              </a:rPr>
              <a:t>Muốn hỗ trợ gì hơn?</a:t>
            </a:r>
            <a:endParaRPr lang="en-US" sz="1100" dirty="0"/>
          </a:p>
        </p:txBody>
      </p:sp>
      <p:sp>
        <p:nvSpPr>
          <p:cNvPr id="48" name="Text 45"/>
          <p:cNvSpPr/>
          <p:nvPr/>
        </p:nvSpPr>
        <p:spPr>
          <a:xfrm>
            <a:off x="4873752" y="4361688"/>
            <a:ext cx="2679192" cy="283464"/>
          </a:xfrm>
          <a:prstGeom prst="rect">
            <a:avLst/>
          </a:prstGeom>
          <a:noFill/>
          <a:ln/>
        </p:spPr>
        <p:txBody>
          <a:bodyPr wrap="square" lIns="0" tIns="0" rIns="0" bIns="0" rtlCol="0" anchor="ctr">
            <a:normAutofit fontScale="92500" lnSpcReduction="10000"/>
          </a:bodyPr>
          <a:lstStyle/>
          <a:p>
            <a:pPr marL="0" indent="0">
              <a:buNone/>
            </a:pPr>
            <a:r>
              <a:rPr lang="en-US" sz="1050" dirty="0">
                <a:solidFill>
                  <a:srgbClr val="667572"/>
                </a:solidFill>
              </a:rPr>
              <a:t>Khai thác điểm đau: chính sách, đào tạo, marketing, tăng doanh số.</a:t>
            </a:r>
            <a:endParaRPr lang="en-US" sz="1050" dirty="0"/>
          </a:p>
        </p:txBody>
      </p:sp>
      <p:sp>
        <p:nvSpPr>
          <p:cNvPr id="49" name="Shape 46"/>
          <p:cNvSpPr/>
          <p:nvPr/>
        </p:nvSpPr>
        <p:spPr>
          <a:xfrm>
            <a:off x="8065008" y="3063240"/>
            <a:ext cx="3657600" cy="2423160"/>
          </a:xfrm>
          <a:prstGeom prst="roundRect">
            <a:avLst>
              <a:gd name="adj" fmla="val 2642"/>
            </a:avLst>
          </a:prstGeom>
          <a:solidFill>
            <a:srgbClr val="0D3B2E"/>
          </a:solidFill>
          <a:ln w="12700">
            <a:solidFill>
              <a:srgbClr val="0D3B2E"/>
            </a:solidFill>
            <a:prstDash val="solid"/>
          </a:ln>
        </p:spPr>
      </p:sp>
      <p:sp>
        <p:nvSpPr>
          <p:cNvPr id="50" name="Text 47"/>
          <p:cNvSpPr/>
          <p:nvPr/>
        </p:nvSpPr>
        <p:spPr>
          <a:xfrm>
            <a:off x="8302752" y="3310128"/>
            <a:ext cx="3200400" cy="210312"/>
          </a:xfrm>
          <a:prstGeom prst="rect">
            <a:avLst/>
          </a:prstGeom>
          <a:noFill/>
          <a:ln/>
        </p:spPr>
        <p:txBody>
          <a:bodyPr wrap="square" lIns="0" tIns="0" rIns="0" bIns="0" rtlCol="0" anchor="ctr"/>
          <a:lstStyle/>
          <a:p>
            <a:pPr marL="0" indent="0" algn="ctr">
              <a:buNone/>
            </a:pPr>
            <a:r>
              <a:rPr lang="en-US" sz="1100" b="1" dirty="0">
                <a:solidFill>
                  <a:srgbClr val="C6A365"/>
                </a:solidFill>
              </a:rPr>
              <a:t>CÂU CHỐT MẪU</a:t>
            </a:r>
            <a:endParaRPr lang="en-US" sz="1100" dirty="0"/>
          </a:p>
        </p:txBody>
      </p:sp>
      <p:sp>
        <p:nvSpPr>
          <p:cNvPr id="51" name="Text 48"/>
          <p:cNvSpPr/>
          <p:nvPr/>
        </p:nvSpPr>
        <p:spPr>
          <a:xfrm>
            <a:off x="8321040" y="3703320"/>
            <a:ext cx="3154680" cy="960120"/>
          </a:xfrm>
          <a:prstGeom prst="rect">
            <a:avLst/>
          </a:prstGeom>
          <a:noFill/>
          <a:ln/>
        </p:spPr>
        <p:txBody>
          <a:bodyPr wrap="square" lIns="508" tIns="508" rIns="508" bIns="508" rtlCol="0" anchor="ctr">
            <a:normAutofit/>
          </a:bodyPr>
          <a:lstStyle/>
          <a:p>
            <a:pPr marL="0" indent="0" algn="ctr">
              <a:buNone/>
            </a:pPr>
            <a:r>
              <a:rPr lang="en-US" sz="1220" b="1" dirty="0">
                <a:solidFill>
                  <a:srgbClr val="FFFFFF"/>
                </a:solidFill>
              </a:rPr>
              <a:t>“Nếu công ty có thể mang đến chính sách tốt hơn, hỗ trợ marketing, đào tạo bài bản và đồng hành phát triển lâu dài, chị có sẵn sàng dành 30 phút để em trình bày chi tiết không ạ?”</a:t>
            </a:r>
            <a:endParaRPr lang="en-US" sz="1220" dirty="0"/>
          </a:p>
        </p:txBody>
      </p:sp>
      <p:sp>
        <p:nvSpPr>
          <p:cNvPr id="52" name="Text 49"/>
          <p:cNvSpPr/>
          <p:nvPr/>
        </p:nvSpPr>
        <p:spPr>
          <a:xfrm>
            <a:off x="8302752" y="4892040"/>
            <a:ext cx="3200400" cy="320040"/>
          </a:xfrm>
          <a:prstGeom prst="rect">
            <a:avLst/>
          </a:prstGeom>
          <a:noFill/>
          <a:ln/>
        </p:spPr>
        <p:txBody>
          <a:bodyPr wrap="square" lIns="0" tIns="0" rIns="0" bIns="0" rtlCol="0" anchor="ctr">
            <a:normAutofit/>
          </a:bodyPr>
          <a:lstStyle/>
          <a:p>
            <a:pPr marL="0" indent="0" algn="ctr">
              <a:buNone/>
            </a:pPr>
            <a:r>
              <a:rPr lang="en-US" sz="900" dirty="0">
                <a:solidFill>
                  <a:srgbClr val="DDEBE7"/>
                </a:solidFill>
              </a:rPr>
              <a:t>Sau cuộc gặp: lưu thông tin • kết bạn Zalo • gửi catalogue/bảng giá • hẹn chuyên gia • đưa vào danh sách chăm sóc.</a:t>
            </a:r>
            <a:endParaRPr lang="en-US" sz="900" dirty="0"/>
          </a:p>
        </p:txBody>
      </p:sp>
      <p:sp>
        <p:nvSpPr>
          <p:cNvPr id="53" name="Shape 50"/>
          <p:cNvSpPr/>
          <p:nvPr/>
        </p:nvSpPr>
        <p:spPr>
          <a:xfrm>
            <a:off x="502920" y="5897880"/>
            <a:ext cx="11201400" cy="384048"/>
          </a:xfrm>
          <a:prstGeom prst="roundRect">
            <a:avLst>
              <a:gd name="adj" fmla="val 14286"/>
            </a:avLst>
          </a:prstGeom>
          <a:solidFill>
            <a:srgbClr val="FFFFFF"/>
          </a:solidFill>
          <a:ln w="12700">
            <a:solidFill>
              <a:srgbClr val="D8E8E2"/>
            </a:solidFill>
            <a:prstDash val="solid"/>
          </a:ln>
        </p:spPr>
      </p:sp>
      <p:sp>
        <p:nvSpPr>
          <p:cNvPr id="54" name="Text 51"/>
          <p:cNvSpPr/>
          <p:nvPr/>
        </p:nvSpPr>
        <p:spPr>
          <a:xfrm>
            <a:off x="685800" y="6007608"/>
            <a:ext cx="10835640" cy="109728"/>
          </a:xfrm>
          <a:prstGeom prst="rect">
            <a:avLst/>
          </a:prstGeom>
          <a:noFill/>
          <a:ln/>
        </p:spPr>
        <p:txBody>
          <a:bodyPr wrap="square" lIns="0" tIns="0" rIns="0" bIns="0" rtlCol="0" anchor="ctr">
            <a:noAutofit/>
          </a:bodyPr>
          <a:lstStyle/>
          <a:p>
            <a:pPr marL="0" indent="0" algn="ctr">
              <a:buNone/>
            </a:pPr>
            <a:r>
              <a:rPr lang="en-US" sz="1050" b="1" dirty="0">
                <a:solidFill>
                  <a:srgbClr val="1E2A2A"/>
                </a:solidFill>
              </a:rPr>
              <a:t>Phân tích: nhân viên không “ép chốt” ngay. Mục tiêu đúng là mở nhu cầu → tạo niềm tin → hẹn buổi trình bày/chuyên gia → chuyển khách vào quy trình chăm sóc.</a:t>
            </a:r>
            <a:endParaRPr lang="en-US" sz="1050" dirty="0"/>
          </a:p>
        </p:txBody>
      </p:sp>
      <p:sp>
        <p:nvSpPr>
          <p:cNvPr id="55" name="Text 52"/>
          <p:cNvSpPr/>
          <p:nvPr/>
        </p:nvSpPr>
        <p:spPr>
          <a:xfrm>
            <a:off x="502920" y="6510528"/>
            <a:ext cx="3931920" cy="128016"/>
          </a:xfrm>
          <a:prstGeom prst="rect">
            <a:avLst/>
          </a:prstGeom>
          <a:noFill/>
          <a:ln/>
        </p:spPr>
        <p:txBody>
          <a:bodyPr wrap="square" lIns="0" tIns="0" rIns="0" bIns="0" rtlCol="0" anchor="ctr"/>
          <a:lstStyle/>
          <a:p>
            <a:pPr marL="0" indent="0">
              <a:buNone/>
            </a:pPr>
            <a:r>
              <a:rPr lang="en-US" sz="650" dirty="0">
                <a:solidFill>
                  <a:srgbClr val="81918D"/>
                </a:solidFill>
              </a:rPr>
              <a:t>Thuần Hoa Group | Bản đào tạo kinh doanh 2/3</a:t>
            </a:r>
            <a:endParaRPr lang="en-US" sz="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BFA"/>
        </a:solidFill>
        <a:effectLst/>
      </p:bgPr>
    </p:bg>
    <p:spTree>
      <p:nvGrpSpPr>
        <p:cNvPr id="1" name=""/>
        <p:cNvGrpSpPr/>
        <p:nvPr/>
      </p:nvGrpSpPr>
      <p:grpSpPr>
        <a:xfrm>
          <a:off x="0" y="0"/>
          <a:ext cx="0" cy="0"/>
          <a:chOff x="0" y="0"/>
          <a:chExt cx="0" cy="0"/>
        </a:xfrm>
      </p:grpSpPr>
      <p:pic>
        <p:nvPicPr>
          <p:cNvPr id="2" name="Image 0" descr="/mnt/data/slide3_photo.jpg"/>
          <p:cNvPicPr>
            <a:picLocks noChangeAspect="1"/>
          </p:cNvPicPr>
          <p:nvPr/>
        </p:nvPicPr>
        <p:blipFill>
          <a:blip r:embed="rId3"/>
          <a:stretch>
            <a:fillRect/>
          </a:stretch>
        </p:blipFill>
        <p:spPr>
          <a:xfrm>
            <a:off x="0" y="0"/>
            <a:ext cx="12188952" cy="1856232"/>
          </a:xfrm>
          <a:prstGeom prst="rect">
            <a:avLst/>
          </a:prstGeom>
        </p:spPr>
      </p:pic>
      <p:sp>
        <p:nvSpPr>
          <p:cNvPr id="3" name="Text 0"/>
          <p:cNvSpPr/>
          <p:nvPr/>
        </p:nvSpPr>
        <p:spPr>
          <a:xfrm>
            <a:off x="502920" y="320040"/>
            <a:ext cx="7955280" cy="402336"/>
          </a:xfrm>
          <a:prstGeom prst="rect">
            <a:avLst/>
          </a:prstGeom>
          <a:noFill/>
          <a:ln/>
        </p:spPr>
        <p:txBody>
          <a:bodyPr wrap="square" lIns="0" tIns="0" rIns="0" bIns="0" rtlCol="0" anchor="ctr">
            <a:normAutofit/>
          </a:bodyPr>
          <a:lstStyle/>
          <a:p>
            <a:pPr marL="0" indent="0">
              <a:buNone/>
            </a:pPr>
            <a:r>
              <a:rPr lang="en-US" sz="2200" b="1" dirty="0">
                <a:solidFill>
                  <a:srgbClr val="FFFFFF"/>
                </a:solidFill>
              </a:rPr>
              <a:t>SOP HỘI THẢO 20–30 KHÁCH: SETUP → TRẢI NGHIỆM → CHỐT ĐƠN</a:t>
            </a:r>
            <a:endParaRPr lang="en-US" sz="2200" dirty="0"/>
          </a:p>
        </p:txBody>
      </p:sp>
      <p:sp>
        <p:nvSpPr>
          <p:cNvPr id="4" name="Text 1"/>
          <p:cNvSpPr/>
          <p:nvPr/>
        </p:nvSpPr>
        <p:spPr>
          <a:xfrm>
            <a:off x="521208" y="850392"/>
            <a:ext cx="7955280" cy="219456"/>
          </a:xfrm>
          <a:prstGeom prst="rect">
            <a:avLst/>
          </a:prstGeom>
          <a:noFill/>
          <a:ln/>
        </p:spPr>
        <p:txBody>
          <a:bodyPr wrap="square" lIns="0" tIns="0" rIns="0" bIns="0" rtlCol="0" anchor="ctr"/>
          <a:lstStyle/>
          <a:p>
            <a:pPr marL="0" indent="0">
              <a:buNone/>
            </a:pPr>
            <a:r>
              <a:rPr lang="en-US" sz="1400" b="1" dirty="0">
                <a:solidFill>
                  <a:srgbClr val="EAF5F1"/>
                </a:solidFill>
              </a:rPr>
              <a:t>Mục tiêu: 20–30 Spa/Clinic tham dự, 100% trải nghiệm, chốt đơn và đặt lịch đào tạo ngay tại sự kiện</a:t>
            </a:r>
            <a:endParaRPr lang="en-US" sz="1400" dirty="0"/>
          </a:p>
        </p:txBody>
      </p:sp>
      <p:sp>
        <p:nvSpPr>
          <p:cNvPr id="5" name="Text 2"/>
          <p:cNvSpPr/>
          <p:nvPr/>
        </p:nvSpPr>
        <p:spPr>
          <a:xfrm>
            <a:off x="502920" y="2084832"/>
            <a:ext cx="2926080" cy="228600"/>
          </a:xfrm>
          <a:prstGeom prst="rect">
            <a:avLst/>
          </a:prstGeom>
          <a:noFill/>
          <a:ln/>
        </p:spPr>
        <p:txBody>
          <a:bodyPr wrap="square" lIns="0" tIns="0" rIns="0" bIns="0" rtlCol="0" anchor="ctr"/>
          <a:lstStyle/>
          <a:p>
            <a:pPr marL="0" indent="0">
              <a:buNone/>
            </a:pPr>
            <a:r>
              <a:rPr lang="en-US" sz="1600" b="1" dirty="0">
                <a:solidFill>
                  <a:srgbClr val="1E2A2A"/>
                </a:solidFill>
              </a:rPr>
              <a:t>Timeline vận hành chuẩn</a:t>
            </a:r>
            <a:endParaRPr lang="en-US" sz="1600" dirty="0"/>
          </a:p>
        </p:txBody>
      </p:sp>
      <p:sp>
        <p:nvSpPr>
          <p:cNvPr id="6" name="Shape 3"/>
          <p:cNvSpPr/>
          <p:nvPr/>
        </p:nvSpPr>
        <p:spPr>
          <a:xfrm>
            <a:off x="502920" y="2450592"/>
            <a:ext cx="3337560" cy="749808"/>
          </a:xfrm>
          <a:prstGeom prst="roundRect">
            <a:avLst>
              <a:gd name="adj" fmla="val 7317"/>
            </a:avLst>
          </a:prstGeom>
          <a:solidFill>
            <a:srgbClr val="FFFFFF"/>
          </a:solidFill>
          <a:ln w="12700">
            <a:solidFill>
              <a:srgbClr val="D3E4DE"/>
            </a:solidFill>
            <a:prstDash val="solid"/>
          </a:ln>
          <a:effectLst>
            <a:outerShdw blurRad="12700" dist="50800" dir="2700000" algn="bl" rotWithShape="0">
              <a:srgbClr val="000000">
                <a:alpha val="5000"/>
              </a:srgbClr>
            </a:outerShdw>
          </a:effectLst>
        </p:spPr>
      </p:sp>
      <p:sp>
        <p:nvSpPr>
          <p:cNvPr id="7" name="Shape 4"/>
          <p:cNvSpPr/>
          <p:nvPr/>
        </p:nvSpPr>
        <p:spPr>
          <a:xfrm>
            <a:off x="612648" y="2569464"/>
            <a:ext cx="457200" cy="457200"/>
          </a:xfrm>
          <a:prstGeom prst="ellipse">
            <a:avLst/>
          </a:prstGeom>
          <a:solidFill>
            <a:srgbClr val="0D3B2E"/>
          </a:solidFill>
          <a:ln w="12700">
            <a:solidFill>
              <a:srgbClr val="0D3B2E"/>
            </a:solidFill>
            <a:prstDash val="solid"/>
          </a:ln>
        </p:spPr>
      </p:sp>
      <p:sp>
        <p:nvSpPr>
          <p:cNvPr id="8" name="Text 5"/>
          <p:cNvSpPr/>
          <p:nvPr/>
        </p:nvSpPr>
        <p:spPr>
          <a:xfrm>
            <a:off x="749808" y="2734056"/>
            <a:ext cx="182880" cy="109728"/>
          </a:xfrm>
          <a:prstGeom prst="rect">
            <a:avLst/>
          </a:prstGeom>
          <a:noFill/>
          <a:ln/>
        </p:spPr>
        <p:txBody>
          <a:bodyPr wrap="square" lIns="0" tIns="0" rIns="0" bIns="0" rtlCol="0" anchor="ctr"/>
          <a:lstStyle/>
          <a:p>
            <a:pPr marL="0" indent="0" algn="ctr">
              <a:buNone/>
            </a:pPr>
            <a:r>
              <a:rPr lang="en-US" sz="1050" b="1" dirty="0">
                <a:solidFill>
                  <a:srgbClr val="FFFFFF"/>
                </a:solidFill>
              </a:rPr>
              <a:t>1</a:t>
            </a:r>
            <a:endParaRPr lang="en-US" sz="1050" dirty="0"/>
          </a:p>
        </p:txBody>
      </p:sp>
      <p:sp>
        <p:nvSpPr>
          <p:cNvPr id="9" name="Text 6"/>
          <p:cNvSpPr/>
          <p:nvPr/>
        </p:nvSpPr>
        <p:spPr>
          <a:xfrm>
            <a:off x="1216152" y="2542032"/>
            <a:ext cx="2514600" cy="137160"/>
          </a:xfrm>
          <a:prstGeom prst="rect">
            <a:avLst/>
          </a:prstGeom>
          <a:noFill/>
          <a:ln/>
        </p:spPr>
        <p:txBody>
          <a:bodyPr wrap="square" lIns="0" tIns="0" rIns="0" bIns="0" rtlCol="0" anchor="ctr"/>
          <a:lstStyle/>
          <a:p>
            <a:pPr marL="0" indent="0">
              <a:buNone/>
            </a:pPr>
            <a:r>
              <a:rPr lang="en-US" sz="1100" b="1" dirty="0">
                <a:solidFill>
                  <a:srgbClr val="0D3B2E"/>
                </a:solidFill>
              </a:rPr>
              <a:t>7 ngày</a:t>
            </a:r>
            <a:endParaRPr lang="en-US" sz="1100" dirty="0"/>
          </a:p>
        </p:txBody>
      </p:sp>
      <p:sp>
        <p:nvSpPr>
          <p:cNvPr id="10" name="Text 7"/>
          <p:cNvSpPr/>
          <p:nvPr/>
        </p:nvSpPr>
        <p:spPr>
          <a:xfrm>
            <a:off x="1216152" y="2734056"/>
            <a:ext cx="2514600" cy="329184"/>
          </a:xfrm>
          <a:prstGeom prst="rect">
            <a:avLst/>
          </a:prstGeom>
          <a:noFill/>
          <a:ln/>
        </p:spPr>
        <p:txBody>
          <a:bodyPr wrap="square" lIns="0" tIns="0" rIns="0" bIns="0" rtlCol="0" anchor="ctr">
            <a:normAutofit/>
          </a:bodyPr>
          <a:lstStyle/>
          <a:p>
            <a:pPr marL="0" indent="0">
              <a:buNone/>
            </a:pPr>
            <a:r>
              <a:rPr lang="en-US" sz="1000" dirty="0">
                <a:solidFill>
                  <a:srgbClr val="667572"/>
                </a:solidFill>
              </a:rPr>
              <a:t>Chốt chủ đề, địa điểm, ngân sách, danh sách 30–40 khách, nhóm Zalo, video kết quả.</a:t>
            </a:r>
            <a:endParaRPr lang="en-US" sz="1000" dirty="0"/>
          </a:p>
        </p:txBody>
      </p:sp>
      <p:sp>
        <p:nvSpPr>
          <p:cNvPr id="11" name="Shape 8"/>
          <p:cNvSpPr/>
          <p:nvPr/>
        </p:nvSpPr>
        <p:spPr>
          <a:xfrm>
            <a:off x="4206240" y="2450592"/>
            <a:ext cx="3337560" cy="749808"/>
          </a:xfrm>
          <a:prstGeom prst="roundRect">
            <a:avLst>
              <a:gd name="adj" fmla="val 7317"/>
            </a:avLst>
          </a:prstGeom>
          <a:solidFill>
            <a:srgbClr val="FFFFFF"/>
          </a:solidFill>
          <a:ln w="12700">
            <a:solidFill>
              <a:srgbClr val="D3E4DE"/>
            </a:solidFill>
            <a:prstDash val="solid"/>
          </a:ln>
          <a:effectLst>
            <a:outerShdw blurRad="12700" dist="50800" dir="2700000" algn="bl" rotWithShape="0">
              <a:srgbClr val="000000">
                <a:alpha val="5000"/>
              </a:srgbClr>
            </a:outerShdw>
          </a:effectLst>
        </p:spPr>
      </p:sp>
      <p:sp>
        <p:nvSpPr>
          <p:cNvPr id="12" name="Shape 9"/>
          <p:cNvSpPr/>
          <p:nvPr/>
        </p:nvSpPr>
        <p:spPr>
          <a:xfrm>
            <a:off x="4315968" y="2569464"/>
            <a:ext cx="457200" cy="457200"/>
          </a:xfrm>
          <a:prstGeom prst="ellipse">
            <a:avLst/>
          </a:prstGeom>
          <a:solidFill>
            <a:srgbClr val="0D3B2E"/>
          </a:solidFill>
          <a:ln w="12700">
            <a:solidFill>
              <a:srgbClr val="0D3B2E"/>
            </a:solidFill>
            <a:prstDash val="solid"/>
          </a:ln>
        </p:spPr>
      </p:sp>
      <p:sp>
        <p:nvSpPr>
          <p:cNvPr id="13" name="Text 10"/>
          <p:cNvSpPr/>
          <p:nvPr/>
        </p:nvSpPr>
        <p:spPr>
          <a:xfrm>
            <a:off x="4453128" y="2729484"/>
            <a:ext cx="182880" cy="109728"/>
          </a:xfrm>
          <a:prstGeom prst="rect">
            <a:avLst/>
          </a:prstGeom>
          <a:noFill/>
          <a:ln/>
        </p:spPr>
        <p:txBody>
          <a:bodyPr wrap="square" lIns="0" tIns="0" rIns="0" bIns="0" rtlCol="0" anchor="ctr"/>
          <a:lstStyle/>
          <a:p>
            <a:pPr marL="0" indent="0" algn="ctr">
              <a:buNone/>
            </a:pPr>
            <a:r>
              <a:rPr lang="en-US" sz="1050" b="1" dirty="0">
                <a:solidFill>
                  <a:srgbClr val="FFFFFF"/>
                </a:solidFill>
              </a:rPr>
              <a:t>2</a:t>
            </a:r>
            <a:endParaRPr lang="en-US" sz="1050" dirty="0"/>
          </a:p>
        </p:txBody>
      </p:sp>
      <p:sp>
        <p:nvSpPr>
          <p:cNvPr id="14" name="Text 11"/>
          <p:cNvSpPr/>
          <p:nvPr/>
        </p:nvSpPr>
        <p:spPr>
          <a:xfrm>
            <a:off x="4919472" y="2542032"/>
            <a:ext cx="2514600" cy="137160"/>
          </a:xfrm>
          <a:prstGeom prst="rect">
            <a:avLst/>
          </a:prstGeom>
          <a:noFill/>
          <a:ln/>
        </p:spPr>
        <p:txBody>
          <a:bodyPr wrap="square" lIns="0" tIns="0" rIns="0" bIns="0" rtlCol="0" anchor="ctr"/>
          <a:lstStyle/>
          <a:p>
            <a:pPr marL="0" indent="0">
              <a:buNone/>
            </a:pPr>
            <a:r>
              <a:rPr lang="en-US" sz="1100" b="1" dirty="0">
                <a:solidFill>
                  <a:srgbClr val="0D3B2E"/>
                </a:solidFill>
              </a:rPr>
              <a:t>3 ngày</a:t>
            </a:r>
            <a:endParaRPr lang="en-US" sz="1100" dirty="0"/>
          </a:p>
        </p:txBody>
      </p:sp>
      <p:sp>
        <p:nvSpPr>
          <p:cNvPr id="15" name="Text 12"/>
          <p:cNvSpPr/>
          <p:nvPr/>
        </p:nvSpPr>
        <p:spPr>
          <a:xfrm>
            <a:off x="4919472" y="2734056"/>
            <a:ext cx="2514600" cy="329184"/>
          </a:xfrm>
          <a:prstGeom prst="rect">
            <a:avLst/>
          </a:prstGeom>
          <a:noFill/>
          <a:ln/>
        </p:spPr>
        <p:txBody>
          <a:bodyPr wrap="square" lIns="0" tIns="0" rIns="0" bIns="0" rtlCol="0" anchor="ctr">
            <a:noAutofit/>
          </a:bodyPr>
          <a:lstStyle/>
          <a:p>
            <a:pPr marL="0" indent="0">
              <a:buNone/>
            </a:pPr>
            <a:r>
              <a:rPr lang="en-US" sz="1000" dirty="0">
                <a:solidFill>
                  <a:srgbClr val="667572"/>
                </a:solidFill>
              </a:rPr>
              <a:t>Xác nhận khách, kiểm tra âm thanh, máy chiếu/LED, backdrop, sản phẩm demo, máy soi da.</a:t>
            </a:r>
            <a:endParaRPr lang="en-US" sz="1000" dirty="0"/>
          </a:p>
        </p:txBody>
      </p:sp>
      <p:sp>
        <p:nvSpPr>
          <p:cNvPr id="16" name="Shape 13"/>
          <p:cNvSpPr/>
          <p:nvPr/>
        </p:nvSpPr>
        <p:spPr>
          <a:xfrm>
            <a:off x="7909560" y="2450592"/>
            <a:ext cx="3337560" cy="749808"/>
          </a:xfrm>
          <a:prstGeom prst="roundRect">
            <a:avLst>
              <a:gd name="adj" fmla="val 7317"/>
            </a:avLst>
          </a:prstGeom>
          <a:solidFill>
            <a:srgbClr val="FFFFFF"/>
          </a:solidFill>
          <a:ln w="12700">
            <a:solidFill>
              <a:srgbClr val="D3E4DE"/>
            </a:solidFill>
            <a:prstDash val="solid"/>
          </a:ln>
          <a:effectLst>
            <a:outerShdw blurRad="12700" dist="50800" dir="2700000" algn="bl" rotWithShape="0">
              <a:srgbClr val="000000">
                <a:alpha val="5000"/>
              </a:srgbClr>
            </a:outerShdw>
          </a:effectLst>
        </p:spPr>
      </p:sp>
      <p:sp>
        <p:nvSpPr>
          <p:cNvPr id="17" name="Shape 14"/>
          <p:cNvSpPr/>
          <p:nvPr/>
        </p:nvSpPr>
        <p:spPr>
          <a:xfrm>
            <a:off x="8019288" y="2569464"/>
            <a:ext cx="457200" cy="457200"/>
          </a:xfrm>
          <a:prstGeom prst="ellipse">
            <a:avLst/>
          </a:prstGeom>
          <a:solidFill>
            <a:srgbClr val="0D3B2E"/>
          </a:solidFill>
          <a:ln w="12700">
            <a:solidFill>
              <a:srgbClr val="0D3B2E"/>
            </a:solidFill>
            <a:prstDash val="solid"/>
          </a:ln>
        </p:spPr>
      </p:sp>
      <p:sp>
        <p:nvSpPr>
          <p:cNvPr id="18" name="Text 15"/>
          <p:cNvSpPr/>
          <p:nvPr/>
        </p:nvSpPr>
        <p:spPr>
          <a:xfrm>
            <a:off x="8156448" y="2729960"/>
            <a:ext cx="182880" cy="109728"/>
          </a:xfrm>
          <a:prstGeom prst="rect">
            <a:avLst/>
          </a:prstGeom>
          <a:noFill/>
          <a:ln/>
        </p:spPr>
        <p:txBody>
          <a:bodyPr wrap="square" lIns="0" tIns="0" rIns="0" bIns="0" rtlCol="0" anchor="ctr"/>
          <a:lstStyle/>
          <a:p>
            <a:pPr marL="0" indent="0" algn="ctr">
              <a:buNone/>
            </a:pPr>
            <a:r>
              <a:rPr lang="en-US" sz="1050" b="1" dirty="0">
                <a:solidFill>
                  <a:srgbClr val="FFFFFF"/>
                </a:solidFill>
              </a:rPr>
              <a:t>3</a:t>
            </a:r>
            <a:endParaRPr lang="en-US" sz="1050" dirty="0"/>
          </a:p>
        </p:txBody>
      </p:sp>
      <p:sp>
        <p:nvSpPr>
          <p:cNvPr id="19" name="Text 16"/>
          <p:cNvSpPr/>
          <p:nvPr/>
        </p:nvSpPr>
        <p:spPr>
          <a:xfrm>
            <a:off x="8622792" y="2542032"/>
            <a:ext cx="2514600" cy="137160"/>
          </a:xfrm>
          <a:prstGeom prst="rect">
            <a:avLst/>
          </a:prstGeom>
          <a:noFill/>
          <a:ln/>
        </p:spPr>
        <p:txBody>
          <a:bodyPr wrap="square" lIns="0" tIns="0" rIns="0" bIns="0" rtlCol="0" anchor="ctr"/>
          <a:lstStyle/>
          <a:p>
            <a:pPr marL="0" indent="0">
              <a:buNone/>
            </a:pPr>
            <a:r>
              <a:rPr lang="en-US" sz="1100" b="1" dirty="0">
                <a:solidFill>
                  <a:srgbClr val="0D3B2E"/>
                </a:solidFill>
              </a:rPr>
              <a:t>1 ngày</a:t>
            </a:r>
            <a:endParaRPr lang="en-US" sz="1100" dirty="0"/>
          </a:p>
        </p:txBody>
      </p:sp>
      <p:sp>
        <p:nvSpPr>
          <p:cNvPr id="20" name="Text 17"/>
          <p:cNvSpPr/>
          <p:nvPr/>
        </p:nvSpPr>
        <p:spPr>
          <a:xfrm>
            <a:off x="8622792" y="2734056"/>
            <a:ext cx="2514600" cy="329184"/>
          </a:xfrm>
          <a:prstGeom prst="rect">
            <a:avLst/>
          </a:prstGeom>
          <a:noFill/>
          <a:ln/>
        </p:spPr>
        <p:txBody>
          <a:bodyPr wrap="square" lIns="0" tIns="0" rIns="0" bIns="0" rtlCol="0" anchor="ctr">
            <a:normAutofit/>
          </a:bodyPr>
          <a:lstStyle/>
          <a:p>
            <a:pPr marL="0" indent="0">
              <a:buNone/>
            </a:pPr>
            <a:r>
              <a:rPr lang="en-US" sz="1000" dirty="0">
                <a:solidFill>
                  <a:srgbClr val="667572"/>
                </a:solidFill>
              </a:rPr>
              <a:t>Họp đội ngũ, phân công, kiểm tra quà, tài liệu, đồng phục, camera, máy quay, tea-break.</a:t>
            </a:r>
            <a:endParaRPr lang="en-US" sz="1000" dirty="0"/>
          </a:p>
        </p:txBody>
      </p:sp>
      <p:sp>
        <p:nvSpPr>
          <p:cNvPr id="21" name="Shape 18"/>
          <p:cNvSpPr/>
          <p:nvPr/>
        </p:nvSpPr>
        <p:spPr>
          <a:xfrm>
            <a:off x="502920" y="3456432"/>
            <a:ext cx="3337560" cy="749808"/>
          </a:xfrm>
          <a:prstGeom prst="roundRect">
            <a:avLst>
              <a:gd name="adj" fmla="val 7317"/>
            </a:avLst>
          </a:prstGeom>
          <a:solidFill>
            <a:srgbClr val="F3FAF7"/>
          </a:solidFill>
          <a:ln w="12700">
            <a:solidFill>
              <a:srgbClr val="D3E4DE"/>
            </a:solidFill>
            <a:prstDash val="solid"/>
          </a:ln>
          <a:effectLst>
            <a:outerShdw blurRad="12700" dist="50800" dir="2700000" algn="bl" rotWithShape="0">
              <a:srgbClr val="000000">
                <a:alpha val="5000"/>
              </a:srgbClr>
            </a:outerShdw>
          </a:effectLst>
        </p:spPr>
      </p:sp>
      <p:sp>
        <p:nvSpPr>
          <p:cNvPr id="22" name="Shape 19"/>
          <p:cNvSpPr/>
          <p:nvPr/>
        </p:nvSpPr>
        <p:spPr>
          <a:xfrm>
            <a:off x="612648" y="3575304"/>
            <a:ext cx="457200" cy="457200"/>
          </a:xfrm>
          <a:prstGeom prst="ellipse">
            <a:avLst/>
          </a:prstGeom>
          <a:solidFill>
            <a:srgbClr val="0D3B2E"/>
          </a:solidFill>
          <a:ln w="12700">
            <a:solidFill>
              <a:srgbClr val="0D3B2E"/>
            </a:solidFill>
            <a:prstDash val="solid"/>
          </a:ln>
        </p:spPr>
      </p:sp>
      <p:sp>
        <p:nvSpPr>
          <p:cNvPr id="23" name="Text 20"/>
          <p:cNvSpPr/>
          <p:nvPr/>
        </p:nvSpPr>
        <p:spPr>
          <a:xfrm>
            <a:off x="749808" y="3748087"/>
            <a:ext cx="182880" cy="109728"/>
          </a:xfrm>
          <a:prstGeom prst="rect">
            <a:avLst/>
          </a:prstGeom>
          <a:noFill/>
          <a:ln/>
        </p:spPr>
        <p:txBody>
          <a:bodyPr wrap="square" lIns="0" tIns="0" rIns="0" bIns="0" rtlCol="0" anchor="ctr"/>
          <a:lstStyle/>
          <a:p>
            <a:pPr marL="0" indent="0" algn="ctr">
              <a:buNone/>
            </a:pPr>
            <a:r>
              <a:rPr lang="en-US" sz="1050" b="1" dirty="0">
                <a:solidFill>
                  <a:srgbClr val="FFFFFF"/>
                </a:solidFill>
              </a:rPr>
              <a:t>4</a:t>
            </a:r>
            <a:endParaRPr lang="en-US" sz="1050" dirty="0"/>
          </a:p>
        </p:txBody>
      </p:sp>
      <p:sp>
        <p:nvSpPr>
          <p:cNvPr id="24" name="Text 21"/>
          <p:cNvSpPr/>
          <p:nvPr/>
        </p:nvSpPr>
        <p:spPr>
          <a:xfrm>
            <a:off x="1216152" y="3547872"/>
            <a:ext cx="2514600" cy="137160"/>
          </a:xfrm>
          <a:prstGeom prst="rect">
            <a:avLst/>
          </a:prstGeom>
          <a:noFill/>
          <a:ln/>
        </p:spPr>
        <p:txBody>
          <a:bodyPr wrap="square" lIns="0" tIns="0" rIns="0" bIns="0" rtlCol="0" anchor="ctr"/>
          <a:lstStyle/>
          <a:p>
            <a:pPr marL="0" indent="0">
              <a:buNone/>
            </a:pPr>
            <a:r>
              <a:rPr lang="en-US" sz="1100" b="1" dirty="0">
                <a:solidFill>
                  <a:srgbClr val="0D3B2E"/>
                </a:solidFill>
              </a:rPr>
              <a:t>Ngày sự kiện</a:t>
            </a:r>
            <a:endParaRPr lang="en-US" sz="1100" dirty="0"/>
          </a:p>
        </p:txBody>
      </p:sp>
      <p:sp>
        <p:nvSpPr>
          <p:cNvPr id="25" name="Text 22"/>
          <p:cNvSpPr/>
          <p:nvPr/>
        </p:nvSpPr>
        <p:spPr>
          <a:xfrm>
            <a:off x="1216152" y="3739896"/>
            <a:ext cx="2514600" cy="329184"/>
          </a:xfrm>
          <a:prstGeom prst="rect">
            <a:avLst/>
          </a:prstGeom>
          <a:noFill/>
          <a:ln/>
        </p:spPr>
        <p:txBody>
          <a:bodyPr wrap="square" lIns="0" tIns="0" rIns="0" bIns="0" rtlCol="0" anchor="ctr">
            <a:normAutofit/>
          </a:bodyPr>
          <a:lstStyle/>
          <a:p>
            <a:pPr marL="0" indent="0">
              <a:buNone/>
            </a:pPr>
            <a:r>
              <a:rPr lang="en-US" sz="1000" dirty="0">
                <a:solidFill>
                  <a:srgbClr val="667572"/>
                </a:solidFill>
              </a:rPr>
              <a:t>Đón khách, giới thiệu thương hiệu, đào tạo chuyên gia, demo, soi da, tư vấn, ưu đãi.</a:t>
            </a:r>
            <a:endParaRPr lang="en-US" sz="1000" dirty="0"/>
          </a:p>
        </p:txBody>
      </p:sp>
      <p:sp>
        <p:nvSpPr>
          <p:cNvPr id="26" name="Shape 23"/>
          <p:cNvSpPr/>
          <p:nvPr/>
        </p:nvSpPr>
        <p:spPr>
          <a:xfrm>
            <a:off x="4206240" y="3456432"/>
            <a:ext cx="3337560" cy="749808"/>
          </a:xfrm>
          <a:prstGeom prst="roundRect">
            <a:avLst>
              <a:gd name="adj" fmla="val 7317"/>
            </a:avLst>
          </a:prstGeom>
          <a:solidFill>
            <a:srgbClr val="F3FAF7"/>
          </a:solidFill>
          <a:ln w="12700">
            <a:solidFill>
              <a:srgbClr val="D3E4DE"/>
            </a:solidFill>
            <a:prstDash val="solid"/>
          </a:ln>
          <a:effectLst>
            <a:outerShdw blurRad="12700" dist="50800" dir="2700000" algn="bl" rotWithShape="0">
              <a:srgbClr val="000000">
                <a:alpha val="5000"/>
              </a:srgbClr>
            </a:outerShdw>
          </a:effectLst>
        </p:spPr>
      </p:sp>
      <p:sp>
        <p:nvSpPr>
          <p:cNvPr id="27" name="Shape 24"/>
          <p:cNvSpPr/>
          <p:nvPr/>
        </p:nvSpPr>
        <p:spPr>
          <a:xfrm>
            <a:off x="4315968" y="3575304"/>
            <a:ext cx="457200" cy="457200"/>
          </a:xfrm>
          <a:prstGeom prst="ellipse">
            <a:avLst/>
          </a:prstGeom>
          <a:solidFill>
            <a:srgbClr val="0D3B2E"/>
          </a:solidFill>
          <a:ln w="12700">
            <a:solidFill>
              <a:srgbClr val="0D3B2E"/>
            </a:solidFill>
            <a:prstDash val="solid"/>
          </a:ln>
        </p:spPr>
      </p:sp>
      <p:sp>
        <p:nvSpPr>
          <p:cNvPr id="28" name="Text 25"/>
          <p:cNvSpPr/>
          <p:nvPr/>
        </p:nvSpPr>
        <p:spPr>
          <a:xfrm>
            <a:off x="4453128" y="3811142"/>
            <a:ext cx="182880" cy="109728"/>
          </a:xfrm>
          <a:prstGeom prst="rect">
            <a:avLst/>
          </a:prstGeom>
          <a:noFill/>
          <a:ln/>
        </p:spPr>
        <p:txBody>
          <a:bodyPr wrap="square" lIns="0" tIns="0" rIns="0" bIns="0" rtlCol="0" anchor="ctr"/>
          <a:lstStyle/>
          <a:p>
            <a:pPr marL="0" indent="0" algn="ctr">
              <a:buNone/>
            </a:pPr>
            <a:r>
              <a:rPr lang="en-US" sz="1050" b="1" dirty="0">
                <a:solidFill>
                  <a:srgbClr val="FFFFFF"/>
                </a:solidFill>
              </a:rPr>
              <a:t>5</a:t>
            </a:r>
            <a:endParaRPr lang="en-US" sz="1050" dirty="0"/>
          </a:p>
        </p:txBody>
      </p:sp>
      <p:sp>
        <p:nvSpPr>
          <p:cNvPr id="29" name="Text 26"/>
          <p:cNvSpPr/>
          <p:nvPr/>
        </p:nvSpPr>
        <p:spPr>
          <a:xfrm>
            <a:off x="4919472" y="3547872"/>
            <a:ext cx="2514600" cy="137160"/>
          </a:xfrm>
          <a:prstGeom prst="rect">
            <a:avLst/>
          </a:prstGeom>
          <a:noFill/>
          <a:ln/>
        </p:spPr>
        <p:txBody>
          <a:bodyPr wrap="square" lIns="0" tIns="0" rIns="0" bIns="0" rtlCol="0" anchor="ctr"/>
          <a:lstStyle/>
          <a:p>
            <a:pPr marL="0" indent="0">
              <a:buNone/>
            </a:pPr>
            <a:r>
              <a:rPr lang="en-US" sz="1100" b="1" dirty="0">
                <a:solidFill>
                  <a:srgbClr val="0D3B2E"/>
                </a:solidFill>
              </a:rPr>
              <a:t>24 giờ</a:t>
            </a:r>
            <a:endParaRPr lang="en-US" sz="1100" dirty="0"/>
          </a:p>
        </p:txBody>
      </p:sp>
      <p:sp>
        <p:nvSpPr>
          <p:cNvPr id="30" name="Text 27"/>
          <p:cNvSpPr/>
          <p:nvPr/>
        </p:nvSpPr>
        <p:spPr>
          <a:xfrm>
            <a:off x="4919472" y="3739896"/>
            <a:ext cx="2514600" cy="329184"/>
          </a:xfrm>
          <a:prstGeom prst="rect">
            <a:avLst/>
          </a:prstGeom>
          <a:noFill/>
          <a:ln/>
        </p:spPr>
        <p:txBody>
          <a:bodyPr wrap="square" lIns="0" tIns="0" rIns="0" bIns="0" rtlCol="0" anchor="ctr">
            <a:normAutofit/>
          </a:bodyPr>
          <a:lstStyle/>
          <a:p>
            <a:pPr marL="0" indent="0">
              <a:buNone/>
            </a:pPr>
            <a:r>
              <a:rPr lang="en-US" sz="1000" dirty="0">
                <a:solidFill>
                  <a:srgbClr val="667572"/>
                </a:solidFill>
              </a:rPr>
              <a:t>Gửi cảm ơn, ảnh/video, catalogue, bảng giá, chính sách; thêm nhóm chăm sóc.</a:t>
            </a:r>
            <a:endParaRPr lang="en-US" sz="1000" dirty="0"/>
          </a:p>
        </p:txBody>
      </p:sp>
      <p:sp>
        <p:nvSpPr>
          <p:cNvPr id="31" name="Shape 28"/>
          <p:cNvSpPr/>
          <p:nvPr/>
        </p:nvSpPr>
        <p:spPr>
          <a:xfrm>
            <a:off x="7909560" y="3456432"/>
            <a:ext cx="3337560" cy="749808"/>
          </a:xfrm>
          <a:prstGeom prst="roundRect">
            <a:avLst>
              <a:gd name="adj" fmla="val 7317"/>
            </a:avLst>
          </a:prstGeom>
          <a:solidFill>
            <a:srgbClr val="F3FAF7"/>
          </a:solidFill>
          <a:ln w="12700">
            <a:solidFill>
              <a:srgbClr val="D3E4DE"/>
            </a:solidFill>
            <a:prstDash val="solid"/>
          </a:ln>
          <a:effectLst>
            <a:outerShdw blurRad="12700" dist="50800" dir="2700000" algn="bl" rotWithShape="0">
              <a:srgbClr val="000000">
                <a:alpha val="5000"/>
              </a:srgbClr>
            </a:outerShdw>
          </a:effectLst>
        </p:spPr>
      </p:sp>
      <p:sp>
        <p:nvSpPr>
          <p:cNvPr id="32" name="Shape 29"/>
          <p:cNvSpPr/>
          <p:nvPr/>
        </p:nvSpPr>
        <p:spPr>
          <a:xfrm>
            <a:off x="8019288" y="3575304"/>
            <a:ext cx="457200" cy="457200"/>
          </a:xfrm>
          <a:prstGeom prst="ellipse">
            <a:avLst/>
          </a:prstGeom>
          <a:solidFill>
            <a:srgbClr val="0D3B2E"/>
          </a:solidFill>
          <a:ln w="12700">
            <a:solidFill>
              <a:srgbClr val="0D3B2E"/>
            </a:solidFill>
            <a:prstDash val="solid"/>
          </a:ln>
        </p:spPr>
      </p:sp>
      <p:sp>
        <p:nvSpPr>
          <p:cNvPr id="33" name="Text 30"/>
          <p:cNvSpPr/>
          <p:nvPr/>
        </p:nvSpPr>
        <p:spPr>
          <a:xfrm>
            <a:off x="8156448" y="3748087"/>
            <a:ext cx="182880" cy="109728"/>
          </a:xfrm>
          <a:prstGeom prst="rect">
            <a:avLst/>
          </a:prstGeom>
          <a:noFill/>
          <a:ln/>
        </p:spPr>
        <p:txBody>
          <a:bodyPr wrap="square" lIns="0" tIns="0" rIns="0" bIns="0" rtlCol="0" anchor="ctr"/>
          <a:lstStyle/>
          <a:p>
            <a:pPr marL="0" indent="0" algn="ctr">
              <a:buNone/>
            </a:pPr>
            <a:r>
              <a:rPr lang="en-US" sz="1050" b="1" dirty="0">
                <a:solidFill>
                  <a:srgbClr val="FFFFFF"/>
                </a:solidFill>
              </a:rPr>
              <a:t>6</a:t>
            </a:r>
            <a:endParaRPr lang="en-US" sz="1050" dirty="0"/>
          </a:p>
        </p:txBody>
      </p:sp>
      <p:sp>
        <p:nvSpPr>
          <p:cNvPr id="34" name="Text 31"/>
          <p:cNvSpPr/>
          <p:nvPr/>
        </p:nvSpPr>
        <p:spPr>
          <a:xfrm>
            <a:off x="8622792" y="3547872"/>
            <a:ext cx="2514600" cy="137160"/>
          </a:xfrm>
          <a:prstGeom prst="rect">
            <a:avLst/>
          </a:prstGeom>
          <a:noFill/>
          <a:ln/>
        </p:spPr>
        <p:txBody>
          <a:bodyPr wrap="square" lIns="0" tIns="0" rIns="0" bIns="0" rtlCol="0" anchor="ctr"/>
          <a:lstStyle/>
          <a:p>
            <a:pPr marL="0" indent="0">
              <a:buNone/>
            </a:pPr>
            <a:r>
              <a:rPr lang="en-US" sz="1100" b="1" dirty="0">
                <a:solidFill>
                  <a:srgbClr val="0D3B2E"/>
                </a:solidFill>
              </a:rPr>
              <a:t>7 ngày</a:t>
            </a:r>
            <a:endParaRPr lang="en-US" sz="1100" dirty="0"/>
          </a:p>
        </p:txBody>
      </p:sp>
      <p:sp>
        <p:nvSpPr>
          <p:cNvPr id="35" name="Text 32"/>
          <p:cNvSpPr/>
          <p:nvPr/>
        </p:nvSpPr>
        <p:spPr>
          <a:xfrm>
            <a:off x="8622792" y="3739896"/>
            <a:ext cx="2514600" cy="329184"/>
          </a:xfrm>
          <a:prstGeom prst="rect">
            <a:avLst/>
          </a:prstGeom>
          <a:noFill/>
          <a:ln/>
        </p:spPr>
        <p:txBody>
          <a:bodyPr wrap="square" lIns="0" tIns="0" rIns="0" bIns="0" rtlCol="0" anchor="ctr">
            <a:normAutofit fontScale="92500"/>
          </a:bodyPr>
          <a:lstStyle/>
          <a:p>
            <a:pPr marL="0" indent="0">
              <a:buNone/>
            </a:pPr>
            <a:r>
              <a:rPr lang="en-US" sz="1000" dirty="0">
                <a:solidFill>
                  <a:srgbClr val="667572"/>
                </a:solidFill>
              </a:rPr>
              <a:t>Gọi chăm sóc, lấy phản hồi, đặt lịch demo/đào tạo, chốt đơn, hỗ trợ marketing, theo dõi doanh số.</a:t>
            </a:r>
            <a:endParaRPr lang="en-US" sz="1000" dirty="0"/>
          </a:p>
        </p:txBody>
      </p:sp>
      <p:sp>
        <p:nvSpPr>
          <p:cNvPr id="36" name="Shape 33"/>
          <p:cNvSpPr/>
          <p:nvPr/>
        </p:nvSpPr>
        <p:spPr>
          <a:xfrm>
            <a:off x="502920" y="4617720"/>
            <a:ext cx="2423160" cy="292608"/>
          </a:xfrm>
          <a:prstGeom prst="roundRect">
            <a:avLst>
              <a:gd name="adj" fmla="val 12500"/>
            </a:avLst>
          </a:prstGeom>
          <a:solidFill>
            <a:srgbClr val="0D3B2E"/>
          </a:solidFill>
          <a:ln w="12700">
            <a:solidFill>
              <a:srgbClr val="0D3B2E"/>
            </a:solidFill>
            <a:prstDash val="solid"/>
          </a:ln>
        </p:spPr>
      </p:sp>
      <p:sp>
        <p:nvSpPr>
          <p:cNvPr id="37" name="Text 34"/>
          <p:cNvSpPr/>
          <p:nvPr/>
        </p:nvSpPr>
        <p:spPr>
          <a:xfrm>
            <a:off x="576072" y="4690872"/>
            <a:ext cx="2276856" cy="146304"/>
          </a:xfrm>
          <a:prstGeom prst="rect">
            <a:avLst/>
          </a:prstGeom>
          <a:noFill/>
          <a:ln/>
        </p:spPr>
        <p:txBody>
          <a:bodyPr wrap="square" lIns="0" tIns="0" rIns="0" bIns="0" rtlCol="0" anchor="ctr"/>
          <a:lstStyle/>
          <a:p>
            <a:pPr marL="0" indent="0" algn="ctr">
              <a:buNone/>
            </a:pPr>
            <a:r>
              <a:rPr lang="en-US" sz="750" b="1" dirty="0">
                <a:solidFill>
                  <a:srgbClr val="FFFFFF"/>
                </a:solidFill>
              </a:rPr>
              <a:t>PHÂN CÔNG NHÂN SỰ</a:t>
            </a:r>
            <a:endParaRPr lang="en-US" sz="750" dirty="0"/>
          </a:p>
        </p:txBody>
      </p:sp>
      <p:sp>
        <p:nvSpPr>
          <p:cNvPr id="38" name="Shape 35"/>
          <p:cNvSpPr/>
          <p:nvPr/>
        </p:nvSpPr>
        <p:spPr>
          <a:xfrm>
            <a:off x="502920" y="5001768"/>
            <a:ext cx="2084832" cy="502920"/>
          </a:xfrm>
          <a:prstGeom prst="roundRect">
            <a:avLst>
              <a:gd name="adj" fmla="val 14545"/>
            </a:avLst>
          </a:prstGeom>
          <a:solidFill>
            <a:srgbClr val="F3FAF7"/>
          </a:solidFill>
          <a:ln w="12700">
            <a:solidFill>
              <a:srgbClr val="DDE8E4">
                <a:alpha val="80000"/>
              </a:srgbClr>
            </a:solidFill>
            <a:prstDash val="solid"/>
          </a:ln>
          <a:effectLst>
            <a:outerShdw blurRad="12700" dist="50800" dir="2700000" algn="bl" rotWithShape="0">
              <a:srgbClr val="000000">
                <a:alpha val="8000"/>
              </a:srgbClr>
            </a:outerShdw>
          </a:effectLst>
        </p:spPr>
      </p:sp>
      <p:sp>
        <p:nvSpPr>
          <p:cNvPr id="39" name="Text 36"/>
          <p:cNvSpPr/>
          <p:nvPr/>
        </p:nvSpPr>
        <p:spPr>
          <a:xfrm>
            <a:off x="576072" y="5111496"/>
            <a:ext cx="320040" cy="274320"/>
          </a:xfrm>
          <a:prstGeom prst="rect">
            <a:avLst/>
          </a:prstGeom>
          <a:noFill/>
          <a:ln/>
        </p:spPr>
        <p:txBody>
          <a:bodyPr wrap="square" lIns="0" tIns="0" rIns="0" bIns="0" rtlCol="0" anchor="ctr"/>
          <a:lstStyle/>
          <a:p>
            <a:pPr marL="0" indent="0" algn="ctr">
              <a:buNone/>
            </a:pPr>
            <a:r>
              <a:rPr lang="en-US" sz="1400" dirty="0">
                <a:solidFill>
                  <a:srgbClr val="000000"/>
                </a:solidFill>
              </a:rPr>
              <a:t>👑</a:t>
            </a:r>
            <a:endParaRPr lang="en-US" sz="1400" dirty="0"/>
          </a:p>
        </p:txBody>
      </p:sp>
      <p:sp>
        <p:nvSpPr>
          <p:cNvPr id="40" name="Text 37"/>
          <p:cNvSpPr/>
          <p:nvPr/>
        </p:nvSpPr>
        <p:spPr>
          <a:xfrm>
            <a:off x="960120" y="5074920"/>
            <a:ext cx="1536192" cy="329184"/>
          </a:xfrm>
          <a:prstGeom prst="rect">
            <a:avLst/>
          </a:prstGeom>
          <a:noFill/>
          <a:ln/>
        </p:spPr>
        <p:txBody>
          <a:bodyPr wrap="square" lIns="254" tIns="254" rIns="254" bIns="254" rtlCol="0" anchor="ctr">
            <a:normAutofit/>
          </a:bodyPr>
          <a:lstStyle/>
          <a:p>
            <a:pPr marL="0" indent="0">
              <a:buNone/>
            </a:pPr>
            <a:r>
              <a:rPr lang="en-US" sz="1020" b="1" dirty="0">
                <a:solidFill>
                  <a:srgbClr val="1E2A2A"/>
                </a:solidFill>
              </a:rPr>
              <a:t>Trưởng CT — Điều phối</a:t>
            </a:r>
            <a:endParaRPr lang="en-US" sz="1020" dirty="0"/>
          </a:p>
        </p:txBody>
      </p:sp>
      <p:sp>
        <p:nvSpPr>
          <p:cNvPr id="41" name="Shape 38"/>
          <p:cNvSpPr/>
          <p:nvPr/>
        </p:nvSpPr>
        <p:spPr>
          <a:xfrm>
            <a:off x="2798064" y="5001768"/>
            <a:ext cx="2084832" cy="502920"/>
          </a:xfrm>
          <a:prstGeom prst="roundRect">
            <a:avLst>
              <a:gd name="adj" fmla="val 14545"/>
            </a:avLst>
          </a:prstGeom>
          <a:solidFill>
            <a:srgbClr val="FFFFFF"/>
          </a:solidFill>
          <a:ln w="12700">
            <a:solidFill>
              <a:srgbClr val="DDE8E4">
                <a:alpha val="80000"/>
              </a:srgbClr>
            </a:solidFill>
            <a:prstDash val="solid"/>
          </a:ln>
          <a:effectLst>
            <a:outerShdw blurRad="12700" dist="50800" dir="2700000" algn="bl" rotWithShape="0">
              <a:srgbClr val="000000">
                <a:alpha val="8000"/>
              </a:srgbClr>
            </a:outerShdw>
          </a:effectLst>
        </p:spPr>
      </p:sp>
      <p:sp>
        <p:nvSpPr>
          <p:cNvPr id="42" name="Text 39"/>
          <p:cNvSpPr/>
          <p:nvPr/>
        </p:nvSpPr>
        <p:spPr>
          <a:xfrm>
            <a:off x="2871216" y="5111496"/>
            <a:ext cx="320040" cy="274320"/>
          </a:xfrm>
          <a:prstGeom prst="rect">
            <a:avLst/>
          </a:prstGeom>
          <a:noFill/>
          <a:ln/>
        </p:spPr>
        <p:txBody>
          <a:bodyPr wrap="square" lIns="0" tIns="0" rIns="0" bIns="0" rtlCol="0" anchor="ctr"/>
          <a:lstStyle/>
          <a:p>
            <a:pPr marL="0" indent="0" algn="ctr">
              <a:buNone/>
            </a:pPr>
            <a:r>
              <a:rPr lang="en-US" sz="1400" dirty="0">
                <a:solidFill>
                  <a:srgbClr val="000000"/>
                </a:solidFill>
              </a:rPr>
              <a:t>💼</a:t>
            </a:r>
            <a:endParaRPr lang="en-US" sz="1400" dirty="0"/>
          </a:p>
        </p:txBody>
      </p:sp>
      <p:sp>
        <p:nvSpPr>
          <p:cNvPr id="43" name="Text 40"/>
          <p:cNvSpPr/>
          <p:nvPr/>
        </p:nvSpPr>
        <p:spPr>
          <a:xfrm>
            <a:off x="3255264" y="5074920"/>
            <a:ext cx="1536192" cy="329184"/>
          </a:xfrm>
          <a:prstGeom prst="rect">
            <a:avLst/>
          </a:prstGeom>
          <a:noFill/>
          <a:ln/>
        </p:spPr>
        <p:txBody>
          <a:bodyPr wrap="square" lIns="254" tIns="254" rIns="254" bIns="254" rtlCol="0" anchor="ctr">
            <a:normAutofit/>
          </a:bodyPr>
          <a:lstStyle/>
          <a:p>
            <a:pPr marL="0" indent="0">
              <a:buNone/>
            </a:pPr>
            <a:r>
              <a:rPr lang="en-US" sz="1020" b="1" dirty="0">
                <a:solidFill>
                  <a:srgbClr val="1E2A2A"/>
                </a:solidFill>
              </a:rPr>
              <a:t>Kinh doanh — Đón khách • tư vấn • chốt đơn</a:t>
            </a:r>
            <a:endParaRPr lang="en-US" sz="1020" dirty="0"/>
          </a:p>
        </p:txBody>
      </p:sp>
      <p:sp>
        <p:nvSpPr>
          <p:cNvPr id="44" name="Shape 41"/>
          <p:cNvSpPr/>
          <p:nvPr/>
        </p:nvSpPr>
        <p:spPr>
          <a:xfrm>
            <a:off x="5093208" y="5001768"/>
            <a:ext cx="2084832" cy="502920"/>
          </a:xfrm>
          <a:prstGeom prst="roundRect">
            <a:avLst>
              <a:gd name="adj" fmla="val 14545"/>
            </a:avLst>
          </a:prstGeom>
          <a:solidFill>
            <a:srgbClr val="F3FAF7"/>
          </a:solidFill>
          <a:ln w="12700">
            <a:solidFill>
              <a:srgbClr val="DDE8E4">
                <a:alpha val="80000"/>
              </a:srgbClr>
            </a:solidFill>
            <a:prstDash val="solid"/>
          </a:ln>
          <a:effectLst>
            <a:outerShdw blurRad="12700" dist="50800" dir="2700000" algn="bl" rotWithShape="0">
              <a:srgbClr val="000000">
                <a:alpha val="8000"/>
              </a:srgbClr>
            </a:outerShdw>
          </a:effectLst>
        </p:spPr>
      </p:sp>
      <p:sp>
        <p:nvSpPr>
          <p:cNvPr id="45" name="Text 42"/>
          <p:cNvSpPr/>
          <p:nvPr/>
        </p:nvSpPr>
        <p:spPr>
          <a:xfrm>
            <a:off x="5166360" y="5111496"/>
            <a:ext cx="320040" cy="274320"/>
          </a:xfrm>
          <a:prstGeom prst="rect">
            <a:avLst/>
          </a:prstGeom>
          <a:noFill/>
          <a:ln/>
        </p:spPr>
        <p:txBody>
          <a:bodyPr wrap="square" lIns="0" tIns="0" rIns="0" bIns="0" rtlCol="0" anchor="ctr"/>
          <a:lstStyle/>
          <a:p>
            <a:pPr marL="0" indent="0" algn="ctr">
              <a:buNone/>
            </a:pPr>
            <a:r>
              <a:rPr lang="en-US" sz="1400" dirty="0">
                <a:solidFill>
                  <a:srgbClr val="000000"/>
                </a:solidFill>
              </a:rPr>
              <a:t>👨‍⚕️</a:t>
            </a:r>
            <a:endParaRPr lang="en-US" sz="1400" dirty="0"/>
          </a:p>
        </p:txBody>
      </p:sp>
      <p:sp>
        <p:nvSpPr>
          <p:cNvPr id="46" name="Text 43"/>
          <p:cNvSpPr/>
          <p:nvPr/>
        </p:nvSpPr>
        <p:spPr>
          <a:xfrm>
            <a:off x="5550408" y="5074920"/>
            <a:ext cx="1536192" cy="329184"/>
          </a:xfrm>
          <a:prstGeom prst="rect">
            <a:avLst/>
          </a:prstGeom>
          <a:noFill/>
          <a:ln/>
        </p:spPr>
        <p:txBody>
          <a:bodyPr wrap="square" lIns="254" tIns="254" rIns="254" bIns="254" rtlCol="0" anchor="ctr">
            <a:normAutofit/>
          </a:bodyPr>
          <a:lstStyle/>
          <a:p>
            <a:pPr marL="0" indent="0">
              <a:buNone/>
            </a:pPr>
            <a:r>
              <a:rPr lang="en-US" sz="1020" b="1" dirty="0">
                <a:solidFill>
                  <a:srgbClr val="1E2A2A"/>
                </a:solidFill>
              </a:rPr>
              <a:t>Chuyên gia — Đào tạo • demo • giải đáp</a:t>
            </a:r>
            <a:endParaRPr lang="en-US" sz="1020" dirty="0"/>
          </a:p>
        </p:txBody>
      </p:sp>
      <p:sp>
        <p:nvSpPr>
          <p:cNvPr id="47" name="Shape 44"/>
          <p:cNvSpPr/>
          <p:nvPr/>
        </p:nvSpPr>
        <p:spPr>
          <a:xfrm>
            <a:off x="7388352" y="5001768"/>
            <a:ext cx="2084832" cy="502920"/>
          </a:xfrm>
          <a:prstGeom prst="roundRect">
            <a:avLst>
              <a:gd name="adj" fmla="val 14545"/>
            </a:avLst>
          </a:prstGeom>
          <a:solidFill>
            <a:srgbClr val="FFFFFF"/>
          </a:solidFill>
          <a:ln w="12700">
            <a:solidFill>
              <a:srgbClr val="DDE8E4">
                <a:alpha val="80000"/>
              </a:srgbClr>
            </a:solidFill>
            <a:prstDash val="solid"/>
          </a:ln>
          <a:effectLst>
            <a:outerShdw blurRad="12700" dist="50800" dir="2700000" algn="bl" rotWithShape="0">
              <a:srgbClr val="000000">
                <a:alpha val="8000"/>
              </a:srgbClr>
            </a:outerShdw>
          </a:effectLst>
        </p:spPr>
      </p:sp>
      <p:sp>
        <p:nvSpPr>
          <p:cNvPr id="48" name="Text 45"/>
          <p:cNvSpPr/>
          <p:nvPr/>
        </p:nvSpPr>
        <p:spPr>
          <a:xfrm>
            <a:off x="7461504" y="5111496"/>
            <a:ext cx="320040" cy="274320"/>
          </a:xfrm>
          <a:prstGeom prst="rect">
            <a:avLst/>
          </a:prstGeom>
          <a:noFill/>
          <a:ln/>
        </p:spPr>
        <p:txBody>
          <a:bodyPr wrap="square" lIns="0" tIns="0" rIns="0" bIns="0" rtlCol="0" anchor="ctr"/>
          <a:lstStyle/>
          <a:p>
            <a:pPr marL="0" indent="0" algn="ctr">
              <a:buNone/>
            </a:pPr>
            <a:r>
              <a:rPr lang="en-US" sz="1400" dirty="0">
                <a:solidFill>
                  <a:srgbClr val="000000"/>
                </a:solidFill>
              </a:rPr>
              <a:t>🎥</a:t>
            </a:r>
            <a:endParaRPr lang="en-US" sz="1400" dirty="0"/>
          </a:p>
        </p:txBody>
      </p:sp>
      <p:sp>
        <p:nvSpPr>
          <p:cNvPr id="49" name="Text 46"/>
          <p:cNvSpPr/>
          <p:nvPr/>
        </p:nvSpPr>
        <p:spPr>
          <a:xfrm>
            <a:off x="7845552" y="5074920"/>
            <a:ext cx="1536192" cy="329184"/>
          </a:xfrm>
          <a:prstGeom prst="rect">
            <a:avLst/>
          </a:prstGeom>
          <a:noFill/>
          <a:ln/>
        </p:spPr>
        <p:txBody>
          <a:bodyPr wrap="square" lIns="254" tIns="254" rIns="254" bIns="254" rtlCol="0" anchor="ctr">
            <a:normAutofit/>
          </a:bodyPr>
          <a:lstStyle/>
          <a:p>
            <a:pPr marL="0" indent="0">
              <a:buNone/>
            </a:pPr>
            <a:r>
              <a:rPr lang="en-US" sz="1020" b="1" dirty="0">
                <a:solidFill>
                  <a:srgbClr val="1E2A2A"/>
                </a:solidFill>
              </a:rPr>
              <a:t>Marketing — Ảnh • video • livestream</a:t>
            </a:r>
            <a:endParaRPr lang="en-US" sz="1020" dirty="0"/>
          </a:p>
        </p:txBody>
      </p:sp>
      <p:sp>
        <p:nvSpPr>
          <p:cNvPr id="50" name="Shape 47"/>
          <p:cNvSpPr/>
          <p:nvPr/>
        </p:nvSpPr>
        <p:spPr>
          <a:xfrm>
            <a:off x="9683496" y="5001768"/>
            <a:ext cx="2084832" cy="502920"/>
          </a:xfrm>
          <a:prstGeom prst="roundRect">
            <a:avLst>
              <a:gd name="adj" fmla="val 14545"/>
            </a:avLst>
          </a:prstGeom>
          <a:solidFill>
            <a:srgbClr val="F3FAF7"/>
          </a:solidFill>
          <a:ln w="12700">
            <a:solidFill>
              <a:srgbClr val="DDE8E4">
                <a:alpha val="80000"/>
              </a:srgbClr>
            </a:solidFill>
            <a:prstDash val="solid"/>
          </a:ln>
          <a:effectLst>
            <a:outerShdw blurRad="12700" dist="50800" dir="2700000" algn="bl" rotWithShape="0">
              <a:srgbClr val="000000">
                <a:alpha val="8000"/>
              </a:srgbClr>
            </a:outerShdw>
          </a:effectLst>
        </p:spPr>
      </p:sp>
      <p:sp>
        <p:nvSpPr>
          <p:cNvPr id="51" name="Text 48"/>
          <p:cNvSpPr/>
          <p:nvPr/>
        </p:nvSpPr>
        <p:spPr>
          <a:xfrm>
            <a:off x="9756648" y="5111496"/>
            <a:ext cx="320040" cy="274320"/>
          </a:xfrm>
          <a:prstGeom prst="rect">
            <a:avLst/>
          </a:prstGeom>
          <a:noFill/>
          <a:ln/>
        </p:spPr>
        <p:txBody>
          <a:bodyPr wrap="square" lIns="0" tIns="0" rIns="0" bIns="0" rtlCol="0" anchor="ctr"/>
          <a:lstStyle/>
          <a:p>
            <a:pPr marL="0" indent="0" algn="ctr">
              <a:buNone/>
            </a:pPr>
            <a:r>
              <a:rPr lang="en-US" sz="1400" dirty="0">
                <a:solidFill>
                  <a:srgbClr val="000000"/>
                </a:solidFill>
              </a:rPr>
              <a:t>🎁</a:t>
            </a:r>
            <a:endParaRPr lang="en-US" sz="1400" dirty="0"/>
          </a:p>
        </p:txBody>
      </p:sp>
      <p:sp>
        <p:nvSpPr>
          <p:cNvPr id="52" name="Text 49"/>
          <p:cNvSpPr/>
          <p:nvPr/>
        </p:nvSpPr>
        <p:spPr>
          <a:xfrm>
            <a:off x="10140696" y="5074920"/>
            <a:ext cx="1536192" cy="329184"/>
          </a:xfrm>
          <a:prstGeom prst="rect">
            <a:avLst/>
          </a:prstGeom>
          <a:noFill/>
          <a:ln/>
        </p:spPr>
        <p:txBody>
          <a:bodyPr wrap="square" lIns="254" tIns="254" rIns="254" bIns="254" rtlCol="0" anchor="ctr">
            <a:normAutofit/>
          </a:bodyPr>
          <a:lstStyle/>
          <a:p>
            <a:pPr marL="0" indent="0">
              <a:buNone/>
            </a:pPr>
            <a:r>
              <a:rPr lang="en-US" sz="1020" b="1" dirty="0">
                <a:solidFill>
                  <a:srgbClr val="1E2A2A"/>
                </a:solidFill>
              </a:rPr>
              <a:t>Hậu cần — Tài liệu • quà • tea-break</a:t>
            </a:r>
            <a:endParaRPr lang="en-US" sz="1020" dirty="0"/>
          </a:p>
        </p:txBody>
      </p:sp>
      <p:sp>
        <p:nvSpPr>
          <p:cNvPr id="53" name="Shape 50"/>
          <p:cNvSpPr/>
          <p:nvPr/>
        </p:nvSpPr>
        <p:spPr>
          <a:xfrm>
            <a:off x="502920" y="5742432"/>
            <a:ext cx="11201400" cy="502920"/>
          </a:xfrm>
          <a:prstGeom prst="roundRect">
            <a:avLst>
              <a:gd name="adj" fmla="val 10909"/>
            </a:avLst>
          </a:prstGeom>
          <a:solidFill>
            <a:srgbClr val="0D3B2E"/>
          </a:solidFill>
          <a:ln w="12700">
            <a:solidFill>
              <a:srgbClr val="0D3B2E"/>
            </a:solidFill>
            <a:prstDash val="solid"/>
          </a:ln>
        </p:spPr>
      </p:sp>
      <p:sp>
        <p:nvSpPr>
          <p:cNvPr id="54" name="Text 51"/>
          <p:cNvSpPr/>
          <p:nvPr/>
        </p:nvSpPr>
        <p:spPr>
          <a:xfrm>
            <a:off x="749808" y="5916168"/>
            <a:ext cx="10652760" cy="109728"/>
          </a:xfrm>
          <a:prstGeom prst="rect">
            <a:avLst/>
          </a:prstGeom>
          <a:noFill/>
          <a:ln/>
        </p:spPr>
        <p:txBody>
          <a:bodyPr wrap="square" lIns="0" tIns="0" rIns="0" bIns="0" rtlCol="0" anchor="ctr">
            <a:noAutofit/>
          </a:bodyPr>
          <a:lstStyle/>
          <a:p>
            <a:pPr marL="0" indent="0" algn="ctr">
              <a:buNone/>
            </a:pPr>
            <a:r>
              <a:rPr lang="en-US" sz="1050" b="1" dirty="0">
                <a:solidFill>
                  <a:srgbClr val="FFFFFF"/>
                </a:solidFill>
              </a:rPr>
              <a:t>KPI đề xuất: khách mời 30 • tham dự ≥20 • tỷ lệ tham dự ≥70% • 100% trải nghiệm/quà/tư vấn 1:1 • ≥80% đặt lịch đào tạo • ≥60% chuyển đổi đối tác</a:t>
            </a:r>
            <a:endParaRPr lang="en-US" sz="1050" dirty="0"/>
          </a:p>
        </p:txBody>
      </p:sp>
      <p:sp>
        <p:nvSpPr>
          <p:cNvPr id="55" name="Text 52"/>
          <p:cNvSpPr/>
          <p:nvPr/>
        </p:nvSpPr>
        <p:spPr>
          <a:xfrm>
            <a:off x="502920" y="6510528"/>
            <a:ext cx="3931920" cy="128016"/>
          </a:xfrm>
          <a:prstGeom prst="rect">
            <a:avLst/>
          </a:prstGeom>
          <a:noFill/>
          <a:ln/>
        </p:spPr>
        <p:txBody>
          <a:bodyPr wrap="square" lIns="0" tIns="0" rIns="0" bIns="0" rtlCol="0" anchor="ctr"/>
          <a:lstStyle/>
          <a:p>
            <a:pPr marL="0" indent="0">
              <a:buNone/>
            </a:pPr>
            <a:r>
              <a:rPr lang="en-US" sz="650" dirty="0">
                <a:solidFill>
                  <a:srgbClr val="81918D"/>
                </a:solidFill>
              </a:rPr>
              <a:t>Thuần Hoa Group | Bản đào tạo kinh doanh 3/3</a:t>
            </a:r>
            <a:endParaRPr lang="en-US" sz="6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1233</Words>
  <Application>Microsoft Office PowerPoint</Application>
  <PresentationFormat>Widescreen</PresentationFormat>
  <Paragraphs>107</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Aptos Display</vt:lpstr>
      <vt:lpstr>Arial</vt:lpstr>
      <vt:lpstr>Office Theme</vt:lpstr>
      <vt:lpstr>PowerPoint Presentation</vt:lpstr>
      <vt:lpstr>PowerPoint Presentation</vt:lpstr>
      <vt:lpstr>PowerPoint Presentation</vt:lpstr>
    </vt:vector>
  </TitlesOfParts>
  <Company>Thuần Hoa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Đào tạo Kinh doanh Thuần Hoa Group</dc:title>
  <dc:subject>Đào tạo khai thác thị trường, chuyển đổi khách hàng và tổ chức hội thảo</dc:subject>
  <dc:creator>Thuần Hoa Group</dc:creator>
  <cp:lastModifiedBy>Trọng Nguyễn Văn</cp:lastModifiedBy>
  <cp:revision>2</cp:revision>
  <dcterms:created xsi:type="dcterms:W3CDTF">2026-08-14T01:01:04Z</dcterms:created>
  <dcterms:modified xsi:type="dcterms:W3CDTF">2026-08-14T02:50:33Z</dcterms:modified>
</cp:coreProperties>
</file>
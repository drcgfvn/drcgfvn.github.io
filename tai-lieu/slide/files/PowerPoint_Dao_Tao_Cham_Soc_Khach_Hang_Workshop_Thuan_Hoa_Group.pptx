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20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_wide_flat_infographic_slide_montage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5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4CFBC8-44C0-AF02-D4B8-3C46AECBD312}"/>
              </a:ext>
            </a:extLst>
          </p:cNvPr>
          <p:cNvSpPr/>
          <p:nvPr/>
        </p:nvSpPr>
        <p:spPr>
          <a:xfrm>
            <a:off x="0" y="-1"/>
            <a:ext cx="1275590" cy="515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B94262-2F92-4A70-688C-7A50F236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" y="-40160"/>
            <a:ext cx="1061015" cy="460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MỤC TIÊU &amp; HÀNH TRÌNH CHĂM SÓC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33819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/>
              <a:t>Quản </a:t>
            </a:r>
            <a:r>
              <a:rPr sz="1400" dirty="0" err="1"/>
              <a:t>trị</a:t>
            </a:r>
            <a:r>
              <a:rPr sz="1400" dirty="0"/>
              <a:t>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hàng</a:t>
            </a:r>
            <a:r>
              <a:rPr sz="1400" dirty="0"/>
              <a:t> </a:t>
            </a:r>
            <a:r>
              <a:rPr sz="1400" dirty="0" err="1"/>
              <a:t>xuyên</a:t>
            </a:r>
            <a:r>
              <a:rPr sz="1400" dirty="0"/>
              <a:t> </a:t>
            </a:r>
            <a:r>
              <a:rPr sz="1400" dirty="0" err="1"/>
              <a:t>suốt</a:t>
            </a:r>
            <a:r>
              <a:rPr sz="1400" dirty="0"/>
              <a:t> 3 </a:t>
            </a:r>
            <a:r>
              <a:rPr sz="1400" dirty="0" err="1"/>
              <a:t>giai</a:t>
            </a:r>
            <a:r>
              <a:rPr sz="1400" dirty="0"/>
              <a:t> </a:t>
            </a:r>
            <a:r>
              <a:rPr sz="1400" dirty="0" err="1"/>
              <a:t>đoạn</a:t>
            </a:r>
            <a:r>
              <a:rPr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56616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425390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TRƯỚC SỰ KIỆN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Xác định khách mục tiêu A/B/C.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Lấy đủ thông tin và nhu cầu.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Gửi thư mời, lịch trình, định vị.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Xác nhận tham dự, giao sale phụ trách.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Chuẩn bị pháp lý, tài liệu, quà và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356616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98848" y="1508760"/>
            <a:ext cx="1422184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TRONG SỰ KIỆN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11680"/>
            <a:ext cx="32004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Check-in và cập nhật dữ liệu.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Đào tạo, soi da, demo, trải nghiệm.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Tư vấn 1:1 và khai thác nhu cầu.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Ghi nhận băn khoăn, khả năng hợp tác.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Chốt đơn hoặc chốt bước tiếp theo.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356616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1183337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SAU SỰ KIỆN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2004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24 giờ: cảm ơn và gửi tài liệu.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1–3 ngày: lấy phản hồi.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7 ngày: demo, đào tạo, chốt đơn.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Phân loại trạng thái cơ hội.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Theo dõi doanh số/chuyển đổi.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CHĂM SÓC KHÁCH HÀNG TRƯỚC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54133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600" dirty="0" err="1"/>
              <a:t>Mục</a:t>
            </a:r>
            <a:r>
              <a:rPr sz="1600" dirty="0"/>
              <a:t> </a:t>
            </a:r>
            <a:r>
              <a:rPr sz="1600" dirty="0" err="1"/>
              <a:t>tiêu</a:t>
            </a:r>
            <a:r>
              <a:rPr sz="1600" dirty="0"/>
              <a:t>: </a:t>
            </a:r>
            <a:r>
              <a:rPr sz="1600" dirty="0" err="1"/>
              <a:t>khách</a:t>
            </a:r>
            <a:r>
              <a:rPr sz="1600" dirty="0"/>
              <a:t> </a:t>
            </a:r>
            <a:r>
              <a:rPr sz="1600" dirty="0" err="1"/>
              <a:t>hiểu</a:t>
            </a:r>
            <a:r>
              <a:rPr sz="1600" dirty="0"/>
              <a:t> </a:t>
            </a:r>
            <a:r>
              <a:rPr sz="1600" dirty="0" err="1"/>
              <a:t>giá</a:t>
            </a:r>
            <a:r>
              <a:rPr sz="1600" dirty="0"/>
              <a:t> </a:t>
            </a:r>
            <a:r>
              <a:rPr sz="1600" dirty="0" err="1"/>
              <a:t>trị</a:t>
            </a:r>
            <a:r>
              <a:rPr sz="1600" dirty="0"/>
              <a:t> </a:t>
            </a:r>
            <a:r>
              <a:rPr sz="1600" dirty="0" err="1"/>
              <a:t>chương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xác</a:t>
            </a:r>
            <a:r>
              <a:rPr sz="1600" dirty="0"/>
              <a:t> </a:t>
            </a:r>
            <a:r>
              <a:rPr sz="1600" dirty="0" err="1"/>
              <a:t>nhận</a:t>
            </a:r>
            <a:r>
              <a:rPr sz="1600" dirty="0"/>
              <a:t> </a:t>
            </a:r>
            <a:r>
              <a:rPr sz="1600" dirty="0" err="1"/>
              <a:t>tham</a:t>
            </a:r>
            <a:r>
              <a:rPr sz="1600" dirty="0"/>
              <a:t> </a:t>
            </a:r>
            <a:r>
              <a:rPr sz="1600" dirty="0" err="1"/>
              <a:t>dự</a:t>
            </a:r>
            <a:r>
              <a:rPr sz="16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56616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503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7 NGÀY TRƯỚC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Lập 30–40 khách mục tiêu.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Phân loại Spa/Clinic A–B–C.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Tạo nhóm Zalo; gửi thư mời, lịch, định vị.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Gửi video kết quả, phản hồi, hình ảnh.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Chốt chuyên gia, bác sĩ, MC.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Sale cập nhật trạng thái hằng ngày.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356616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498848" y="1508760"/>
            <a:ext cx="1503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3 NGÀY TRƯỚC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11680"/>
            <a:ext cx="320040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Gọi điện/nhắn Zalo xác nhận.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Xác nhận chức vụ, số người đi cùng.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Bổ sung khách dự phòng.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Nhắc quyền lợi workshop.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Đánh dấu khách VIP/tiềm năng.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Kiểm tra địa điểm và thiết bị.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356616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1503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 NGÀY TRƯỚC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2004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Nhắc lịch cá nhân hóa.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Chốt danh sách check-in.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Chuẩn bị phiếu thông tin/đặt hàng.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Phân công sale chăm sóc.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Kiểm tra quà, sản phẩm, tea-break.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Họp đội ngũ, thống nhất mục tiêu.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LẤY THÔNG TIN KHÁCH HÀNG TRƯỚC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51395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phục</a:t>
            </a:r>
            <a:r>
              <a:rPr sz="1400" dirty="0"/>
              <a:t> </a:t>
            </a:r>
            <a:r>
              <a:rPr sz="1400" dirty="0" err="1"/>
              <a:t>vụ</a:t>
            </a:r>
            <a:r>
              <a:rPr sz="1400" dirty="0"/>
              <a:t> </a:t>
            </a:r>
            <a:r>
              <a:rPr sz="1400" dirty="0" err="1"/>
              <a:t>tư</a:t>
            </a:r>
            <a:r>
              <a:rPr sz="1400" dirty="0"/>
              <a:t> </a:t>
            </a:r>
            <a:r>
              <a:rPr sz="1400" dirty="0" err="1"/>
              <a:t>vấn</a:t>
            </a:r>
            <a:r>
              <a:rPr sz="1400" dirty="0"/>
              <a:t> </a:t>
            </a:r>
            <a:r>
              <a:rPr sz="1400" dirty="0" err="1"/>
              <a:t>đúng</a:t>
            </a:r>
            <a:r>
              <a:rPr sz="1400" dirty="0"/>
              <a:t> </a:t>
            </a:r>
            <a:r>
              <a:rPr sz="1400" dirty="0" err="1"/>
              <a:t>nhu</a:t>
            </a:r>
            <a:r>
              <a:rPr sz="1400" dirty="0"/>
              <a:t> </a:t>
            </a:r>
            <a:r>
              <a:rPr sz="1400" dirty="0" err="1"/>
              <a:t>cầu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follow-up </a:t>
            </a:r>
            <a:r>
              <a:rPr sz="1400" dirty="0" err="1"/>
              <a:t>sau</a:t>
            </a:r>
            <a:r>
              <a:rPr sz="1400" dirty="0"/>
              <a:t> </a:t>
            </a:r>
            <a:r>
              <a:rPr sz="1400" dirty="0" err="1"/>
              <a:t>chương</a:t>
            </a:r>
            <a:r>
              <a:rPr sz="1400" dirty="0"/>
              <a:t> </a:t>
            </a:r>
            <a:r>
              <a:rPr sz="1400" dirty="0" err="1"/>
              <a:t>trình</a:t>
            </a:r>
            <a:r>
              <a:rPr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34924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8884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THÔNG TIN CƠ BẢN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83479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Họ tên chủ Spa/Clinic; tên cơ sở; khu vực.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Số điện thoại, Zalo, email.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Vai trò: chủ Spa, quản lý, kỹ thuật viên...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Loại hình: Spa / Thẩm mỹ viện / Clinic.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Dịch vụ chính đang triển khai.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Sale phụ trách và nguồn khách.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1" name="Rectangle 10"/>
          <p:cNvSpPr/>
          <p:nvPr/>
        </p:nvSpPr>
        <p:spPr>
          <a:xfrm>
            <a:off x="6236208" y="1325880"/>
            <a:ext cx="534924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21371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THÔNG TIN KHAI THÁC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8347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Đã biết/đã sử dụng sản phẩm chưa?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Nguồn nhập và thương hiệu đang sử dụng.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Quan tâm mỹ phẩm, hàng tiêm, đào tạo, công nghệ...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Khó khăn: chuyên môn, marketing, doanh số, chính sách.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Mong muốn công ty hỗ trợ.</a:t>
            </a:r>
          </a:p>
          <a:p>
            <a:pPr>
              <a:spcAft>
                <a:spcPts val="400"/>
              </a:spcAft>
              <a:defRPr sz="1130">
                <a:solidFill>
                  <a:srgbClr val="192834"/>
                </a:solidFill>
              </a:defRPr>
            </a:pPr>
            <a:r>
              <a:rPr sz="1600"/>
              <a:t>✓ Mức độ tiềm năng A/B/C và khả năng tham dự.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CHECKLIST CHUẨN BỊ CHƯƠNG TRÌNH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40815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 err="1"/>
              <a:t>Bổ</a:t>
            </a:r>
            <a:r>
              <a:rPr sz="1400" dirty="0"/>
              <a:t> sung </a:t>
            </a:r>
            <a:r>
              <a:rPr sz="1400" dirty="0" err="1"/>
              <a:t>đầy</a:t>
            </a:r>
            <a:r>
              <a:rPr sz="1400" dirty="0"/>
              <a:t> </a:t>
            </a:r>
            <a:r>
              <a:rPr sz="1400" dirty="0" err="1"/>
              <a:t>đủ</a:t>
            </a:r>
            <a:r>
              <a:rPr sz="1400" dirty="0"/>
              <a:t> </a:t>
            </a:r>
            <a:r>
              <a:rPr sz="1400" dirty="0" err="1"/>
              <a:t>nội</a:t>
            </a:r>
            <a:r>
              <a:rPr sz="1400" dirty="0"/>
              <a:t> dung </a:t>
            </a:r>
            <a:r>
              <a:rPr sz="1400" dirty="0" err="1"/>
              <a:t>theo</a:t>
            </a:r>
            <a:r>
              <a:rPr sz="1400" dirty="0"/>
              <a:t> checklist </a:t>
            </a:r>
            <a:r>
              <a:rPr sz="1400" dirty="0" err="1"/>
              <a:t>anh</a:t>
            </a:r>
            <a:r>
              <a:rPr sz="1400" dirty="0"/>
              <a:t> </a:t>
            </a:r>
            <a:r>
              <a:rPr sz="1400" dirty="0" err="1"/>
              <a:t>cung</a:t>
            </a:r>
            <a:r>
              <a:rPr sz="1400" dirty="0"/>
              <a:t> </a:t>
            </a:r>
            <a:r>
              <a:rPr sz="1400" dirty="0" err="1"/>
              <a:t>cấp</a:t>
            </a:r>
            <a:r>
              <a:rPr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657600" cy="49834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365760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2635722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HỒ SƠ – PHÁP LÝ – CHÍNH SÁCH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329184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Giấy tờ công bố, kiểm nghiệm mỹ phẩm.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Giấy tờ pháp lý liên quan đến hàng tiêm.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Bảng giá lẻ và chính sách hàng mỹ phẩm.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Bảng giá lẻ và chính sách hàng tiêm.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Catalogue/tài liệu giới thiệu.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Phiếu đăng ký, đặt hàng, chăm sóc.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298448"/>
            <a:ext cx="3657600" cy="49834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270248" y="1298448"/>
            <a:ext cx="365760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53128" y="1481328"/>
            <a:ext cx="2278701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QUÀ – HÀNG – TRƯNG BÀY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984248"/>
            <a:ext cx="329184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Quà tặng + túi + catalogue.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Hàng test trải nghiệm và hàng trưng bày.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Standee hàng mỹ phẩm và hàng tiêm.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Sản phẩm demo tách riêng hàng bán.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Hàng chốt đơn/combo ưu đãi.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Kiểm kê trước và sau chương trình.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298448"/>
            <a:ext cx="3657600" cy="49834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8037575" y="1298448"/>
            <a:ext cx="365760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20455" y="1481328"/>
            <a:ext cx="1737976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t>THIẾT BỊ – DỤNG CỤ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1984248"/>
            <a:ext cx="329184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Bảng viết tay.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Máy chiếu.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Laptop.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Máy soi da/thiết bị demo nếu có.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Micro, camera/máy quay.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400"/>
              <a:t>✓ Ổ điện, dây kết nối, file slide dự phòng.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CHUẨN BỊ QUÀ TẶNG &amp; HÀNG CHO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52132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 err="1"/>
              <a:t>Phân</a:t>
            </a:r>
            <a:r>
              <a:rPr sz="1400" dirty="0"/>
              <a:t> </a:t>
            </a:r>
            <a:r>
              <a:rPr sz="1400" dirty="0" err="1"/>
              <a:t>nhóm</a:t>
            </a:r>
            <a:r>
              <a:rPr sz="1400" dirty="0"/>
              <a:t> </a:t>
            </a:r>
            <a:r>
              <a:rPr sz="1400" dirty="0" err="1"/>
              <a:t>rõ</a:t>
            </a:r>
            <a:r>
              <a:rPr sz="1400" dirty="0"/>
              <a:t> </a:t>
            </a:r>
            <a:r>
              <a:rPr sz="1400" dirty="0" err="1"/>
              <a:t>để</a:t>
            </a:r>
            <a:r>
              <a:rPr sz="1400" dirty="0"/>
              <a:t> </a:t>
            </a:r>
            <a:r>
              <a:rPr sz="1400" dirty="0" err="1"/>
              <a:t>tránh</a:t>
            </a:r>
            <a:r>
              <a:rPr sz="1400" dirty="0"/>
              <a:t> </a:t>
            </a:r>
            <a:r>
              <a:rPr sz="1400" dirty="0" err="1"/>
              <a:t>thiếu</a:t>
            </a:r>
            <a:r>
              <a:rPr sz="1400" dirty="0"/>
              <a:t> </a:t>
            </a:r>
            <a:r>
              <a:rPr sz="1400" dirty="0" err="1"/>
              <a:t>hàng</a:t>
            </a:r>
            <a:r>
              <a:rPr sz="1400" dirty="0"/>
              <a:t>, </a:t>
            </a:r>
            <a:r>
              <a:rPr sz="1400" dirty="0" err="1"/>
              <a:t>dùng</a:t>
            </a:r>
            <a:r>
              <a:rPr sz="1400" dirty="0"/>
              <a:t> </a:t>
            </a:r>
            <a:r>
              <a:rPr sz="1400" dirty="0" err="1"/>
              <a:t>nhầm</a:t>
            </a:r>
            <a:r>
              <a:rPr sz="1400" dirty="0"/>
              <a:t> </a:t>
            </a:r>
            <a:r>
              <a:rPr sz="1400" dirty="0" err="1"/>
              <a:t>hàng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khó</a:t>
            </a:r>
            <a:r>
              <a:rPr sz="1400" dirty="0"/>
              <a:t> </a:t>
            </a:r>
            <a:r>
              <a:rPr sz="1400" dirty="0" err="1"/>
              <a:t>đối</a:t>
            </a:r>
            <a:r>
              <a:rPr sz="1400" dirty="0"/>
              <a:t> </a:t>
            </a:r>
            <a:r>
              <a:rPr sz="1400" dirty="0" err="1"/>
              <a:t>soát</a:t>
            </a:r>
            <a:r>
              <a:rPr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51760" cy="466344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2298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QUÀ KHÁCH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2860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Túi quà.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Catalogue.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Voucher.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Sample.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Quà check-in.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Quà bốc thăm.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651760" cy="466344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3291840" y="1325880"/>
            <a:ext cx="265176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17657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HÀNG TRƯNG BÀY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2860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Sản phẩm full size.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Standee/poster.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Bộ chủ lực.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Backdrop/bàn trưng bày.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Sắp xếp đồng bộ.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Không dùng để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25880"/>
            <a:ext cx="2651760" cy="466344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6080760" y="1325880"/>
            <a:ext cx="265176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13003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HÀNG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22860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Sản phẩm test riêng.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Dụng cụ trải nghiệm.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Máy soi da.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Thiết bị hỗ trợ.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Kiểm tra hạn dùng.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Người phụ trách demo.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325880"/>
            <a:ext cx="2651760" cy="466344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8869680" y="1325880"/>
            <a:ext cx="2651760" cy="100584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9052559" y="1508760"/>
            <a:ext cx="16966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HÀNG CHỐT ĐƠN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11680"/>
            <a:ext cx="22860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Sản phẩm bán.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Combo ưu đãi.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Quà tặng kèm.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Bảng giá/chính sách.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Phiếu đặt hàng.</a:t>
            </a:r>
          </a:p>
          <a:p>
            <a:pPr>
              <a:spcAft>
                <a:spcPts val="400"/>
              </a:spcAft>
              <a:defRPr sz="1060">
                <a:solidFill>
                  <a:srgbClr val="192834"/>
                </a:solidFill>
              </a:defRPr>
            </a:pPr>
            <a:r>
              <a:rPr sz="1400"/>
              <a:t>✓ Lên đơn nhanh.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CHĂM SÓC KHÁCH HÀNG TRONG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38500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/>
              <a:t>Quy </a:t>
            </a:r>
            <a:r>
              <a:rPr sz="1400" dirty="0" err="1"/>
              <a:t>trình</a:t>
            </a:r>
            <a:r>
              <a:rPr sz="1400" dirty="0"/>
              <a:t> </a:t>
            </a:r>
            <a:r>
              <a:rPr sz="1400" dirty="0" err="1"/>
              <a:t>vận</a:t>
            </a:r>
            <a:r>
              <a:rPr sz="1400" dirty="0"/>
              <a:t> </a:t>
            </a:r>
            <a:r>
              <a:rPr sz="1400" dirty="0" err="1"/>
              <a:t>hành</a:t>
            </a:r>
            <a:r>
              <a:rPr sz="1400" dirty="0"/>
              <a:t> </a:t>
            </a:r>
            <a:r>
              <a:rPr sz="1400" dirty="0" err="1"/>
              <a:t>gợi</a:t>
            </a:r>
            <a:r>
              <a:rPr sz="1400" dirty="0"/>
              <a:t> ý </a:t>
            </a:r>
            <a:r>
              <a:rPr sz="1400" dirty="0" err="1"/>
              <a:t>theo</a:t>
            </a:r>
            <a:r>
              <a:rPr sz="1400" dirty="0"/>
              <a:t> </a:t>
            </a:r>
            <a:r>
              <a:rPr sz="1400" dirty="0" err="1"/>
              <a:t>khung</a:t>
            </a:r>
            <a:r>
              <a:rPr sz="1400" dirty="0"/>
              <a:t> 13:00–17:00.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00584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37273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12:00–13:00 | SETUP &amp; ĐÓN CHUYÊN 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789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92834"/>
                </a:solidFill>
              </a:defRPr>
            </a:pPr>
            <a:r>
              <a:rPr sz="1400"/>
              <a:t>✓ Kiểm tra hội trường, âm thanh, ánh sáng, slide, sản phẩm; rà lại phân công.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1115568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1115568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34211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13:00–14:00 | CHECK-IN &amp; GIỚI THIỆU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10789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92834"/>
                </a:solidFill>
              </a:defRPr>
            </a:pPr>
            <a:r>
              <a:rPr sz="1400"/>
              <a:t>✓ Đón khách, chụp ảnh, tặng quà, sắp xếp chỗ; giới thiệu công ty và chương trình.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11296"/>
            <a:ext cx="1115568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502920" y="3511296"/>
            <a:ext cx="1115568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46442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14:00–16:00 | ĐÀO TẠO – DEMO – SOI DA – TƯ VẤN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10789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92834"/>
                </a:solidFill>
              </a:defRPr>
            </a:pPr>
            <a:r>
              <a:rPr sz="1400"/>
              <a:t>✓ Chuyên gia đào tạo; khách trải nghiệm; sale ghi nhận nhu cầu và tư vấn 1:1.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26864"/>
            <a:ext cx="1115568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502920" y="4626864"/>
            <a:ext cx="1115568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85800" y="4809744"/>
            <a:ext cx="42017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16:00–17:00 | ƯU ĐÃI – CHỐT ĐƠN – HẸN LỊCH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12664"/>
            <a:ext cx="10789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92834"/>
                </a:solidFill>
              </a:defRPr>
            </a:pPr>
            <a:r>
              <a:rPr sz="1400"/>
              <a:t>✓ Trình bày chính sách; chốt đơn/ký hợp tác; đặt lịch đào tạo hoặc gặp chuyên gia.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LẤY THÔNG TIN KHÁCH HÀNG TRONG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49391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/>
              <a:t>Thu </a:t>
            </a:r>
            <a:r>
              <a:rPr sz="1400" dirty="0" err="1"/>
              <a:t>thập</a:t>
            </a:r>
            <a:r>
              <a:rPr sz="1400" dirty="0"/>
              <a:t> </a:t>
            </a:r>
            <a:r>
              <a:rPr sz="1400" dirty="0" err="1"/>
              <a:t>tự</a:t>
            </a:r>
            <a:r>
              <a:rPr sz="1400" dirty="0"/>
              <a:t> </a:t>
            </a:r>
            <a:r>
              <a:rPr sz="1400" dirty="0" err="1"/>
              <a:t>nhiên</a:t>
            </a:r>
            <a:r>
              <a:rPr sz="1400" dirty="0"/>
              <a:t> qua check-in, </a:t>
            </a:r>
            <a:r>
              <a:rPr sz="1400" dirty="0" err="1"/>
              <a:t>trải</a:t>
            </a:r>
            <a:r>
              <a:rPr sz="1400" dirty="0"/>
              <a:t> </a:t>
            </a:r>
            <a:r>
              <a:rPr sz="1400" dirty="0" err="1"/>
              <a:t>nghiệm</a:t>
            </a:r>
            <a:r>
              <a:rPr sz="1400" dirty="0"/>
              <a:t>, soi da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tư</a:t>
            </a:r>
            <a:r>
              <a:rPr sz="1400" dirty="0"/>
              <a:t> </a:t>
            </a:r>
            <a:r>
              <a:rPr sz="1400" dirty="0" err="1"/>
              <a:t>vấn</a:t>
            </a:r>
            <a:r>
              <a:rPr sz="1400" dirty="0"/>
              <a:t> 1:1.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34924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6690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DỮ LIỆU CẦN GHI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83479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Xác nhận họ tên, Spa/Clinic, điện thoại, Zalo.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Vấn đề da/nhu cầu khách hàng của Spa.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Sản phẩm/thương hiệu đang sử dụng.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Sản phẩm đã trải nghiệm và cảm nhận.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Nhu cầu: sản phẩm, hàng tiêm, công nghệ, đào tạo.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Mong muốn hỗ trợ và thời gian triển khai.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6236208" y="1325880"/>
            <a:ext cx="534924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20249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DỮ LIỆU CHUYỂN ĐỔI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83479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Người ra quyết định và mức độ sẵn sàng hợp tác.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Ngân sách/quy mô đơn khi khách chủ động chia sẻ.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Băn khoăn: hiệu quả, pháp lý, chính sách, kỹ thuật.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Phân loại A/B/C ngay trong ngày.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Bước tiếp theo: đơn / demo / đào tạo / bác sĩ / gọi lại.</a:t>
            </a:r>
          </a:p>
          <a:p>
            <a:pPr>
              <a:spcAft>
                <a:spcPts val="400"/>
              </a:spcAft>
              <a:defRPr sz="1110">
                <a:solidFill>
                  <a:srgbClr val="192834"/>
                </a:solidFill>
              </a:defRPr>
            </a:pPr>
            <a:r>
              <a:rPr sz="1600"/>
              <a:t>✓ Ngày follow-up + nhân sự chịu trách nhiệm.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CHĂM SÓC SAU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53383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/>
              <a:t>Follow-up </a:t>
            </a:r>
            <a:r>
              <a:rPr sz="1400" dirty="0" err="1"/>
              <a:t>nhanh</a:t>
            </a:r>
            <a:r>
              <a:rPr sz="1400" dirty="0"/>
              <a:t>, </a:t>
            </a:r>
            <a:r>
              <a:rPr sz="1400" dirty="0" err="1"/>
              <a:t>đúng</a:t>
            </a:r>
            <a:r>
              <a:rPr sz="1400" dirty="0"/>
              <a:t> </a:t>
            </a:r>
            <a:r>
              <a:rPr sz="1400" dirty="0" err="1"/>
              <a:t>nội</a:t>
            </a:r>
            <a:r>
              <a:rPr sz="1400" dirty="0"/>
              <a:t> dung </a:t>
            </a:r>
            <a:r>
              <a:rPr sz="1400" dirty="0" err="1"/>
              <a:t>khách</a:t>
            </a:r>
            <a:r>
              <a:rPr sz="1400" dirty="0"/>
              <a:t> </a:t>
            </a:r>
            <a:r>
              <a:rPr sz="1400" dirty="0" err="1"/>
              <a:t>quan</a:t>
            </a:r>
            <a:r>
              <a:rPr sz="1400" dirty="0"/>
              <a:t> </a:t>
            </a:r>
            <a:r>
              <a:rPr sz="1400" dirty="0" err="1"/>
              <a:t>tâm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lịch</a:t>
            </a:r>
            <a:r>
              <a:rPr sz="1400" dirty="0"/>
              <a:t> </a:t>
            </a:r>
            <a:r>
              <a:rPr sz="1400" dirty="0" err="1"/>
              <a:t>hẹn</a:t>
            </a:r>
            <a:r>
              <a:rPr sz="1400" dirty="0"/>
              <a:t> </a:t>
            </a:r>
            <a:r>
              <a:rPr sz="1400" dirty="0" err="1"/>
              <a:t>cụ</a:t>
            </a:r>
            <a:r>
              <a:rPr sz="1400" dirty="0"/>
              <a:t> </a:t>
            </a:r>
            <a:r>
              <a:rPr sz="1400" dirty="0" err="1"/>
              <a:t>thể</a:t>
            </a:r>
            <a:r>
              <a:rPr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56616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434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TRONG 24 GIỜ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Gửi lời cảm ơn cá nhân hóa.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Gửi ảnh/video sự kiện.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Gửi catalogue, bảng giá, chính sách.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Xác nhận nội dung khách quan tâm.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Thêm vào nhóm chăm sóc.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Đặt lịch bác sĩ/chuyên gia nếu đã đồng 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3566160" cy="100584"/>
          </a:xfrm>
          <a:prstGeom prst="rect">
            <a:avLst/>
          </a:prstGeom>
          <a:solidFill>
            <a:srgbClr val="1C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498848" y="1508760"/>
            <a:ext cx="10239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1–3 NGÀY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11680"/>
            <a:ext cx="320040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Gọi điện/nhắn Zalo lấy phản hồi.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Xử lý băn khoăn còn tồn tại.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Tư vấn giải pháp phù hợp.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Chốt lịch demo/đào tạo/gặp chuyên gia.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Ưu tiên khách A và khách có ý định nhập.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Cập nhật trạng thái cơ hội.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6616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356616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14836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TRONG 7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2004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Theo dõi demo, đào tạo và chốt đơn.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Hỗ trợ marketing khi hợp tác.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Theo dõi tiến độ và doanh số.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Phân loại: Đã chốt / Đang theo / Hẹn lại.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Không để khách thiếu bước tiếp theo.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Báo cáo kết quả sau workshop.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47472"/>
            <a:ext cx="566928" cy="420624"/>
          </a:xfrm>
          <a:prstGeom prst="roundRect">
            <a:avLst/>
          </a:prstGeom>
          <a:solidFill>
            <a:srgbClr val="05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10896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52A4C"/>
                </a:solidFill>
              </a:defRPr>
            </a:pPr>
            <a:r>
              <a:t>KPI &amp; CAM KẾT ĐỒNG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832104"/>
            <a:ext cx="46108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5E6970"/>
                </a:solidFill>
              </a:defRPr>
            </a:pPr>
            <a:r>
              <a:rPr sz="1400" dirty="0"/>
              <a:t>Các </a:t>
            </a:r>
            <a:r>
              <a:rPr sz="1400" dirty="0" err="1"/>
              <a:t>chỉ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theo</a:t>
            </a:r>
            <a:r>
              <a:rPr sz="1400" dirty="0"/>
              <a:t> SOP workshop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của</a:t>
            </a:r>
            <a:r>
              <a:rPr sz="1400" dirty="0"/>
              <a:t> Thuần Hoa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349240" cy="100584"/>
          </a:xfrm>
          <a:prstGeom prst="rect">
            <a:avLst/>
          </a:prstGeom>
          <a:solidFill>
            <a:srgbClr val="1A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9013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KPI CHƯƠNG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83479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Khách mời: 30; khách tham dự tối thiểu 20.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Tỷ lệ tham dự ≥70%.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100% khách trải nghiệm.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100% khách nhận quà.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100% khách tư vấn 1:1.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≥80% đặt lịch đào tạo.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Mục tiêu 100% khách phát sinh đơn hàng.</a:t>
            </a:r>
          </a:p>
          <a:p>
            <a:pPr>
              <a:spcAft>
                <a:spcPts val="400"/>
              </a:spcAft>
              <a:defRPr sz="1100">
                <a:solidFill>
                  <a:srgbClr val="192834"/>
                </a:solidFill>
              </a:defRPr>
            </a:pPr>
            <a:r>
              <a:rPr sz="1600"/>
              <a:t>✓ ≥60% chuyển đổi đối tác.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349240" cy="4754880"/>
          </a:xfrm>
          <a:prstGeom prst="roundRect">
            <a:avLst/>
          </a:prstGeom>
          <a:solidFill>
            <a:srgbClr val="F4F8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6236208" y="1325880"/>
            <a:ext cx="5349240" cy="100584"/>
          </a:xfrm>
          <a:prstGeom prst="rect">
            <a:avLst/>
          </a:prstGeom>
          <a:solidFill>
            <a:srgbClr val="C6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17764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52A4C"/>
                </a:solidFill>
              </a:defRPr>
            </a:pPr>
            <a:r>
              <a:rPr sz="1600"/>
              <a:t>CAM KẾT ĐỘI NGŨ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83479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Đồng hành từ tổ chức hội thảo đến chăm sóc sau bán.</a:t>
            </a:r>
          </a:p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Đào tạo và chuyển giao công nghệ.</a:t>
            </a:r>
          </a:p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Hỗ trợ marketing và bán hàng.</a:t>
            </a:r>
          </a:p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Theo sát từng khách theo người phụ trách.</a:t>
            </a:r>
          </a:p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Cập nhật dữ liệu và kết quả đúng thời hạn.</a:t>
            </a:r>
          </a:p>
          <a:p>
            <a:pPr>
              <a:spcAft>
                <a:spcPts val="400"/>
              </a:spcAft>
              <a:defRPr sz="1120">
                <a:solidFill>
                  <a:srgbClr val="192834"/>
                </a:solidFill>
              </a:defRPr>
            </a:pPr>
            <a:r>
              <a:rPr sz="1600"/>
              <a:t>✓ Mục tiêu cuối: hợp tác lâu dài và phát triển bền vững.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1609</Words>
  <Application>Microsoft Office PowerPoint</Application>
  <PresentationFormat>Widescreen</PresentationFormat>
  <Paragraphs>188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Trọng Nguyễn Văn</cp:lastModifiedBy>
  <cp:revision>3</cp:revision>
  <dcterms:created xsi:type="dcterms:W3CDTF">2013-01-27T09:14:16Z</dcterms:created>
  <dcterms:modified xsi:type="dcterms:W3CDTF">2026-08-14T03:01:38Z</dcterms:modified>
  <cp:category/>
</cp:coreProperties>
</file>
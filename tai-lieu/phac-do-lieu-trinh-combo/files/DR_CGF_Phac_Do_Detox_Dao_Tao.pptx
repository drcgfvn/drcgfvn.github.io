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14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7502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png"/><Relationship Id="rId7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3.jpe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0434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PHÁC ĐỒ DETOX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13232" y="130759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66E8"/>
                </a:solidFill>
              </a:rPr>
              <a:t>THANH LỌC &amp; PHỤC HỒI DA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9808" y="1810512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B7083"/>
                </a:solidFill>
              </a:rPr>
              <a:t>Tài liệu đào tạo DR.CGF cho đội ngũ tư vấn &amp; kỹ thuật viên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1020470" cy="530352"/>
          </a:xfrm>
          <a:prstGeom prst="rect">
            <a:avLst/>
          </a:prstGeom>
          <a:solidFill>
            <a:srgbClr val="0066E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DETOX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1825142" y="2514600"/>
            <a:ext cx="1020470" cy="530352"/>
          </a:xfrm>
          <a:prstGeom prst="rect">
            <a:avLst/>
          </a:prstGeom>
          <a:solidFill>
            <a:srgbClr val="00A7E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CÂN BẰNG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2918765" y="2514600"/>
            <a:ext cx="1020470" cy="530352"/>
          </a:xfrm>
          <a:prstGeom prst="rect">
            <a:avLst/>
          </a:prstGeom>
          <a:solidFill>
            <a:srgbClr val="0066E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CẤP ẨM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4012387" y="2514600"/>
            <a:ext cx="1020470" cy="530352"/>
          </a:xfrm>
          <a:prstGeom prst="rect">
            <a:avLst/>
          </a:prstGeom>
          <a:solidFill>
            <a:srgbClr val="00A7E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PHỤC HỒI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5106010" y="2514600"/>
            <a:ext cx="1020470" cy="530352"/>
          </a:xfrm>
          <a:prstGeom prst="rect">
            <a:avLst/>
          </a:prstGeom>
          <a:solidFill>
            <a:srgbClr val="0066E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BẢO VỆ</a:t>
            </a:r>
            <a:endParaRPr lang="en-US" sz="860" dirty="0"/>
          </a:p>
        </p:txBody>
      </p:sp>
      <p:pic>
        <p:nvPicPr>
          <p:cNvPr id="10" name="Image 0" descr="/mnt/data/9E54BB34-7209-4D5A-B039-FF12E5936F1F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228850"/>
            <a:ext cx="1508760" cy="2263140"/>
          </a:xfrm>
          <a:prstGeom prst="rect">
            <a:avLst/>
          </a:prstGeom>
        </p:spPr>
      </p:pic>
      <p:pic>
        <p:nvPicPr>
          <p:cNvPr id="11" name="Image 1" descr="/mnt/data/585456C4-395B-4432-AAD8-9917098BE90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448" y="2286326"/>
            <a:ext cx="1463040" cy="1828148"/>
          </a:xfrm>
          <a:prstGeom prst="rect">
            <a:avLst/>
          </a:prstGeom>
        </p:spPr>
      </p:pic>
      <p:pic>
        <p:nvPicPr>
          <p:cNvPr id="12" name="Image 2" descr="/mnt/data/EE15B70A-81F7-4C5C-AE14-7FFE812C0694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2368" y="2292970"/>
            <a:ext cx="1481328" cy="22263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94360" y="645566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D95AD"/>
                </a:solidFill>
              </a:rPr>
              <a:t>DR.CGF Detox Training  •  1</a:t>
            </a:r>
            <a:endParaRPr lang="en-US" sz="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22960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434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Mục tiêu phác đồ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94360" y="960120"/>
            <a:ext cx="1143000" cy="0"/>
          </a:xfrm>
          <a:prstGeom prst="line">
            <a:avLst/>
          </a:prstGeom>
          <a:noFill/>
          <a:ln w="38100">
            <a:solidFill>
              <a:srgbClr val="00A7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920240" y="886968"/>
            <a:ext cx="8595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7083"/>
                </a:solidFill>
              </a:rPr>
              <a:t>Làm sạch sâu nhưng không phá vỡ hàng rào bảo vệ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A43"/>
                </a:solidFill>
              </a:rPr>
              <a:t>Khi nào cần Detox?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493776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02A43"/>
                </a:solidFill>
              </a:rPr>
              <a:t>• Da nhiều dầu thừa, lỗ chân lông dễ bít tắc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02A43"/>
                </a:solidFill>
              </a:rPr>
              <a:t>• Bề mặt thô ráp, sần nhẹ, kém thông thoáng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02A43"/>
                </a:solidFill>
              </a:rPr>
              <a:t>• Da xỉn màu do tích tụ tế bào sừng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02A43"/>
                </a:solidFill>
              </a:rPr>
              <a:t>• Cần một quy trình làm sạch – cân bằng – phục hồi an toàn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977640"/>
            <a:ext cx="5497342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9FCA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182563"/>
            <a:r>
              <a:rPr lang="en-US" sz="1330" dirty="0">
                <a:solidFill>
                  <a:srgbClr val="102A43"/>
                </a:solidFill>
              </a:rPr>
              <a:t>Mục tiêu chính: hỗ trợ giảm dầu thừa, tế bào sừng và bít tắc; giúp da thông thoáng, duy trì cấp ẩm và củng cố hàng rào bảo vệ.</a:t>
            </a:r>
            <a:endParaRPr lang="en-US" sz="1330" dirty="0"/>
          </a:p>
        </p:txBody>
      </p:sp>
      <p:sp>
        <p:nvSpPr>
          <p:cNvPr id="8" name="Text 6"/>
          <p:cNvSpPr/>
          <p:nvPr/>
        </p:nvSpPr>
        <p:spPr>
          <a:xfrm>
            <a:off x="731520" y="5349240"/>
            <a:ext cx="3063240" cy="320040"/>
          </a:xfrm>
          <a:prstGeom prst="rect">
            <a:avLst/>
          </a:prstGeom>
          <a:solidFill>
            <a:srgbClr val="04347A"/>
          </a:solidFill>
          <a:ln>
            <a:solidFill>
              <a:srgbClr val="04347A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Không “lột tẩy” – ưu tiên phục hồi</a:t>
            </a:r>
            <a:endParaRPr lang="en-US" sz="880" dirty="0"/>
          </a:p>
        </p:txBody>
      </p:sp>
      <p:pic>
        <p:nvPicPr>
          <p:cNvPr id="9" name="Image 0" descr="/mnt/data/91A6495E-D3B8-4AB5-8C2B-9ADF2D2C45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2799972"/>
            <a:ext cx="1389888" cy="1724399"/>
          </a:xfrm>
          <a:prstGeom prst="rect">
            <a:avLst/>
          </a:prstGeom>
        </p:spPr>
      </p:pic>
      <p:pic>
        <p:nvPicPr>
          <p:cNvPr id="10" name="Image 1" descr="/mnt/data/E9F5545F-F333-4F92-8974-632BA37C11B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2422232"/>
            <a:ext cx="1261872" cy="22421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94360" y="645566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D95AD"/>
                </a:solidFill>
              </a:rPr>
              <a:t>DR.CGF Detox Training  •  2</a:t>
            </a:r>
            <a:endParaRPr lang="en-US" sz="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22960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434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Bộ sản phẩm trong phác đồ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94360" y="960120"/>
            <a:ext cx="1143000" cy="0"/>
          </a:xfrm>
          <a:prstGeom prst="line">
            <a:avLst/>
          </a:prstGeom>
          <a:noFill/>
          <a:ln w="38100">
            <a:solidFill>
              <a:srgbClr val="00A7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920240" y="886968"/>
            <a:ext cx="8595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7083"/>
                </a:solidFill>
              </a:rPr>
              <a:t>Mỗi sản phẩm có một vai trò trong chuỗi thanh lọc – phục hồi</a:t>
            </a:r>
            <a:endParaRPr lang="en-US" sz="1050" dirty="0"/>
          </a:p>
        </p:txBody>
      </p:sp>
      <p:pic>
        <p:nvPicPr>
          <p:cNvPr id="5" name="Image 0" descr="/mnt/data/91A6495E-D3B8-4AB5-8C2B-9ADF2D2C45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321183"/>
            <a:ext cx="1417320" cy="175843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17550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4347A"/>
                </a:solidFill>
              </a:rPr>
              <a:t>Sữa rửa mặt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2920" y="541324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B7083"/>
                </a:solidFill>
              </a:rPr>
              <a:t>Làm sạch dầu thừa</a:t>
            </a:r>
            <a:endParaRPr lang="en-US" sz="900" dirty="0"/>
          </a:p>
        </p:txBody>
      </p:sp>
      <p:pic>
        <p:nvPicPr>
          <p:cNvPr id="8" name="Image 1" descr="/mnt/data/E9F5545F-F333-4F92-8974-632BA37C11B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720" y="2103703"/>
            <a:ext cx="1234440" cy="219339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331720" y="517550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4347A"/>
                </a:solidFill>
              </a:rPr>
              <a:t>Xịt khoáng PDRN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2331720" y="541324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B7083"/>
                </a:solidFill>
              </a:rPr>
              <a:t>Cân bằng – làm dịu</a:t>
            </a:r>
            <a:endParaRPr lang="en-US" sz="900" dirty="0"/>
          </a:p>
        </p:txBody>
      </p:sp>
      <p:pic>
        <p:nvPicPr>
          <p:cNvPr id="11" name="Image 2" descr="/mnt/data/EE15B70A-81F7-4C5C-AE14-7FFE812C0694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0520" y="2272758"/>
            <a:ext cx="1234440" cy="18552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160520" y="517550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4347A"/>
                </a:solidFill>
              </a:rPr>
              <a:t>Serum B5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4160520" y="541324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B7083"/>
                </a:solidFill>
              </a:rPr>
              <a:t>Phục hồi hàng rào</a:t>
            </a:r>
            <a:endParaRPr lang="en-US" sz="900" dirty="0"/>
          </a:p>
        </p:txBody>
      </p:sp>
      <p:pic>
        <p:nvPicPr>
          <p:cNvPr id="14" name="Image 3" descr="/mnt/data/585456C4-395B-4432-AAD8-9917098BE902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6752" y="2314850"/>
            <a:ext cx="1234440" cy="15425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016752" y="517550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4347A"/>
                </a:solidFill>
              </a:rPr>
              <a:t>Kem Healing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6016752" y="541324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B7083"/>
                </a:solidFill>
              </a:rPr>
              <a:t>Khóa ẩm – phục hồi</a:t>
            </a:r>
            <a:endParaRPr lang="en-US" sz="900" dirty="0"/>
          </a:p>
        </p:txBody>
      </p:sp>
      <p:pic>
        <p:nvPicPr>
          <p:cNvPr id="17" name="Image 4" descr="/mnt/data/9E54BB34-7209-4D5A-B039-FF12E5936F1F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0" y="2183130"/>
            <a:ext cx="1325880" cy="19888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719524" y="5221224"/>
            <a:ext cx="1550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4347A"/>
                </a:solidFill>
              </a:rPr>
              <a:t>Chống nắng SPF50+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7863840" y="54589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B7083"/>
                </a:solidFill>
              </a:rPr>
              <a:t>Bảo vệ sau Detox</a:t>
            </a:r>
            <a:endParaRPr lang="en-US" sz="900" dirty="0"/>
          </a:p>
        </p:txBody>
      </p:sp>
      <p:pic>
        <p:nvPicPr>
          <p:cNvPr id="20" name="Image 5" descr="/mnt/data/371B523A-0B72-410A-99B1-2FB4A9ADD1F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38360" y="2334768"/>
            <a:ext cx="1298448" cy="173126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9738360" y="517550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4347A"/>
                </a:solidFill>
              </a:rPr>
              <a:t>Nạ/Gel Detox</a:t>
            </a:r>
            <a:endParaRPr lang="en-US" sz="1100" dirty="0"/>
          </a:p>
        </p:txBody>
      </p:sp>
      <p:sp>
        <p:nvSpPr>
          <p:cNvPr id="22" name="Text 14"/>
          <p:cNvSpPr/>
          <p:nvPr/>
        </p:nvSpPr>
        <p:spPr>
          <a:xfrm>
            <a:off x="9738360" y="5413248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B7083"/>
                </a:solidFill>
              </a:rPr>
              <a:t>Làm sạch sâu định kỳ</a:t>
            </a:r>
            <a:endParaRPr lang="en-US" sz="900" dirty="0"/>
          </a:p>
        </p:txBody>
      </p:sp>
      <p:sp>
        <p:nvSpPr>
          <p:cNvPr id="23" name="Text 15"/>
          <p:cNvSpPr/>
          <p:nvPr/>
        </p:nvSpPr>
        <p:spPr>
          <a:xfrm>
            <a:off x="594360" y="645566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D95AD"/>
                </a:solidFill>
              </a:rPr>
              <a:t>DR.CGF Detox Training  •  3</a:t>
            </a:r>
            <a:endParaRPr lang="en-US" sz="7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22960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434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Nguyên tắc cốt lõi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94360" y="960120"/>
            <a:ext cx="1143000" cy="0"/>
          </a:xfrm>
          <a:prstGeom prst="line">
            <a:avLst/>
          </a:prstGeom>
          <a:noFill/>
          <a:ln w="38100">
            <a:solidFill>
              <a:srgbClr val="00A7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920240" y="886968"/>
            <a:ext cx="8595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7083"/>
                </a:solidFill>
              </a:rPr>
              <a:t>Detox đúng là dọn đường cho da khỏe, không phải làm da yếu đi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1239926" cy="530352"/>
          </a:xfrm>
          <a:prstGeom prst="rect">
            <a:avLst/>
          </a:prstGeom>
          <a:solidFill>
            <a:srgbClr val="0066E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DETOX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2044598" y="1417320"/>
            <a:ext cx="1239926" cy="530352"/>
          </a:xfrm>
          <a:prstGeom prst="rect">
            <a:avLst/>
          </a:prstGeom>
          <a:solidFill>
            <a:srgbClr val="00A7E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CÂN BẰNG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3357677" y="1417320"/>
            <a:ext cx="1239926" cy="530352"/>
          </a:xfrm>
          <a:prstGeom prst="rect">
            <a:avLst/>
          </a:prstGeom>
          <a:solidFill>
            <a:srgbClr val="0066E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CẤP ẨM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4670755" y="1417320"/>
            <a:ext cx="1239926" cy="530352"/>
          </a:xfrm>
          <a:prstGeom prst="rect">
            <a:avLst/>
          </a:prstGeom>
          <a:solidFill>
            <a:srgbClr val="00A7E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PHỤC HỒI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5983834" y="1417320"/>
            <a:ext cx="1239926" cy="530352"/>
          </a:xfrm>
          <a:prstGeom prst="rect">
            <a:avLst/>
          </a:prstGeom>
          <a:solidFill>
            <a:srgbClr val="0066E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BẢO VỆ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347A"/>
                </a:solidFill>
              </a:rPr>
              <a:t>1. Detox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423160" y="23317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02A43"/>
                </a:solidFill>
              </a:rPr>
              <a:t>Làm sạch sâu theo nền da, tránh dồn nhiều hoạt chất mạnh.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29900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347A"/>
                </a:solidFill>
              </a:rPr>
              <a:t>2. Cân bằng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423160" y="299008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02A43"/>
                </a:solidFill>
              </a:rPr>
              <a:t>Đưa da về trạng thái dịu – đủ ẩm trước khi khóa dưỡng.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36484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347A"/>
                </a:solidFill>
              </a:rPr>
              <a:t>3. Cấp ẩm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423160" y="364845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02A43"/>
                </a:solidFill>
              </a:rPr>
              <a:t>B5, PDRN, HA giúp giảm căng khô sau làm sạch.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" y="430682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347A"/>
                </a:solidFill>
              </a:rPr>
              <a:t>4. Phục hồi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423160" y="430682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02A43"/>
                </a:solidFill>
              </a:rPr>
              <a:t>Kem Healing hỗ trợ hàng rào bảo vệ và giảm cảm giác nhạy cảm.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49651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347A"/>
                </a:solidFill>
              </a:rPr>
              <a:t>5. Bảo vệ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423160" y="49651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02A43"/>
                </a:solidFill>
              </a:rPr>
              <a:t>Chống nắng đều mỗi sáng để duy trì kết quả.</a:t>
            </a:r>
            <a:endParaRPr lang="en-US" sz="1150" dirty="0"/>
          </a:p>
        </p:txBody>
      </p:sp>
      <p:pic>
        <p:nvPicPr>
          <p:cNvPr id="20" name="Image 0" descr="/mnt/data/585456C4-395B-4432-AAD8-9917098BE90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389216"/>
            <a:ext cx="1554480" cy="1942407"/>
          </a:xfrm>
          <a:prstGeom prst="rect">
            <a:avLst/>
          </a:prstGeom>
        </p:spPr>
      </p:pic>
      <p:pic>
        <p:nvPicPr>
          <p:cNvPr id="21" name="Image 1" descr="/mnt/data/9E54BB34-7209-4D5A-B039-FF12E5936F1F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2640330"/>
            <a:ext cx="1143000" cy="17145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94360" y="645566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D95AD"/>
                </a:solidFill>
              </a:rPr>
              <a:t>DR.CGF Detox Training  •  4</a:t>
            </a:r>
            <a:endParaRPr lang="en-US" sz="7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22960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434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Quy trình buổi sáng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94360" y="960120"/>
            <a:ext cx="1143000" cy="0"/>
          </a:xfrm>
          <a:prstGeom prst="line">
            <a:avLst/>
          </a:prstGeom>
          <a:noFill/>
          <a:ln w="38100">
            <a:solidFill>
              <a:srgbClr val="00A7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920240" y="886968"/>
            <a:ext cx="8595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7083"/>
                </a:solidFill>
              </a:rPr>
              <a:t>Mục tiêu: làm sạch nhẹ – cấp ẩm – phục hồi – chống nắng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1234440"/>
            <a:ext cx="3246120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9FCA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182563">
              <a:buNone/>
            </a:pPr>
            <a:r>
              <a:rPr lang="en-US" sz="1150" b="1" dirty="0">
                <a:solidFill>
                  <a:srgbClr val="102A43"/>
                </a:solidFill>
              </a:rPr>
              <a:t>01   Sữa rửa mặt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2002536"/>
            <a:ext cx="3246120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9FCA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182563">
              <a:buNone/>
            </a:pPr>
            <a:r>
              <a:rPr lang="en-US" sz="1150" b="1" dirty="0">
                <a:solidFill>
                  <a:srgbClr val="102A43"/>
                </a:solidFill>
              </a:rPr>
              <a:t>02   Xịt khoáng tế bào gốc / PDRN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2770632"/>
            <a:ext cx="3246120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9FCA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182563">
              <a:buNone/>
            </a:pPr>
            <a:r>
              <a:rPr lang="en-US" sz="1150" b="1" dirty="0">
                <a:solidFill>
                  <a:srgbClr val="102A43"/>
                </a:solidFill>
              </a:rPr>
              <a:t>03   Serum B5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5800" y="3538728"/>
            <a:ext cx="3246120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9FCA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182563">
              <a:buNone/>
            </a:pPr>
            <a:r>
              <a:rPr lang="en-US" sz="1150" b="1" dirty="0">
                <a:solidFill>
                  <a:srgbClr val="102A43"/>
                </a:solidFill>
              </a:rPr>
              <a:t>04   Kem Healing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800" y="4306824"/>
            <a:ext cx="3246120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9FCA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182563">
              <a:buNone/>
            </a:pPr>
            <a:r>
              <a:rPr lang="en-US" sz="1150" b="1" dirty="0">
                <a:solidFill>
                  <a:srgbClr val="102A43"/>
                </a:solidFill>
              </a:rPr>
              <a:t>05   Kem chống nắng SPF50+ PA++++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160520" y="1371600"/>
            <a:ext cx="3154680" cy="1097280"/>
          </a:xfrm>
          <a:prstGeom prst="rect">
            <a:avLst/>
          </a:prstGeom>
          <a:solidFill>
            <a:srgbClr val="FFFFFF"/>
          </a:solidFill>
          <a:ln w="8890">
            <a:solidFill>
              <a:srgbClr val="9FCA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182563">
              <a:buNone/>
            </a:pPr>
            <a:r>
              <a:rPr lang="en-US" sz="1260" dirty="0">
                <a:solidFill>
                  <a:srgbClr val="102A43"/>
                </a:solidFill>
              </a:rPr>
              <a:t>Điểm đào tạo: Buổi sáng không cần quá nhiều lớp hoạt chất. Luôn kết thúc bằng chống nắng để bảo vệ da sau quá trình thanh lọc.</a:t>
            </a:r>
            <a:endParaRPr lang="en-US" sz="1260" dirty="0"/>
          </a:p>
        </p:txBody>
      </p:sp>
      <p:pic>
        <p:nvPicPr>
          <p:cNvPr id="16" name="Image 0" descr="/mnt/data/91A6495E-D3B8-4AB5-8C2B-9ADF2D2C45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948554"/>
            <a:ext cx="1143000" cy="1418091"/>
          </a:xfrm>
          <a:prstGeom prst="rect">
            <a:avLst/>
          </a:prstGeom>
        </p:spPr>
      </p:pic>
      <p:pic>
        <p:nvPicPr>
          <p:cNvPr id="17" name="Image 1" descr="/mnt/data/EE15B70A-81F7-4C5C-AE14-7FFE812C0694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2821667"/>
            <a:ext cx="1051560" cy="1580427"/>
          </a:xfrm>
          <a:prstGeom prst="rect">
            <a:avLst/>
          </a:prstGeom>
        </p:spPr>
      </p:pic>
      <p:pic>
        <p:nvPicPr>
          <p:cNvPr id="18" name="Image 2" descr="/mnt/data/9E54BB34-7209-4D5A-B039-FF12E5936F1F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2680" y="2571750"/>
            <a:ext cx="1234440" cy="18516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94360" y="645566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D95AD"/>
                </a:solidFill>
              </a:rPr>
              <a:t>DR.CGF Detox Training  •  5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22960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434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Buổi tối – Ngày Detox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94360" y="960120"/>
            <a:ext cx="1143000" cy="0"/>
          </a:xfrm>
          <a:prstGeom prst="line">
            <a:avLst/>
          </a:prstGeom>
          <a:noFill/>
          <a:ln w="38100">
            <a:solidFill>
              <a:srgbClr val="00A7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920240" y="886968"/>
            <a:ext cx="8595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7083"/>
                </a:solidFill>
              </a:rPr>
              <a:t>Mục tiêu: làm sạch sâu định kỳ, sau đó làm dịu và phục hồi ngay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1112520" cy="530352"/>
          </a:xfrm>
          <a:prstGeom prst="rect">
            <a:avLst/>
          </a:prstGeom>
          <a:solidFill>
            <a:srgbClr val="0066E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Tẩy trang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1871472" y="1325880"/>
            <a:ext cx="1112520" cy="530352"/>
          </a:xfrm>
          <a:prstGeom prst="rect">
            <a:avLst/>
          </a:prstGeom>
          <a:solidFill>
            <a:srgbClr val="00A7E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Sữa rửa mặt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3057144" y="1325880"/>
            <a:ext cx="1112520" cy="530352"/>
          </a:xfrm>
          <a:prstGeom prst="rect">
            <a:avLst/>
          </a:prstGeom>
          <a:solidFill>
            <a:srgbClr val="0066E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Nạ/Gel Detox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4242816" y="1325880"/>
            <a:ext cx="1112520" cy="530352"/>
          </a:xfrm>
          <a:prstGeom prst="rect">
            <a:avLst/>
          </a:prstGeom>
          <a:solidFill>
            <a:srgbClr val="00A7E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Xịt khoáng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5428488" y="1325880"/>
            <a:ext cx="1112520" cy="530352"/>
          </a:xfrm>
          <a:prstGeom prst="rect">
            <a:avLst/>
          </a:prstGeom>
          <a:solidFill>
            <a:srgbClr val="0066E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Serum B5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6614160" y="1325880"/>
            <a:ext cx="1112520" cy="530352"/>
          </a:xfrm>
          <a:prstGeom prst="rect">
            <a:avLst/>
          </a:prstGeom>
          <a:solidFill>
            <a:srgbClr val="00A7E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Kem Healing</a:t>
            </a:r>
            <a:endParaRPr lang="en-US" sz="860" dirty="0"/>
          </a:p>
        </p:txBody>
      </p:sp>
      <p:sp>
        <p:nvSpPr>
          <p:cNvPr id="11" name="Text 9"/>
          <p:cNvSpPr/>
          <p:nvPr/>
        </p:nvSpPr>
        <p:spPr>
          <a:xfrm>
            <a:off x="777240" y="2331720"/>
            <a:ext cx="5760720" cy="2148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02A43"/>
                </a:solidFill>
              </a:rPr>
              <a:t>• Tẩy trang kỹ vùng chống nắng/kem nền để tránh bít tắc tích lũy.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02A43"/>
                </a:solidFill>
              </a:rPr>
              <a:t>• Sữa rửa mặt làm sạch lại, không chà xát mạnh.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02A43"/>
                </a:solidFill>
              </a:rPr>
              <a:t>• Nạ/Gel Detox dùng theo tần suất nền da, tránh để da quá khô căng.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02A43"/>
                </a:solidFill>
              </a:rPr>
              <a:t>• Sau Detox phải bù ẩm: xịt khoáng → B5 → Healing.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4892040"/>
            <a:ext cx="3429000" cy="320040"/>
          </a:xfrm>
          <a:prstGeom prst="rect">
            <a:avLst/>
          </a:prstGeom>
          <a:solidFill>
            <a:srgbClr val="D84747"/>
          </a:solidFill>
          <a:ln>
            <a:solidFill>
              <a:srgbClr val="D84747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Không dùng Retinal/acid mạnh cùng tối Detox</a:t>
            </a:r>
            <a:endParaRPr lang="en-US" sz="1000" dirty="0"/>
          </a:p>
        </p:txBody>
      </p:sp>
      <p:pic>
        <p:nvPicPr>
          <p:cNvPr id="13" name="Image 0" descr="/mnt/data/371B523A-0B72-410A-99B1-2FB4A9ADD1F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720340"/>
            <a:ext cx="1234440" cy="1645920"/>
          </a:xfrm>
          <a:prstGeom prst="rect">
            <a:avLst/>
          </a:prstGeom>
        </p:spPr>
      </p:pic>
      <p:pic>
        <p:nvPicPr>
          <p:cNvPr id="14" name="Image 1" descr="/mnt/data/E9F5545F-F333-4F92-8974-632BA37C11B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0" y="2609077"/>
            <a:ext cx="1051560" cy="1868447"/>
          </a:xfrm>
          <a:prstGeom prst="rect">
            <a:avLst/>
          </a:prstGeom>
        </p:spPr>
      </p:pic>
      <p:pic>
        <p:nvPicPr>
          <p:cNvPr id="15" name="Image 2" descr="/mnt/data/585456C4-395B-4432-AAD8-9917098BE902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5560" y="2554860"/>
            <a:ext cx="1143000" cy="142824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94360" y="645566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D95AD"/>
                </a:solidFill>
              </a:rPr>
              <a:t>DR.CGF Detox Training  •  6</a:t>
            </a:r>
            <a:endParaRPr lang="en-US" sz="7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22960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434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Buổi tối – Ngày phục hồi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94360" y="960120"/>
            <a:ext cx="1143000" cy="0"/>
          </a:xfrm>
          <a:prstGeom prst="line">
            <a:avLst/>
          </a:prstGeom>
          <a:noFill/>
          <a:ln w="38100">
            <a:solidFill>
              <a:srgbClr val="00A7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920240" y="886968"/>
            <a:ext cx="8595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7083"/>
                </a:solidFill>
              </a:rPr>
              <a:t>Mục tiêu: cho da nghỉ, tăng ẩm và củng cố hàng rào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1158240" cy="530352"/>
          </a:xfrm>
          <a:prstGeom prst="rect">
            <a:avLst/>
          </a:prstGeom>
          <a:solidFill>
            <a:srgbClr val="0066E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Tẩy trang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1917192" y="1325880"/>
            <a:ext cx="1158240" cy="530352"/>
          </a:xfrm>
          <a:prstGeom prst="rect">
            <a:avLst/>
          </a:prstGeom>
          <a:solidFill>
            <a:srgbClr val="00A7E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Sữa rửa mặt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3148584" y="1325880"/>
            <a:ext cx="1158240" cy="530352"/>
          </a:xfrm>
          <a:prstGeom prst="rect">
            <a:avLst/>
          </a:prstGeom>
          <a:solidFill>
            <a:srgbClr val="0066E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Xịt khoáng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4379976" y="1325880"/>
            <a:ext cx="1158240" cy="530352"/>
          </a:xfrm>
          <a:prstGeom prst="rect">
            <a:avLst/>
          </a:prstGeom>
          <a:solidFill>
            <a:srgbClr val="00A7E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Serum B5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5611368" y="1325880"/>
            <a:ext cx="1158240" cy="530352"/>
          </a:xfrm>
          <a:prstGeom prst="rect">
            <a:avLst/>
          </a:prstGeom>
          <a:solidFill>
            <a:srgbClr val="0066E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Nạ cấp ẩm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6842760" y="1325880"/>
            <a:ext cx="1158240" cy="530352"/>
          </a:xfrm>
          <a:prstGeom prst="rect">
            <a:avLst/>
          </a:prstGeom>
          <a:solidFill>
            <a:srgbClr val="00A7E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Kem Healing</a:t>
            </a:r>
            <a:endParaRPr lang="en-US" sz="860" dirty="0"/>
          </a:p>
        </p:txBody>
      </p:sp>
      <p:sp>
        <p:nvSpPr>
          <p:cNvPr id="11" name="Text 9"/>
          <p:cNvSpPr/>
          <p:nvPr/>
        </p:nvSpPr>
        <p:spPr>
          <a:xfrm>
            <a:off x="777240" y="2240280"/>
            <a:ext cx="6065520" cy="868680"/>
          </a:xfrm>
          <a:prstGeom prst="rect">
            <a:avLst/>
          </a:prstGeom>
          <a:solidFill>
            <a:srgbClr val="FFFFFF"/>
          </a:solidFill>
          <a:ln w="8890">
            <a:solidFill>
              <a:srgbClr val="9FCA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182563">
              <a:buNone/>
            </a:pPr>
            <a:r>
              <a:rPr lang="en-US" sz="1300" dirty="0">
                <a:solidFill>
                  <a:srgbClr val="102A43"/>
                </a:solidFill>
              </a:rPr>
              <a:t>Ngày phục hồi là “ngày xây nền”: giúp giảm cảm giác căng khô, giảm nguy cơ kích ứng và chuẩn bị da dung nạp tốt hơn ở những buổi Detox sau.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703320"/>
            <a:ext cx="594360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02A43"/>
                </a:solidFill>
              </a:rPr>
              <a:t>• Ưu tiên sản phẩm làm dịu, cấp nước và khóa ẩm.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02A43"/>
                </a:solidFill>
              </a:rPr>
              <a:t>• Không cố gắng làm sạch sâu liên tục mỗi tối.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02A43"/>
                </a:solidFill>
              </a:rPr>
              <a:t>• Theo dõi cảm giác da sáng hôm sau: căng rát, bong nhiều là dấu hiệu cần giảm tần suất Detox.</a:t>
            </a:r>
            <a:endParaRPr lang="en-US" sz="1250" dirty="0"/>
          </a:p>
        </p:txBody>
      </p:sp>
      <p:pic>
        <p:nvPicPr>
          <p:cNvPr id="13" name="Image 0" descr="/mnt/data/EE15B70A-81F7-4C5C-AE14-7FFE812C069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672741"/>
            <a:ext cx="1280160" cy="1923998"/>
          </a:xfrm>
          <a:prstGeom prst="rect">
            <a:avLst/>
          </a:prstGeom>
        </p:spPr>
      </p:pic>
      <p:pic>
        <p:nvPicPr>
          <p:cNvPr id="14" name="Image 1" descr="/mnt/data/585456C4-395B-4432-AAD8-9917098BE90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2417781"/>
            <a:ext cx="1508760" cy="188527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94360" y="645566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D95AD"/>
                </a:solidFill>
              </a:rPr>
              <a:t>DR.CGF Detox Training  •  7</a:t>
            </a:r>
            <a:endParaRPr lang="en-US" sz="7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22960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434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Tần suất theo nền da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94360" y="960120"/>
            <a:ext cx="1143000" cy="0"/>
          </a:xfrm>
          <a:prstGeom prst="line">
            <a:avLst/>
          </a:prstGeom>
          <a:noFill/>
          <a:ln w="38100">
            <a:solidFill>
              <a:srgbClr val="00A7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920240" y="886968"/>
            <a:ext cx="8595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7083"/>
                </a:solidFill>
              </a:rPr>
              <a:t>Cần cá nhân hóa để Detox hiệu quả mà không làm da yếu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3154680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9FCA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900"/>
                </a:solidFill>
              </a:rPr>
              <a:t>Da mỏng yếu / nhạy cảm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2A900"/>
                </a:solidFill>
              </a:rPr>
              <a:t>1 lần/tuần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2788920"/>
            <a:ext cx="278892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02A43"/>
                </a:solidFill>
              </a:rPr>
              <a:t>• Hàng rào suy yếu nhưng có bít tắc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02A43"/>
                </a:solidFill>
              </a:rPr>
              <a:t>• Dung nạp tốt mới tăng 2 lần/tuần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02A43"/>
                </a:solidFill>
              </a:rPr>
              <a:t>• Tăng B5 – Healing – nạ cấp ẩm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4480560" y="1417320"/>
            <a:ext cx="3154680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9FCA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66E8"/>
                </a:solidFill>
              </a:rPr>
              <a:t>Da thường / hỗn hợp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066E8"/>
                </a:solidFill>
              </a:rPr>
              <a:t>1–2 lần/tuần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63440" y="2788920"/>
            <a:ext cx="278892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02A43"/>
                </a:solidFill>
              </a:rPr>
              <a:t>• Bít tắc nhẹ, dầu vừa phải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02A43"/>
                </a:solidFill>
              </a:rPr>
              <a:t>• Theo dõi độ căng khô sau Detox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02A43"/>
                </a:solidFill>
              </a:rPr>
              <a:t>• Duy trì ngày phục hồi xen kẽ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8183880" y="1417320"/>
            <a:ext cx="3154680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9FCA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AF7A"/>
                </a:solidFill>
              </a:rPr>
              <a:t>Da dầu khỏe / dày sừng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FAF7A"/>
                </a:solidFill>
              </a:rPr>
              <a:t>2–3 lần/tuần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66760" y="2788920"/>
            <a:ext cx="278892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02A43"/>
                </a:solidFill>
              </a:rPr>
              <a:t>• Nhiều dầu thừa, lỗ chân lông rõ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02A43"/>
                </a:solidFill>
              </a:rPr>
              <a:t>• Có thể tăng tần suất có kiểm soát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02A43"/>
                </a:solidFill>
              </a:rPr>
              <a:t>• Luôn phục hồi sau ngày Detox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4480560" y="5623560"/>
            <a:ext cx="3474720" cy="320040"/>
          </a:xfrm>
          <a:prstGeom prst="rect">
            <a:avLst/>
          </a:prstGeom>
          <a:solidFill>
            <a:srgbClr val="04347A"/>
          </a:solidFill>
          <a:ln>
            <a:solidFill>
              <a:srgbClr val="04347A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Nguyên tắc: tăng tần suất từ từ – không ép da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645566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D95AD"/>
                </a:solidFill>
              </a:rPr>
              <a:t>DR.CGF Detox Training  •  8</a:t>
            </a:r>
            <a:endParaRPr lang="en-US" sz="7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22960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434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Kỹ thuật ảnh hưởng trực tiếp đến kết quả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94360" y="960120"/>
            <a:ext cx="1143000" cy="0"/>
          </a:xfrm>
          <a:prstGeom prst="line">
            <a:avLst/>
          </a:prstGeom>
          <a:noFill/>
          <a:ln w="38100">
            <a:solidFill>
              <a:srgbClr val="00A7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920240" y="886968"/>
            <a:ext cx="8595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7083"/>
                </a:solidFill>
              </a:rPr>
              <a:t>Cùng một sản phẩm, kỹ thuật khác nhau sẽ tạo trải nghiệm khác nhau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315468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9FCA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182563">
              <a:buNone/>
            </a:pPr>
            <a:r>
              <a:rPr lang="en-US" sz="1220" dirty="0">
                <a:solidFill>
                  <a:srgbClr val="102A43"/>
                </a:solidFill>
              </a:rPr>
              <a:t>1. Lượng dùng vừa đủ</a:t>
            </a:r>
            <a:endParaRPr lang="en-US" sz="1220" dirty="0"/>
          </a:p>
          <a:p>
            <a:pPr marL="182563">
              <a:buNone/>
            </a:pPr>
            <a:r>
              <a:rPr lang="en-US" sz="1220" dirty="0">
                <a:solidFill>
                  <a:srgbClr val="102A43"/>
                </a:solidFill>
              </a:rPr>
              <a:t>Không dùng quá dày; da nhạy cảm bắt đầu mỏng hơn.</a:t>
            </a:r>
            <a:endParaRPr lang="en-US" sz="1220" dirty="0"/>
          </a:p>
        </p:txBody>
      </p:sp>
      <p:sp>
        <p:nvSpPr>
          <p:cNvPr id="6" name="Text 4"/>
          <p:cNvSpPr/>
          <p:nvPr/>
        </p:nvSpPr>
        <p:spPr>
          <a:xfrm>
            <a:off x="4343400" y="1417320"/>
            <a:ext cx="315468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9FCA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182563">
              <a:buNone/>
            </a:pPr>
            <a:r>
              <a:rPr lang="en-US" sz="1220" dirty="0">
                <a:solidFill>
                  <a:srgbClr val="102A43"/>
                </a:solidFill>
              </a:rPr>
              <a:t>2. Massage nhẹ</a:t>
            </a:r>
            <a:endParaRPr lang="en-US" sz="1220" dirty="0"/>
          </a:p>
          <a:p>
            <a:pPr marL="182563">
              <a:buNone/>
            </a:pPr>
            <a:r>
              <a:rPr lang="en-US" sz="1220" dirty="0">
                <a:solidFill>
                  <a:srgbClr val="102A43"/>
                </a:solidFill>
              </a:rPr>
              <a:t>Di chuyển theo chiều nâng cơ, tránh miết mạnh trên nền da yếu.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7955280" y="1417320"/>
            <a:ext cx="315468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9FCA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182563">
              <a:buNone/>
            </a:pPr>
            <a:r>
              <a:rPr lang="en-US" sz="1220" dirty="0">
                <a:solidFill>
                  <a:srgbClr val="102A43"/>
                </a:solidFill>
              </a:rPr>
              <a:t>3. Thời gian phù hợp</a:t>
            </a:r>
            <a:endParaRPr lang="en-US" sz="1220" dirty="0"/>
          </a:p>
          <a:p>
            <a:pPr marL="182563">
              <a:buNone/>
            </a:pPr>
            <a:r>
              <a:rPr lang="en-US" sz="1220" dirty="0">
                <a:solidFill>
                  <a:srgbClr val="102A43"/>
                </a:solidFill>
              </a:rPr>
              <a:t>Không kéo dài bước Detox khi da có cảm giác khô căng.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731520" y="3694575"/>
            <a:ext cx="315468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9FCA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182563">
              <a:buNone/>
            </a:pPr>
            <a:r>
              <a:rPr lang="en-US" sz="1220" dirty="0">
                <a:solidFill>
                  <a:srgbClr val="102A43"/>
                </a:solidFill>
              </a:rPr>
              <a:t>4. Phục hồi ngay</a:t>
            </a:r>
            <a:endParaRPr lang="en-US" sz="1220" dirty="0"/>
          </a:p>
          <a:p>
            <a:pPr marL="182563">
              <a:buNone/>
            </a:pPr>
            <a:r>
              <a:rPr lang="en-US" sz="1220" dirty="0">
                <a:solidFill>
                  <a:srgbClr val="102A43"/>
                </a:solidFill>
              </a:rPr>
              <a:t>Sau Detox cần xịt khoáng, B5 và Healing để bù ẩm.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4343400" y="3694575"/>
            <a:ext cx="315468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9FCA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182563">
              <a:buNone/>
            </a:pPr>
            <a:r>
              <a:rPr lang="en-US" sz="1220" dirty="0">
                <a:solidFill>
                  <a:srgbClr val="102A43"/>
                </a:solidFill>
              </a:rPr>
              <a:t>5. Theo dõi 24 giờ</a:t>
            </a:r>
            <a:endParaRPr lang="en-US" sz="1220" dirty="0"/>
          </a:p>
          <a:p>
            <a:pPr marL="182563">
              <a:buNone/>
            </a:pPr>
            <a:r>
              <a:rPr lang="en-US" sz="1220" dirty="0">
                <a:solidFill>
                  <a:srgbClr val="102A43"/>
                </a:solidFill>
              </a:rPr>
              <a:t>Đỏ rát, bong nhiều: giảm tần suất và tăng phục hồi.</a:t>
            </a:r>
            <a:endParaRPr lang="en-US" sz="1220" dirty="0"/>
          </a:p>
        </p:txBody>
      </p:sp>
      <p:pic>
        <p:nvPicPr>
          <p:cNvPr id="10" name="Image 0" descr="/mnt/data/371B523A-0B72-410A-99B1-2FB4A9ADD1F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345" y="2808998"/>
            <a:ext cx="2185615" cy="291415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4360" y="645566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D95AD"/>
                </a:solidFill>
              </a:rPr>
              <a:t>DR.CGF Detox Training  •  9</a:t>
            </a:r>
            <a:endParaRPr lang="en-US" sz="7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22960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434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Phân tích vai trò: Làm sạch &amp; cân bằng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94360" y="960120"/>
            <a:ext cx="1143000" cy="0"/>
          </a:xfrm>
          <a:prstGeom prst="line">
            <a:avLst/>
          </a:prstGeom>
          <a:noFill/>
          <a:ln w="38100">
            <a:solidFill>
              <a:srgbClr val="00A7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920240" y="886968"/>
            <a:ext cx="8595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7083"/>
                </a:solidFill>
              </a:rPr>
              <a:t>Giai đoạn đầu quyết định da có thông thoáng mà vẫn dịu hay không</a:t>
            </a:r>
            <a:endParaRPr lang="en-US" sz="1050" dirty="0"/>
          </a:p>
        </p:txBody>
      </p:sp>
      <p:pic>
        <p:nvPicPr>
          <p:cNvPr id="5" name="Image 0" descr="/mnt/data/91A6495E-D3B8-4AB5-8C2B-9ADF2D2C45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" y="2365774"/>
            <a:ext cx="2189896" cy="2716949"/>
          </a:xfrm>
          <a:prstGeom prst="rect">
            <a:avLst/>
          </a:prstGeom>
        </p:spPr>
      </p:pic>
      <p:pic>
        <p:nvPicPr>
          <p:cNvPr id="6" name="Image 1" descr="/mnt/data/E9F5545F-F333-4F92-8974-632BA37C11B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9678" y="2379680"/>
            <a:ext cx="1529097" cy="271694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34840" y="135331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4347A"/>
                </a:solidFill>
              </a:rPr>
              <a:t>Sữa rửa mặt / Gel Detox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4434840" y="1783080"/>
            <a:ext cx="292608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02A43"/>
                </a:solidFill>
              </a:rPr>
              <a:t>• Loại bỏ dầu thừa, bụi bẩn, lớp chống nắng sau ngày dài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02A43"/>
                </a:solidFill>
              </a:rPr>
              <a:t>• Hỗ trợ giảm bít tắc bề mặt khi dùng đúng tần suất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02A43"/>
                </a:solidFill>
              </a:rPr>
              <a:t>• Da sau rửa không nên căng khô kéo dài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8001000" y="13533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4347A"/>
                </a:solidFill>
              </a:rPr>
              <a:t>Xịt khoáng PDRN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8001000" y="1783080"/>
            <a:ext cx="278892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02A43"/>
                </a:solidFill>
              </a:rPr>
              <a:t>• Cân bằng cảm giác da sau làm sạch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02A43"/>
                </a:solidFill>
              </a:rPr>
              <a:t>• Tạo lớp ẩm đệm trước serum B5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02A43"/>
                </a:solidFill>
              </a:rPr>
              <a:t>• Hỗ trợ làm dịu khi da có xu hướng nhạy cảm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434840" y="4754880"/>
            <a:ext cx="621792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9FCA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182563">
              <a:buNone/>
            </a:pPr>
            <a:r>
              <a:rPr lang="en-US" sz="1220" dirty="0">
                <a:solidFill>
                  <a:srgbClr val="102A43"/>
                </a:solidFill>
              </a:rPr>
              <a:t>Thông điệp tư vấn: Làm sạch sâu phải đi kèm cân bằng và cấp ẩm, không để khách hiểu Detox là “làm khô dầu”.</a:t>
            </a:r>
            <a:endParaRPr lang="en-US" sz="1220" dirty="0"/>
          </a:p>
        </p:txBody>
      </p:sp>
      <p:sp>
        <p:nvSpPr>
          <p:cNvPr id="12" name="Text 8"/>
          <p:cNvSpPr/>
          <p:nvPr/>
        </p:nvSpPr>
        <p:spPr>
          <a:xfrm>
            <a:off x="594360" y="645566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D95AD"/>
                </a:solidFill>
              </a:rPr>
              <a:t>DR.CGF Detox Training  •  10</a:t>
            </a:r>
            <a:endParaRPr lang="en-US" sz="7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22960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434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Phân tích vai trò: B5 &amp; Healing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94360" y="960120"/>
            <a:ext cx="1143000" cy="0"/>
          </a:xfrm>
          <a:prstGeom prst="line">
            <a:avLst/>
          </a:prstGeom>
          <a:noFill/>
          <a:ln w="38100">
            <a:solidFill>
              <a:srgbClr val="00A7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920240" y="886968"/>
            <a:ext cx="8595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7083"/>
                </a:solidFill>
              </a:rPr>
              <a:t>Cặp đôi phục hồi giúp phác đồ Detox an toàn hơn</a:t>
            </a:r>
            <a:endParaRPr lang="en-US" sz="1050" dirty="0"/>
          </a:p>
        </p:txBody>
      </p:sp>
      <p:pic>
        <p:nvPicPr>
          <p:cNvPr id="5" name="Image 0" descr="/mnt/data/EE15B70A-81F7-4C5C-AE14-7FFE812C069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455236"/>
            <a:ext cx="1508760" cy="2267569"/>
          </a:xfrm>
          <a:prstGeom prst="rect">
            <a:avLst/>
          </a:prstGeom>
        </p:spPr>
      </p:pic>
      <p:pic>
        <p:nvPicPr>
          <p:cNvPr id="6" name="Image 1" descr="/mnt/data/585456C4-395B-4432-AAD8-9917098BE90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2894657"/>
            <a:ext cx="1463040" cy="18281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74920" y="1280160"/>
            <a:ext cx="5303520" cy="822960"/>
          </a:xfrm>
          <a:prstGeom prst="rect">
            <a:avLst/>
          </a:prstGeom>
          <a:solidFill>
            <a:srgbClr val="FFFFFF"/>
          </a:solidFill>
          <a:ln w="8890">
            <a:solidFill>
              <a:srgbClr val="9FCA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182563">
              <a:buNone/>
            </a:pPr>
            <a:r>
              <a:rPr lang="en-US" sz="1300" dirty="0">
                <a:solidFill>
                  <a:srgbClr val="102A43"/>
                </a:solidFill>
              </a:rPr>
              <a:t>Serum B5: bước bổ sung ẩm và hỗ trợ phục hồi hàng rào sau làm sạch. Phù hợp để dùng cả sáng và tối trong phác đồ.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074920" y="2697480"/>
            <a:ext cx="5303520" cy="822960"/>
          </a:xfrm>
          <a:prstGeom prst="rect">
            <a:avLst/>
          </a:prstGeom>
          <a:solidFill>
            <a:srgbClr val="FFFFFF"/>
          </a:solidFill>
          <a:ln w="8890">
            <a:solidFill>
              <a:srgbClr val="9FCA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182563">
              <a:buNone/>
            </a:pPr>
            <a:r>
              <a:rPr lang="en-US" sz="1300" dirty="0">
                <a:solidFill>
                  <a:srgbClr val="102A43"/>
                </a:solidFill>
              </a:rPr>
              <a:t>Kem Healing: khóa ẩm, làm dịu và củng cố nền da. Đây là bước quan trọng sau Detox để hạn chế khô căng.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074920" y="4251960"/>
            <a:ext cx="3017520" cy="320040"/>
          </a:xfrm>
          <a:prstGeom prst="rect">
            <a:avLst/>
          </a:prstGeom>
          <a:solidFill>
            <a:srgbClr val="0066E8"/>
          </a:solidFill>
          <a:ln>
            <a:solidFill>
              <a:srgbClr val="0066E8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B5 → Healing = cấp ẩm + khóa phục hồi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8229600" y="4251960"/>
            <a:ext cx="2880360" cy="320040"/>
          </a:xfrm>
          <a:prstGeom prst="rect">
            <a:avLst/>
          </a:prstGeom>
          <a:solidFill>
            <a:srgbClr val="04347A"/>
          </a:solidFill>
          <a:ln>
            <a:solidFill>
              <a:srgbClr val="04347A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Phù hợp ngày Detox &amp; ngày phục hồi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94360" y="645566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D95AD"/>
                </a:solidFill>
              </a:rPr>
              <a:t>DR.CGF Detox Training  •  11</a:t>
            </a:r>
            <a:endParaRPr lang="en-US" sz="7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22960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434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 Chống nắng sau Detox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94360" y="960120"/>
            <a:ext cx="1143000" cy="0"/>
          </a:xfrm>
          <a:prstGeom prst="line">
            <a:avLst/>
          </a:prstGeom>
          <a:noFill/>
          <a:ln w="38100">
            <a:solidFill>
              <a:srgbClr val="00A7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920240" y="886968"/>
            <a:ext cx="8595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7083"/>
                </a:solidFill>
              </a:rPr>
              <a:t>Bảo vệ là bước giữ kết quả và giảm nguy cơ xỉn màu trở lại</a:t>
            </a:r>
            <a:endParaRPr lang="en-US" sz="1050" dirty="0"/>
          </a:p>
        </p:txBody>
      </p:sp>
      <p:pic>
        <p:nvPicPr>
          <p:cNvPr id="5" name="Image 0" descr="/mnt/data/9E54BB34-7209-4D5A-B039-FF12E5936F1F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25980"/>
            <a:ext cx="1920240" cy="2880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0" y="1417320"/>
            <a:ext cx="525780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02A43"/>
                </a:solidFill>
              </a:rPr>
              <a:t>• Dùng mỗi sáng sau kem dưỡng, lượng đủ cho toàn mặt và cổ.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02A43"/>
                </a:solidFill>
              </a:rPr>
              <a:t>• Bôi lại khi hoạt động ngoài trời, đổ mồ hôi hoặc tiếp xúc ánh nắng lâu.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02A43"/>
                </a:solidFill>
              </a:rPr>
              <a:t>• Nhắc khách: da đang trong giai đoạn thanh lọc cần chống nắng đều để hạn chế thâm sạm và nhạy cảm.</a:t>
            </a:r>
            <a:endParaRPr lang="en-US" sz="1320" dirty="0"/>
          </a:p>
        </p:txBody>
      </p:sp>
      <p:sp>
        <p:nvSpPr>
          <p:cNvPr id="7" name="Text 4"/>
          <p:cNvSpPr/>
          <p:nvPr/>
        </p:nvSpPr>
        <p:spPr>
          <a:xfrm>
            <a:off x="3657600" y="3749040"/>
            <a:ext cx="5303520" cy="960120"/>
          </a:xfrm>
          <a:prstGeom prst="rect">
            <a:avLst/>
          </a:prstGeom>
          <a:solidFill>
            <a:srgbClr val="FFFFFF"/>
          </a:solidFill>
          <a:ln w="8890">
            <a:solidFill>
              <a:srgbClr val="9FCA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182563">
              <a:buNone/>
            </a:pPr>
            <a:r>
              <a:rPr lang="en-US" sz="1260" dirty="0">
                <a:solidFill>
                  <a:srgbClr val="102A43"/>
                </a:solidFill>
              </a:rPr>
              <a:t>Tư vấn bán hàng: Không tách Detox khỏi chống nắng. Nếu khách chỉ làm sạch sâu nhưng chống nắng không đều, kết quả sáng da và phục hồi sẽ khó duy trì.</a:t>
            </a:r>
            <a:endParaRPr lang="en-US" sz="1260" dirty="0"/>
          </a:p>
        </p:txBody>
      </p:sp>
      <p:pic>
        <p:nvPicPr>
          <p:cNvPr id="8" name="Image 1" descr="/mnt/data/585456C4-395B-4432-AAD8-9917098BE90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2509180"/>
            <a:ext cx="1325880" cy="165675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4360" y="645566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D95AD"/>
                </a:solidFill>
              </a:rPr>
              <a:t>DR.CGF Detox Training  •  12</a:t>
            </a:r>
            <a:endParaRPr lang="en-US" sz="7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22960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434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12. Lưu ý khi bổ sung hoạt chất chuyên sâu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94360" y="960120"/>
            <a:ext cx="1143000" cy="0"/>
          </a:xfrm>
          <a:prstGeom prst="line">
            <a:avLst/>
          </a:prstGeom>
          <a:noFill/>
          <a:ln w="38100">
            <a:solidFill>
              <a:srgbClr val="00A7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920240" y="886968"/>
            <a:ext cx="8595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7083"/>
                </a:solidFill>
              </a:rPr>
              <a:t>Chỉ tăng hoạt chất khi nền da đã ổn định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77240" y="132588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4347A"/>
                </a:solidFill>
              </a:rPr>
              <a:t>Sau khi nền da ổn định mới bổ sung Retinal, Tranexamic… theo vấn đề da.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AF7A"/>
                </a:solidFill>
              </a:rPr>
              <a:t>NÊN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393192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02A43"/>
                </a:solidFill>
              </a:rPr>
              <a:t>• Đánh giá nền da trước khi tăng hoạt chất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02A43"/>
                </a:solidFill>
              </a:rPr>
              <a:t>• Xen kẽ ngày phục hồi để giảm kích ứng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02A43"/>
                </a:solidFill>
              </a:rPr>
              <a:t>• Tăng từ nồng độ/tần suất thấp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89320" y="2057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84747"/>
                </a:solidFill>
              </a:rPr>
              <a:t>KHÔNG NÊN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035040" y="2651760"/>
            <a:ext cx="393192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02A43"/>
                </a:solidFill>
              </a:rPr>
              <a:t>• Dồn nhiều hoạt chất mạnh cùng tối Detox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02A43"/>
                </a:solidFill>
              </a:rPr>
              <a:t>• Detox liên tục khi da đã căng rát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02A43"/>
                </a:solidFill>
              </a:rPr>
              <a:t>• Bỏ qua chống nắng và bước khóa ẩm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4754880"/>
            <a:ext cx="2926080" cy="320040"/>
          </a:xfrm>
          <a:prstGeom prst="rect">
            <a:avLst/>
          </a:prstGeom>
          <a:solidFill>
            <a:srgbClr val="04347A"/>
          </a:solidFill>
          <a:ln>
            <a:solidFill>
              <a:srgbClr val="04347A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Tối Detox = làm sạch sâu + phục hồi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35040" y="4754880"/>
            <a:ext cx="2926080" cy="320040"/>
          </a:xfrm>
          <a:prstGeom prst="rect">
            <a:avLst/>
          </a:prstGeom>
          <a:solidFill>
            <a:srgbClr val="0066E8"/>
          </a:solidFill>
          <a:ln>
            <a:solidFill>
              <a:srgbClr val="0066E8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Tối hoạt chất = dùng riêng, theo dõi da</a:t>
            </a:r>
            <a:endParaRPr lang="en-US" sz="1000" dirty="0"/>
          </a:p>
        </p:txBody>
      </p:sp>
      <p:pic>
        <p:nvPicPr>
          <p:cNvPr id="12" name="Image 0" descr="/mnt/data/EE15B70A-81F7-4C5C-AE14-7FFE812C069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2707501"/>
            <a:ext cx="960120" cy="144299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94360" y="645566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D95AD"/>
                </a:solidFill>
              </a:rPr>
              <a:t>DR.CGF Detox Training  •  13</a:t>
            </a:r>
            <a:endParaRPr lang="en-US" sz="7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22960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434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13. Checklist tư vấn &amp; tổng kết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94360" y="960120"/>
            <a:ext cx="1143000" cy="0"/>
          </a:xfrm>
          <a:prstGeom prst="line">
            <a:avLst/>
          </a:prstGeom>
          <a:noFill/>
          <a:ln w="38100">
            <a:solidFill>
              <a:srgbClr val="00A7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920240" y="886968"/>
            <a:ext cx="8595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7083"/>
                </a:solidFill>
              </a:rPr>
              <a:t>Dùng để đào tạo nhân sự trước khi tư vấn khách hàng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77240" y="1234440"/>
            <a:ext cx="6355080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9FCA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182563">
              <a:buNone/>
            </a:pPr>
            <a:r>
              <a:rPr lang="en-US" sz="1150" b="1" dirty="0">
                <a:solidFill>
                  <a:srgbClr val="102A43"/>
                </a:solidFill>
              </a:rPr>
              <a:t>01   Xác định nền da: mỏng yếu – thường/hỗn hợp – dầu khỏe/dày sừng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2002536"/>
            <a:ext cx="6355080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9FCA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182563">
              <a:buNone/>
            </a:pPr>
            <a:r>
              <a:rPr lang="en-US" sz="1150" b="1" dirty="0">
                <a:solidFill>
                  <a:srgbClr val="102A43"/>
                </a:solidFill>
              </a:rPr>
              <a:t>02   Chọn tần suất Detox phù hợp, không tăng quá nhanh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2770632"/>
            <a:ext cx="6355080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9FCA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182563">
              <a:buNone/>
            </a:pPr>
            <a:r>
              <a:rPr lang="en-US" sz="1150" b="1" dirty="0">
                <a:solidFill>
                  <a:srgbClr val="102A43"/>
                </a:solidFill>
              </a:rPr>
              <a:t>03   Giải thích chuỗi: Detox → Cân bằng → Cấp ẩm → Phục hồi → Bảo vệ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3538728"/>
            <a:ext cx="6355080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9FCA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182563">
              <a:buNone/>
            </a:pPr>
            <a:r>
              <a:rPr lang="en-US" sz="1150" b="1" dirty="0">
                <a:solidFill>
                  <a:srgbClr val="102A43"/>
                </a:solidFill>
              </a:rPr>
              <a:t>04   Nhấn mạnh B5 – Healing – chống nắng là bắt buộc để duy trì kết quả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77240" y="4306824"/>
            <a:ext cx="6355080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9FCA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182563">
              <a:buNone/>
            </a:pPr>
            <a:r>
              <a:rPr lang="en-US" sz="1150" b="1" dirty="0">
                <a:solidFill>
                  <a:srgbClr val="102A43"/>
                </a:solidFill>
              </a:rPr>
              <a:t>05   Hẹn theo dõi sau 7–14 ngày để điều chỉnh tần suất</a:t>
            </a:r>
            <a:endParaRPr lang="en-US" sz="1150" dirty="0"/>
          </a:p>
        </p:txBody>
      </p:sp>
      <p:pic>
        <p:nvPicPr>
          <p:cNvPr id="15" name="Image 0" descr="/mnt/data/91A6495E-D3B8-4AB5-8C2B-9ADF2D2C45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816896"/>
            <a:ext cx="1097280" cy="1361368"/>
          </a:xfrm>
          <a:prstGeom prst="rect">
            <a:avLst/>
          </a:prstGeom>
        </p:spPr>
      </p:pic>
      <p:pic>
        <p:nvPicPr>
          <p:cNvPr id="16" name="Image 1" descr="/mnt/data/E9F5545F-F333-4F92-8974-632BA37C11B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0" y="2620222"/>
            <a:ext cx="987552" cy="1754715"/>
          </a:xfrm>
          <a:prstGeom prst="rect">
            <a:avLst/>
          </a:prstGeom>
        </p:spPr>
      </p:pic>
      <p:pic>
        <p:nvPicPr>
          <p:cNvPr id="17" name="Image 2" descr="/mnt/data/EE15B70A-81F7-4C5C-AE14-7FFE812C0694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4120" y="2776081"/>
            <a:ext cx="960120" cy="144299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86384" y="587044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4347A"/>
                </a:solidFill>
              </a:rPr>
              <a:t>DR.CGF DETOX  |  Thanh lọc đúng – phục hồi đủ – bảo vệ đều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94360" y="645566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D95AD"/>
                </a:solidFill>
              </a:rPr>
              <a:t>DR.CGF Detox Training  •  14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1585</Words>
  <Application>Microsoft Office PowerPoint</Application>
  <PresentationFormat>Widescreen</PresentationFormat>
  <Paragraphs>183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đào tạo DR.CGF Detox</dc:title>
  <dc:subject>PptxGenJS Presentation</dc:subject>
  <dc:creator>DR.CGF Training</dc:creator>
  <cp:lastModifiedBy>Trọng Nguyễn Văn</cp:lastModifiedBy>
  <cp:revision>2</cp:revision>
  <dcterms:created xsi:type="dcterms:W3CDTF">2026-08-16T09:10:38Z</dcterms:created>
  <dcterms:modified xsi:type="dcterms:W3CDTF">2026-08-17T07:07:39Z</dcterms:modified>
</cp:coreProperties>
</file>
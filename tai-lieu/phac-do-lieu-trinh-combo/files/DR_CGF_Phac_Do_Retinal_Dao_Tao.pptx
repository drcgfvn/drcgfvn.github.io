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1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2588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4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4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11226"/>
          </a:solidFill>
          <a:ln w="12700">
            <a:solidFill>
              <a:srgbClr val="B11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498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B11226"/>
                </a:solidFill>
              </a:rPr>
              <a:t>PHÁC ĐỒ RETINAL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325880"/>
            <a:ext cx="58521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9384A"/>
                </a:solidFill>
              </a:rPr>
              <a:t>Đào tạo ứng dụng DR.CGF Retinal Bakuchiol Cream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9384A"/>
                </a:solidFill>
              </a:rPr>
              <a:t>Kết hợp B5 • Kem dưỡng phục hồi • Chống nắng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257800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9384A"/>
                </a:solidFill>
              </a:rPr>
              <a:t>Mục tiêu: giúp da thích nghi dần với Retinal, hỗ trợ đổi mới tế bào, cải thiện bít tắc – bề mặt da – sắc tố – dấu hiệu lão hóa, đồng thời duy trì cấp ẩm và phục hồi hàng rào bảo vệ.</a:t>
            </a:r>
            <a:endParaRPr lang="en-US" sz="1150" dirty="0"/>
          </a:p>
        </p:txBody>
      </p:sp>
      <p:pic>
        <p:nvPicPr>
          <p:cNvPr id="6" name="Image 0" descr="/mnt/data/2C79D759-55B5-4B7B-84F2-FA065B16E547.jpeg"/>
          <p:cNvPicPr>
            <a:picLocks noChangeAspect="1"/>
          </p:cNvPicPr>
          <p:nvPr/>
        </p:nvPicPr>
        <p:blipFill>
          <a:blip r:embed="rId3"/>
          <a:srcRect l="2344" r="2344"/>
          <a:stretch/>
        </p:blipFill>
        <p:spPr>
          <a:xfrm>
            <a:off x="6583680" y="749808"/>
            <a:ext cx="278892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3730752"/>
            <a:ext cx="2788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Retinal Bakuchiol Cream</a:t>
            </a:r>
            <a:endParaRPr lang="en-US" sz="850" dirty="0"/>
          </a:p>
        </p:txBody>
      </p:sp>
      <p:pic>
        <p:nvPicPr>
          <p:cNvPr id="8" name="Image 1" descr="/mnt/data/2CFCC963-E88F-43E5-BA65-140A8302A6F8.jpeg"/>
          <p:cNvPicPr>
            <a:picLocks noChangeAspect="1"/>
          </p:cNvPicPr>
          <p:nvPr/>
        </p:nvPicPr>
        <p:blipFill>
          <a:blip r:embed="rId4"/>
          <a:srcRect l="13110" r="13110"/>
          <a:stretch/>
        </p:blipFill>
        <p:spPr>
          <a:xfrm>
            <a:off x="9464040" y="960120"/>
            <a:ext cx="1234440" cy="2514600"/>
          </a:xfrm>
          <a:prstGeom prst="rect">
            <a:avLst/>
          </a:prstGeom>
        </p:spPr>
      </p:pic>
      <p:pic>
        <p:nvPicPr>
          <p:cNvPr id="9" name="Image 2" descr="/mnt/data/A4BBF17C-9970-4DBE-8E87-7AD583ACF625.jpeg"/>
          <p:cNvPicPr>
            <a:picLocks noChangeAspect="1"/>
          </p:cNvPicPr>
          <p:nvPr/>
        </p:nvPicPr>
        <p:blipFill>
          <a:blip r:embed="rId5"/>
          <a:srcRect l="23529" r="23529"/>
          <a:stretch/>
        </p:blipFill>
        <p:spPr>
          <a:xfrm>
            <a:off x="10698480" y="1051560"/>
            <a:ext cx="822960" cy="23317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40080" y="3703320"/>
            <a:ext cx="10927080" cy="1554480"/>
          </a:xfrm>
          <a:prstGeom prst="roundRect">
            <a:avLst>
              <a:gd name="adj" fmla="val 4706"/>
            </a:avLst>
          </a:prstGeom>
          <a:solidFill>
            <a:srgbClr val="FFF2F3"/>
          </a:solidFill>
          <a:ln w="12700">
            <a:solidFill>
              <a:srgbClr val="F3CCD2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68680" y="3886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1226"/>
                </a:solidFill>
              </a:rPr>
              <a:t>Thông điệp đào tạo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68680" y="432511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23E66"/>
                </a:solidFill>
              </a:rPr>
              <a:t>Retinal không phải dùng càng nhiều càng tốt. Kết quả bền đến từ 3 yếu tố: tăng tần suất đúng nhịp, khóa ẩm – phục hồi đủ, chống nắng đều mỗi ngày.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548640" y="6620256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</a:rPr>
              <a:t>DR.CGF Retinal Protocol Training  •  1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4969" y="301752"/>
            <a:ext cx="79369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phác đồ: tăng dung nạp trước – tối ưu sau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</a:rPr>
              <a:t>Thiết kế theo 3 giai </a:t>
            </a:r>
            <a:r>
              <a:rPr lang="en-US" sz="1050" dirty="0">
                <a:solidFill>
                  <a:srgbClr val="667085"/>
                </a:solidFill>
              </a:rPr>
              <a:t>đoạn</a:t>
            </a:r>
            <a:r>
              <a:rPr lang="en-US" sz="1000" dirty="0">
                <a:solidFill>
                  <a:srgbClr val="667085"/>
                </a:solidFill>
              </a:rPr>
              <a:t> để hạn chế kích ứng và duy trì hiệu quả.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3383280" cy="2788920"/>
          </a:xfrm>
          <a:prstGeom prst="roundRect">
            <a:avLst>
              <a:gd name="adj" fmla="val 2623"/>
            </a:avLst>
          </a:prstGeom>
          <a:solidFill>
            <a:srgbClr val="FFF7F8"/>
          </a:solidFill>
          <a:ln w="12700">
            <a:solidFill>
              <a:srgbClr val="F4D0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4264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11226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389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E66"/>
                </a:solidFill>
              </a:rPr>
              <a:t>Làm quen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63040" y="175564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B11226"/>
          </a:solidFill>
          <a:ln w="12700">
            <a:solidFill>
              <a:srgbClr val="B1122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82422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 tuần đầu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2788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9384A"/>
                </a:solidFill>
              </a:rPr>
              <a:t>2 lần/tuần buổi tối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907792"/>
            <a:ext cx="2560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9384A"/>
                </a:solidFill>
              </a:rPr>
              <a:t>Ưu tiên quan sát phản ứng da, không ép tăng nhanh.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1234440"/>
            <a:ext cx="3383280" cy="2788920"/>
          </a:xfrm>
          <a:prstGeom prst="roundRect">
            <a:avLst>
              <a:gd name="adj" fmla="val 2623"/>
            </a:avLst>
          </a:prstGeom>
          <a:solidFill>
            <a:srgbClr val="F2FAFF"/>
          </a:solidFill>
          <a:ln w="12700">
            <a:solidFill>
              <a:srgbClr val="CFE8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4264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5BB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0" y="1389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E66"/>
                </a:solidFill>
              </a:rPr>
              <a:t>Tăng thích nghi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303520" y="175564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1B75BB"/>
          </a:solidFill>
          <a:ln w="12700">
            <a:solidFill>
              <a:srgbClr val="1B75B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6672" y="182422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 tuần tiếp theo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09160" y="2331720"/>
            <a:ext cx="2788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9384A"/>
                </a:solidFill>
              </a:rPr>
              <a:t>3 lần/tuần buổi tối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46320" y="2907792"/>
            <a:ext cx="2560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9384A"/>
                </a:solidFill>
              </a:rPr>
              <a:t>Duy trì phục hồi xen kẽ để da đều màu và mịn hơn.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75320" y="1234440"/>
            <a:ext cx="3383280" cy="2788920"/>
          </a:xfrm>
          <a:prstGeom prst="roundRect">
            <a:avLst>
              <a:gd name="adj" fmla="val 2623"/>
            </a:avLst>
          </a:prstGeom>
          <a:solidFill>
            <a:srgbClr val="F8FFF8"/>
          </a:solidFill>
          <a:ln w="12700">
            <a:solidFill>
              <a:srgbClr val="CFEB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9912" y="14264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A866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0" y="1389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E66"/>
                </a:solidFill>
              </a:rPr>
              <a:t>Duy trì &amp; tối ưu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0" y="175564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2EA866"/>
          </a:solidFill>
          <a:ln w="12700">
            <a:solidFill>
              <a:srgbClr val="2EA86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7152" y="182422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Từ tuần 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549640" y="2331720"/>
            <a:ext cx="2788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9384A"/>
                </a:solidFill>
              </a:rPr>
              <a:t>3–5 lần/tuần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686800" y="2907792"/>
            <a:ext cx="2560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9384A"/>
                </a:solidFill>
              </a:rPr>
              <a:t>Tùy khả năng dung nạp, giảm khi khô đỏ rát.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0120" y="4754880"/>
            <a:ext cx="9784080" cy="0"/>
          </a:xfrm>
          <a:prstGeom prst="line">
            <a:avLst/>
          </a:prstGeom>
          <a:noFill/>
          <a:ln w="38100">
            <a:solidFill>
              <a:srgbClr val="DDE6EF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60120" y="5257800"/>
            <a:ext cx="102412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11226"/>
                </a:solidFill>
              </a:rPr>
              <a:t>Nguyên tắc chung: khi da khô căng, đỏ, rát hoặc bong nhiều → giảm tần suất Retinal, tăng B5 + tế bào gốc + kem dưỡng phục hồi.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48640" y="6620256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</a:rPr>
              <a:t>DR.CGF Retinal Protocol Training  •  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69494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từng sản phẩm trong phác đồ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Không tách Retinal khỏi phục hồi và chống nắng. Đây là bộ khung giúp da dung nạp tốt hơn.</a:t>
            </a:r>
            <a:endParaRPr lang="en-US" sz="850" dirty="0"/>
          </a:p>
        </p:txBody>
      </p:sp>
      <p:pic>
        <p:nvPicPr>
          <p:cNvPr id="5" name="Image 0" descr="/mnt/data/2C79D759-55B5-4B7B-84F2-FA065B16E547.jpeg"/>
          <p:cNvPicPr>
            <a:picLocks noChangeAspect="1"/>
          </p:cNvPicPr>
          <p:nvPr/>
        </p:nvPicPr>
        <p:blipFill>
          <a:blip r:embed="rId3"/>
          <a:srcRect l="5044" r="5044"/>
          <a:stretch/>
        </p:blipFill>
        <p:spPr>
          <a:xfrm>
            <a:off x="685800" y="1261872"/>
            <a:ext cx="1874520" cy="2084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447288"/>
            <a:ext cx="1874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Retinal Bakuchiol</a:t>
            </a:r>
            <a:endParaRPr lang="en-US" sz="850" dirty="0"/>
          </a:p>
        </p:txBody>
      </p:sp>
      <p:pic>
        <p:nvPicPr>
          <p:cNvPr id="7" name="Image 1" descr="/mnt/data/2CFCC963-E88F-43E5-BA65-140A8302A6F8.jpeg"/>
          <p:cNvPicPr>
            <a:picLocks noChangeAspect="1"/>
          </p:cNvPicPr>
          <p:nvPr/>
        </p:nvPicPr>
        <p:blipFill>
          <a:blip r:embed="rId4"/>
          <a:srcRect l="3633" r="3633"/>
          <a:stretch/>
        </p:blipFill>
        <p:spPr>
          <a:xfrm>
            <a:off x="2788920" y="1216152"/>
            <a:ext cx="1325880" cy="2148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88920" y="3465576"/>
            <a:ext cx="1325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B5 Ampoule</a:t>
            </a:r>
            <a:endParaRPr lang="en-US" sz="850" dirty="0"/>
          </a:p>
        </p:txBody>
      </p:sp>
      <p:pic>
        <p:nvPicPr>
          <p:cNvPr id="9" name="Image 2" descr="/mnt/data/DEAC73C2-9874-4DCD-A266-8A22FFDFE24A.jpeg"/>
          <p:cNvPicPr>
            <a:picLocks noChangeAspect="1"/>
          </p:cNvPicPr>
          <p:nvPr/>
        </p:nvPicPr>
        <p:blipFill>
          <a:blip r:embed="rId5"/>
          <a:srcRect t="5660" b="5660"/>
          <a:stretch/>
        </p:blipFill>
        <p:spPr>
          <a:xfrm>
            <a:off x="4389120" y="1491467"/>
            <a:ext cx="1691640" cy="18745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89120" y="3452855"/>
            <a:ext cx="16916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Healing Cream</a:t>
            </a:r>
            <a:endParaRPr lang="en-US" sz="850" dirty="0"/>
          </a:p>
        </p:txBody>
      </p:sp>
      <p:pic>
        <p:nvPicPr>
          <p:cNvPr id="11" name="Image 3" descr="/mnt/data/A4BBF17C-9970-4DBE-8E87-7AD583ACF625.jpeg"/>
          <p:cNvPicPr>
            <a:picLocks noChangeAspect="1"/>
          </p:cNvPicPr>
          <p:nvPr/>
        </p:nvPicPr>
        <p:blipFill>
          <a:blip r:embed="rId6"/>
          <a:srcRect l="12500" r="12500"/>
          <a:stretch/>
        </p:blipFill>
        <p:spPr>
          <a:xfrm>
            <a:off x="6400800" y="1024128"/>
            <a:ext cx="1143000" cy="2286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800" y="3465576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Suncream</a:t>
            </a:r>
            <a:endParaRPr lang="en-US" sz="850" dirty="0"/>
          </a:p>
        </p:txBody>
      </p:sp>
      <p:pic>
        <p:nvPicPr>
          <p:cNvPr id="13" name="Image 4" descr="/mnt/data/D19C23EF-FF1E-4F77-9DE4-943509F28C99.png"/>
          <p:cNvPicPr>
            <a:picLocks noChangeAspect="1"/>
          </p:cNvPicPr>
          <p:nvPr/>
        </p:nvPicPr>
        <p:blipFill>
          <a:blip r:embed="rId7"/>
          <a:srcRect l="18000" r="18000"/>
          <a:stretch/>
        </p:blipFill>
        <p:spPr>
          <a:xfrm>
            <a:off x="8229600" y="1024128"/>
            <a:ext cx="1097280" cy="2286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29600" y="3465576"/>
            <a:ext cx="1097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Mela Cleansing</a:t>
            </a:r>
            <a:endParaRPr lang="en-US" sz="850" dirty="0"/>
          </a:p>
        </p:txBody>
      </p:sp>
      <p:sp>
        <p:nvSpPr>
          <p:cNvPr id="15" name="Shape 8"/>
          <p:cNvSpPr/>
          <p:nvPr/>
        </p:nvSpPr>
        <p:spPr>
          <a:xfrm>
            <a:off x="685800" y="4023360"/>
            <a:ext cx="24505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850392" y="423367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11226"/>
                </a:solidFill>
              </a:rPr>
              <a:t>RETINAL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868680" y="4590288"/>
            <a:ext cx="20665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9384A"/>
                </a:solidFill>
              </a:rPr>
              <a:t>Hoạt chất tối ưu buổi tối: hỗ trợ đổi mới bề mặt, cải thiện bít tắc, sắc tố và dấu hiệu lão hóa.</a:t>
            </a:r>
            <a:endParaRPr lang="en-US" sz="860" dirty="0"/>
          </a:p>
        </p:txBody>
      </p:sp>
      <p:sp>
        <p:nvSpPr>
          <p:cNvPr id="18" name="Shape 11"/>
          <p:cNvSpPr/>
          <p:nvPr/>
        </p:nvSpPr>
        <p:spPr>
          <a:xfrm>
            <a:off x="3474720" y="4023360"/>
            <a:ext cx="24505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3639312" y="423367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75BB"/>
                </a:solidFill>
              </a:rPr>
              <a:t>B5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3657600" y="4590288"/>
            <a:ext cx="20665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9384A"/>
                </a:solidFill>
              </a:rPr>
              <a:t>Đệm phục hồi: cấp ẩm, giảm cảm giác căng, hỗ trợ hàng rào bảo vệ da trong giai đoạn làm quen.</a:t>
            </a:r>
            <a:endParaRPr lang="en-US" sz="860" dirty="0"/>
          </a:p>
        </p:txBody>
      </p:sp>
      <p:sp>
        <p:nvSpPr>
          <p:cNvPr id="21" name="Shape 14"/>
          <p:cNvSpPr/>
          <p:nvPr/>
        </p:nvSpPr>
        <p:spPr>
          <a:xfrm>
            <a:off x="6263640" y="4023360"/>
            <a:ext cx="24505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28232" y="423367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A866"/>
                </a:solidFill>
              </a:rPr>
              <a:t>KEM DƯỠNG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446520" y="4590288"/>
            <a:ext cx="20665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9384A"/>
                </a:solidFill>
              </a:rPr>
              <a:t>Khóa ẩm và làm dịu: giúp giảm bong khô, giữ nền da ổn định để không phải ngưng phác đồ quá sớm.</a:t>
            </a:r>
            <a:endParaRPr lang="en-US" sz="860" dirty="0"/>
          </a:p>
        </p:txBody>
      </p:sp>
      <p:sp>
        <p:nvSpPr>
          <p:cNvPr id="24" name="Shape 17"/>
          <p:cNvSpPr/>
          <p:nvPr/>
        </p:nvSpPr>
        <p:spPr>
          <a:xfrm>
            <a:off x="9052560" y="4023360"/>
            <a:ext cx="24505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217152" y="423367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39C12"/>
                </a:solidFill>
              </a:rPr>
              <a:t>CHỐNG NẮNG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9235440" y="4590288"/>
            <a:ext cx="20665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9384A"/>
                </a:solidFill>
              </a:rPr>
              <a:t>Bảo vệ ban ngày: bắt buộc khi dùng Retinal để hạn chế tăng sắc tố và nhạy cảm ánh sáng.</a:t>
            </a:r>
            <a:endParaRPr lang="en-US" sz="860" dirty="0"/>
          </a:p>
        </p:txBody>
      </p:sp>
      <p:sp>
        <p:nvSpPr>
          <p:cNvPr id="27" name="Text 20"/>
          <p:cNvSpPr/>
          <p:nvPr/>
        </p:nvSpPr>
        <p:spPr>
          <a:xfrm>
            <a:off x="548640" y="6620256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</a:rPr>
              <a:t>DR.CGF Retinal Protocol Training  •  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11226"/>
          </a:solidFill>
          <a:ln w="12700">
            <a:solidFill>
              <a:srgbClr val="B11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69494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1: Làm quen trong 2 tuần đầu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Tần suất 2 lần/tuần – buổi tối. Mục tiêu là da quen hoạt chất, không tạo áp lực bong tróc.</a:t>
            </a:r>
            <a:endParaRPr lang="en-US" sz="850" dirty="0"/>
          </a:p>
        </p:txBody>
      </p:sp>
      <p:pic>
        <p:nvPicPr>
          <p:cNvPr id="5" name="Image 0" descr="/mnt/data/2C79D759-55B5-4B7B-84F2-FA065B16E547.jpeg"/>
          <p:cNvPicPr>
            <a:picLocks noChangeAspect="1"/>
          </p:cNvPicPr>
          <p:nvPr/>
        </p:nvPicPr>
        <p:blipFill>
          <a:blip r:embed="rId3"/>
          <a:srcRect l="6604" r="6604"/>
          <a:stretch/>
        </p:blipFill>
        <p:spPr>
          <a:xfrm>
            <a:off x="8869680" y="914400"/>
            <a:ext cx="2103120" cy="2423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69680" y="3392424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Lượng Retinal bằng hạt đậu xanh cho toàn mặt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40080" y="1170432"/>
            <a:ext cx="7635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1D4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3898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1226"/>
                </a:solidFill>
              </a:rPr>
              <a:t>Ban ngày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057400" y="137160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E66"/>
                </a:solidFill>
              </a:rPr>
              <a:t>Làm sạch  →  B5  →  Kem dưỡng  →  Chống nắng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2542032"/>
            <a:ext cx="763524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F1D4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77063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11226"/>
                </a:solidFill>
              </a:rPr>
              <a:t>Tối dùng Retinal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06040" y="276148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3E66"/>
                </a:solidFill>
              </a:rPr>
              <a:t>Làm sạch → B5 → Đợi da khô → Retinal → Đợi thấm → Kem dưỡng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606040" y="31546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9384A"/>
                </a:solidFill>
              </a:rPr>
              <a:t>Không bôi khi da còn ướt. Chỉ dùng lượng mỏng; tránh vùng khóe mũi, khóe miệng, sát mắt nếu da nhạy cảm.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4224528"/>
            <a:ext cx="7635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1D4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4498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1226"/>
                </a:solidFill>
              </a:rPr>
              <a:t>Tối còn lại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606040" y="448056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23E66"/>
                </a:solidFill>
              </a:rPr>
              <a:t>Làm sạch  →  B5  →  Tế bào gốc  →  Kem dưỡng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2606040" y="48646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9384A"/>
                </a:solidFill>
              </a:rPr>
              <a:t>Mục tiêu phục hồi xen kẽ để da không bị “quá tải” trong 2 tuần đầu.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6620256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</a:rPr>
              <a:t>DR.CGF Retinal Protocol Training  •  4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69494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2: Tăng thích nghi trong 6 tuần tiếp theo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Tần suất 3 lần/tuần – buổi tối. Tăng nhịp nhưng vẫn phải giữ nền da đủ ẩm.</a:t>
            </a:r>
            <a:endParaRPr lang="en-US" sz="850" dirty="0"/>
          </a:p>
        </p:txBody>
      </p:sp>
      <p:pic>
        <p:nvPicPr>
          <p:cNvPr id="5" name="Image 0" descr="/mnt/data/2CFCC963-E88F-43E5-BA65-140A8302A6F8.jpeg"/>
          <p:cNvPicPr>
            <a:picLocks noChangeAspect="1"/>
          </p:cNvPicPr>
          <p:nvPr/>
        </p:nvPicPr>
        <p:blipFill>
          <a:blip r:embed="rId3"/>
          <a:srcRect l="6046" r="6046"/>
          <a:stretch/>
        </p:blipFill>
        <p:spPr>
          <a:xfrm>
            <a:off x="685800" y="1234440"/>
            <a:ext cx="1417320" cy="2423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712464"/>
            <a:ext cx="1417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B5 giữ nền da ổn định</a:t>
            </a:r>
            <a:endParaRPr lang="en-US" sz="850" dirty="0"/>
          </a:p>
        </p:txBody>
      </p:sp>
      <p:pic>
        <p:nvPicPr>
          <p:cNvPr id="7" name="Image 1" descr="/mnt/data/DEAC73C2-9874-4DCD-A266-8A22FFDFE24A.jpeg"/>
          <p:cNvPicPr>
            <a:picLocks noChangeAspect="1"/>
          </p:cNvPicPr>
          <p:nvPr/>
        </p:nvPicPr>
        <p:blipFill>
          <a:blip r:embed="rId4"/>
          <a:srcRect l="3885" r="3885"/>
          <a:stretch/>
        </p:blipFill>
        <p:spPr>
          <a:xfrm>
            <a:off x="2423160" y="1737360"/>
            <a:ext cx="1417320" cy="1920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23160" y="3712464"/>
            <a:ext cx="1417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Kem phục hồi khóa ẩm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434840" y="1115568"/>
            <a:ext cx="6629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663440" y="13441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5BB"/>
                </a:solidFill>
              </a:rPr>
              <a:t>Ban ngày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897880" y="13350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E66"/>
                </a:solidFill>
              </a:rPr>
              <a:t>Làm sạch → B5 → Kem dưỡng → Chống nắng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434840" y="2514600"/>
            <a:ext cx="662940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63440" y="27797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75BB"/>
                </a:solidFill>
              </a:rPr>
              <a:t>Tối dùng Retinal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263640" y="27614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123E66"/>
                </a:solidFill>
              </a:rPr>
              <a:t>Làm sạch → Đợi da khô → Retinal → Đợi thấm → Kem dưỡng</a:t>
            </a:r>
            <a:endParaRPr lang="en-US" sz="1340" dirty="0"/>
          </a:p>
        </p:txBody>
      </p:sp>
      <p:sp>
        <p:nvSpPr>
          <p:cNvPr id="15" name="Text 11"/>
          <p:cNvSpPr/>
          <p:nvPr/>
        </p:nvSpPr>
        <p:spPr>
          <a:xfrm>
            <a:off x="6263640" y="31363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9384A"/>
                </a:solidFill>
              </a:rPr>
              <a:t>Có thể dùng B5 trước Retinal nếu da dễ khô căng. Không tăng lượng Retinal, chỉ tăng số đêm sử dụng.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434840" y="4297680"/>
            <a:ext cx="66294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63440" y="45720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5BB"/>
                </a:solidFill>
              </a:rPr>
              <a:t>Tối còn lại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263640" y="45537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123E66"/>
                </a:solidFill>
              </a:rPr>
              <a:t>Làm sạch → B5 → Tế bào gốc → Kem dưỡng</a:t>
            </a:r>
            <a:endParaRPr lang="en-US" sz="1440" dirty="0"/>
          </a:p>
        </p:txBody>
      </p:sp>
      <p:sp>
        <p:nvSpPr>
          <p:cNvPr id="19" name="Text 15"/>
          <p:cNvSpPr/>
          <p:nvPr/>
        </p:nvSpPr>
        <p:spPr>
          <a:xfrm>
            <a:off x="6263640" y="491032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9384A"/>
                </a:solidFill>
              </a:rPr>
              <a:t>Giai đoạn này quyết định độ bền của phác đồ: da khỏe thì mới tăng hiệu quả đều màu, mịn bề mặt.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48640" y="6620256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</a:rPr>
              <a:t>DR.CGF Retinal Protocol Training  •  5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69494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3: Duy trì &amp; tối ưu từ tuần 9 trở đi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Tần suất 3–5 lần/tuần hoặc tăng dần theo khả năng dung nạp của da.</a:t>
            </a:r>
            <a:endParaRPr lang="en-US" sz="850" dirty="0"/>
          </a:p>
        </p:txBody>
      </p:sp>
      <p:pic>
        <p:nvPicPr>
          <p:cNvPr id="5" name="Image 0" descr="/mnt/data/2C79D759-55B5-4B7B-84F2-FA065B16E547.jpeg"/>
          <p:cNvPicPr>
            <a:picLocks noChangeAspect="1"/>
          </p:cNvPicPr>
          <p:nvPr/>
        </p:nvPicPr>
        <p:blipFill>
          <a:blip r:embed="rId3"/>
          <a:srcRect l="9091" r="9091"/>
          <a:stretch/>
        </p:blipFill>
        <p:spPr>
          <a:xfrm>
            <a:off x="685800" y="1234440"/>
            <a:ext cx="164592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300984"/>
            <a:ext cx="1645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Retinal</a:t>
            </a:r>
            <a:endParaRPr lang="en-US" sz="850" dirty="0"/>
          </a:p>
        </p:txBody>
      </p:sp>
      <p:pic>
        <p:nvPicPr>
          <p:cNvPr id="7" name="Image 1" descr="/mnt/data/A4BBF17C-9970-4DBE-8E87-7AD583ACF625.jpeg"/>
          <p:cNvPicPr>
            <a:picLocks noChangeAspect="1"/>
          </p:cNvPicPr>
          <p:nvPr/>
        </p:nvPicPr>
        <p:blipFill>
          <a:blip r:embed="rId4"/>
          <a:srcRect l="16379" r="16379"/>
          <a:stretch/>
        </p:blipFill>
        <p:spPr>
          <a:xfrm>
            <a:off x="9829800" y="914400"/>
            <a:ext cx="1188720" cy="2651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29800" y="3621024"/>
            <a:ext cx="11887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Chống nắng bắt buộc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971800" y="1216152"/>
            <a:ext cx="384048" cy="384048"/>
          </a:xfrm>
          <a:prstGeom prst="ellipse">
            <a:avLst/>
          </a:prstGeom>
          <a:solidFill>
            <a:srgbClr val="2EA866"/>
          </a:solidFill>
          <a:ln w="12700">
            <a:solidFill>
              <a:srgbClr val="2EA86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71800" y="13393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83864" y="1188720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3E66"/>
                </a:solidFill>
              </a:rPr>
              <a:t>Đánh giá dung nạp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83864" y="1444752"/>
            <a:ext cx="5797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9384A"/>
                </a:solidFill>
              </a:rPr>
              <a:t>Da không đỏ rát kéo dài, không bong nhiều, không căng khó chịu sau 2–3 đêm phục hồi.</a:t>
            </a:r>
            <a:endParaRPr lang="en-US" sz="840" dirty="0"/>
          </a:p>
        </p:txBody>
      </p:sp>
      <p:sp>
        <p:nvSpPr>
          <p:cNvPr id="13" name="Shape 9"/>
          <p:cNvSpPr/>
          <p:nvPr/>
        </p:nvSpPr>
        <p:spPr>
          <a:xfrm>
            <a:off x="2971800" y="2359152"/>
            <a:ext cx="384048" cy="384048"/>
          </a:xfrm>
          <a:prstGeom prst="ellipse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71800" y="24823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83864" y="2331720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3E66"/>
                </a:solidFill>
              </a:rPr>
              <a:t>Tăng nhịp có kiểm soát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83864" y="2587752"/>
            <a:ext cx="5797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9384A"/>
                </a:solidFill>
              </a:rPr>
              <a:t>Từ 3 đêm lên 4–5 đêm/tuần nếu nền da ổn. Không tăng lượng kem khi tăng tần suất.</a:t>
            </a:r>
            <a:endParaRPr lang="en-US" sz="840" dirty="0"/>
          </a:p>
        </p:txBody>
      </p:sp>
      <p:sp>
        <p:nvSpPr>
          <p:cNvPr id="17" name="Shape 13"/>
          <p:cNvSpPr/>
          <p:nvPr/>
        </p:nvSpPr>
        <p:spPr>
          <a:xfrm>
            <a:off x="2971800" y="3502152"/>
            <a:ext cx="384048" cy="384048"/>
          </a:xfrm>
          <a:prstGeom prst="ellipse">
            <a:avLst/>
          </a:prstGeom>
          <a:solidFill>
            <a:srgbClr val="00A3B8"/>
          </a:solidFill>
          <a:ln w="12700">
            <a:solidFill>
              <a:srgbClr val="00A3B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71800" y="36253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83864" y="3474720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3E66"/>
                </a:solidFill>
              </a:rPr>
              <a:t>Tối nghỉ Retinal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483864" y="3730752"/>
            <a:ext cx="5797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9384A"/>
                </a:solidFill>
              </a:rPr>
              <a:t>Làm sạch → B5 → Tế bào gốc → Kem dưỡng. Tập trung cấp ẩm – phục hồi để duy trì hàng rào.</a:t>
            </a:r>
            <a:endParaRPr lang="en-US" sz="840" dirty="0"/>
          </a:p>
        </p:txBody>
      </p:sp>
      <p:sp>
        <p:nvSpPr>
          <p:cNvPr id="21" name="Shape 17"/>
          <p:cNvSpPr/>
          <p:nvPr/>
        </p:nvSpPr>
        <p:spPr>
          <a:xfrm>
            <a:off x="2971800" y="4645152"/>
            <a:ext cx="384048" cy="384048"/>
          </a:xfrm>
          <a:prstGeom prst="ellipse">
            <a:avLst/>
          </a:prstGeom>
          <a:solidFill>
            <a:srgbClr val="B11226"/>
          </a:solidFill>
          <a:ln w="12700">
            <a:solidFill>
              <a:srgbClr val="B1122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971800" y="47683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483864" y="4617720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3E66"/>
                </a:solidFill>
              </a:rPr>
              <a:t>Khi da quá tải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483864" y="4873752"/>
            <a:ext cx="5797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9384A"/>
                </a:solidFill>
              </a:rPr>
              <a:t>Giảm tần suất ngay, quay về 2–3 lần/tuần. Tăng B5 + kem dưỡng phục hồi trong 3–5 ngày.</a:t>
            </a:r>
            <a:endParaRPr lang="en-US" sz="840" dirty="0"/>
          </a:p>
        </p:txBody>
      </p:sp>
      <p:sp>
        <p:nvSpPr>
          <p:cNvPr id="25" name="Text 21"/>
          <p:cNvSpPr/>
          <p:nvPr/>
        </p:nvSpPr>
        <p:spPr>
          <a:xfrm>
            <a:off x="548640" y="6620256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</a:rPr>
              <a:t>DR.CGF Retinal Protocol Training  •  6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ban ngày: bảo vệ làn da đang dùng Retinal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91340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Ban ngày không tập trung vào hoạt chất mạnh; ưu tiên làm sạch nhẹ – phục hồi – chống nắng.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453896" y="1417320"/>
            <a:ext cx="914400" cy="914400"/>
          </a:xfrm>
          <a:prstGeom prst="ellipse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53896" y="1719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7860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E66"/>
                </a:solidFill>
              </a:rPr>
              <a:t>Làm sạch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90088"/>
            <a:ext cx="226771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9384A"/>
                </a:solidFill>
              </a:rPr>
              <a:t>Loại bỏ dầu thừa nhẹ nhàng, không làm da căng rít.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990088" y="1691640"/>
            <a:ext cx="411480" cy="347472"/>
          </a:xfrm>
          <a:prstGeom prst="chevron">
            <a:avLst/>
          </a:prstGeom>
          <a:solidFill>
            <a:srgbClr val="DDE6E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42816" y="1417320"/>
            <a:ext cx="914400" cy="914400"/>
          </a:xfrm>
          <a:prstGeom prst="ellipse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2816" y="1719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57860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E66"/>
                </a:solidFill>
              </a:rPr>
              <a:t>B5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990088"/>
            <a:ext cx="226771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9384A"/>
                </a:solidFill>
              </a:rPr>
              <a:t>Cấp ẩm, làm dịu, hỗ trợ phục hồi hàng rào.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779008" y="1691640"/>
            <a:ext cx="411480" cy="347472"/>
          </a:xfrm>
          <a:prstGeom prst="chevron">
            <a:avLst/>
          </a:prstGeom>
          <a:solidFill>
            <a:srgbClr val="DDE6E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1417320"/>
            <a:ext cx="914400" cy="914400"/>
          </a:xfrm>
          <a:prstGeom prst="ellipse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31736" y="1719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◆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55080" y="257860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E66"/>
                </a:solidFill>
              </a:rPr>
              <a:t>Kem dưỡng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990088"/>
            <a:ext cx="226771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9384A"/>
                </a:solidFill>
              </a:rPr>
              <a:t>Khóa ẩm, giảm khô căng trong ngày.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567928" y="1691640"/>
            <a:ext cx="411480" cy="347472"/>
          </a:xfrm>
          <a:prstGeom prst="chevron">
            <a:avLst/>
          </a:prstGeom>
          <a:solidFill>
            <a:srgbClr val="DDE6E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20656" y="1417320"/>
            <a:ext cx="914400" cy="9144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0656" y="1719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SPF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0" y="257860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E66"/>
                </a:solidFill>
              </a:rPr>
              <a:t>Chống nắng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2990088"/>
            <a:ext cx="226771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9384A"/>
                </a:solidFill>
              </a:rPr>
              <a:t>SPF50+ PA++++; thoa đủ lượng và dặm lại khi cần.</a:t>
            </a:r>
            <a:endParaRPr lang="en-US" sz="980" dirty="0"/>
          </a:p>
        </p:txBody>
      </p:sp>
      <p:pic>
        <p:nvPicPr>
          <p:cNvPr id="24" name="Image 0" descr="/mnt/data/A4BBF17C-9970-4DBE-8E87-7AD583ACF625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1040" y="4160520"/>
            <a:ext cx="1188720" cy="17830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914400" y="4434840"/>
            <a:ext cx="6903720" cy="1024128"/>
          </a:xfrm>
          <a:prstGeom prst="roundRect">
            <a:avLst>
              <a:gd name="adj" fmla="val 7143"/>
            </a:avLst>
          </a:prstGeom>
          <a:solidFill>
            <a:srgbClr val="FFFDF2"/>
          </a:solidFill>
          <a:ln w="12700">
            <a:solidFill>
              <a:srgbClr val="F1DFA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43000" y="472585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Lưu ý tư vấn khách hàng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246120" y="472744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9384A"/>
                </a:solidFill>
              </a:rPr>
              <a:t>Nếu bỏ chống nắng, hiệu quả cải thiện sắc tố dễ giảm và nguy cơ sạm lại cao hơn. Đây là bước bắt buộc trong mọi giai đoạn.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48640" y="6620256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</a:rPr>
              <a:t>DR.CGF Retinal Protocol Training  •  7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11226"/>
          </a:solidFill>
          <a:ln w="12700">
            <a:solidFill>
              <a:srgbClr val="B11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69494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buổi tối: hai nhánh sử dụng rõ ràng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Tối dùng Retinal và tối phục hồi phải được phân biệt để tránh dùng sai tần suất.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5212080" cy="4434840"/>
          </a:xfrm>
          <a:prstGeom prst="roundRect">
            <a:avLst>
              <a:gd name="adj" fmla="val 1649"/>
            </a:avLst>
          </a:prstGeom>
          <a:solidFill>
            <a:schemeClr val="bg1"/>
          </a:solidFill>
          <a:ln w="12700">
            <a:solidFill>
              <a:srgbClr val="F1D4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11226"/>
                </a:solidFill>
              </a:rPr>
              <a:t>A. Tối dùng Retinal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8288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E66"/>
                </a:solidFill>
              </a:rPr>
              <a:t>1. Làm sạch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E66"/>
                </a:solidFill>
              </a:rPr>
              <a:t>2. B5 nếu cần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28346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E66"/>
                </a:solidFill>
              </a:rPr>
              <a:t>3. Đợi da khô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51560" y="33375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3E66"/>
                </a:solidFill>
              </a:rPr>
              <a:t>4. Retinal lượng hạt đậu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38404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E66"/>
                </a:solidFill>
              </a:rPr>
              <a:t>5. Đợi thấm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43434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E66"/>
                </a:solidFill>
              </a:rPr>
              <a:t>6. Kem dưỡng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115568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7FB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5BB"/>
                </a:solidFill>
              </a:rPr>
              <a:t>B. Tối nghỉ Retinal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18288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E66"/>
                </a:solidFill>
              </a:rPr>
              <a:t>1. Làm sạch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3E66"/>
                </a:solidFill>
              </a:rPr>
              <a:t>2. B5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29400" y="28346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E66"/>
                </a:solidFill>
              </a:rPr>
              <a:t>3. Tế bào gốc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33375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3E66"/>
                </a:solidFill>
              </a:rPr>
              <a:t>4. Kem dưỡng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29400" y="38404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E66"/>
                </a:solidFill>
              </a:rPr>
              <a:t>5. Có thể thêm nạ phục hồi nếu khô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43434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E66"/>
                </a:solidFill>
              </a:rPr>
              <a:t>6. Theo dõi da sáng hôm sau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620256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</a:rPr>
              <a:t>DR.CGF Retinal Protocol Training  •  8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69494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phản ứng da và cách điều chỉnh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Kỹ thuật viên/tư vấn cần phân biệt phản ứng thích nghi bình thường và dấu hiệu quá tải.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8FFF8"/>
          </a:solidFill>
          <a:ln w="12700">
            <a:solidFill>
              <a:srgbClr val="CFEB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A866"/>
                </a:solidFill>
              </a:rPr>
              <a:t>Có thể chấp nhận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8992" y="2084832"/>
            <a:ext cx="44805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384A"/>
                </a:solidFill>
              </a:rPr>
              <a:t>• Cảm giác khô nhẹ hoặc căng nhẹ 1–2 ngày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384A"/>
                </a:solidFill>
              </a:rPr>
              <a:t>• Bong mịn ít, không rát kéo dài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384A"/>
                </a:solidFill>
              </a:rPr>
              <a:t>• Da hơi nhạy hơn nhưng giảm sau khi dưỡng ẩm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384A"/>
                </a:solidFill>
              </a:rPr>
              <a:t>• Bề mặt da dần mịn và sáng hơn khi dùng đúng nhịp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FF6F7"/>
          </a:solidFill>
          <a:ln w="12700">
            <a:solidFill>
              <a:srgbClr val="F1D4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11226"/>
                </a:solidFill>
              </a:rPr>
              <a:t>Cần giảm tần suất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56832" y="2084832"/>
            <a:ext cx="44805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384A"/>
                </a:solidFill>
              </a:rPr>
              <a:t>• Khô căng nhiều, đỏ, rát hoặc bong mảng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384A"/>
                </a:solidFill>
              </a:rPr>
              <a:t>• Châm chích kéo dài sau khi bôi dưỡng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384A"/>
                </a:solidFill>
              </a:rPr>
              <a:t>• Da nóng, khó chịu hoặc nhạy cảm rõ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384A"/>
                </a:solidFill>
              </a:rPr>
              <a:t>• Khách dùng sai lượng, dùng liên tục quá sớm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0" y="5632704"/>
            <a:ext cx="8183880" cy="594360"/>
          </a:xfrm>
          <a:prstGeom prst="roundRect">
            <a:avLst>
              <a:gd name="adj" fmla="val 12308"/>
            </a:avLst>
          </a:prstGeom>
          <a:solidFill>
            <a:srgbClr val="EEF7FF"/>
          </a:solidFill>
          <a:ln w="12700">
            <a:solidFill>
              <a:srgbClr val="CFE8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582472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E66"/>
                </a:solidFill>
              </a:rPr>
              <a:t>Xử lý: ngưng Retinal 3–5 ngày hoặc giảm về 1–2 lần/tuần, tăng B5 + tế bào gốc + kem dưỡng phục hồi, chỉ tăng lại khi da ổn.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620256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</a:rPr>
              <a:t>DR.CGF Retinal Protocol Training  •  9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69494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tư vấn 5 bước trước khi bán phác đồ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Mục tiêu là cá nhân hóa tần suất, tránh khách tự dùng sai và giúp theo dõi kết quả.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438912" cy="438912"/>
          </a:xfrm>
          <a:prstGeom prst="ellipse">
            <a:avLst/>
          </a:prstGeom>
          <a:solidFill>
            <a:srgbClr val="B11226"/>
          </a:solidFill>
          <a:ln w="12700">
            <a:solidFill>
              <a:srgbClr val="B11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38203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1430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23E66"/>
                </a:solidFill>
              </a:rPr>
              <a:t>Sàng lọc da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3520440" y="11430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9384A"/>
                </a:solidFill>
              </a:rPr>
              <a:t>Hỏi tình trạng khô, đỏ, kích ứng, đang dùng acid/retinoid hay thuốc bôi.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822960" y="2148840"/>
            <a:ext cx="438912" cy="438912"/>
          </a:xfrm>
          <a:prstGeom prst="ellipse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9037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1031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23E66"/>
                </a:solidFill>
              </a:rPr>
              <a:t>Giải thích kỳ vọng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3520440" y="21031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9384A"/>
                </a:solidFill>
              </a:rPr>
              <a:t>Retinal cải thiện từ từ; không hứa trắng nhanh, không ép bong.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22960" y="3108960"/>
            <a:ext cx="438912" cy="438912"/>
          </a:xfrm>
          <a:prstGeom prst="ellipse">
            <a:avLst/>
          </a:prstGeom>
          <a:solidFill>
            <a:srgbClr val="B11226"/>
          </a:solidFill>
          <a:ln w="12700">
            <a:solidFill>
              <a:srgbClr val="B112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58443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0632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23E66"/>
                </a:solidFill>
              </a:rPr>
              <a:t>Chọn giai đoạn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3520440" y="30632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9384A"/>
                </a:solidFill>
              </a:rPr>
              <a:t>Da mới dùng bắt đầu GĐ1; da khỏe có thể tùy chỉnh nhưng vẫn theo nguyên tắc tăng chậm.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22960" y="4069080"/>
            <a:ext cx="438912" cy="438912"/>
          </a:xfrm>
          <a:prstGeom prst="ellipse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02661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0233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23E66"/>
                </a:solidFill>
              </a:rPr>
              <a:t>Hướng dẫn lượng dùng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3520440" y="40233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9384A"/>
                </a:solidFill>
              </a:rPr>
              <a:t>Lượng hạt đậu xanh toàn mặt; bôi khi da khô; không bôi sát mắt/khóe mũi nếu nhạy.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22960" y="5029200"/>
            <a:ext cx="438912" cy="438912"/>
          </a:xfrm>
          <a:prstGeom prst="ellipse">
            <a:avLst/>
          </a:prstGeom>
          <a:solidFill>
            <a:srgbClr val="B11226"/>
          </a:solidFill>
          <a:ln w="12700">
            <a:solidFill>
              <a:srgbClr val="B112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178683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9834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23E66"/>
                </a:solidFill>
              </a:rPr>
              <a:t>Hẹn theo dõi</a:t>
            </a:r>
            <a:endParaRPr lang="en-US" sz="1380" dirty="0"/>
          </a:p>
        </p:txBody>
      </p:sp>
      <p:sp>
        <p:nvSpPr>
          <p:cNvPr id="24" name="Text 22"/>
          <p:cNvSpPr/>
          <p:nvPr/>
        </p:nvSpPr>
        <p:spPr>
          <a:xfrm>
            <a:off x="3520440" y="498348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9384A"/>
                </a:solidFill>
              </a:rPr>
              <a:t>Sau 7–14 ngày kiểm tra khô căng, đỏ rát, bong và mức độ tuân thủ chống nắng.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548640" y="6620256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</a:rPr>
              <a:t>DR.CGF Retinal Protocol Training  •  10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11226"/>
          </a:solidFill>
          <a:ln w="12700">
            <a:solidFill>
              <a:srgbClr val="B11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69494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kỹ thuật: các điểm ảnh hưởng trực tiếp đến kết quả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100126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Dùng cho đội ngũ tư vấn, kỹ thuật viên và nhân sự chăm sóc sau bán.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42875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8D0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1163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11226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29918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23E66"/>
                </a:solidFill>
              </a:rPr>
              <a:t>Đúng tần suất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033272" y="2087118"/>
            <a:ext cx="26974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9384A"/>
                </a:solidFill>
              </a:rPr>
              <a:t>GĐ1: 2 lần/tuần • GĐ2: 3 lần/tuần • GĐ3: 3–5 lần/tuần nếu da dung nạp.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42875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8D0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61163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11226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629918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23E66"/>
                </a:solidFill>
              </a:rPr>
              <a:t>Đúng lượng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736592" y="2087118"/>
            <a:ext cx="26974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9384A"/>
                </a:solidFill>
              </a:rPr>
              <a:t>Một lượng bằng hạt đậu xanh cho toàn mặt; không tăng lượng để mong nhanh hiệu quả.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142875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8D0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61163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11226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32520" y="1629918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23E66"/>
                </a:solidFill>
              </a:rPr>
              <a:t>Đúng thời điểm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439912" y="2087118"/>
            <a:ext cx="26974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9384A"/>
                </a:solidFill>
              </a:rPr>
              <a:t>Buổi tối, trên nền da khô. Ban ngày bắt buộc chống nắng.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398907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8D0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417195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11226"/>
                </a:solidFill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0400" y="4190238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23E66"/>
                </a:solidFill>
              </a:rPr>
              <a:t>Đúng phục hồi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2907792" y="4647438"/>
            <a:ext cx="26974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9384A"/>
                </a:solidFill>
              </a:rPr>
              <a:t>B5 + tế bào gốc + kem dưỡng phục hồi trong các tối nghỉ Retinal.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398907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8D0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417195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11226"/>
                </a:solidFill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190238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23E66"/>
                </a:solidFill>
              </a:rPr>
              <a:t>Đúng theo dõi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6931152" y="4647438"/>
            <a:ext cx="26974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9384A"/>
                </a:solidFill>
              </a:rPr>
              <a:t>Nếu khô căng, đỏ rát, bong nhiều: giảm tần suất và phục hồi 3–5 ngày.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620256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</a:rPr>
              <a:t>DR.CGF Retinal Protocol Training  •  11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69494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đào tạo: công thức vận hành phác đồ Retinal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106328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Nhấn mạnh điều cần nhớ khi hướng dẫn khách hàng dùng tại nhà.</a:t>
            </a:r>
            <a:endParaRPr lang="en-US" sz="1050" dirty="0"/>
          </a:p>
        </p:txBody>
      </p:sp>
      <p:pic>
        <p:nvPicPr>
          <p:cNvPr id="5" name="Image 0" descr="/mnt/data/2C79D759-55B5-4B7B-84F2-FA065B16E547.jpeg"/>
          <p:cNvPicPr>
            <a:picLocks noChangeAspect="1"/>
          </p:cNvPicPr>
          <p:nvPr/>
        </p:nvPicPr>
        <p:blipFill>
          <a:blip r:embed="rId3"/>
          <a:srcRect l="9091" r="9091"/>
          <a:stretch/>
        </p:blipFill>
        <p:spPr>
          <a:xfrm>
            <a:off x="731520" y="1625644"/>
            <a:ext cx="164592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692188"/>
            <a:ext cx="1645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Retinal</a:t>
            </a:r>
            <a:endParaRPr lang="en-US" sz="850" dirty="0"/>
          </a:p>
        </p:txBody>
      </p:sp>
      <p:pic>
        <p:nvPicPr>
          <p:cNvPr id="7" name="Image 1" descr="/mnt/data/2CFCC963-E88F-43E5-BA65-140A8302A6F8.jpeg"/>
          <p:cNvPicPr>
            <a:picLocks noChangeAspect="1"/>
          </p:cNvPicPr>
          <p:nvPr/>
        </p:nvPicPr>
        <p:blipFill>
          <a:blip r:embed="rId4"/>
          <a:srcRect l="7526" r="7526"/>
          <a:stretch/>
        </p:blipFill>
        <p:spPr>
          <a:xfrm>
            <a:off x="2651760" y="1625644"/>
            <a:ext cx="1188720" cy="2103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51760" y="3783628"/>
            <a:ext cx="11887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B5</a:t>
            </a:r>
            <a:endParaRPr lang="en-US" sz="850" dirty="0"/>
          </a:p>
        </p:txBody>
      </p:sp>
      <p:pic>
        <p:nvPicPr>
          <p:cNvPr id="9" name="Image 2" descr="/mnt/data/DEAC73C2-9874-4DCD-A266-8A22FFDFE24A.jpeg"/>
          <p:cNvPicPr>
            <a:picLocks noChangeAspect="1"/>
          </p:cNvPicPr>
          <p:nvPr/>
        </p:nvPicPr>
        <p:blipFill>
          <a:blip r:embed="rId5"/>
          <a:srcRect l="338" r="338"/>
          <a:stretch/>
        </p:blipFill>
        <p:spPr>
          <a:xfrm>
            <a:off x="3977640" y="1744516"/>
            <a:ext cx="1417320" cy="1783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77640" y="3582460"/>
            <a:ext cx="1417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Healing</a:t>
            </a:r>
            <a:endParaRPr lang="en-US" sz="850" dirty="0"/>
          </a:p>
        </p:txBody>
      </p:sp>
      <p:pic>
        <p:nvPicPr>
          <p:cNvPr id="11" name="Image 3" descr="/mnt/data/A4BBF17C-9970-4DBE-8E87-7AD583ACF625.jpeg"/>
          <p:cNvPicPr>
            <a:picLocks noChangeAspect="1"/>
          </p:cNvPicPr>
          <p:nvPr/>
        </p:nvPicPr>
        <p:blipFill>
          <a:blip r:embed="rId6"/>
          <a:srcRect l="15761" r="15761"/>
          <a:stretch/>
        </p:blipFill>
        <p:spPr>
          <a:xfrm>
            <a:off x="5715000" y="1625644"/>
            <a:ext cx="960120" cy="21031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15000" y="3783628"/>
            <a:ext cx="960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384A"/>
                </a:solidFill>
              </a:rPr>
              <a:t>SPF50+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7406640" y="1442764"/>
            <a:ext cx="384048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7726680" y="17445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E66"/>
                </a:solidFill>
              </a:rPr>
              <a:t>3 nguyên tắc vàng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7845552" y="2357164"/>
            <a:ext cx="2971800" cy="14950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1100" b="1" dirty="0">
                <a:solidFill>
                  <a:srgbClr val="29384A"/>
                </a:solidFill>
              </a:rPr>
              <a:t>1. Tăng tần suất chậm, không tăng lượng.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b="1" dirty="0">
                <a:solidFill>
                  <a:srgbClr val="29384A"/>
                </a:solidFill>
              </a:rPr>
              <a:t>2. Phục hồi xen kẽ là bắt buộc, không phải tùy chọn.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b="1" dirty="0">
                <a:solidFill>
                  <a:srgbClr val="29384A"/>
                </a:solidFill>
              </a:rPr>
              <a:t>3. Chống nắng quyết định độ bền kết quả sắc tố.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7772400" y="3906774"/>
            <a:ext cx="3108960" cy="12938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B11226"/>
                </a:solidFill>
              </a:rPr>
              <a:t>Kết thúc bằng cam kết tư vấn: theo dõi da sau 7–14 ngày, điều chỉnh tần suất theo phản ứng thực tế của từng khách hàng.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1051560" y="560328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75BB"/>
                </a:solidFill>
              </a:rPr>
              <a:t>DR.CGF • Retinal Bakuchiol Cream Protocol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548640" y="6620256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</a:rPr>
              <a:t>DR.CGF Retinal Protocol Training  •  12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1718</Words>
  <Application>Microsoft Office PowerPoint</Application>
  <PresentationFormat>Widescreen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Thuần Hoa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Đào tạo phác đồ Retinal DR.CGF</dc:title>
  <dc:subject>PHÁC ĐỒ RETINAL DR.CGF</dc:subject>
  <dc:creator>DR.CGF Training</dc:creator>
  <cp:lastModifiedBy>Trọng Nguyễn Văn</cp:lastModifiedBy>
  <cp:revision>3</cp:revision>
  <dcterms:created xsi:type="dcterms:W3CDTF">2026-08-16T08:31:10Z</dcterms:created>
  <dcterms:modified xsi:type="dcterms:W3CDTF">2026-08-17T07:14:35Z</dcterms:modified>
</cp:coreProperties>
</file>
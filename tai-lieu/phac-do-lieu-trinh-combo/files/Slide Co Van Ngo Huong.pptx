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media/image7.jpg" ContentType="image/jp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8" r:id="rId3"/>
    <p:sldId id="259" r:id="rId4"/>
    <p:sldId id="260" r:id="rId5"/>
    <p:sldId id="267" r:id="rId6"/>
    <p:sldId id="276" r:id="rId7"/>
    <p:sldId id="265" r:id="rId8"/>
    <p:sldId id="438" r:id="rId9"/>
    <p:sldId id="277" r:id="rId10"/>
    <p:sldId id="274" r:id="rId11"/>
    <p:sldId id="275" r:id="rId12"/>
    <p:sldId id="329" r:id="rId13"/>
    <p:sldId id="435" r:id="rId14"/>
    <p:sldId id="330" r:id="rId15"/>
    <p:sldId id="280" r:id="rId16"/>
    <p:sldId id="436" r:id="rId17"/>
    <p:sldId id="437" r:id="rId18"/>
    <p:sldId id="281" r:id="rId19"/>
    <p:sldId id="440" r:id="rId20"/>
    <p:sldId id="439" r:id="rId21"/>
    <p:sldId id="441" r:id="rId22"/>
    <p:sldId id="442" r:id="rId23"/>
    <p:sldId id="313" r:id="rId24"/>
  </p:sldIdLst>
  <p:sldSz cx="18288000" cy="10287000"/>
  <p:notesSz cx="6858000" cy="9144000"/>
  <p:embeddedFontLst>
    <p:embeddedFont>
      <p:font typeface="Montserrat Bold" panose="020B0604020202020204" charset="0"/>
      <p:regular r:id="rId25"/>
      <p:bold r:id="rId26"/>
    </p:embeddedFont>
    <p:embeddedFont>
      <p:font typeface="Montserrat Bold Italics" panose="020B0604020202020204" charset="0"/>
      <p:regular r:id="rId27"/>
    </p:embeddedFont>
    <p:embeddedFont>
      <p:font typeface="Montserrat Italics" panose="020B0604020202020204" charset="0"/>
      <p:regular r:id="rId28"/>
    </p:embeddedFont>
    <p:embeddedFont>
      <p:font typeface="Montserrat Medium" panose="00000600000000000000" pitchFamily="2" charset="0"/>
      <p:regular r:id="rId29"/>
      <p:italic r:id="rId30"/>
    </p:embeddedFont>
    <p:embeddedFont>
      <p:font typeface="Montserrat Semi-Bold" panose="020B0604020202020204" charset="0"/>
      <p:regular r:id="rId31"/>
    </p:embeddedFont>
    <p:embeddedFont>
      <p:font typeface="Montserrat Ultra-Bold" panose="020B0604020202020204" charset="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5036" autoAdjust="0"/>
  </p:normalViewPr>
  <p:slideViewPr>
    <p:cSldViewPr>
      <p:cViewPr varScale="1">
        <p:scale>
          <a:sx n="78" d="100"/>
          <a:sy n="78" d="100"/>
        </p:scale>
        <p:origin x="354"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jp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9.jpe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4.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0.jp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811887"/>
            <a:ext cx="19731354" cy="11098887"/>
          </a:xfrm>
          <a:custGeom>
            <a:avLst/>
            <a:gdLst/>
            <a:ahLst/>
            <a:cxnLst/>
            <a:rect l="l" t="t" r="r" b="b"/>
            <a:pathLst>
              <a:path w="19731354" h="11098887">
                <a:moveTo>
                  <a:pt x="0" y="0"/>
                </a:moveTo>
                <a:lnTo>
                  <a:pt x="19731354" y="0"/>
                </a:lnTo>
                <a:lnTo>
                  <a:pt x="19731354" y="11098887"/>
                </a:lnTo>
                <a:lnTo>
                  <a:pt x="0" y="11098887"/>
                </a:lnTo>
                <a:lnTo>
                  <a:pt x="0" y="0"/>
                </a:lnTo>
                <a:close/>
              </a:path>
            </a:pathLst>
          </a:custGeom>
          <a:blipFill>
            <a:blip r:embed="rId2"/>
            <a:stretch>
              <a:fillRect/>
            </a:stretch>
          </a:blipFill>
        </p:spPr>
        <p:txBody>
          <a:bodyPr/>
          <a:lstStyle/>
          <a:p>
            <a:endParaRPr lang="en-US"/>
          </a:p>
        </p:txBody>
      </p:sp>
      <p:sp>
        <p:nvSpPr>
          <p:cNvPr id="3" name="AutoShape 3"/>
          <p:cNvSpPr/>
          <p:nvPr/>
        </p:nvSpPr>
        <p:spPr>
          <a:xfrm>
            <a:off x="1028700" y="6695142"/>
            <a:ext cx="10570559" cy="0"/>
          </a:xfrm>
          <a:prstGeom prst="line">
            <a:avLst/>
          </a:prstGeom>
          <a:ln w="85725" cap="flat">
            <a:solidFill>
              <a:srgbClr val="000000"/>
            </a:solidFill>
            <a:prstDash val="solid"/>
            <a:headEnd type="none" w="sm" len="sm"/>
            <a:tailEnd type="none" w="sm" len="sm"/>
          </a:ln>
        </p:spPr>
      </p:sp>
      <p:grpSp>
        <p:nvGrpSpPr>
          <p:cNvPr id="4" name="Group 4"/>
          <p:cNvGrpSpPr/>
          <p:nvPr/>
        </p:nvGrpSpPr>
        <p:grpSpPr>
          <a:xfrm>
            <a:off x="1028700" y="395218"/>
            <a:ext cx="4105545" cy="955506"/>
            <a:chOff x="0" y="0"/>
            <a:chExt cx="5474060" cy="1274008"/>
          </a:xfrm>
        </p:grpSpPr>
        <p:sp>
          <p:nvSpPr>
            <p:cNvPr id="5" name="Freeform 5"/>
            <p:cNvSpPr/>
            <p:nvPr/>
          </p:nvSpPr>
          <p:spPr>
            <a:xfrm>
              <a:off x="0" y="0"/>
              <a:ext cx="2937194" cy="1274008"/>
            </a:xfrm>
            <a:custGeom>
              <a:avLst/>
              <a:gdLst/>
              <a:ahLst/>
              <a:cxnLst/>
              <a:rect l="l" t="t" r="r" b="b"/>
              <a:pathLst>
                <a:path w="2937194" h="1274008">
                  <a:moveTo>
                    <a:pt x="0" y="0"/>
                  </a:moveTo>
                  <a:lnTo>
                    <a:pt x="2937194" y="0"/>
                  </a:lnTo>
                  <a:lnTo>
                    <a:pt x="2937194" y="1274008"/>
                  </a:lnTo>
                  <a:lnTo>
                    <a:pt x="0" y="1274008"/>
                  </a:lnTo>
                  <a:lnTo>
                    <a:pt x="0" y="0"/>
                  </a:lnTo>
                  <a:close/>
                </a:path>
              </a:pathLst>
            </a:custGeom>
            <a:blipFill>
              <a:blip r:embed="rId3"/>
              <a:stretch>
                <a:fillRect/>
              </a:stretch>
            </a:blipFill>
          </p:spPr>
        </p:sp>
        <p:sp>
          <p:nvSpPr>
            <p:cNvPr id="6" name="Freeform 6"/>
            <p:cNvSpPr/>
            <p:nvPr/>
          </p:nvSpPr>
          <p:spPr>
            <a:xfrm>
              <a:off x="3134311" y="224397"/>
              <a:ext cx="2339750" cy="1036911"/>
            </a:xfrm>
            <a:custGeom>
              <a:avLst/>
              <a:gdLst/>
              <a:ahLst/>
              <a:cxnLst/>
              <a:rect l="l" t="t" r="r" b="b"/>
              <a:pathLst>
                <a:path w="2339750" h="1036911">
                  <a:moveTo>
                    <a:pt x="0" y="0"/>
                  </a:moveTo>
                  <a:lnTo>
                    <a:pt x="2339749" y="0"/>
                  </a:lnTo>
                  <a:lnTo>
                    <a:pt x="2339749" y="1036911"/>
                  </a:lnTo>
                  <a:lnTo>
                    <a:pt x="0" y="1036911"/>
                  </a:lnTo>
                  <a:lnTo>
                    <a:pt x="0" y="0"/>
                  </a:lnTo>
                  <a:close/>
                </a:path>
              </a:pathLst>
            </a:custGeom>
            <a:blipFill>
              <a:blip r:embed="rId4"/>
              <a:stretch>
                <a:fillRect l="-8002" t="-69970" b="-73732"/>
              </a:stretch>
            </a:blipFill>
          </p:spPr>
        </p:sp>
      </p:grpSp>
      <p:sp>
        <p:nvSpPr>
          <p:cNvPr id="7" name="TextBox 7"/>
          <p:cNvSpPr txBox="1"/>
          <p:nvPr/>
        </p:nvSpPr>
        <p:spPr>
          <a:xfrm>
            <a:off x="13047637" y="1153842"/>
            <a:ext cx="2954363" cy="262251"/>
          </a:xfrm>
          <a:prstGeom prst="rect">
            <a:avLst/>
          </a:prstGeom>
        </p:spPr>
        <p:txBody>
          <a:bodyPr wrap="square" lIns="0" tIns="0" rIns="0" bIns="0" rtlCol="0" anchor="t">
            <a:spAutoFit/>
          </a:bodyPr>
          <a:lstStyle/>
          <a:p>
            <a:pPr algn="ctr">
              <a:lnSpc>
                <a:spcPts val="2239"/>
              </a:lnSpc>
              <a:spcBef>
                <a:spcPct val="0"/>
              </a:spcBef>
            </a:pPr>
            <a:r>
              <a:rPr lang="en-US" sz="1599" i="1">
                <a:solidFill>
                  <a:srgbClr val="000000"/>
                </a:solidFill>
                <a:latin typeface="Montserrat Italics"/>
                <a:ea typeface="Montserrat Italics"/>
                <a:cs typeface="Montserrat Italics"/>
                <a:sym typeface="Montserrat Italics"/>
              </a:rPr>
              <a:t>THUẦN HOA GROUP</a:t>
            </a:r>
          </a:p>
        </p:txBody>
      </p:sp>
      <p:sp>
        <p:nvSpPr>
          <p:cNvPr id="8" name="TextBox 8"/>
          <p:cNvSpPr txBox="1"/>
          <p:nvPr/>
        </p:nvSpPr>
        <p:spPr>
          <a:xfrm>
            <a:off x="1028699" y="3396596"/>
            <a:ext cx="10706101" cy="2691250"/>
          </a:xfrm>
          <a:prstGeom prst="rect">
            <a:avLst/>
          </a:prstGeom>
        </p:spPr>
        <p:txBody>
          <a:bodyPr wrap="square" lIns="0" tIns="0" rIns="0" bIns="0" rtlCol="0" anchor="t">
            <a:spAutoFit/>
          </a:bodyPr>
          <a:lstStyle/>
          <a:p>
            <a:pPr algn="l">
              <a:lnSpc>
                <a:spcPts val="11303"/>
              </a:lnSpc>
              <a:spcBef>
                <a:spcPct val="0"/>
              </a:spcBef>
            </a:pPr>
            <a:r>
              <a:rPr lang="en-US" sz="4900" b="1">
                <a:solidFill>
                  <a:srgbClr val="000000"/>
                </a:solidFill>
                <a:latin typeface="Montserrat Ultra-Bold"/>
                <a:ea typeface="Montserrat Ultra-Bold"/>
                <a:cs typeface="Montserrat Ultra-Bold"/>
                <a:sym typeface="Montserrat Ultra-Bold"/>
              </a:rPr>
              <a:t>DR.CGF ĐỐI TÁC CHIẾN LƯỢC VÀ SẢN PHẨM CHỦ ĐẠO</a:t>
            </a:r>
          </a:p>
        </p:txBody>
      </p:sp>
      <p:pic>
        <p:nvPicPr>
          <p:cNvPr id="10" name="Picture 9">
            <a:extLst>
              <a:ext uri="{FF2B5EF4-FFF2-40B4-BE49-F238E27FC236}">
                <a16:creationId xmlns:a16="http://schemas.microsoft.com/office/drawing/2014/main" id="{68C272E8-DCA1-42E7-8B46-4839F9B539C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268200" y="2247900"/>
            <a:ext cx="7041075" cy="800922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2">
            <a:extLst>
              <a:ext uri="{FF2B5EF4-FFF2-40B4-BE49-F238E27FC236}">
                <a16:creationId xmlns:a16="http://schemas.microsoft.com/office/drawing/2014/main" id="{F7FA6B8B-9988-EAD4-8FF1-C0F8A3EDE303}"/>
              </a:ext>
            </a:extLst>
          </p:cNvPr>
          <p:cNvGrpSpPr/>
          <p:nvPr/>
        </p:nvGrpSpPr>
        <p:grpSpPr>
          <a:xfrm>
            <a:off x="1028700" y="395218"/>
            <a:ext cx="17259300" cy="1078533"/>
            <a:chOff x="0" y="0"/>
            <a:chExt cx="23012400" cy="1438044"/>
          </a:xfrm>
        </p:grpSpPr>
        <p:sp>
          <p:nvSpPr>
            <p:cNvPr id="11" name="Freeform 3">
              <a:extLst>
                <a:ext uri="{FF2B5EF4-FFF2-40B4-BE49-F238E27FC236}">
                  <a16:creationId xmlns:a16="http://schemas.microsoft.com/office/drawing/2014/main" id="{192F007E-CEBB-24A0-2334-60FFF9026876}"/>
                </a:ext>
              </a:extLst>
            </p:cNvPr>
            <p:cNvSpPr/>
            <p:nvPr/>
          </p:nvSpPr>
          <p:spPr>
            <a:xfrm>
              <a:off x="0" y="0"/>
              <a:ext cx="2937194" cy="1274008"/>
            </a:xfrm>
            <a:custGeom>
              <a:avLst/>
              <a:gdLst/>
              <a:ahLst/>
              <a:cxnLst/>
              <a:rect l="l" t="t" r="r" b="b"/>
              <a:pathLst>
                <a:path w="2937194" h="1274008">
                  <a:moveTo>
                    <a:pt x="0" y="0"/>
                  </a:moveTo>
                  <a:lnTo>
                    <a:pt x="2937194" y="0"/>
                  </a:lnTo>
                  <a:lnTo>
                    <a:pt x="2937194" y="1274008"/>
                  </a:lnTo>
                  <a:lnTo>
                    <a:pt x="0" y="1274008"/>
                  </a:lnTo>
                  <a:lnTo>
                    <a:pt x="0" y="0"/>
                  </a:lnTo>
                  <a:close/>
                </a:path>
              </a:pathLst>
            </a:custGeom>
            <a:blipFill>
              <a:blip r:embed="rId2"/>
              <a:stretch>
                <a:fillRect/>
              </a:stretch>
            </a:blipFill>
          </p:spPr>
        </p:sp>
        <p:sp>
          <p:nvSpPr>
            <p:cNvPr id="12" name="Freeform 4">
              <a:extLst>
                <a:ext uri="{FF2B5EF4-FFF2-40B4-BE49-F238E27FC236}">
                  <a16:creationId xmlns:a16="http://schemas.microsoft.com/office/drawing/2014/main" id="{3CBC7F2D-D5CE-E652-78DB-AE7CBA98312A}"/>
                </a:ext>
              </a:extLst>
            </p:cNvPr>
            <p:cNvSpPr/>
            <p:nvPr/>
          </p:nvSpPr>
          <p:spPr>
            <a:xfrm>
              <a:off x="3134311" y="224397"/>
              <a:ext cx="2339750" cy="1036911"/>
            </a:xfrm>
            <a:custGeom>
              <a:avLst/>
              <a:gdLst/>
              <a:ahLst/>
              <a:cxnLst/>
              <a:rect l="l" t="t" r="r" b="b"/>
              <a:pathLst>
                <a:path w="2339750" h="1036911">
                  <a:moveTo>
                    <a:pt x="0" y="0"/>
                  </a:moveTo>
                  <a:lnTo>
                    <a:pt x="2339749" y="0"/>
                  </a:lnTo>
                  <a:lnTo>
                    <a:pt x="2339749" y="1036911"/>
                  </a:lnTo>
                  <a:lnTo>
                    <a:pt x="0" y="1036911"/>
                  </a:lnTo>
                  <a:lnTo>
                    <a:pt x="0" y="0"/>
                  </a:lnTo>
                  <a:close/>
                </a:path>
              </a:pathLst>
            </a:custGeom>
            <a:blipFill>
              <a:blip r:embed="rId3"/>
              <a:stretch>
                <a:fillRect l="-8002" t="-69970" b="-73732"/>
              </a:stretch>
            </a:blipFill>
          </p:spPr>
        </p:sp>
        <p:sp>
          <p:nvSpPr>
            <p:cNvPr id="13" name="AutoShape 5">
              <a:extLst>
                <a:ext uri="{FF2B5EF4-FFF2-40B4-BE49-F238E27FC236}">
                  <a16:creationId xmlns:a16="http://schemas.microsoft.com/office/drawing/2014/main" id="{54C485B5-D75D-FABC-FEB3-15AD0ABE81DD}"/>
                </a:ext>
              </a:extLst>
            </p:cNvPr>
            <p:cNvSpPr/>
            <p:nvPr/>
          </p:nvSpPr>
          <p:spPr>
            <a:xfrm flipV="1">
              <a:off x="16552532" y="1299408"/>
              <a:ext cx="6459868" cy="0"/>
            </a:xfrm>
            <a:prstGeom prst="line">
              <a:avLst/>
            </a:prstGeom>
            <a:ln w="25400" cap="flat">
              <a:solidFill>
                <a:srgbClr val="000000"/>
              </a:solidFill>
              <a:prstDash val="solid"/>
              <a:headEnd type="none" w="sm" len="sm"/>
              <a:tailEnd type="none" w="sm" len="sm"/>
            </a:ln>
          </p:spPr>
        </p:sp>
        <p:sp>
          <p:nvSpPr>
            <p:cNvPr id="14" name="TextBox 6">
              <a:extLst>
                <a:ext uri="{FF2B5EF4-FFF2-40B4-BE49-F238E27FC236}">
                  <a16:creationId xmlns:a16="http://schemas.microsoft.com/office/drawing/2014/main" id="{C130F405-1FB4-D70A-4D1F-AFDE0FF92A35}"/>
                </a:ext>
              </a:extLst>
            </p:cNvPr>
            <p:cNvSpPr txBox="1"/>
            <p:nvPr/>
          </p:nvSpPr>
          <p:spPr>
            <a:xfrm>
              <a:off x="12954000" y="1088377"/>
              <a:ext cx="3934687" cy="349667"/>
            </a:xfrm>
            <a:prstGeom prst="rect">
              <a:avLst/>
            </a:prstGeom>
          </p:spPr>
          <p:txBody>
            <a:bodyPr wrap="square" lIns="0" tIns="0" rIns="0" bIns="0" rtlCol="0" anchor="t">
              <a:spAutoFit/>
            </a:bodyPr>
            <a:lstStyle/>
            <a:p>
              <a:pPr algn="ctr">
                <a:lnSpc>
                  <a:spcPts val="2239"/>
                </a:lnSpc>
                <a:spcBef>
                  <a:spcPct val="0"/>
                </a:spcBef>
              </a:pPr>
              <a:r>
                <a:rPr lang="en-US" sz="1599" b="1" i="1">
                  <a:solidFill>
                    <a:srgbClr val="000000"/>
                  </a:solidFill>
                  <a:latin typeface="Montserrat Semi-Bold" panose="020B0604020202020204" charset="0"/>
                  <a:ea typeface="Montserrat Medium Italics"/>
                  <a:cs typeface="Montserrat Medium Italics"/>
                  <a:sym typeface="Montserrat Medium Italics"/>
                </a:rPr>
                <a:t>THUẦN HOA GROUP</a:t>
              </a:r>
            </a:p>
          </p:txBody>
        </p:sp>
      </p:grpSp>
      <p:pic>
        <p:nvPicPr>
          <p:cNvPr id="1026" name="Picture 2" descr="Hình ảnh hợp tác thành công 3D sáng tạo đẹp ">
            <a:extLst>
              <a:ext uri="{FF2B5EF4-FFF2-40B4-BE49-F238E27FC236}">
                <a16:creationId xmlns:a16="http://schemas.microsoft.com/office/drawing/2014/main" id="{42B8E5D8-0EE9-4BF6-964C-A4B3ED6F9F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400" y="2857500"/>
            <a:ext cx="6451600" cy="74295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A7A5C80F-9B1E-4A53-995A-5ECEE8A40154}"/>
              </a:ext>
            </a:extLst>
          </p:cNvPr>
          <p:cNvPicPr>
            <a:picLocks noChangeAspect="1"/>
          </p:cNvPicPr>
          <p:nvPr/>
        </p:nvPicPr>
        <p:blipFill>
          <a:blip r:embed="rId5"/>
          <a:stretch>
            <a:fillRect/>
          </a:stretch>
        </p:blipFill>
        <p:spPr>
          <a:xfrm>
            <a:off x="6477000" y="3848100"/>
            <a:ext cx="11455377" cy="19143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Nhóm 24">
            <a:extLst>
              <a:ext uri="{FF2B5EF4-FFF2-40B4-BE49-F238E27FC236}">
                <a16:creationId xmlns:a16="http://schemas.microsoft.com/office/drawing/2014/main" id="{9874BF9F-DA67-F4EE-59E5-B3D9672C8067}"/>
              </a:ext>
            </a:extLst>
          </p:cNvPr>
          <p:cNvGrpSpPr/>
          <p:nvPr/>
        </p:nvGrpSpPr>
        <p:grpSpPr>
          <a:xfrm>
            <a:off x="1028700" y="2177499"/>
            <a:ext cx="7610841" cy="7484896"/>
            <a:chOff x="1028700" y="2177499"/>
            <a:chExt cx="7610841" cy="7484896"/>
          </a:xfrm>
        </p:grpSpPr>
        <p:grpSp>
          <p:nvGrpSpPr>
            <p:cNvPr id="7" name="Group 7"/>
            <p:cNvGrpSpPr/>
            <p:nvPr/>
          </p:nvGrpSpPr>
          <p:grpSpPr>
            <a:xfrm>
              <a:off x="1028700" y="2177499"/>
              <a:ext cx="7610841" cy="3732923"/>
              <a:chOff x="0" y="0"/>
              <a:chExt cx="2006866" cy="984316"/>
            </a:xfrm>
          </p:grpSpPr>
          <p:sp>
            <p:nvSpPr>
              <p:cNvPr id="8" name="Freeform 8"/>
              <p:cNvSpPr/>
              <p:nvPr/>
            </p:nvSpPr>
            <p:spPr>
              <a:xfrm>
                <a:off x="0" y="0"/>
                <a:ext cx="2006865" cy="984316"/>
              </a:xfrm>
              <a:custGeom>
                <a:avLst/>
                <a:gdLst/>
                <a:ahLst/>
                <a:cxnLst/>
                <a:rect l="l" t="t" r="r" b="b"/>
                <a:pathLst>
                  <a:path w="2006865" h="984316">
                    <a:moveTo>
                      <a:pt x="2006865" y="0"/>
                    </a:moveTo>
                    <a:lnTo>
                      <a:pt x="2006865" y="984316"/>
                    </a:lnTo>
                    <a:lnTo>
                      <a:pt x="0" y="984316"/>
                    </a:lnTo>
                    <a:lnTo>
                      <a:pt x="0" y="0"/>
                    </a:lnTo>
                    <a:close/>
                  </a:path>
                </a:pathLst>
              </a:custGeom>
              <a:solidFill>
                <a:srgbClr val="5156A1"/>
              </a:solidFill>
              <a:ln cap="sq">
                <a:noFill/>
                <a:prstDash val="solid"/>
                <a:miter/>
              </a:ln>
            </p:spPr>
          </p:sp>
          <p:sp>
            <p:nvSpPr>
              <p:cNvPr id="9" name="TextBox 9"/>
              <p:cNvSpPr txBox="1"/>
              <p:nvPr/>
            </p:nvSpPr>
            <p:spPr>
              <a:xfrm>
                <a:off x="0" y="-28575"/>
                <a:ext cx="2006866" cy="1012891"/>
              </a:xfrm>
              <a:prstGeom prst="rect">
                <a:avLst/>
              </a:prstGeom>
            </p:spPr>
            <p:txBody>
              <a:bodyPr lIns="50800" tIns="50800" rIns="50800" bIns="50800" rtlCol="0" anchor="ctr"/>
              <a:lstStyle/>
              <a:p>
                <a:pPr algn="ctr">
                  <a:lnSpc>
                    <a:spcPts val="2239"/>
                  </a:lnSpc>
                </a:pPr>
                <a:endParaRPr/>
              </a:p>
            </p:txBody>
          </p:sp>
        </p:grpSp>
        <p:grpSp>
          <p:nvGrpSpPr>
            <p:cNvPr id="10" name="Group 10"/>
            <p:cNvGrpSpPr/>
            <p:nvPr/>
          </p:nvGrpSpPr>
          <p:grpSpPr>
            <a:xfrm>
              <a:off x="1028700" y="5929472"/>
              <a:ext cx="7610841" cy="3732923"/>
              <a:chOff x="0" y="0"/>
              <a:chExt cx="2006866" cy="984316"/>
            </a:xfrm>
          </p:grpSpPr>
          <p:sp>
            <p:nvSpPr>
              <p:cNvPr id="11" name="Freeform 11"/>
              <p:cNvSpPr/>
              <p:nvPr/>
            </p:nvSpPr>
            <p:spPr>
              <a:xfrm>
                <a:off x="0" y="0"/>
                <a:ext cx="2006865" cy="984316"/>
              </a:xfrm>
              <a:custGeom>
                <a:avLst/>
                <a:gdLst/>
                <a:ahLst/>
                <a:cxnLst/>
                <a:rect l="l" t="t" r="r" b="b"/>
                <a:pathLst>
                  <a:path w="2006865" h="984316">
                    <a:moveTo>
                      <a:pt x="2006865" y="0"/>
                    </a:moveTo>
                    <a:lnTo>
                      <a:pt x="2006865" y="984316"/>
                    </a:lnTo>
                    <a:lnTo>
                      <a:pt x="0" y="984316"/>
                    </a:lnTo>
                    <a:lnTo>
                      <a:pt x="0" y="0"/>
                    </a:lnTo>
                    <a:close/>
                  </a:path>
                </a:pathLst>
              </a:custGeom>
              <a:solidFill>
                <a:srgbClr val="FFFFFF"/>
              </a:solidFill>
              <a:ln w="19050" cap="sq">
                <a:solidFill>
                  <a:srgbClr val="000000"/>
                </a:solidFill>
                <a:prstDash val="solid"/>
                <a:miter/>
              </a:ln>
            </p:spPr>
          </p:sp>
          <p:sp>
            <p:nvSpPr>
              <p:cNvPr id="12" name="TextBox 12"/>
              <p:cNvSpPr txBox="1"/>
              <p:nvPr/>
            </p:nvSpPr>
            <p:spPr>
              <a:xfrm>
                <a:off x="0" y="-28575"/>
                <a:ext cx="2006866" cy="1012891"/>
              </a:xfrm>
              <a:prstGeom prst="rect">
                <a:avLst/>
              </a:prstGeom>
            </p:spPr>
            <p:txBody>
              <a:bodyPr lIns="50800" tIns="50800" rIns="50800" bIns="50800" rtlCol="0" anchor="ctr"/>
              <a:lstStyle/>
              <a:p>
                <a:pPr algn="ctr">
                  <a:lnSpc>
                    <a:spcPts val="2239"/>
                  </a:lnSpc>
                </a:pPr>
                <a:endParaRPr/>
              </a:p>
            </p:txBody>
          </p:sp>
        </p:grpSp>
      </p:grpSp>
      <p:grpSp>
        <p:nvGrpSpPr>
          <p:cNvPr id="26" name="Nhóm 25">
            <a:extLst>
              <a:ext uri="{FF2B5EF4-FFF2-40B4-BE49-F238E27FC236}">
                <a16:creationId xmlns:a16="http://schemas.microsoft.com/office/drawing/2014/main" id="{F4D46D76-ACBC-029B-2946-39046335E3DD}"/>
              </a:ext>
            </a:extLst>
          </p:cNvPr>
          <p:cNvGrpSpPr/>
          <p:nvPr/>
        </p:nvGrpSpPr>
        <p:grpSpPr>
          <a:xfrm>
            <a:off x="9648459" y="2167974"/>
            <a:ext cx="7610841" cy="7475371"/>
            <a:chOff x="9648459" y="2167974"/>
            <a:chExt cx="7610841" cy="7475371"/>
          </a:xfrm>
        </p:grpSpPr>
        <p:grpSp>
          <p:nvGrpSpPr>
            <p:cNvPr id="13" name="Group 13"/>
            <p:cNvGrpSpPr/>
            <p:nvPr/>
          </p:nvGrpSpPr>
          <p:grpSpPr>
            <a:xfrm>
              <a:off x="9648459" y="2167974"/>
              <a:ext cx="7610841" cy="3732923"/>
              <a:chOff x="0" y="0"/>
              <a:chExt cx="2006866" cy="984316"/>
            </a:xfrm>
          </p:grpSpPr>
          <p:sp>
            <p:nvSpPr>
              <p:cNvPr id="14" name="Freeform 14"/>
              <p:cNvSpPr/>
              <p:nvPr/>
            </p:nvSpPr>
            <p:spPr>
              <a:xfrm>
                <a:off x="0" y="0"/>
                <a:ext cx="2006865" cy="984316"/>
              </a:xfrm>
              <a:custGeom>
                <a:avLst/>
                <a:gdLst/>
                <a:ahLst/>
                <a:cxnLst/>
                <a:rect l="l" t="t" r="r" b="b"/>
                <a:pathLst>
                  <a:path w="2006865" h="984316">
                    <a:moveTo>
                      <a:pt x="2006865" y="0"/>
                    </a:moveTo>
                    <a:lnTo>
                      <a:pt x="2006865" y="984316"/>
                    </a:lnTo>
                    <a:lnTo>
                      <a:pt x="0" y="984316"/>
                    </a:lnTo>
                    <a:lnTo>
                      <a:pt x="0" y="0"/>
                    </a:lnTo>
                    <a:close/>
                  </a:path>
                </a:pathLst>
              </a:custGeom>
              <a:solidFill>
                <a:srgbClr val="FFFFFF"/>
              </a:solidFill>
              <a:ln w="19050" cap="sq">
                <a:solidFill>
                  <a:srgbClr val="000000"/>
                </a:solidFill>
                <a:prstDash val="solid"/>
                <a:miter/>
              </a:ln>
            </p:spPr>
          </p:sp>
          <p:sp>
            <p:nvSpPr>
              <p:cNvPr id="15" name="TextBox 15"/>
              <p:cNvSpPr txBox="1"/>
              <p:nvPr/>
            </p:nvSpPr>
            <p:spPr>
              <a:xfrm>
                <a:off x="0" y="-28575"/>
                <a:ext cx="2006866" cy="1012891"/>
              </a:xfrm>
              <a:prstGeom prst="rect">
                <a:avLst/>
              </a:prstGeom>
            </p:spPr>
            <p:txBody>
              <a:bodyPr lIns="50800" tIns="50800" rIns="50800" bIns="50800" rtlCol="0" anchor="ctr"/>
              <a:lstStyle/>
              <a:p>
                <a:pPr algn="ctr">
                  <a:lnSpc>
                    <a:spcPts val="2239"/>
                  </a:lnSpc>
                </a:pPr>
                <a:endParaRPr/>
              </a:p>
            </p:txBody>
          </p:sp>
        </p:grpSp>
        <p:grpSp>
          <p:nvGrpSpPr>
            <p:cNvPr id="16" name="Group 16"/>
            <p:cNvGrpSpPr/>
            <p:nvPr/>
          </p:nvGrpSpPr>
          <p:grpSpPr>
            <a:xfrm>
              <a:off x="9648459" y="5910422"/>
              <a:ext cx="7610841" cy="3732923"/>
              <a:chOff x="0" y="0"/>
              <a:chExt cx="2006866" cy="984316"/>
            </a:xfrm>
          </p:grpSpPr>
          <p:sp>
            <p:nvSpPr>
              <p:cNvPr id="17" name="Freeform 17"/>
              <p:cNvSpPr/>
              <p:nvPr/>
            </p:nvSpPr>
            <p:spPr>
              <a:xfrm>
                <a:off x="0" y="0"/>
                <a:ext cx="2006865" cy="984316"/>
              </a:xfrm>
              <a:custGeom>
                <a:avLst/>
                <a:gdLst/>
                <a:ahLst/>
                <a:cxnLst/>
                <a:rect l="l" t="t" r="r" b="b"/>
                <a:pathLst>
                  <a:path w="2006865" h="984316">
                    <a:moveTo>
                      <a:pt x="2006865" y="0"/>
                    </a:moveTo>
                    <a:lnTo>
                      <a:pt x="2006865" y="984316"/>
                    </a:lnTo>
                    <a:lnTo>
                      <a:pt x="0" y="984316"/>
                    </a:lnTo>
                    <a:lnTo>
                      <a:pt x="0" y="0"/>
                    </a:lnTo>
                    <a:close/>
                  </a:path>
                </a:pathLst>
              </a:custGeom>
              <a:solidFill>
                <a:srgbClr val="5156A1"/>
              </a:solidFill>
              <a:ln cap="sq">
                <a:noFill/>
                <a:prstDash val="solid"/>
                <a:miter/>
              </a:ln>
            </p:spPr>
          </p:sp>
          <p:sp>
            <p:nvSpPr>
              <p:cNvPr id="18" name="TextBox 18"/>
              <p:cNvSpPr txBox="1"/>
              <p:nvPr/>
            </p:nvSpPr>
            <p:spPr>
              <a:xfrm>
                <a:off x="0" y="-28575"/>
                <a:ext cx="2006866" cy="1012891"/>
              </a:xfrm>
              <a:prstGeom prst="rect">
                <a:avLst/>
              </a:prstGeom>
            </p:spPr>
            <p:txBody>
              <a:bodyPr lIns="50800" tIns="50800" rIns="50800" bIns="50800" rtlCol="0" anchor="ctr"/>
              <a:lstStyle/>
              <a:p>
                <a:pPr algn="ctr">
                  <a:lnSpc>
                    <a:spcPts val="2239"/>
                  </a:lnSpc>
                </a:pPr>
                <a:endParaRPr/>
              </a:p>
            </p:txBody>
          </p:sp>
        </p:grpSp>
      </p:grpSp>
      <p:grpSp>
        <p:nvGrpSpPr>
          <p:cNvPr id="27" name="Group 2">
            <a:extLst>
              <a:ext uri="{FF2B5EF4-FFF2-40B4-BE49-F238E27FC236}">
                <a16:creationId xmlns:a16="http://schemas.microsoft.com/office/drawing/2014/main" id="{E876E270-6619-013E-3514-8F80CE680AFE}"/>
              </a:ext>
            </a:extLst>
          </p:cNvPr>
          <p:cNvGrpSpPr/>
          <p:nvPr/>
        </p:nvGrpSpPr>
        <p:grpSpPr>
          <a:xfrm>
            <a:off x="1028700" y="395218"/>
            <a:ext cx="17259300" cy="1078533"/>
            <a:chOff x="0" y="0"/>
            <a:chExt cx="23012400" cy="1438044"/>
          </a:xfrm>
        </p:grpSpPr>
        <p:sp>
          <p:nvSpPr>
            <p:cNvPr id="28" name="Freeform 3">
              <a:extLst>
                <a:ext uri="{FF2B5EF4-FFF2-40B4-BE49-F238E27FC236}">
                  <a16:creationId xmlns:a16="http://schemas.microsoft.com/office/drawing/2014/main" id="{6485AA5D-9D08-E77B-E6C6-EE5283E1394E}"/>
                </a:ext>
              </a:extLst>
            </p:cNvPr>
            <p:cNvSpPr/>
            <p:nvPr/>
          </p:nvSpPr>
          <p:spPr>
            <a:xfrm>
              <a:off x="0" y="0"/>
              <a:ext cx="2937194" cy="1274008"/>
            </a:xfrm>
            <a:custGeom>
              <a:avLst/>
              <a:gdLst/>
              <a:ahLst/>
              <a:cxnLst/>
              <a:rect l="l" t="t" r="r" b="b"/>
              <a:pathLst>
                <a:path w="2937194" h="1274008">
                  <a:moveTo>
                    <a:pt x="0" y="0"/>
                  </a:moveTo>
                  <a:lnTo>
                    <a:pt x="2937194" y="0"/>
                  </a:lnTo>
                  <a:lnTo>
                    <a:pt x="2937194" y="1274008"/>
                  </a:lnTo>
                  <a:lnTo>
                    <a:pt x="0" y="1274008"/>
                  </a:lnTo>
                  <a:lnTo>
                    <a:pt x="0" y="0"/>
                  </a:lnTo>
                  <a:close/>
                </a:path>
              </a:pathLst>
            </a:custGeom>
            <a:blipFill>
              <a:blip r:embed="rId2"/>
              <a:stretch>
                <a:fillRect/>
              </a:stretch>
            </a:blipFill>
          </p:spPr>
        </p:sp>
        <p:sp>
          <p:nvSpPr>
            <p:cNvPr id="29" name="Freeform 4">
              <a:extLst>
                <a:ext uri="{FF2B5EF4-FFF2-40B4-BE49-F238E27FC236}">
                  <a16:creationId xmlns:a16="http://schemas.microsoft.com/office/drawing/2014/main" id="{F816668F-ACE0-10B2-A258-AD0C309CB352}"/>
                </a:ext>
              </a:extLst>
            </p:cNvPr>
            <p:cNvSpPr/>
            <p:nvPr/>
          </p:nvSpPr>
          <p:spPr>
            <a:xfrm>
              <a:off x="3134311" y="224397"/>
              <a:ext cx="2339750" cy="1036911"/>
            </a:xfrm>
            <a:custGeom>
              <a:avLst/>
              <a:gdLst/>
              <a:ahLst/>
              <a:cxnLst/>
              <a:rect l="l" t="t" r="r" b="b"/>
              <a:pathLst>
                <a:path w="2339750" h="1036911">
                  <a:moveTo>
                    <a:pt x="0" y="0"/>
                  </a:moveTo>
                  <a:lnTo>
                    <a:pt x="2339749" y="0"/>
                  </a:lnTo>
                  <a:lnTo>
                    <a:pt x="2339749" y="1036911"/>
                  </a:lnTo>
                  <a:lnTo>
                    <a:pt x="0" y="1036911"/>
                  </a:lnTo>
                  <a:lnTo>
                    <a:pt x="0" y="0"/>
                  </a:lnTo>
                  <a:close/>
                </a:path>
              </a:pathLst>
            </a:custGeom>
            <a:blipFill>
              <a:blip r:embed="rId3"/>
              <a:stretch>
                <a:fillRect l="-8002" t="-69970" b="-73732"/>
              </a:stretch>
            </a:blipFill>
          </p:spPr>
        </p:sp>
        <p:sp>
          <p:nvSpPr>
            <p:cNvPr id="30" name="AutoShape 5">
              <a:extLst>
                <a:ext uri="{FF2B5EF4-FFF2-40B4-BE49-F238E27FC236}">
                  <a16:creationId xmlns:a16="http://schemas.microsoft.com/office/drawing/2014/main" id="{45C846E0-620B-459A-EDB5-F3C2D765C8D7}"/>
                </a:ext>
              </a:extLst>
            </p:cNvPr>
            <p:cNvSpPr/>
            <p:nvPr/>
          </p:nvSpPr>
          <p:spPr>
            <a:xfrm flipV="1">
              <a:off x="16552532" y="1299408"/>
              <a:ext cx="6459868" cy="0"/>
            </a:xfrm>
            <a:prstGeom prst="line">
              <a:avLst/>
            </a:prstGeom>
            <a:ln w="25400" cap="flat">
              <a:solidFill>
                <a:srgbClr val="000000"/>
              </a:solidFill>
              <a:prstDash val="solid"/>
              <a:headEnd type="none" w="sm" len="sm"/>
              <a:tailEnd type="none" w="sm" len="sm"/>
            </a:ln>
          </p:spPr>
        </p:sp>
        <p:sp>
          <p:nvSpPr>
            <p:cNvPr id="31" name="TextBox 6">
              <a:extLst>
                <a:ext uri="{FF2B5EF4-FFF2-40B4-BE49-F238E27FC236}">
                  <a16:creationId xmlns:a16="http://schemas.microsoft.com/office/drawing/2014/main" id="{4DCD9828-122C-50EE-F78A-3E479410AD4B}"/>
                </a:ext>
              </a:extLst>
            </p:cNvPr>
            <p:cNvSpPr txBox="1"/>
            <p:nvPr/>
          </p:nvSpPr>
          <p:spPr>
            <a:xfrm>
              <a:off x="12954000" y="1088377"/>
              <a:ext cx="3934687" cy="349667"/>
            </a:xfrm>
            <a:prstGeom prst="rect">
              <a:avLst/>
            </a:prstGeom>
          </p:spPr>
          <p:txBody>
            <a:bodyPr wrap="square" lIns="0" tIns="0" rIns="0" bIns="0" rtlCol="0" anchor="t">
              <a:spAutoFit/>
            </a:bodyPr>
            <a:lstStyle/>
            <a:p>
              <a:pPr algn="ctr">
                <a:lnSpc>
                  <a:spcPts val="2239"/>
                </a:lnSpc>
                <a:spcBef>
                  <a:spcPct val="0"/>
                </a:spcBef>
              </a:pPr>
              <a:r>
                <a:rPr lang="en-US" sz="1599" b="1" i="1">
                  <a:solidFill>
                    <a:srgbClr val="000000"/>
                  </a:solidFill>
                  <a:latin typeface="Montserrat Semi-Bold" panose="020B0604020202020204" charset="0"/>
                  <a:ea typeface="Montserrat Medium Italics"/>
                  <a:cs typeface="Montserrat Medium Italics"/>
                  <a:sym typeface="Montserrat Medium Italics"/>
                </a:rPr>
                <a:t>THUẦN HOA GROUP</a:t>
              </a:r>
            </a:p>
          </p:txBody>
        </p:sp>
      </p:grpSp>
      <p:pic>
        <p:nvPicPr>
          <p:cNvPr id="32" name="object 3">
            <a:extLst>
              <a:ext uri="{FF2B5EF4-FFF2-40B4-BE49-F238E27FC236}">
                <a16:creationId xmlns:a16="http://schemas.microsoft.com/office/drawing/2014/main" id="{377188DB-63B0-4C6C-B4FD-329C8E39AECD}"/>
              </a:ext>
            </a:extLst>
          </p:cNvPr>
          <p:cNvPicPr/>
          <p:nvPr/>
        </p:nvPicPr>
        <p:blipFill>
          <a:blip r:embed="rId4" cstate="print"/>
          <a:stretch>
            <a:fillRect/>
          </a:stretch>
        </p:blipFill>
        <p:spPr>
          <a:xfrm>
            <a:off x="1028695" y="5910422"/>
            <a:ext cx="7610837" cy="3813062"/>
          </a:xfrm>
          <a:prstGeom prst="rect">
            <a:avLst/>
          </a:prstGeom>
        </p:spPr>
      </p:pic>
      <p:pic>
        <p:nvPicPr>
          <p:cNvPr id="33" name="object 8">
            <a:extLst>
              <a:ext uri="{FF2B5EF4-FFF2-40B4-BE49-F238E27FC236}">
                <a16:creationId xmlns:a16="http://schemas.microsoft.com/office/drawing/2014/main" id="{BFB7B7E9-27FC-462C-88D0-09C489762629}"/>
              </a:ext>
            </a:extLst>
          </p:cNvPr>
          <p:cNvPicPr/>
          <p:nvPr/>
        </p:nvPicPr>
        <p:blipFill>
          <a:blip r:embed="rId5" cstate="print"/>
          <a:stretch>
            <a:fillRect/>
          </a:stretch>
        </p:blipFill>
        <p:spPr>
          <a:xfrm>
            <a:off x="12067473" y="2687782"/>
            <a:ext cx="5067296" cy="2712356"/>
          </a:xfrm>
          <a:prstGeom prst="rect">
            <a:avLst/>
          </a:prstGeom>
        </p:spPr>
      </p:pic>
      <p:sp>
        <p:nvSpPr>
          <p:cNvPr id="34" name="object 11">
            <a:extLst>
              <a:ext uri="{FF2B5EF4-FFF2-40B4-BE49-F238E27FC236}">
                <a16:creationId xmlns:a16="http://schemas.microsoft.com/office/drawing/2014/main" id="{D7497BB6-1BBF-4F86-A34A-FA99EC83943C}"/>
              </a:ext>
            </a:extLst>
          </p:cNvPr>
          <p:cNvSpPr txBox="1">
            <a:spLocks/>
          </p:cNvSpPr>
          <p:nvPr/>
        </p:nvSpPr>
        <p:spPr>
          <a:xfrm>
            <a:off x="9409297" y="2914405"/>
            <a:ext cx="5067297" cy="1520929"/>
          </a:xfrm>
          <a:prstGeom prst="rect">
            <a:avLst/>
          </a:prstGeom>
        </p:spPr>
        <p:txBody>
          <a:bodyPr vert="horz" wrap="square" lIns="0" tIns="12700" rIns="0" bIns="0" rtlCol="0">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12700" marR="5080">
              <a:spcBef>
                <a:spcPts val="100"/>
              </a:spcBef>
            </a:pPr>
            <a:r>
              <a:rPr lang="en-US" sz="4900" spc="245">
                <a:solidFill>
                  <a:schemeClr val="accent1">
                    <a:lumMod val="75000"/>
                  </a:schemeClr>
                </a:solidFill>
              </a:rPr>
              <a:t>COSMECCA </a:t>
            </a:r>
            <a:r>
              <a:rPr lang="en-US" sz="4900" spc="185">
                <a:solidFill>
                  <a:schemeClr val="accent1">
                    <a:lumMod val="75000"/>
                  </a:schemeClr>
                </a:solidFill>
              </a:rPr>
              <a:t>KOREA</a:t>
            </a:r>
            <a:endParaRPr lang="en-US" sz="4900">
              <a:solidFill>
                <a:schemeClr val="accent1">
                  <a:lumMod val="75000"/>
                </a:schemeClr>
              </a:solidFill>
            </a:endParaRPr>
          </a:p>
        </p:txBody>
      </p:sp>
      <p:sp>
        <p:nvSpPr>
          <p:cNvPr id="46" name="TextBox 45">
            <a:extLst>
              <a:ext uri="{FF2B5EF4-FFF2-40B4-BE49-F238E27FC236}">
                <a16:creationId xmlns:a16="http://schemas.microsoft.com/office/drawing/2014/main" id="{CECDA968-2757-4176-B54D-ED89AD110575}"/>
              </a:ext>
            </a:extLst>
          </p:cNvPr>
          <p:cNvSpPr txBox="1"/>
          <p:nvPr/>
        </p:nvSpPr>
        <p:spPr>
          <a:xfrm>
            <a:off x="1002237" y="3777611"/>
            <a:ext cx="7610842" cy="412164"/>
          </a:xfrm>
          <a:prstGeom prst="rect">
            <a:avLst/>
          </a:prstGeom>
          <a:noFill/>
        </p:spPr>
        <p:txBody>
          <a:bodyPr wrap="square">
            <a:spAutoFit/>
          </a:bodyPr>
          <a:lstStyle/>
          <a:p>
            <a:pPr algn="ctr">
              <a:lnSpc>
                <a:spcPts val="2659"/>
              </a:lnSpc>
              <a:spcBef>
                <a:spcPct val="0"/>
              </a:spcBef>
            </a:pPr>
            <a:r>
              <a:rPr lang="en-US" altLang="ko-KR" sz="1899" b="1">
                <a:solidFill>
                  <a:srgbClr val="FFFFFF"/>
                </a:solidFill>
                <a:latin typeface="Montserrat Medium"/>
              </a:rPr>
              <a:t>Trụ sở tại 3 quốc gia: Hàn Quốc, Trung Quốc và Hoa Kỳ </a:t>
            </a:r>
          </a:p>
        </p:txBody>
      </p:sp>
      <p:sp>
        <p:nvSpPr>
          <p:cNvPr id="47" name="TextBox 46">
            <a:extLst>
              <a:ext uri="{FF2B5EF4-FFF2-40B4-BE49-F238E27FC236}">
                <a16:creationId xmlns:a16="http://schemas.microsoft.com/office/drawing/2014/main" id="{1BDE175F-2EA2-4767-912E-E8B094403551}"/>
              </a:ext>
            </a:extLst>
          </p:cNvPr>
          <p:cNvSpPr txBox="1"/>
          <p:nvPr/>
        </p:nvSpPr>
        <p:spPr>
          <a:xfrm>
            <a:off x="1011187" y="4702100"/>
            <a:ext cx="7610842" cy="758413"/>
          </a:xfrm>
          <a:prstGeom prst="rect">
            <a:avLst/>
          </a:prstGeom>
          <a:noFill/>
        </p:spPr>
        <p:txBody>
          <a:bodyPr wrap="square">
            <a:spAutoFit/>
          </a:bodyPr>
          <a:lstStyle/>
          <a:p>
            <a:pPr algn="ctr">
              <a:lnSpc>
                <a:spcPts val="2659"/>
              </a:lnSpc>
              <a:spcBef>
                <a:spcPct val="0"/>
              </a:spcBef>
            </a:pPr>
            <a:r>
              <a:rPr lang="vi-VN" altLang="ko-KR" sz="1899" b="1">
                <a:solidFill>
                  <a:srgbClr val="FFFFFF"/>
                </a:solidFill>
                <a:latin typeface="Montserrat Medium"/>
              </a:rPr>
              <a:t>Đứng thứ 3 trong </a:t>
            </a:r>
            <a:r>
              <a:rPr lang="en-US" altLang="ko-KR" sz="1899" b="1">
                <a:solidFill>
                  <a:srgbClr val="FFFFFF"/>
                </a:solidFill>
                <a:latin typeface="Montserrat Medium"/>
              </a:rPr>
              <a:t>khoảng</a:t>
            </a:r>
            <a:r>
              <a:rPr lang="vi-VN" altLang="ko-KR" sz="1899" b="1">
                <a:solidFill>
                  <a:srgbClr val="FFFFFF"/>
                </a:solidFill>
                <a:latin typeface="Montserrat Medium"/>
              </a:rPr>
              <a:t> </a:t>
            </a:r>
            <a:r>
              <a:rPr lang="en-US" altLang="ko-KR" sz="1899" b="1">
                <a:solidFill>
                  <a:srgbClr val="FFFFFF"/>
                </a:solidFill>
                <a:latin typeface="Montserrat Medium"/>
              </a:rPr>
              <a:t>32.500</a:t>
            </a:r>
            <a:r>
              <a:rPr lang="vi-VN" altLang="ko-KR" sz="1899" b="1">
                <a:solidFill>
                  <a:srgbClr val="FFFFFF"/>
                </a:solidFill>
                <a:latin typeface="Montserrat Medium"/>
              </a:rPr>
              <a:t> đơn vị </a:t>
            </a:r>
            <a:r>
              <a:rPr lang="en-US" altLang="ko-KR" sz="1899" b="1">
                <a:solidFill>
                  <a:srgbClr val="FFFFFF"/>
                </a:solidFill>
                <a:latin typeface="Montserrat Medium"/>
              </a:rPr>
              <a:t> đang  sản xuất và kinh toanh trong lĩnh vực </a:t>
            </a:r>
            <a:r>
              <a:rPr lang="vi-VN" altLang="ko-KR" sz="1899" b="1">
                <a:solidFill>
                  <a:srgbClr val="FFFFFF"/>
                </a:solidFill>
                <a:latin typeface="Montserrat Medium"/>
              </a:rPr>
              <a:t>mỹ phẩm </a:t>
            </a:r>
            <a:r>
              <a:rPr lang="en-US" altLang="ko-KR" sz="1899" b="1">
                <a:solidFill>
                  <a:srgbClr val="FFFFFF"/>
                </a:solidFill>
                <a:latin typeface="Montserrat Medium"/>
              </a:rPr>
              <a:t> </a:t>
            </a:r>
            <a:r>
              <a:rPr lang="vi-VN" altLang="ko-KR" sz="1899" b="1">
                <a:solidFill>
                  <a:srgbClr val="FFFFFF"/>
                </a:solidFill>
                <a:latin typeface="Montserrat Medium"/>
              </a:rPr>
              <a:t>tại Hàn Quốc</a:t>
            </a:r>
            <a:endParaRPr lang="en-US" altLang="ko-KR" sz="1899" b="1">
              <a:solidFill>
                <a:srgbClr val="FFFFFF"/>
              </a:solidFill>
              <a:latin typeface="Montserrat Medium"/>
            </a:endParaRPr>
          </a:p>
        </p:txBody>
      </p:sp>
      <p:sp>
        <p:nvSpPr>
          <p:cNvPr id="49" name="TextBox 48">
            <a:extLst>
              <a:ext uri="{FF2B5EF4-FFF2-40B4-BE49-F238E27FC236}">
                <a16:creationId xmlns:a16="http://schemas.microsoft.com/office/drawing/2014/main" id="{C39DF517-BDA7-482D-B62C-CC799CA9342F}"/>
              </a:ext>
            </a:extLst>
          </p:cNvPr>
          <p:cNvSpPr txBox="1"/>
          <p:nvPr/>
        </p:nvSpPr>
        <p:spPr>
          <a:xfrm>
            <a:off x="9699939" y="8106388"/>
            <a:ext cx="7486319" cy="969111"/>
          </a:xfrm>
          <a:prstGeom prst="rect">
            <a:avLst/>
          </a:prstGeom>
          <a:noFill/>
        </p:spPr>
        <p:txBody>
          <a:bodyPr wrap="square">
            <a:spAutoFit/>
          </a:bodyPr>
          <a:lstStyle/>
          <a:p>
            <a:pPr algn="ctr"/>
            <a:r>
              <a:rPr lang="en-US" altLang="ko-KR" sz="1899" b="1">
                <a:solidFill>
                  <a:srgbClr val="FFFFFF"/>
                </a:solidFill>
                <a:latin typeface="Montserrat Medium"/>
              </a:rPr>
              <a:t>Được Chính Phủ Hàn Quốc công nhận là nhà máy thông minh cấp độ cao. Tiên phong trong ứng dụng AI và công nghệ bản sao số Digital Twin  vào sản xuất.</a:t>
            </a:r>
          </a:p>
        </p:txBody>
      </p:sp>
      <p:sp>
        <p:nvSpPr>
          <p:cNvPr id="50" name="TextBox 49">
            <a:extLst>
              <a:ext uri="{FF2B5EF4-FFF2-40B4-BE49-F238E27FC236}">
                <a16:creationId xmlns:a16="http://schemas.microsoft.com/office/drawing/2014/main" id="{443AFA54-0322-4B01-B521-FB3BEE6F5EDB}"/>
              </a:ext>
            </a:extLst>
          </p:cNvPr>
          <p:cNvSpPr txBox="1"/>
          <p:nvPr/>
        </p:nvSpPr>
        <p:spPr>
          <a:xfrm>
            <a:off x="9699939" y="6685506"/>
            <a:ext cx="7610842" cy="1015406"/>
          </a:xfrm>
          <a:prstGeom prst="rect">
            <a:avLst/>
          </a:prstGeom>
          <a:noFill/>
        </p:spPr>
        <p:txBody>
          <a:bodyPr wrap="square">
            <a:spAutoFit/>
          </a:bodyPr>
          <a:lstStyle/>
          <a:p>
            <a:pPr algn="ctr"/>
            <a:r>
              <a:rPr lang="en-US" altLang="ko-KR" sz="1899" b="1">
                <a:solidFill>
                  <a:srgbClr val="FFFFFF"/>
                </a:solidFill>
                <a:latin typeface="Montserrat Medium"/>
              </a:rPr>
              <a:t>Sở</a:t>
            </a:r>
            <a:r>
              <a:rPr lang="en-US" altLang="ko-KR" sz="220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ko-KR" sz="1899" b="1">
                <a:solidFill>
                  <a:srgbClr val="FFFFFF"/>
                </a:solidFill>
                <a:latin typeface="Montserrat Medium"/>
              </a:rPr>
              <a:t>hữu trung tâm R&amp;D quy mô lớn trên cả 3 quốc gia với nhiều bằng sáng chế độc quyền về công thức và hoạt chất mỹ phẩm</a:t>
            </a:r>
          </a:p>
        </p:txBody>
      </p:sp>
      <p:sp>
        <p:nvSpPr>
          <p:cNvPr id="51" name="TextBox 21">
            <a:extLst>
              <a:ext uri="{FF2B5EF4-FFF2-40B4-BE49-F238E27FC236}">
                <a16:creationId xmlns:a16="http://schemas.microsoft.com/office/drawing/2014/main" id="{D32F5282-88A8-40EB-8ACC-1E5B227BA95B}"/>
              </a:ext>
            </a:extLst>
          </p:cNvPr>
          <p:cNvSpPr txBox="1"/>
          <p:nvPr/>
        </p:nvSpPr>
        <p:spPr>
          <a:xfrm>
            <a:off x="3032318" y="2775689"/>
            <a:ext cx="2449042" cy="451021"/>
          </a:xfrm>
          <a:prstGeom prst="rect">
            <a:avLst/>
          </a:prstGeom>
        </p:spPr>
        <p:txBody>
          <a:bodyPr wrap="square" lIns="0" tIns="0" rIns="0" bIns="0" rtlCol="0" anchor="t">
            <a:spAutoFit/>
          </a:bodyPr>
          <a:lstStyle/>
          <a:p>
            <a:pPr algn="ctr">
              <a:lnSpc>
                <a:spcPts val="3779"/>
              </a:lnSpc>
              <a:spcBef>
                <a:spcPct val="0"/>
              </a:spcBef>
            </a:pPr>
            <a:r>
              <a:rPr lang="en-US" sz="2699" b="1">
                <a:solidFill>
                  <a:srgbClr val="FFFFFF"/>
                </a:solidFill>
                <a:latin typeface="Montserrat Ultra-Bold"/>
                <a:ea typeface="Montserrat Ultra-Bold"/>
                <a:cs typeface="Montserrat Ultra-Bold"/>
                <a:sym typeface="Montserrat Ultra-Bold"/>
              </a:rPr>
              <a:t>COSMECCA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Nhóm 24">
            <a:extLst>
              <a:ext uri="{FF2B5EF4-FFF2-40B4-BE49-F238E27FC236}">
                <a16:creationId xmlns:a16="http://schemas.microsoft.com/office/drawing/2014/main" id="{0867A1FE-4DD7-F0FF-E4F9-D0C73062943C}"/>
              </a:ext>
            </a:extLst>
          </p:cNvPr>
          <p:cNvGrpSpPr/>
          <p:nvPr/>
        </p:nvGrpSpPr>
        <p:grpSpPr>
          <a:xfrm>
            <a:off x="1028700" y="2177499"/>
            <a:ext cx="7610841" cy="7484896"/>
            <a:chOff x="1028700" y="2177499"/>
            <a:chExt cx="7610841" cy="7484896"/>
          </a:xfrm>
        </p:grpSpPr>
        <p:grpSp>
          <p:nvGrpSpPr>
            <p:cNvPr id="7" name="Group 7"/>
            <p:cNvGrpSpPr/>
            <p:nvPr/>
          </p:nvGrpSpPr>
          <p:grpSpPr>
            <a:xfrm>
              <a:off x="1028700" y="2177499"/>
              <a:ext cx="7610841" cy="3732923"/>
              <a:chOff x="0" y="0"/>
              <a:chExt cx="2006866" cy="984316"/>
            </a:xfrm>
          </p:grpSpPr>
          <p:sp>
            <p:nvSpPr>
              <p:cNvPr id="8" name="Freeform 8"/>
              <p:cNvSpPr/>
              <p:nvPr/>
            </p:nvSpPr>
            <p:spPr>
              <a:xfrm>
                <a:off x="0" y="0"/>
                <a:ext cx="2006865" cy="984316"/>
              </a:xfrm>
              <a:custGeom>
                <a:avLst/>
                <a:gdLst/>
                <a:ahLst/>
                <a:cxnLst/>
                <a:rect l="l" t="t" r="r" b="b"/>
                <a:pathLst>
                  <a:path w="2006865" h="984316">
                    <a:moveTo>
                      <a:pt x="2006865" y="0"/>
                    </a:moveTo>
                    <a:lnTo>
                      <a:pt x="2006865" y="984316"/>
                    </a:lnTo>
                    <a:lnTo>
                      <a:pt x="0" y="984316"/>
                    </a:lnTo>
                    <a:lnTo>
                      <a:pt x="0" y="0"/>
                    </a:lnTo>
                    <a:close/>
                  </a:path>
                </a:pathLst>
              </a:custGeom>
              <a:solidFill>
                <a:srgbClr val="5156A1"/>
              </a:solidFill>
              <a:ln cap="sq">
                <a:noFill/>
                <a:prstDash val="solid"/>
                <a:miter/>
              </a:ln>
            </p:spPr>
          </p:sp>
          <p:sp>
            <p:nvSpPr>
              <p:cNvPr id="9" name="TextBox 9"/>
              <p:cNvSpPr txBox="1"/>
              <p:nvPr/>
            </p:nvSpPr>
            <p:spPr>
              <a:xfrm>
                <a:off x="0" y="-28575"/>
                <a:ext cx="2006866" cy="1012891"/>
              </a:xfrm>
              <a:prstGeom prst="rect">
                <a:avLst/>
              </a:prstGeom>
            </p:spPr>
            <p:txBody>
              <a:bodyPr lIns="50800" tIns="50800" rIns="50800" bIns="50800" rtlCol="0" anchor="ctr"/>
              <a:lstStyle/>
              <a:p>
                <a:pPr algn="ctr">
                  <a:lnSpc>
                    <a:spcPts val="2239"/>
                  </a:lnSpc>
                </a:pPr>
                <a:endParaRPr/>
              </a:p>
            </p:txBody>
          </p:sp>
        </p:grpSp>
        <p:grpSp>
          <p:nvGrpSpPr>
            <p:cNvPr id="10" name="Group 10"/>
            <p:cNvGrpSpPr/>
            <p:nvPr/>
          </p:nvGrpSpPr>
          <p:grpSpPr>
            <a:xfrm>
              <a:off x="1028700" y="5929472"/>
              <a:ext cx="7610841" cy="3732923"/>
              <a:chOff x="0" y="0"/>
              <a:chExt cx="2006866" cy="984316"/>
            </a:xfrm>
          </p:grpSpPr>
          <p:sp>
            <p:nvSpPr>
              <p:cNvPr id="11" name="Freeform 11"/>
              <p:cNvSpPr/>
              <p:nvPr/>
            </p:nvSpPr>
            <p:spPr>
              <a:xfrm>
                <a:off x="0" y="0"/>
                <a:ext cx="2006865" cy="984316"/>
              </a:xfrm>
              <a:custGeom>
                <a:avLst/>
                <a:gdLst/>
                <a:ahLst/>
                <a:cxnLst/>
                <a:rect l="l" t="t" r="r" b="b"/>
                <a:pathLst>
                  <a:path w="2006865" h="984316">
                    <a:moveTo>
                      <a:pt x="2006865" y="0"/>
                    </a:moveTo>
                    <a:lnTo>
                      <a:pt x="2006865" y="984316"/>
                    </a:lnTo>
                    <a:lnTo>
                      <a:pt x="0" y="984316"/>
                    </a:lnTo>
                    <a:lnTo>
                      <a:pt x="0" y="0"/>
                    </a:lnTo>
                    <a:close/>
                  </a:path>
                </a:pathLst>
              </a:custGeom>
              <a:solidFill>
                <a:srgbClr val="FFFFFF"/>
              </a:solidFill>
              <a:ln w="19050" cap="sq">
                <a:solidFill>
                  <a:srgbClr val="000000"/>
                </a:solidFill>
                <a:prstDash val="solid"/>
                <a:miter/>
              </a:ln>
            </p:spPr>
          </p:sp>
          <p:sp>
            <p:nvSpPr>
              <p:cNvPr id="12" name="TextBox 12"/>
              <p:cNvSpPr txBox="1"/>
              <p:nvPr/>
            </p:nvSpPr>
            <p:spPr>
              <a:xfrm>
                <a:off x="0" y="-28575"/>
                <a:ext cx="2006866" cy="1012891"/>
              </a:xfrm>
              <a:prstGeom prst="rect">
                <a:avLst/>
              </a:prstGeom>
            </p:spPr>
            <p:txBody>
              <a:bodyPr lIns="50800" tIns="50800" rIns="50800" bIns="50800" rtlCol="0" anchor="ctr"/>
              <a:lstStyle/>
              <a:p>
                <a:pPr algn="ctr">
                  <a:lnSpc>
                    <a:spcPts val="2239"/>
                  </a:lnSpc>
                </a:pPr>
                <a:endParaRPr/>
              </a:p>
            </p:txBody>
          </p:sp>
        </p:grpSp>
        <p:sp>
          <p:nvSpPr>
            <p:cNvPr id="21" name="TextBox 21"/>
            <p:cNvSpPr txBox="1"/>
            <p:nvPr/>
          </p:nvSpPr>
          <p:spPr>
            <a:xfrm>
              <a:off x="3032318" y="2775689"/>
              <a:ext cx="2449042" cy="451021"/>
            </a:xfrm>
            <a:prstGeom prst="rect">
              <a:avLst/>
            </a:prstGeom>
          </p:spPr>
          <p:txBody>
            <a:bodyPr wrap="square" lIns="0" tIns="0" rIns="0" bIns="0" rtlCol="0" anchor="t">
              <a:spAutoFit/>
            </a:bodyPr>
            <a:lstStyle/>
            <a:p>
              <a:pPr algn="ctr">
                <a:lnSpc>
                  <a:spcPts val="3779"/>
                </a:lnSpc>
                <a:spcBef>
                  <a:spcPct val="0"/>
                </a:spcBef>
              </a:pPr>
              <a:r>
                <a:rPr lang="en-US" sz="2699" b="1">
                  <a:solidFill>
                    <a:srgbClr val="FFFFFF"/>
                  </a:solidFill>
                  <a:latin typeface="Montserrat Ultra-Bold"/>
                  <a:ea typeface="Montserrat Ultra-Bold"/>
                  <a:cs typeface="Montserrat Ultra-Bold"/>
                  <a:sym typeface="Montserrat Ultra-Bold"/>
                </a:rPr>
                <a:t>BN Co., Ltd.</a:t>
              </a:r>
            </a:p>
          </p:txBody>
        </p:sp>
        <p:sp>
          <p:nvSpPr>
            <p:cNvPr id="22" name="TextBox 22"/>
            <p:cNvSpPr txBox="1"/>
            <p:nvPr/>
          </p:nvSpPr>
          <p:spPr>
            <a:xfrm>
              <a:off x="1238185" y="3610581"/>
              <a:ext cx="7401352" cy="1012328"/>
            </a:xfrm>
            <a:prstGeom prst="rect">
              <a:avLst/>
            </a:prstGeom>
          </p:spPr>
          <p:txBody>
            <a:bodyPr wrap="square" lIns="0" tIns="0" rIns="0" bIns="0" rtlCol="0" anchor="t">
              <a:spAutoFit/>
            </a:bodyPr>
            <a:lstStyle/>
            <a:p>
              <a:pPr>
                <a:lnSpc>
                  <a:spcPts val="2659"/>
                </a:lnSpc>
                <a:spcBef>
                  <a:spcPct val="0"/>
                </a:spcBef>
              </a:pPr>
              <a:r>
                <a:rPr lang="en-US" sz="1899" b="1">
                  <a:solidFill>
                    <a:srgbClr val="FFFFFF"/>
                  </a:solidFill>
                  <a:latin typeface="Montserrat Medium"/>
                  <a:ea typeface="Montserrat Medium"/>
                  <a:cs typeface="Montserrat Medium"/>
                  <a:sym typeface="Montserrat Medium"/>
                </a:rPr>
                <a:t>Doanh nghiệp tiên phong và dẫn đầu thế giới về công nghệ Spicule (Kim sinh học). Và đã được cấp bằng sáng chế tại nhiều quốc gia </a:t>
              </a:r>
              <a:endParaRPr lang="en-US" sz="1899" b="1" err="1">
                <a:solidFill>
                  <a:srgbClr val="FFFFFF"/>
                </a:solidFill>
                <a:latin typeface="Montserrat Medium"/>
                <a:ea typeface="Montserrat Medium"/>
                <a:cs typeface="Montserrat Medium"/>
                <a:sym typeface="Montserrat Medium"/>
              </a:endParaRPr>
            </a:p>
          </p:txBody>
        </p:sp>
      </p:grpSp>
      <p:grpSp>
        <p:nvGrpSpPr>
          <p:cNvPr id="26" name="Nhóm 25">
            <a:extLst>
              <a:ext uri="{FF2B5EF4-FFF2-40B4-BE49-F238E27FC236}">
                <a16:creationId xmlns:a16="http://schemas.microsoft.com/office/drawing/2014/main" id="{0335BA08-713B-CB6B-49EB-69834EE1BD30}"/>
              </a:ext>
            </a:extLst>
          </p:cNvPr>
          <p:cNvGrpSpPr/>
          <p:nvPr/>
        </p:nvGrpSpPr>
        <p:grpSpPr>
          <a:xfrm>
            <a:off x="9648459" y="2167974"/>
            <a:ext cx="7610841" cy="7475371"/>
            <a:chOff x="9648459" y="2167974"/>
            <a:chExt cx="7610841" cy="7475371"/>
          </a:xfrm>
        </p:grpSpPr>
        <p:grpSp>
          <p:nvGrpSpPr>
            <p:cNvPr id="13" name="Group 13"/>
            <p:cNvGrpSpPr/>
            <p:nvPr/>
          </p:nvGrpSpPr>
          <p:grpSpPr>
            <a:xfrm>
              <a:off x="9648459" y="2167974"/>
              <a:ext cx="7610841" cy="3732923"/>
              <a:chOff x="0" y="0"/>
              <a:chExt cx="2006866" cy="984316"/>
            </a:xfrm>
          </p:grpSpPr>
          <p:sp>
            <p:nvSpPr>
              <p:cNvPr id="14" name="Freeform 14"/>
              <p:cNvSpPr/>
              <p:nvPr/>
            </p:nvSpPr>
            <p:spPr>
              <a:xfrm>
                <a:off x="0" y="0"/>
                <a:ext cx="2006865" cy="984316"/>
              </a:xfrm>
              <a:custGeom>
                <a:avLst/>
                <a:gdLst/>
                <a:ahLst/>
                <a:cxnLst/>
                <a:rect l="l" t="t" r="r" b="b"/>
                <a:pathLst>
                  <a:path w="2006865" h="984316">
                    <a:moveTo>
                      <a:pt x="2006865" y="0"/>
                    </a:moveTo>
                    <a:lnTo>
                      <a:pt x="2006865" y="984316"/>
                    </a:lnTo>
                    <a:lnTo>
                      <a:pt x="0" y="984316"/>
                    </a:lnTo>
                    <a:lnTo>
                      <a:pt x="0" y="0"/>
                    </a:lnTo>
                    <a:close/>
                  </a:path>
                </a:pathLst>
              </a:custGeom>
              <a:solidFill>
                <a:srgbClr val="FFFFFF"/>
              </a:solidFill>
              <a:ln w="19050" cap="sq">
                <a:solidFill>
                  <a:srgbClr val="000000"/>
                </a:solidFill>
                <a:prstDash val="solid"/>
                <a:miter/>
              </a:ln>
            </p:spPr>
          </p:sp>
          <p:sp>
            <p:nvSpPr>
              <p:cNvPr id="15" name="TextBox 15"/>
              <p:cNvSpPr txBox="1"/>
              <p:nvPr/>
            </p:nvSpPr>
            <p:spPr>
              <a:xfrm>
                <a:off x="0" y="-28575"/>
                <a:ext cx="2006866" cy="1012891"/>
              </a:xfrm>
              <a:prstGeom prst="rect">
                <a:avLst/>
              </a:prstGeom>
            </p:spPr>
            <p:txBody>
              <a:bodyPr lIns="50800" tIns="50800" rIns="50800" bIns="50800" rtlCol="0" anchor="ctr"/>
              <a:lstStyle/>
              <a:p>
                <a:pPr algn="ctr">
                  <a:lnSpc>
                    <a:spcPts val="2239"/>
                  </a:lnSpc>
                </a:pPr>
                <a:endParaRPr/>
              </a:p>
            </p:txBody>
          </p:sp>
        </p:grpSp>
        <p:grpSp>
          <p:nvGrpSpPr>
            <p:cNvPr id="16" name="Group 16"/>
            <p:cNvGrpSpPr/>
            <p:nvPr/>
          </p:nvGrpSpPr>
          <p:grpSpPr>
            <a:xfrm>
              <a:off x="9648459" y="5910422"/>
              <a:ext cx="7610841" cy="3732923"/>
              <a:chOff x="0" y="0"/>
              <a:chExt cx="2006866" cy="984316"/>
            </a:xfrm>
          </p:grpSpPr>
          <p:sp>
            <p:nvSpPr>
              <p:cNvPr id="17" name="Freeform 17"/>
              <p:cNvSpPr/>
              <p:nvPr/>
            </p:nvSpPr>
            <p:spPr>
              <a:xfrm>
                <a:off x="0" y="0"/>
                <a:ext cx="2006865" cy="984316"/>
              </a:xfrm>
              <a:custGeom>
                <a:avLst/>
                <a:gdLst/>
                <a:ahLst/>
                <a:cxnLst/>
                <a:rect l="l" t="t" r="r" b="b"/>
                <a:pathLst>
                  <a:path w="2006865" h="984316">
                    <a:moveTo>
                      <a:pt x="2006865" y="0"/>
                    </a:moveTo>
                    <a:lnTo>
                      <a:pt x="2006865" y="984316"/>
                    </a:lnTo>
                    <a:lnTo>
                      <a:pt x="0" y="984316"/>
                    </a:lnTo>
                    <a:lnTo>
                      <a:pt x="0" y="0"/>
                    </a:lnTo>
                    <a:close/>
                  </a:path>
                </a:pathLst>
              </a:custGeom>
              <a:solidFill>
                <a:srgbClr val="5156A1"/>
              </a:solidFill>
              <a:ln cap="sq">
                <a:noFill/>
                <a:prstDash val="solid"/>
                <a:miter/>
              </a:ln>
            </p:spPr>
          </p:sp>
          <p:sp>
            <p:nvSpPr>
              <p:cNvPr id="18" name="TextBox 18"/>
              <p:cNvSpPr txBox="1"/>
              <p:nvPr/>
            </p:nvSpPr>
            <p:spPr>
              <a:xfrm>
                <a:off x="0" y="-28575"/>
                <a:ext cx="2006866" cy="1012891"/>
              </a:xfrm>
              <a:prstGeom prst="rect">
                <a:avLst/>
              </a:prstGeom>
            </p:spPr>
            <p:txBody>
              <a:bodyPr lIns="50800" tIns="50800" rIns="50800" bIns="50800" rtlCol="0" anchor="ctr"/>
              <a:lstStyle/>
              <a:p>
                <a:pPr algn="ctr">
                  <a:lnSpc>
                    <a:spcPts val="2239"/>
                  </a:lnSpc>
                </a:pPr>
                <a:endParaRPr/>
              </a:p>
            </p:txBody>
          </p:sp>
        </p:grpSp>
      </p:grpSp>
      <p:grpSp>
        <p:nvGrpSpPr>
          <p:cNvPr id="27" name="Group 2">
            <a:extLst>
              <a:ext uri="{FF2B5EF4-FFF2-40B4-BE49-F238E27FC236}">
                <a16:creationId xmlns:a16="http://schemas.microsoft.com/office/drawing/2014/main" id="{8D6BFCC3-4304-AE1B-AF01-9FD8698804AF}"/>
              </a:ext>
            </a:extLst>
          </p:cNvPr>
          <p:cNvGrpSpPr/>
          <p:nvPr/>
        </p:nvGrpSpPr>
        <p:grpSpPr>
          <a:xfrm>
            <a:off x="1028700" y="395218"/>
            <a:ext cx="17259300" cy="1078533"/>
            <a:chOff x="0" y="0"/>
            <a:chExt cx="23012400" cy="1438044"/>
          </a:xfrm>
        </p:grpSpPr>
        <p:sp>
          <p:nvSpPr>
            <p:cNvPr id="28" name="Freeform 3">
              <a:extLst>
                <a:ext uri="{FF2B5EF4-FFF2-40B4-BE49-F238E27FC236}">
                  <a16:creationId xmlns:a16="http://schemas.microsoft.com/office/drawing/2014/main" id="{B791267D-C8B4-9B7F-4B27-EC055643DC89}"/>
                </a:ext>
              </a:extLst>
            </p:cNvPr>
            <p:cNvSpPr/>
            <p:nvPr/>
          </p:nvSpPr>
          <p:spPr>
            <a:xfrm>
              <a:off x="0" y="0"/>
              <a:ext cx="2937194" cy="1274008"/>
            </a:xfrm>
            <a:custGeom>
              <a:avLst/>
              <a:gdLst/>
              <a:ahLst/>
              <a:cxnLst/>
              <a:rect l="l" t="t" r="r" b="b"/>
              <a:pathLst>
                <a:path w="2937194" h="1274008">
                  <a:moveTo>
                    <a:pt x="0" y="0"/>
                  </a:moveTo>
                  <a:lnTo>
                    <a:pt x="2937194" y="0"/>
                  </a:lnTo>
                  <a:lnTo>
                    <a:pt x="2937194" y="1274008"/>
                  </a:lnTo>
                  <a:lnTo>
                    <a:pt x="0" y="1274008"/>
                  </a:lnTo>
                  <a:lnTo>
                    <a:pt x="0" y="0"/>
                  </a:lnTo>
                  <a:close/>
                </a:path>
              </a:pathLst>
            </a:custGeom>
            <a:blipFill>
              <a:blip r:embed="rId2"/>
              <a:stretch>
                <a:fillRect/>
              </a:stretch>
            </a:blipFill>
          </p:spPr>
        </p:sp>
        <p:sp>
          <p:nvSpPr>
            <p:cNvPr id="29" name="Freeform 4">
              <a:extLst>
                <a:ext uri="{FF2B5EF4-FFF2-40B4-BE49-F238E27FC236}">
                  <a16:creationId xmlns:a16="http://schemas.microsoft.com/office/drawing/2014/main" id="{C562C429-319F-D592-072B-62E3EAD583CE}"/>
                </a:ext>
              </a:extLst>
            </p:cNvPr>
            <p:cNvSpPr/>
            <p:nvPr/>
          </p:nvSpPr>
          <p:spPr>
            <a:xfrm>
              <a:off x="3134311" y="224397"/>
              <a:ext cx="2339750" cy="1036911"/>
            </a:xfrm>
            <a:custGeom>
              <a:avLst/>
              <a:gdLst/>
              <a:ahLst/>
              <a:cxnLst/>
              <a:rect l="l" t="t" r="r" b="b"/>
              <a:pathLst>
                <a:path w="2339750" h="1036911">
                  <a:moveTo>
                    <a:pt x="0" y="0"/>
                  </a:moveTo>
                  <a:lnTo>
                    <a:pt x="2339749" y="0"/>
                  </a:lnTo>
                  <a:lnTo>
                    <a:pt x="2339749" y="1036911"/>
                  </a:lnTo>
                  <a:lnTo>
                    <a:pt x="0" y="1036911"/>
                  </a:lnTo>
                  <a:lnTo>
                    <a:pt x="0" y="0"/>
                  </a:lnTo>
                  <a:close/>
                </a:path>
              </a:pathLst>
            </a:custGeom>
            <a:blipFill>
              <a:blip r:embed="rId3"/>
              <a:stretch>
                <a:fillRect l="-8002" t="-69970" b="-73732"/>
              </a:stretch>
            </a:blipFill>
          </p:spPr>
        </p:sp>
        <p:sp>
          <p:nvSpPr>
            <p:cNvPr id="30" name="AutoShape 5">
              <a:extLst>
                <a:ext uri="{FF2B5EF4-FFF2-40B4-BE49-F238E27FC236}">
                  <a16:creationId xmlns:a16="http://schemas.microsoft.com/office/drawing/2014/main" id="{BEEADD2E-F252-79FC-08A7-041D7FA211B1}"/>
                </a:ext>
              </a:extLst>
            </p:cNvPr>
            <p:cNvSpPr/>
            <p:nvPr/>
          </p:nvSpPr>
          <p:spPr>
            <a:xfrm flipV="1">
              <a:off x="16552532" y="1299408"/>
              <a:ext cx="6459868" cy="0"/>
            </a:xfrm>
            <a:prstGeom prst="line">
              <a:avLst/>
            </a:prstGeom>
            <a:ln w="25400" cap="flat">
              <a:solidFill>
                <a:srgbClr val="000000"/>
              </a:solidFill>
              <a:prstDash val="solid"/>
              <a:headEnd type="none" w="sm" len="sm"/>
              <a:tailEnd type="none" w="sm" len="sm"/>
            </a:ln>
          </p:spPr>
        </p:sp>
        <p:sp>
          <p:nvSpPr>
            <p:cNvPr id="31" name="TextBox 6">
              <a:extLst>
                <a:ext uri="{FF2B5EF4-FFF2-40B4-BE49-F238E27FC236}">
                  <a16:creationId xmlns:a16="http://schemas.microsoft.com/office/drawing/2014/main" id="{0F22B74A-32D3-43C7-15F0-6CA95A72C65F}"/>
                </a:ext>
              </a:extLst>
            </p:cNvPr>
            <p:cNvSpPr txBox="1"/>
            <p:nvPr/>
          </p:nvSpPr>
          <p:spPr>
            <a:xfrm>
              <a:off x="12954000" y="1088377"/>
              <a:ext cx="3934687" cy="349667"/>
            </a:xfrm>
            <a:prstGeom prst="rect">
              <a:avLst/>
            </a:prstGeom>
          </p:spPr>
          <p:txBody>
            <a:bodyPr wrap="square" lIns="0" tIns="0" rIns="0" bIns="0" rtlCol="0" anchor="t">
              <a:spAutoFit/>
            </a:bodyPr>
            <a:lstStyle/>
            <a:p>
              <a:pPr algn="ctr">
                <a:lnSpc>
                  <a:spcPts val="2239"/>
                </a:lnSpc>
                <a:spcBef>
                  <a:spcPct val="0"/>
                </a:spcBef>
              </a:pPr>
              <a:r>
                <a:rPr lang="en-US" sz="1599" b="1" i="1">
                  <a:solidFill>
                    <a:srgbClr val="000000"/>
                  </a:solidFill>
                  <a:latin typeface="Montserrat Semi-Bold" panose="020B0604020202020204" charset="0"/>
                  <a:ea typeface="Montserrat Medium Italics"/>
                  <a:cs typeface="Montserrat Medium Italics"/>
                  <a:sym typeface="Montserrat Medium Italics"/>
                </a:rPr>
                <a:t>THUẦN HOA GROUP</a:t>
              </a:r>
            </a:p>
          </p:txBody>
        </p:sp>
      </p:grpSp>
      <p:pic>
        <p:nvPicPr>
          <p:cNvPr id="4" name="Picture 3">
            <a:extLst>
              <a:ext uri="{FF2B5EF4-FFF2-40B4-BE49-F238E27FC236}">
                <a16:creationId xmlns:a16="http://schemas.microsoft.com/office/drawing/2014/main" id="{EF220A2E-1F79-44D3-8557-4EC4FD032542}"/>
              </a:ext>
            </a:extLst>
          </p:cNvPr>
          <p:cNvPicPr>
            <a:picLocks noChangeAspect="1"/>
          </p:cNvPicPr>
          <p:nvPr/>
        </p:nvPicPr>
        <p:blipFill>
          <a:blip r:embed="rId4"/>
          <a:stretch>
            <a:fillRect/>
          </a:stretch>
        </p:blipFill>
        <p:spPr>
          <a:xfrm>
            <a:off x="9648454" y="2137150"/>
            <a:ext cx="4503057" cy="3763747"/>
          </a:xfrm>
          <a:prstGeom prst="rect">
            <a:avLst/>
          </a:prstGeom>
        </p:spPr>
      </p:pic>
      <p:pic>
        <p:nvPicPr>
          <p:cNvPr id="6" name="Picture 5">
            <a:extLst>
              <a:ext uri="{FF2B5EF4-FFF2-40B4-BE49-F238E27FC236}">
                <a16:creationId xmlns:a16="http://schemas.microsoft.com/office/drawing/2014/main" id="{7316893A-96C5-41F2-AE1F-CA1C11CF6F2C}"/>
              </a:ext>
            </a:extLst>
          </p:cNvPr>
          <p:cNvPicPr>
            <a:picLocks noChangeAspect="1"/>
          </p:cNvPicPr>
          <p:nvPr/>
        </p:nvPicPr>
        <p:blipFill>
          <a:blip r:embed="rId5"/>
          <a:stretch>
            <a:fillRect/>
          </a:stretch>
        </p:blipFill>
        <p:spPr>
          <a:xfrm>
            <a:off x="14151511" y="2121911"/>
            <a:ext cx="3062924" cy="3827952"/>
          </a:xfrm>
          <a:prstGeom prst="rect">
            <a:avLst/>
          </a:prstGeom>
        </p:spPr>
      </p:pic>
      <p:pic>
        <p:nvPicPr>
          <p:cNvPr id="32" name="Picture 31">
            <a:extLst>
              <a:ext uri="{FF2B5EF4-FFF2-40B4-BE49-F238E27FC236}">
                <a16:creationId xmlns:a16="http://schemas.microsoft.com/office/drawing/2014/main" id="{F63667B3-E855-4980-80F9-4E40E57D9300}"/>
              </a:ext>
            </a:extLst>
          </p:cNvPr>
          <p:cNvPicPr>
            <a:picLocks noChangeAspect="1"/>
          </p:cNvPicPr>
          <p:nvPr/>
        </p:nvPicPr>
        <p:blipFill>
          <a:blip r:embed="rId6"/>
          <a:stretch>
            <a:fillRect/>
          </a:stretch>
        </p:blipFill>
        <p:spPr>
          <a:xfrm>
            <a:off x="14360992" y="2397268"/>
            <a:ext cx="2688823" cy="3392229"/>
          </a:xfrm>
          <a:prstGeom prst="rect">
            <a:avLst/>
          </a:prstGeom>
        </p:spPr>
      </p:pic>
      <p:pic>
        <p:nvPicPr>
          <p:cNvPr id="3" name="Picture 2">
            <a:extLst>
              <a:ext uri="{FF2B5EF4-FFF2-40B4-BE49-F238E27FC236}">
                <a16:creationId xmlns:a16="http://schemas.microsoft.com/office/drawing/2014/main" id="{57529524-8501-4D22-8FB3-07B8A34A6379}"/>
              </a:ext>
            </a:extLst>
          </p:cNvPr>
          <p:cNvPicPr>
            <a:picLocks noChangeAspect="1"/>
          </p:cNvPicPr>
          <p:nvPr/>
        </p:nvPicPr>
        <p:blipFill>
          <a:blip r:embed="rId7"/>
          <a:stretch>
            <a:fillRect/>
          </a:stretch>
        </p:blipFill>
        <p:spPr>
          <a:xfrm>
            <a:off x="1060367" y="5949863"/>
            <a:ext cx="7579170" cy="3718882"/>
          </a:xfrm>
          <a:prstGeom prst="rect">
            <a:avLst/>
          </a:prstGeom>
          <a:ln>
            <a:solidFill>
              <a:schemeClr val="accent1"/>
            </a:solidFill>
          </a:ln>
        </p:spPr>
      </p:pic>
      <p:sp>
        <p:nvSpPr>
          <p:cNvPr id="34" name="TextBox 33">
            <a:extLst>
              <a:ext uri="{FF2B5EF4-FFF2-40B4-BE49-F238E27FC236}">
                <a16:creationId xmlns:a16="http://schemas.microsoft.com/office/drawing/2014/main" id="{F6AC7C3D-255B-467D-BB12-1C37D441D32A}"/>
              </a:ext>
            </a:extLst>
          </p:cNvPr>
          <p:cNvSpPr txBox="1"/>
          <p:nvPr/>
        </p:nvSpPr>
        <p:spPr>
          <a:xfrm>
            <a:off x="9829800" y="7137215"/>
            <a:ext cx="7384635" cy="969111"/>
          </a:xfrm>
          <a:prstGeom prst="rect">
            <a:avLst/>
          </a:prstGeom>
          <a:noFill/>
        </p:spPr>
        <p:txBody>
          <a:bodyPr wrap="square">
            <a:spAutoFit/>
          </a:bodyPr>
          <a:lstStyle/>
          <a:p>
            <a:r>
              <a:rPr lang="en-US" altLang="ko-KR" sz="1899" b="1">
                <a:solidFill>
                  <a:srgbClr val="FFFFFF"/>
                </a:solidFill>
                <a:latin typeface="Montserrat Medium"/>
              </a:rPr>
              <a:t>B&amp; s</a:t>
            </a:r>
            <a:r>
              <a:rPr lang="vi-VN" altLang="ko-KR" sz="1899" b="1">
                <a:solidFill>
                  <a:srgbClr val="FFFFFF"/>
                </a:solidFill>
                <a:latin typeface="Montserrat Medium"/>
              </a:rPr>
              <a:t>ở hữu rất nhiều bằng sáng chế độc quyền trong đó có bằng sáng chế độc quyền Alpha Melight có vị thế cạnh tranh cao về mặt công nghệ về mỹ phẩm</a:t>
            </a:r>
            <a:endParaRPr lang="en-US" altLang="ko-KR" sz="1899" b="1">
              <a:solidFill>
                <a:srgbClr val="FFFFFF"/>
              </a:solidFill>
              <a:latin typeface="Montserrat Medium"/>
            </a:endParaRPr>
          </a:p>
        </p:txBody>
      </p:sp>
      <p:sp>
        <p:nvSpPr>
          <p:cNvPr id="33" name="TextBox 22">
            <a:extLst>
              <a:ext uri="{FF2B5EF4-FFF2-40B4-BE49-F238E27FC236}">
                <a16:creationId xmlns:a16="http://schemas.microsoft.com/office/drawing/2014/main" id="{0575F680-227A-4075-A267-29CB44BC4823}"/>
              </a:ext>
            </a:extLst>
          </p:cNvPr>
          <p:cNvSpPr txBox="1"/>
          <p:nvPr/>
        </p:nvSpPr>
        <p:spPr>
          <a:xfrm>
            <a:off x="1260616" y="5006780"/>
            <a:ext cx="7401352" cy="319831"/>
          </a:xfrm>
          <a:prstGeom prst="rect">
            <a:avLst/>
          </a:prstGeom>
        </p:spPr>
        <p:txBody>
          <a:bodyPr wrap="square" lIns="0" tIns="0" rIns="0" bIns="0" rtlCol="0" anchor="t">
            <a:spAutoFit/>
          </a:bodyPr>
          <a:lstStyle/>
          <a:p>
            <a:pPr>
              <a:lnSpc>
                <a:spcPts val="2659"/>
              </a:lnSpc>
              <a:spcBef>
                <a:spcPct val="0"/>
              </a:spcBef>
            </a:pPr>
            <a:r>
              <a:rPr lang="en-US" sz="1899" b="1">
                <a:solidFill>
                  <a:srgbClr val="FFFFFF"/>
                </a:solidFill>
                <a:latin typeface="Montserrat Medium"/>
                <a:ea typeface="Montserrat Medium"/>
                <a:cs typeface="Montserrat Medium"/>
                <a:sym typeface="Montserrat Medium"/>
              </a:rPr>
              <a:t>Đứng đầu thế giới về sản lượng vi kim ở phân khúc cao cấp</a:t>
            </a:r>
            <a:endParaRPr lang="en-US" sz="1899" b="1" err="1">
              <a:solidFill>
                <a:srgbClr val="FFFFFF"/>
              </a:solidFill>
              <a:latin typeface="Montserrat Medium"/>
              <a:ea typeface="Montserrat Medium"/>
              <a:cs typeface="Montserrat Medium"/>
              <a:sym typeface="Montserrat Medium"/>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894865" y="2374164"/>
            <a:ext cx="5246370" cy="7912836"/>
            <a:chOff x="0" y="0"/>
            <a:chExt cx="812800" cy="1225905"/>
          </a:xfrm>
        </p:grpSpPr>
        <p:sp>
          <p:nvSpPr>
            <p:cNvPr id="8" name="Freeform 8"/>
            <p:cNvSpPr/>
            <p:nvPr/>
          </p:nvSpPr>
          <p:spPr>
            <a:xfrm>
              <a:off x="0" y="0"/>
              <a:ext cx="812800" cy="1225905"/>
            </a:xfrm>
            <a:custGeom>
              <a:avLst/>
              <a:gdLst/>
              <a:ahLst/>
              <a:cxnLst/>
              <a:rect l="l" t="t" r="r" b="b"/>
              <a:pathLst>
                <a:path w="812800" h="1225905">
                  <a:moveTo>
                    <a:pt x="0" y="0"/>
                  </a:moveTo>
                  <a:lnTo>
                    <a:pt x="812800" y="0"/>
                  </a:lnTo>
                  <a:lnTo>
                    <a:pt x="812800" y="1225905"/>
                  </a:lnTo>
                  <a:lnTo>
                    <a:pt x="0" y="1225905"/>
                  </a:lnTo>
                  <a:close/>
                </a:path>
              </a:pathLst>
            </a:custGeom>
            <a:blipFill>
              <a:blip r:embed="rId2"/>
              <a:stretch>
                <a:fillRect l="-4112" r="-6555"/>
              </a:stretch>
            </a:blipFill>
          </p:spPr>
        </p:sp>
      </p:grpSp>
      <p:sp>
        <p:nvSpPr>
          <p:cNvPr id="9" name="TextBox 9"/>
          <p:cNvSpPr txBox="1"/>
          <p:nvPr/>
        </p:nvSpPr>
        <p:spPr>
          <a:xfrm>
            <a:off x="7030058" y="3478438"/>
            <a:ext cx="10850089" cy="1273554"/>
          </a:xfrm>
          <a:prstGeom prst="rect">
            <a:avLst/>
          </a:prstGeom>
        </p:spPr>
        <p:txBody>
          <a:bodyPr lIns="0" tIns="0" rIns="0" bIns="0" rtlCol="0" anchor="t">
            <a:spAutoFit/>
          </a:bodyPr>
          <a:lstStyle/>
          <a:p>
            <a:pPr algn="l">
              <a:lnSpc>
                <a:spcPts val="11107"/>
              </a:lnSpc>
              <a:spcBef>
                <a:spcPct val="0"/>
              </a:spcBef>
            </a:pPr>
            <a:r>
              <a:rPr lang="en-US" sz="6500" b="1">
                <a:solidFill>
                  <a:srgbClr val="000000"/>
                </a:solidFill>
                <a:latin typeface="Montserrat Ultra-Bold"/>
                <a:ea typeface="Montserrat Ultra-Bold"/>
                <a:cs typeface="Montserrat Ultra-Bold"/>
                <a:sym typeface="Montserrat Ultra-Bold"/>
              </a:rPr>
              <a:t>II. SẢN PHẨM CHỦ ĐẠO</a:t>
            </a:r>
          </a:p>
        </p:txBody>
      </p:sp>
      <p:grpSp>
        <p:nvGrpSpPr>
          <p:cNvPr id="10" name="Group 2">
            <a:extLst>
              <a:ext uri="{FF2B5EF4-FFF2-40B4-BE49-F238E27FC236}">
                <a16:creationId xmlns:a16="http://schemas.microsoft.com/office/drawing/2014/main" id="{8A479757-A37D-F80F-DA1E-635BA13A612B}"/>
              </a:ext>
            </a:extLst>
          </p:cNvPr>
          <p:cNvGrpSpPr/>
          <p:nvPr/>
        </p:nvGrpSpPr>
        <p:grpSpPr>
          <a:xfrm>
            <a:off x="1028700" y="395218"/>
            <a:ext cx="17259300" cy="1078533"/>
            <a:chOff x="0" y="0"/>
            <a:chExt cx="23012400" cy="1438044"/>
          </a:xfrm>
        </p:grpSpPr>
        <p:sp>
          <p:nvSpPr>
            <p:cNvPr id="11" name="Freeform 3">
              <a:extLst>
                <a:ext uri="{FF2B5EF4-FFF2-40B4-BE49-F238E27FC236}">
                  <a16:creationId xmlns:a16="http://schemas.microsoft.com/office/drawing/2014/main" id="{EAE6FEF3-C969-02A3-F5FB-7D329022A135}"/>
                </a:ext>
              </a:extLst>
            </p:cNvPr>
            <p:cNvSpPr/>
            <p:nvPr/>
          </p:nvSpPr>
          <p:spPr>
            <a:xfrm>
              <a:off x="0" y="0"/>
              <a:ext cx="2937194" cy="1274008"/>
            </a:xfrm>
            <a:custGeom>
              <a:avLst/>
              <a:gdLst/>
              <a:ahLst/>
              <a:cxnLst/>
              <a:rect l="l" t="t" r="r" b="b"/>
              <a:pathLst>
                <a:path w="2937194" h="1274008">
                  <a:moveTo>
                    <a:pt x="0" y="0"/>
                  </a:moveTo>
                  <a:lnTo>
                    <a:pt x="2937194" y="0"/>
                  </a:lnTo>
                  <a:lnTo>
                    <a:pt x="2937194" y="1274008"/>
                  </a:lnTo>
                  <a:lnTo>
                    <a:pt x="0" y="1274008"/>
                  </a:lnTo>
                  <a:lnTo>
                    <a:pt x="0" y="0"/>
                  </a:lnTo>
                  <a:close/>
                </a:path>
              </a:pathLst>
            </a:custGeom>
            <a:blipFill>
              <a:blip r:embed="rId3"/>
              <a:stretch>
                <a:fillRect/>
              </a:stretch>
            </a:blipFill>
          </p:spPr>
        </p:sp>
        <p:sp>
          <p:nvSpPr>
            <p:cNvPr id="12" name="Freeform 4">
              <a:extLst>
                <a:ext uri="{FF2B5EF4-FFF2-40B4-BE49-F238E27FC236}">
                  <a16:creationId xmlns:a16="http://schemas.microsoft.com/office/drawing/2014/main" id="{A0A67A45-5470-A166-83DA-6572E3795E8F}"/>
                </a:ext>
              </a:extLst>
            </p:cNvPr>
            <p:cNvSpPr/>
            <p:nvPr/>
          </p:nvSpPr>
          <p:spPr>
            <a:xfrm>
              <a:off x="3134311" y="224397"/>
              <a:ext cx="2339750" cy="1036911"/>
            </a:xfrm>
            <a:custGeom>
              <a:avLst/>
              <a:gdLst/>
              <a:ahLst/>
              <a:cxnLst/>
              <a:rect l="l" t="t" r="r" b="b"/>
              <a:pathLst>
                <a:path w="2339750" h="1036911">
                  <a:moveTo>
                    <a:pt x="0" y="0"/>
                  </a:moveTo>
                  <a:lnTo>
                    <a:pt x="2339749" y="0"/>
                  </a:lnTo>
                  <a:lnTo>
                    <a:pt x="2339749" y="1036911"/>
                  </a:lnTo>
                  <a:lnTo>
                    <a:pt x="0" y="1036911"/>
                  </a:lnTo>
                  <a:lnTo>
                    <a:pt x="0" y="0"/>
                  </a:lnTo>
                  <a:close/>
                </a:path>
              </a:pathLst>
            </a:custGeom>
            <a:blipFill>
              <a:blip r:embed="rId4"/>
              <a:stretch>
                <a:fillRect l="-8002" t="-69970" b="-73732"/>
              </a:stretch>
            </a:blipFill>
          </p:spPr>
        </p:sp>
        <p:sp>
          <p:nvSpPr>
            <p:cNvPr id="13" name="AutoShape 5">
              <a:extLst>
                <a:ext uri="{FF2B5EF4-FFF2-40B4-BE49-F238E27FC236}">
                  <a16:creationId xmlns:a16="http://schemas.microsoft.com/office/drawing/2014/main" id="{81F1A1FC-0238-06FF-8D56-8EFDDEF8BC93}"/>
                </a:ext>
              </a:extLst>
            </p:cNvPr>
            <p:cNvSpPr/>
            <p:nvPr/>
          </p:nvSpPr>
          <p:spPr>
            <a:xfrm flipV="1">
              <a:off x="16552532" y="1299408"/>
              <a:ext cx="6459868" cy="0"/>
            </a:xfrm>
            <a:prstGeom prst="line">
              <a:avLst/>
            </a:prstGeom>
            <a:ln w="25400" cap="flat">
              <a:solidFill>
                <a:srgbClr val="000000"/>
              </a:solidFill>
              <a:prstDash val="solid"/>
              <a:headEnd type="none" w="sm" len="sm"/>
              <a:tailEnd type="none" w="sm" len="sm"/>
            </a:ln>
          </p:spPr>
        </p:sp>
        <p:sp>
          <p:nvSpPr>
            <p:cNvPr id="14" name="TextBox 6">
              <a:extLst>
                <a:ext uri="{FF2B5EF4-FFF2-40B4-BE49-F238E27FC236}">
                  <a16:creationId xmlns:a16="http://schemas.microsoft.com/office/drawing/2014/main" id="{B5FD3FC9-18E8-C7AB-A0FD-3ECD2FC2528F}"/>
                </a:ext>
              </a:extLst>
            </p:cNvPr>
            <p:cNvSpPr txBox="1"/>
            <p:nvPr/>
          </p:nvSpPr>
          <p:spPr>
            <a:xfrm>
              <a:off x="12954000" y="1088377"/>
              <a:ext cx="3934687" cy="349667"/>
            </a:xfrm>
            <a:prstGeom prst="rect">
              <a:avLst/>
            </a:prstGeom>
          </p:spPr>
          <p:txBody>
            <a:bodyPr wrap="square" lIns="0" tIns="0" rIns="0" bIns="0" rtlCol="0" anchor="t">
              <a:spAutoFit/>
            </a:bodyPr>
            <a:lstStyle/>
            <a:p>
              <a:pPr algn="ctr">
                <a:lnSpc>
                  <a:spcPts val="2239"/>
                </a:lnSpc>
                <a:spcBef>
                  <a:spcPct val="0"/>
                </a:spcBef>
              </a:pPr>
              <a:r>
                <a:rPr lang="en-US" sz="1599" b="1" i="1">
                  <a:solidFill>
                    <a:srgbClr val="000000"/>
                  </a:solidFill>
                  <a:latin typeface="Montserrat Semi-Bold" panose="020B0604020202020204" charset="0"/>
                  <a:ea typeface="Montserrat Medium Italics"/>
                  <a:cs typeface="Montserrat Medium Italics"/>
                  <a:sym typeface="Montserrat Medium Italics"/>
                </a:rPr>
                <a:t>THUẦN HOA GROUP</a:t>
              </a: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1028700" y="1663872"/>
            <a:ext cx="4938607" cy="7219923"/>
            <a:chOff x="0" y="0"/>
            <a:chExt cx="765120" cy="1118555"/>
          </a:xfrm>
        </p:grpSpPr>
        <p:sp>
          <p:nvSpPr>
            <p:cNvPr id="8" name="Freeform 8"/>
            <p:cNvSpPr/>
            <p:nvPr/>
          </p:nvSpPr>
          <p:spPr>
            <a:xfrm>
              <a:off x="0" y="0"/>
              <a:ext cx="765119" cy="1118555"/>
            </a:xfrm>
            <a:custGeom>
              <a:avLst/>
              <a:gdLst/>
              <a:ahLst/>
              <a:cxnLst/>
              <a:rect l="l" t="t" r="r" b="b"/>
              <a:pathLst>
                <a:path w="765119" h="1118555">
                  <a:moveTo>
                    <a:pt x="0" y="0"/>
                  </a:moveTo>
                  <a:lnTo>
                    <a:pt x="765119" y="0"/>
                  </a:lnTo>
                  <a:lnTo>
                    <a:pt x="765119" y="1118555"/>
                  </a:lnTo>
                  <a:lnTo>
                    <a:pt x="0" y="1118555"/>
                  </a:lnTo>
                  <a:close/>
                </a:path>
              </a:pathLst>
            </a:custGeom>
            <a:blipFill>
              <a:blip r:embed="rId2"/>
              <a:stretch>
                <a:fillRect l="-20766" t="-34040" r="-33531" b="-6684"/>
              </a:stretch>
            </a:blipFill>
          </p:spPr>
        </p:sp>
      </p:grpSp>
      <p:sp>
        <p:nvSpPr>
          <p:cNvPr id="9" name="Freeform 9"/>
          <p:cNvSpPr/>
          <p:nvPr/>
        </p:nvSpPr>
        <p:spPr>
          <a:xfrm>
            <a:off x="6357832" y="1663872"/>
            <a:ext cx="11463317" cy="699294"/>
          </a:xfrm>
          <a:custGeom>
            <a:avLst/>
            <a:gdLst/>
            <a:ahLst/>
            <a:cxnLst/>
            <a:rect l="l" t="t" r="r" b="b"/>
            <a:pathLst>
              <a:path w="11463317" h="699294">
                <a:moveTo>
                  <a:pt x="0" y="0"/>
                </a:moveTo>
                <a:lnTo>
                  <a:pt x="11463317" y="0"/>
                </a:lnTo>
                <a:lnTo>
                  <a:pt x="11463317" y="699294"/>
                </a:lnTo>
                <a:lnTo>
                  <a:pt x="0" y="699294"/>
                </a:lnTo>
                <a:lnTo>
                  <a:pt x="0" y="0"/>
                </a:lnTo>
                <a:close/>
              </a:path>
            </a:pathLst>
          </a:custGeom>
          <a:blipFill>
            <a:blip r:embed="rId3"/>
            <a:stretch>
              <a:fillRect l="-17427" t="-943" b="-125237"/>
            </a:stretch>
          </a:blipFill>
        </p:spPr>
      </p:sp>
      <p:sp>
        <p:nvSpPr>
          <p:cNvPr id="10" name="Freeform 10"/>
          <p:cNvSpPr/>
          <p:nvPr/>
        </p:nvSpPr>
        <p:spPr>
          <a:xfrm>
            <a:off x="6357832" y="5257251"/>
            <a:ext cx="1691066" cy="391612"/>
          </a:xfrm>
          <a:custGeom>
            <a:avLst/>
            <a:gdLst/>
            <a:ahLst/>
            <a:cxnLst/>
            <a:rect l="l" t="t" r="r" b="b"/>
            <a:pathLst>
              <a:path w="1691066" h="391612">
                <a:moveTo>
                  <a:pt x="0" y="0"/>
                </a:moveTo>
                <a:lnTo>
                  <a:pt x="1691066" y="0"/>
                </a:lnTo>
                <a:lnTo>
                  <a:pt x="1691066" y="391612"/>
                </a:lnTo>
                <a:lnTo>
                  <a:pt x="0" y="391612"/>
                </a:lnTo>
                <a:lnTo>
                  <a:pt x="0" y="0"/>
                </a:lnTo>
                <a:close/>
              </a:path>
            </a:pathLst>
          </a:custGeom>
          <a:blipFill>
            <a:blip r:embed="rId3"/>
            <a:stretch>
              <a:fillRect l="-66157" t="-943" r="-279617" b="-125237"/>
            </a:stretch>
          </a:blipFill>
        </p:spPr>
      </p:sp>
      <p:sp>
        <p:nvSpPr>
          <p:cNvPr id="12" name="Freeform 12"/>
          <p:cNvSpPr/>
          <p:nvPr/>
        </p:nvSpPr>
        <p:spPr>
          <a:xfrm>
            <a:off x="6293198" y="7056174"/>
            <a:ext cx="2048712" cy="391612"/>
          </a:xfrm>
          <a:custGeom>
            <a:avLst/>
            <a:gdLst/>
            <a:ahLst/>
            <a:cxnLst/>
            <a:rect l="l" t="t" r="r" b="b"/>
            <a:pathLst>
              <a:path w="2048712" h="391612">
                <a:moveTo>
                  <a:pt x="0" y="0"/>
                </a:moveTo>
                <a:lnTo>
                  <a:pt x="2048712" y="0"/>
                </a:lnTo>
                <a:lnTo>
                  <a:pt x="2048712" y="391612"/>
                </a:lnTo>
                <a:lnTo>
                  <a:pt x="0" y="391612"/>
                </a:lnTo>
                <a:lnTo>
                  <a:pt x="0" y="0"/>
                </a:lnTo>
                <a:close/>
              </a:path>
            </a:pathLst>
          </a:custGeom>
          <a:blipFill>
            <a:blip r:embed="rId3"/>
            <a:stretch>
              <a:fillRect l="-54608" t="-943" r="-213347" b="-125237"/>
            </a:stretch>
          </a:blipFill>
        </p:spPr>
      </p:sp>
      <p:sp>
        <p:nvSpPr>
          <p:cNvPr id="13" name="TextBox 13"/>
          <p:cNvSpPr txBox="1"/>
          <p:nvPr/>
        </p:nvSpPr>
        <p:spPr>
          <a:xfrm>
            <a:off x="6529157" y="1754109"/>
            <a:ext cx="9514736" cy="471195"/>
          </a:xfrm>
          <a:prstGeom prst="rect">
            <a:avLst/>
          </a:prstGeom>
        </p:spPr>
        <p:txBody>
          <a:bodyPr lIns="0" tIns="0" rIns="0" bIns="0" rtlCol="0" anchor="t">
            <a:spAutoFit/>
          </a:bodyPr>
          <a:lstStyle/>
          <a:p>
            <a:pPr algn="l">
              <a:lnSpc>
                <a:spcPts val="3953"/>
              </a:lnSpc>
              <a:spcBef>
                <a:spcPct val="0"/>
              </a:spcBef>
            </a:pPr>
            <a:r>
              <a:rPr lang="en-US" sz="2824" b="1">
                <a:solidFill>
                  <a:srgbClr val="FFFFFF"/>
                </a:solidFill>
                <a:latin typeface="Montserrat Bold"/>
                <a:ea typeface="Montserrat Bold"/>
                <a:cs typeface="Montserrat Bold"/>
                <a:sym typeface="Montserrat Bold"/>
              </a:rPr>
              <a:t>DR.CGF RETINAL </a:t>
            </a:r>
            <a:r>
              <a:rPr lang="en-US" sz="2824" b="1">
                <a:solidFill>
                  <a:srgbClr val="6C90FF"/>
                </a:solidFill>
                <a:latin typeface="Montserrat Bold"/>
                <a:ea typeface="Montserrat Bold"/>
                <a:cs typeface="Montserrat Bold"/>
                <a:sym typeface="Montserrat Bold"/>
              </a:rPr>
              <a:t>BAKUCHOIL CREAM</a:t>
            </a:r>
          </a:p>
        </p:txBody>
      </p:sp>
      <p:sp>
        <p:nvSpPr>
          <p:cNvPr id="15" name="TextBox 15"/>
          <p:cNvSpPr txBox="1"/>
          <p:nvPr/>
        </p:nvSpPr>
        <p:spPr>
          <a:xfrm>
            <a:off x="6332432" y="3359906"/>
            <a:ext cx="11202286" cy="1393971"/>
          </a:xfrm>
          <a:prstGeom prst="rect">
            <a:avLst/>
          </a:prstGeom>
        </p:spPr>
        <p:txBody>
          <a:bodyPr lIns="0" tIns="0" rIns="0" bIns="0" rtlCol="0" anchor="t">
            <a:spAutoFit/>
          </a:bodyPr>
          <a:lstStyle/>
          <a:p>
            <a:pPr algn="l">
              <a:lnSpc>
                <a:spcPts val="2209"/>
              </a:lnSpc>
            </a:pPr>
            <a:r>
              <a:rPr lang="en-US" sz="1699" b="1" spc="-61">
                <a:solidFill>
                  <a:srgbClr val="000000"/>
                </a:solidFill>
                <a:latin typeface="Montserrat Medium"/>
                <a:ea typeface="Montserrat Medium"/>
                <a:cs typeface="Montserrat Medium"/>
                <a:sym typeface="Montserrat Medium"/>
              </a:rPr>
              <a:t>Retinal Bakuchiol Cream – Trẻ hoá tái tạo da, giúp hỗ trợ xử lý gốc mụn, điều hoà sừng hoá, giảm viêm và phục hồi hàng rào da. </a:t>
            </a:r>
          </a:p>
          <a:p>
            <a:pPr algn="l">
              <a:lnSpc>
                <a:spcPts val="2209"/>
              </a:lnSpc>
            </a:pPr>
            <a:r>
              <a:rPr lang="en-US" sz="1699" b="1" spc="-61">
                <a:solidFill>
                  <a:srgbClr val="000000"/>
                </a:solidFill>
                <a:latin typeface="Montserrat Medium"/>
                <a:ea typeface="Montserrat Medium"/>
                <a:cs typeface="Montserrat Medium"/>
                <a:sym typeface="Montserrat Medium"/>
              </a:rPr>
              <a:t>Công thức cân bằng giữa hiệu quả mạnh và độ an toàn cao, hỗ trợ da sáng khoẻ, mịn màng và trẻ hoá, giảm nhăn bền vững.</a:t>
            </a:r>
          </a:p>
          <a:p>
            <a:pPr>
              <a:lnSpc>
                <a:spcPts val="2209"/>
              </a:lnSpc>
            </a:pPr>
            <a:r>
              <a:rPr lang="en-US" sz="1699" b="1" spc="-61">
                <a:solidFill>
                  <a:srgbClr val="000000"/>
                </a:solidFill>
                <a:latin typeface="Montserrat Medium"/>
                <a:ea typeface="Montserrat Medium"/>
                <a:cs typeface="Montserrat Medium"/>
                <a:sym typeface="Montserrat Medium"/>
              </a:rPr>
              <a:t>Sở hữu công nghệ exosome và hoạt chất vàng trẻ hóa ở cấp độ tế bào</a:t>
            </a:r>
          </a:p>
        </p:txBody>
      </p:sp>
      <p:sp>
        <p:nvSpPr>
          <p:cNvPr id="16" name="TextBox 16"/>
          <p:cNvSpPr txBox="1"/>
          <p:nvPr/>
        </p:nvSpPr>
        <p:spPr>
          <a:xfrm>
            <a:off x="6194840" y="6242821"/>
            <a:ext cx="6524710" cy="323165"/>
          </a:xfrm>
          <a:prstGeom prst="rect">
            <a:avLst/>
          </a:prstGeom>
        </p:spPr>
        <p:txBody>
          <a:bodyPr lIns="0" tIns="0" rIns="0" bIns="0" rtlCol="0" anchor="t">
            <a:spAutoFit/>
          </a:bodyPr>
          <a:lstStyle/>
          <a:p>
            <a:pPr algn="l">
              <a:lnSpc>
                <a:spcPts val="2753"/>
              </a:lnSpc>
            </a:pPr>
            <a:r>
              <a:rPr lang="en-US" sz="1699" b="1" spc="-61">
                <a:solidFill>
                  <a:srgbClr val="000000"/>
                </a:solidFill>
                <a:latin typeface="Montserrat Medium"/>
                <a:ea typeface="Montserrat Medium"/>
                <a:cs typeface="Montserrat Medium"/>
                <a:sym typeface="Montserrat Medium"/>
              </a:rPr>
              <a:t>Hũ ấn chân không 50g ( 1.76 oz ).</a:t>
            </a:r>
          </a:p>
        </p:txBody>
      </p:sp>
      <p:sp>
        <p:nvSpPr>
          <p:cNvPr id="17" name="TextBox 17"/>
          <p:cNvSpPr txBox="1"/>
          <p:nvPr/>
        </p:nvSpPr>
        <p:spPr>
          <a:xfrm>
            <a:off x="6595368" y="5272717"/>
            <a:ext cx="1215994" cy="318897"/>
          </a:xfrm>
          <a:prstGeom prst="rect">
            <a:avLst/>
          </a:prstGeom>
        </p:spPr>
        <p:txBody>
          <a:bodyPr lIns="0" tIns="0" rIns="0" bIns="0" rtlCol="0" anchor="t">
            <a:spAutoFit/>
          </a:bodyPr>
          <a:lstStyle/>
          <a:p>
            <a:pPr algn="l">
              <a:lnSpc>
                <a:spcPts val="2753"/>
              </a:lnSpc>
            </a:pPr>
            <a:r>
              <a:rPr lang="en-US" sz="1699" b="1" spc="-61">
                <a:solidFill>
                  <a:srgbClr val="FFFFFF"/>
                </a:solidFill>
                <a:latin typeface="Montserrat Bold"/>
                <a:ea typeface="Montserrat Bold"/>
                <a:cs typeface="Montserrat Bold"/>
                <a:sym typeface="Montserrat Bold"/>
              </a:rPr>
              <a:t>QUY CÁCH</a:t>
            </a:r>
          </a:p>
        </p:txBody>
      </p:sp>
      <p:sp>
        <p:nvSpPr>
          <p:cNvPr id="19" name="TextBox 19"/>
          <p:cNvSpPr txBox="1"/>
          <p:nvPr/>
        </p:nvSpPr>
        <p:spPr>
          <a:xfrm>
            <a:off x="6357832" y="6038422"/>
            <a:ext cx="1388272" cy="318897"/>
          </a:xfrm>
          <a:prstGeom prst="rect">
            <a:avLst/>
          </a:prstGeom>
        </p:spPr>
        <p:txBody>
          <a:bodyPr lIns="0" tIns="0" rIns="0" bIns="0" rtlCol="0" anchor="t">
            <a:spAutoFit/>
          </a:bodyPr>
          <a:lstStyle/>
          <a:p>
            <a:pPr algn="l">
              <a:lnSpc>
                <a:spcPts val="2753"/>
              </a:lnSpc>
            </a:pPr>
            <a:r>
              <a:rPr lang="en-US" sz="1699" b="1" spc="-61">
                <a:solidFill>
                  <a:srgbClr val="FFFFFF"/>
                </a:solidFill>
                <a:latin typeface="Montserrat Ultra-Bold"/>
                <a:ea typeface="Montserrat Ultra-Bold"/>
                <a:cs typeface="Montserrat Ultra-Bold"/>
                <a:sym typeface="Montserrat Ultra-Bold"/>
              </a:rPr>
              <a:t>CÁCH DÙNG</a:t>
            </a:r>
          </a:p>
        </p:txBody>
      </p:sp>
      <p:sp>
        <p:nvSpPr>
          <p:cNvPr id="20" name="TextBox 20"/>
          <p:cNvSpPr txBox="1"/>
          <p:nvPr/>
        </p:nvSpPr>
        <p:spPr>
          <a:xfrm>
            <a:off x="6244267" y="7784539"/>
            <a:ext cx="1918196" cy="549910"/>
          </a:xfrm>
          <a:prstGeom prst="rect">
            <a:avLst/>
          </a:prstGeom>
        </p:spPr>
        <p:txBody>
          <a:bodyPr lIns="0" tIns="0" rIns="0" bIns="0" rtlCol="0" anchor="t">
            <a:spAutoFit/>
          </a:bodyPr>
          <a:lstStyle/>
          <a:p>
            <a:pPr marL="367029" lvl="1" indent="-183514" algn="l">
              <a:lnSpc>
                <a:spcPts val="2209"/>
              </a:lnSpc>
              <a:buFont typeface="Arial"/>
              <a:buChar char="•"/>
            </a:pPr>
            <a:r>
              <a:rPr lang="en-US" sz="1699" b="1" spc="-61">
                <a:solidFill>
                  <a:srgbClr val="000000"/>
                </a:solidFill>
                <a:latin typeface="Montserrat Medium"/>
                <a:ea typeface="Montserrat Medium"/>
                <a:cs typeface="Montserrat Medium"/>
                <a:sym typeface="Montserrat Medium"/>
              </a:rPr>
              <a:t>Da dầu mụn.</a:t>
            </a:r>
          </a:p>
          <a:p>
            <a:pPr marL="367029" lvl="1" indent="-183514" algn="l">
              <a:lnSpc>
                <a:spcPts val="2209"/>
              </a:lnSpc>
              <a:buFont typeface="Arial"/>
              <a:buChar char="•"/>
            </a:pPr>
            <a:r>
              <a:rPr lang="en-US" sz="1699" b="1" spc="-61">
                <a:solidFill>
                  <a:srgbClr val="000000"/>
                </a:solidFill>
                <a:latin typeface="Montserrat Medium"/>
                <a:ea typeface="Montserrat Medium"/>
                <a:cs typeface="Montserrat Medium"/>
                <a:sym typeface="Montserrat Medium"/>
              </a:rPr>
              <a:t>Da dày sừng.</a:t>
            </a:r>
          </a:p>
        </p:txBody>
      </p:sp>
      <p:sp>
        <p:nvSpPr>
          <p:cNvPr id="21" name="TextBox 21"/>
          <p:cNvSpPr txBox="1"/>
          <p:nvPr/>
        </p:nvSpPr>
        <p:spPr>
          <a:xfrm>
            <a:off x="8110956" y="7796631"/>
            <a:ext cx="1918196" cy="549910"/>
          </a:xfrm>
          <a:prstGeom prst="rect">
            <a:avLst/>
          </a:prstGeom>
        </p:spPr>
        <p:txBody>
          <a:bodyPr lIns="0" tIns="0" rIns="0" bIns="0" rtlCol="0" anchor="t">
            <a:spAutoFit/>
          </a:bodyPr>
          <a:lstStyle/>
          <a:p>
            <a:pPr marL="367029" lvl="1" indent="-183514" algn="l">
              <a:lnSpc>
                <a:spcPts val="2209"/>
              </a:lnSpc>
              <a:buFont typeface="Arial"/>
              <a:buChar char="•"/>
            </a:pPr>
            <a:r>
              <a:rPr lang="en-US" sz="1699" b="1" spc="-61">
                <a:solidFill>
                  <a:srgbClr val="000000"/>
                </a:solidFill>
                <a:latin typeface="Montserrat Medium"/>
                <a:ea typeface="Montserrat Medium"/>
                <a:cs typeface="Montserrat Medium"/>
                <a:sym typeface="Montserrat Medium"/>
              </a:rPr>
              <a:t>Da lão hoá.</a:t>
            </a:r>
          </a:p>
          <a:p>
            <a:pPr marL="367029" lvl="1" indent="-183514" algn="l">
              <a:lnSpc>
                <a:spcPts val="2209"/>
              </a:lnSpc>
              <a:buFont typeface="Arial"/>
              <a:buChar char="•"/>
            </a:pPr>
            <a:r>
              <a:rPr lang="en-US" sz="1699" b="1" spc="-61">
                <a:solidFill>
                  <a:srgbClr val="000000"/>
                </a:solidFill>
                <a:latin typeface="Montserrat Medium"/>
                <a:ea typeface="Montserrat Medium"/>
                <a:cs typeface="Montserrat Medium"/>
                <a:sym typeface="Montserrat Medium"/>
              </a:rPr>
              <a:t>Da khô nám.</a:t>
            </a:r>
          </a:p>
        </p:txBody>
      </p:sp>
      <p:sp>
        <p:nvSpPr>
          <p:cNvPr id="22" name="TextBox 22"/>
          <p:cNvSpPr txBox="1"/>
          <p:nvPr/>
        </p:nvSpPr>
        <p:spPr>
          <a:xfrm>
            <a:off x="6491064" y="7054391"/>
            <a:ext cx="1811176" cy="318897"/>
          </a:xfrm>
          <a:prstGeom prst="rect">
            <a:avLst/>
          </a:prstGeom>
        </p:spPr>
        <p:txBody>
          <a:bodyPr lIns="0" tIns="0" rIns="0" bIns="0" rtlCol="0" anchor="t">
            <a:spAutoFit/>
          </a:bodyPr>
          <a:lstStyle/>
          <a:p>
            <a:pPr algn="l">
              <a:lnSpc>
                <a:spcPts val="2753"/>
              </a:lnSpc>
            </a:pPr>
            <a:r>
              <a:rPr lang="en-US" sz="1699" b="1" spc="-61">
                <a:solidFill>
                  <a:srgbClr val="FFFFFF"/>
                </a:solidFill>
                <a:latin typeface="Montserrat Ultra-Bold"/>
                <a:ea typeface="Montserrat Ultra-Bold"/>
                <a:cs typeface="Montserrat Ultra-Bold"/>
                <a:sym typeface="Montserrat Ultra-Bold"/>
              </a:rPr>
              <a:t>DÀNH CHO DA</a:t>
            </a:r>
          </a:p>
        </p:txBody>
      </p:sp>
      <p:grpSp>
        <p:nvGrpSpPr>
          <p:cNvPr id="23" name="Group 2">
            <a:extLst>
              <a:ext uri="{FF2B5EF4-FFF2-40B4-BE49-F238E27FC236}">
                <a16:creationId xmlns:a16="http://schemas.microsoft.com/office/drawing/2014/main" id="{5F82AF60-3249-4E2E-5F0B-F0A17D996576}"/>
              </a:ext>
            </a:extLst>
          </p:cNvPr>
          <p:cNvGrpSpPr/>
          <p:nvPr/>
        </p:nvGrpSpPr>
        <p:grpSpPr>
          <a:xfrm>
            <a:off x="1028700" y="395218"/>
            <a:ext cx="17259300" cy="1078533"/>
            <a:chOff x="0" y="0"/>
            <a:chExt cx="23012400" cy="1438044"/>
          </a:xfrm>
        </p:grpSpPr>
        <p:sp>
          <p:nvSpPr>
            <p:cNvPr id="24" name="Freeform 3">
              <a:extLst>
                <a:ext uri="{FF2B5EF4-FFF2-40B4-BE49-F238E27FC236}">
                  <a16:creationId xmlns:a16="http://schemas.microsoft.com/office/drawing/2014/main" id="{2B5AFCDB-B0C9-7049-864A-234517A34CC4}"/>
                </a:ext>
              </a:extLst>
            </p:cNvPr>
            <p:cNvSpPr/>
            <p:nvPr/>
          </p:nvSpPr>
          <p:spPr>
            <a:xfrm>
              <a:off x="0" y="0"/>
              <a:ext cx="2937194" cy="1274008"/>
            </a:xfrm>
            <a:custGeom>
              <a:avLst/>
              <a:gdLst/>
              <a:ahLst/>
              <a:cxnLst/>
              <a:rect l="l" t="t" r="r" b="b"/>
              <a:pathLst>
                <a:path w="2937194" h="1274008">
                  <a:moveTo>
                    <a:pt x="0" y="0"/>
                  </a:moveTo>
                  <a:lnTo>
                    <a:pt x="2937194" y="0"/>
                  </a:lnTo>
                  <a:lnTo>
                    <a:pt x="2937194" y="1274008"/>
                  </a:lnTo>
                  <a:lnTo>
                    <a:pt x="0" y="1274008"/>
                  </a:lnTo>
                  <a:lnTo>
                    <a:pt x="0" y="0"/>
                  </a:lnTo>
                  <a:close/>
                </a:path>
              </a:pathLst>
            </a:custGeom>
            <a:blipFill>
              <a:blip r:embed="rId4"/>
              <a:stretch>
                <a:fillRect/>
              </a:stretch>
            </a:blipFill>
          </p:spPr>
        </p:sp>
        <p:sp>
          <p:nvSpPr>
            <p:cNvPr id="25" name="Freeform 4">
              <a:extLst>
                <a:ext uri="{FF2B5EF4-FFF2-40B4-BE49-F238E27FC236}">
                  <a16:creationId xmlns:a16="http://schemas.microsoft.com/office/drawing/2014/main" id="{A6798415-136F-6DBE-8ABA-2D348C5C7A06}"/>
                </a:ext>
              </a:extLst>
            </p:cNvPr>
            <p:cNvSpPr/>
            <p:nvPr/>
          </p:nvSpPr>
          <p:spPr>
            <a:xfrm>
              <a:off x="3134311" y="224397"/>
              <a:ext cx="2339750" cy="1036911"/>
            </a:xfrm>
            <a:custGeom>
              <a:avLst/>
              <a:gdLst/>
              <a:ahLst/>
              <a:cxnLst/>
              <a:rect l="l" t="t" r="r" b="b"/>
              <a:pathLst>
                <a:path w="2339750" h="1036911">
                  <a:moveTo>
                    <a:pt x="0" y="0"/>
                  </a:moveTo>
                  <a:lnTo>
                    <a:pt x="2339749" y="0"/>
                  </a:lnTo>
                  <a:lnTo>
                    <a:pt x="2339749" y="1036911"/>
                  </a:lnTo>
                  <a:lnTo>
                    <a:pt x="0" y="1036911"/>
                  </a:lnTo>
                  <a:lnTo>
                    <a:pt x="0" y="0"/>
                  </a:lnTo>
                  <a:close/>
                </a:path>
              </a:pathLst>
            </a:custGeom>
            <a:blipFill>
              <a:blip r:embed="rId5"/>
              <a:stretch>
                <a:fillRect l="-8002" t="-69970" b="-73732"/>
              </a:stretch>
            </a:blipFill>
          </p:spPr>
        </p:sp>
        <p:sp>
          <p:nvSpPr>
            <p:cNvPr id="26" name="AutoShape 5">
              <a:extLst>
                <a:ext uri="{FF2B5EF4-FFF2-40B4-BE49-F238E27FC236}">
                  <a16:creationId xmlns:a16="http://schemas.microsoft.com/office/drawing/2014/main" id="{5236E6AF-996D-107F-CB23-B6631089921B}"/>
                </a:ext>
              </a:extLst>
            </p:cNvPr>
            <p:cNvSpPr/>
            <p:nvPr/>
          </p:nvSpPr>
          <p:spPr>
            <a:xfrm flipV="1">
              <a:off x="16552532" y="1299408"/>
              <a:ext cx="6459868" cy="0"/>
            </a:xfrm>
            <a:prstGeom prst="line">
              <a:avLst/>
            </a:prstGeom>
            <a:ln w="25400" cap="flat">
              <a:solidFill>
                <a:srgbClr val="000000"/>
              </a:solidFill>
              <a:prstDash val="solid"/>
              <a:headEnd type="none" w="sm" len="sm"/>
              <a:tailEnd type="none" w="sm" len="sm"/>
            </a:ln>
          </p:spPr>
        </p:sp>
        <p:sp>
          <p:nvSpPr>
            <p:cNvPr id="27" name="TextBox 6">
              <a:extLst>
                <a:ext uri="{FF2B5EF4-FFF2-40B4-BE49-F238E27FC236}">
                  <a16:creationId xmlns:a16="http://schemas.microsoft.com/office/drawing/2014/main" id="{709A4A46-A836-256A-30BF-47EFCAF1D0AA}"/>
                </a:ext>
              </a:extLst>
            </p:cNvPr>
            <p:cNvSpPr txBox="1"/>
            <p:nvPr/>
          </p:nvSpPr>
          <p:spPr>
            <a:xfrm>
              <a:off x="12954000" y="1088377"/>
              <a:ext cx="3934687" cy="349667"/>
            </a:xfrm>
            <a:prstGeom prst="rect">
              <a:avLst/>
            </a:prstGeom>
          </p:spPr>
          <p:txBody>
            <a:bodyPr wrap="square" lIns="0" tIns="0" rIns="0" bIns="0" rtlCol="0" anchor="t">
              <a:spAutoFit/>
            </a:bodyPr>
            <a:lstStyle/>
            <a:p>
              <a:pPr algn="ctr">
                <a:lnSpc>
                  <a:spcPts val="2239"/>
                </a:lnSpc>
                <a:spcBef>
                  <a:spcPct val="0"/>
                </a:spcBef>
              </a:pPr>
              <a:r>
                <a:rPr lang="en-US" sz="1599" b="1" i="1">
                  <a:solidFill>
                    <a:srgbClr val="000000"/>
                  </a:solidFill>
                  <a:latin typeface="Montserrat Semi-Bold" panose="020B0604020202020204" charset="0"/>
                  <a:ea typeface="Montserrat Medium Italics"/>
                  <a:cs typeface="Montserrat Medium Italics"/>
                  <a:sym typeface="Montserrat Medium Italics"/>
                </a:rPr>
                <a:t>THUẦN HOA GROUP</a:t>
              </a:r>
            </a:p>
          </p:txBody>
        </p:sp>
      </p:grpSp>
      <p:sp>
        <p:nvSpPr>
          <p:cNvPr id="28" name="Freeform 10">
            <a:extLst>
              <a:ext uri="{FF2B5EF4-FFF2-40B4-BE49-F238E27FC236}">
                <a16:creationId xmlns:a16="http://schemas.microsoft.com/office/drawing/2014/main" id="{8B15E97E-2760-4895-BFE7-E16045149241}"/>
              </a:ext>
            </a:extLst>
          </p:cNvPr>
          <p:cNvSpPr/>
          <p:nvPr/>
        </p:nvSpPr>
        <p:spPr>
          <a:xfrm>
            <a:off x="6357832" y="2672242"/>
            <a:ext cx="1691066" cy="391612"/>
          </a:xfrm>
          <a:custGeom>
            <a:avLst/>
            <a:gdLst/>
            <a:ahLst/>
            <a:cxnLst/>
            <a:rect l="l" t="t" r="r" b="b"/>
            <a:pathLst>
              <a:path w="1691066" h="391612">
                <a:moveTo>
                  <a:pt x="0" y="0"/>
                </a:moveTo>
                <a:lnTo>
                  <a:pt x="1691066" y="0"/>
                </a:lnTo>
                <a:lnTo>
                  <a:pt x="1691066" y="391612"/>
                </a:lnTo>
                <a:lnTo>
                  <a:pt x="0" y="391612"/>
                </a:lnTo>
                <a:lnTo>
                  <a:pt x="0" y="0"/>
                </a:lnTo>
                <a:close/>
              </a:path>
            </a:pathLst>
          </a:custGeom>
          <a:blipFill>
            <a:blip r:embed="rId3"/>
            <a:stretch>
              <a:fillRect l="-66157" t="-943" r="-279617" b="-125237"/>
            </a:stretch>
          </a:blipFill>
        </p:spPr>
      </p:sp>
      <p:sp>
        <p:nvSpPr>
          <p:cNvPr id="29" name="TextBox 28">
            <a:extLst>
              <a:ext uri="{FF2B5EF4-FFF2-40B4-BE49-F238E27FC236}">
                <a16:creationId xmlns:a16="http://schemas.microsoft.com/office/drawing/2014/main" id="{D2770D0E-D172-4EEC-8C4E-1F66701A7A46}"/>
              </a:ext>
            </a:extLst>
          </p:cNvPr>
          <p:cNvSpPr txBox="1"/>
          <p:nvPr/>
        </p:nvSpPr>
        <p:spPr>
          <a:xfrm>
            <a:off x="6482143" y="2682428"/>
            <a:ext cx="1691065" cy="353815"/>
          </a:xfrm>
          <a:prstGeom prst="rect">
            <a:avLst/>
          </a:prstGeom>
          <a:noFill/>
        </p:spPr>
        <p:txBody>
          <a:bodyPr wrap="square">
            <a:spAutoFit/>
          </a:bodyPr>
          <a:lstStyle/>
          <a:p>
            <a:r>
              <a:rPr lang="en-US" sz="1699" b="1" spc="-61">
                <a:solidFill>
                  <a:srgbClr val="FFFFFF"/>
                </a:solidFill>
                <a:latin typeface="Montserrat Ultra-Bold"/>
                <a:sym typeface="Montserrat Ultra-Bold"/>
              </a:rPr>
              <a:t>CÔNG DỤNG</a:t>
            </a:r>
            <a:endParaRPr lang="en-US"/>
          </a:p>
        </p:txBody>
      </p:sp>
      <p:sp>
        <p:nvSpPr>
          <p:cNvPr id="30" name="AutoShape 22">
            <a:extLst>
              <a:ext uri="{FF2B5EF4-FFF2-40B4-BE49-F238E27FC236}">
                <a16:creationId xmlns:a16="http://schemas.microsoft.com/office/drawing/2014/main" id="{89569F01-5B2E-41C9-BD3A-F0B8EC526676}"/>
              </a:ext>
            </a:extLst>
          </p:cNvPr>
          <p:cNvSpPr/>
          <p:nvPr/>
        </p:nvSpPr>
        <p:spPr>
          <a:xfrm flipH="1">
            <a:off x="9814608" y="5310397"/>
            <a:ext cx="5495" cy="3487987"/>
          </a:xfrm>
          <a:prstGeom prst="line">
            <a:avLst/>
          </a:prstGeom>
          <a:ln w="19050" cap="flat">
            <a:solidFill>
              <a:srgbClr val="000000"/>
            </a:solidFill>
            <a:prstDash val="solid"/>
            <a:headEnd type="none" w="sm" len="sm"/>
            <a:tailEnd type="none" w="sm" len="sm"/>
          </a:ln>
        </p:spPr>
      </p:sp>
      <p:sp>
        <p:nvSpPr>
          <p:cNvPr id="31" name="Freeform 8">
            <a:extLst>
              <a:ext uri="{FF2B5EF4-FFF2-40B4-BE49-F238E27FC236}">
                <a16:creationId xmlns:a16="http://schemas.microsoft.com/office/drawing/2014/main" id="{7F5078D6-DEB5-4315-AA35-18470DAA0392}"/>
              </a:ext>
            </a:extLst>
          </p:cNvPr>
          <p:cNvSpPr/>
          <p:nvPr/>
        </p:nvSpPr>
        <p:spPr>
          <a:xfrm>
            <a:off x="10835181" y="5236359"/>
            <a:ext cx="2508617" cy="391612"/>
          </a:xfrm>
          <a:custGeom>
            <a:avLst/>
            <a:gdLst/>
            <a:ahLst/>
            <a:cxnLst/>
            <a:rect l="l" t="t" r="r" b="b"/>
            <a:pathLst>
              <a:path w="2508617" h="391612">
                <a:moveTo>
                  <a:pt x="0" y="0"/>
                </a:moveTo>
                <a:lnTo>
                  <a:pt x="2508617" y="0"/>
                </a:lnTo>
                <a:lnTo>
                  <a:pt x="2508617" y="391612"/>
                </a:lnTo>
                <a:lnTo>
                  <a:pt x="0" y="391612"/>
                </a:lnTo>
                <a:lnTo>
                  <a:pt x="0" y="0"/>
                </a:lnTo>
                <a:close/>
              </a:path>
            </a:pathLst>
          </a:custGeom>
          <a:blipFill>
            <a:blip r:embed="rId3"/>
            <a:stretch>
              <a:fillRect l="-44596" t="-943" r="-155901" b="-125237"/>
            </a:stretch>
          </a:blipFill>
        </p:spPr>
      </p:sp>
      <p:sp>
        <p:nvSpPr>
          <p:cNvPr id="33" name="TextBox 11">
            <a:extLst>
              <a:ext uri="{FF2B5EF4-FFF2-40B4-BE49-F238E27FC236}">
                <a16:creationId xmlns:a16="http://schemas.microsoft.com/office/drawing/2014/main" id="{E26E13DA-3D89-438B-A5F4-294AE73D630E}"/>
              </a:ext>
            </a:extLst>
          </p:cNvPr>
          <p:cNvSpPr txBox="1"/>
          <p:nvPr/>
        </p:nvSpPr>
        <p:spPr>
          <a:xfrm>
            <a:off x="9915587" y="5591614"/>
            <a:ext cx="8484590" cy="2836674"/>
          </a:xfrm>
          <a:prstGeom prst="rect">
            <a:avLst/>
          </a:prstGeom>
        </p:spPr>
        <p:txBody>
          <a:bodyPr wrap="square" lIns="0" tIns="0" rIns="0" bIns="0" rtlCol="0" anchor="t">
            <a:spAutoFit/>
          </a:bodyPr>
          <a:lstStyle/>
          <a:p>
            <a:pPr algn="l">
              <a:lnSpc>
                <a:spcPts val="2753"/>
              </a:lnSpc>
            </a:pPr>
            <a:r>
              <a:rPr lang="en-US" sz="1699" b="1" i="1" spc="-61">
                <a:solidFill>
                  <a:srgbClr val="000000"/>
                </a:solidFill>
                <a:latin typeface="Montserrat Bold Italics"/>
                <a:ea typeface="Montserrat Bold Italics"/>
                <a:cs typeface="Montserrat Bold Italics"/>
                <a:sym typeface="Montserrat Bold Italics"/>
              </a:rPr>
              <a:t>  </a:t>
            </a:r>
          </a:p>
          <a:p>
            <a:pPr marL="367029" lvl="1" indent="-183514" algn="l">
              <a:lnSpc>
                <a:spcPts val="2753"/>
              </a:lnSpc>
              <a:buFont typeface="Arial"/>
              <a:buChar char="•"/>
            </a:pPr>
            <a:r>
              <a:rPr lang="en-US" sz="1699" b="1" spc="-61">
                <a:solidFill>
                  <a:srgbClr val="000000"/>
                </a:solidFill>
                <a:latin typeface="Montserrat Medium"/>
                <a:ea typeface="Montserrat Medium"/>
                <a:cs typeface="Montserrat Medium"/>
                <a:sym typeface="Montserrat Medium"/>
              </a:rPr>
              <a:t>Retinal chỉ sử dụng buổi tối không sử dụng và ban ngày và tránh nhiệt độ cao. </a:t>
            </a:r>
          </a:p>
          <a:p>
            <a:pPr marL="367029" lvl="1" indent="-183514" algn="l">
              <a:lnSpc>
                <a:spcPts val="2753"/>
              </a:lnSpc>
              <a:buFont typeface="Arial"/>
              <a:buChar char="•"/>
            </a:pPr>
            <a:r>
              <a:rPr lang="en-US" sz="1699" b="1" spc="-61">
                <a:solidFill>
                  <a:srgbClr val="000000"/>
                </a:solidFill>
                <a:latin typeface="Montserrat Medium"/>
                <a:ea typeface="Montserrat Medium"/>
                <a:cs typeface="Montserrat Medium"/>
                <a:sym typeface="Montserrat Medium"/>
              </a:rPr>
              <a:t>Retinal sử dụng trên nền da khô:</a:t>
            </a:r>
          </a:p>
          <a:p>
            <a:pPr marL="367029" lvl="1" indent="-183514" algn="l">
              <a:lnSpc>
                <a:spcPts val="2753"/>
              </a:lnSpc>
              <a:buFont typeface="Arial"/>
              <a:buChar char="•"/>
            </a:pPr>
            <a:r>
              <a:rPr lang="en-US" sz="1699" b="1" spc="-61">
                <a:solidFill>
                  <a:srgbClr val="000000"/>
                </a:solidFill>
                <a:latin typeface="Montserrat Medium"/>
                <a:ea typeface="Montserrat Medium"/>
                <a:cs typeface="Montserrat Medium"/>
                <a:sym typeface="Montserrat Medium"/>
              </a:rPr>
              <a:t>Bắt đầu bằng một lượng rất nhỏ: chỉ 01 hạt đậu xanh cho toàn bộ khuôn mặt</a:t>
            </a:r>
          </a:p>
          <a:p>
            <a:pPr marL="367029" lvl="1" indent="-183514" algn="l">
              <a:lnSpc>
                <a:spcPts val="2753"/>
              </a:lnSpc>
              <a:buFont typeface="Arial"/>
              <a:buChar char="•"/>
            </a:pPr>
            <a:r>
              <a:rPr lang="en-US" sz="1699" b="1" spc="-61">
                <a:solidFill>
                  <a:srgbClr val="000000"/>
                </a:solidFill>
                <a:latin typeface="Montserrat Medium"/>
                <a:ea typeface="Montserrat Medium"/>
                <a:cs typeface="Montserrat Medium"/>
                <a:sym typeface="Montserrat Medium"/>
              </a:rPr>
              <a:t> Tuyệt đối không dùng Retinal trần. </a:t>
            </a:r>
          </a:p>
          <a:p>
            <a:pPr marL="367029" lvl="1" indent="-183514" algn="l">
              <a:lnSpc>
                <a:spcPts val="2753"/>
              </a:lnSpc>
              <a:buFont typeface="Arial"/>
              <a:buChar char="•"/>
            </a:pPr>
            <a:r>
              <a:rPr lang="en-US" sz="1699" b="1" spc="-61">
                <a:solidFill>
                  <a:srgbClr val="000000"/>
                </a:solidFill>
                <a:latin typeface="Montserrat Medium"/>
                <a:ea typeface="Montserrat Medium"/>
                <a:cs typeface="Montserrat Medium"/>
                <a:sym typeface="Montserrat Medium"/>
              </a:rPr>
              <a:t>Không dùng chung với các loại acid khác ví dụ AHA, BHA </a:t>
            </a:r>
          </a:p>
          <a:p>
            <a:pPr marL="367029" lvl="1" indent="-183514" algn="l">
              <a:lnSpc>
                <a:spcPts val="2753"/>
              </a:lnSpc>
              <a:buFont typeface="Arial"/>
              <a:buChar char="•"/>
            </a:pPr>
            <a:r>
              <a:rPr lang="en-US" sz="1699" b="1" spc="-61">
                <a:solidFill>
                  <a:srgbClr val="000000"/>
                </a:solidFill>
                <a:latin typeface="Montserrat Medium"/>
                <a:ea typeface="Montserrat Medium"/>
                <a:cs typeface="Montserrat Medium"/>
                <a:sym typeface="Montserrat Medium"/>
              </a:rPr>
              <a:t>Bắt buộc phải phục hồi và dùng kem chống nắng không sử dụng cho phụ nữ mang thai.</a:t>
            </a:r>
          </a:p>
        </p:txBody>
      </p:sp>
      <p:sp>
        <p:nvSpPr>
          <p:cNvPr id="34" name="TextBox 17">
            <a:extLst>
              <a:ext uri="{FF2B5EF4-FFF2-40B4-BE49-F238E27FC236}">
                <a16:creationId xmlns:a16="http://schemas.microsoft.com/office/drawing/2014/main" id="{545E295E-B029-41CD-A5C0-F0CD3B1902A5}"/>
              </a:ext>
            </a:extLst>
          </p:cNvPr>
          <p:cNvSpPr txBox="1"/>
          <p:nvPr/>
        </p:nvSpPr>
        <p:spPr>
          <a:xfrm>
            <a:off x="11556051" y="5275787"/>
            <a:ext cx="1215994" cy="323165"/>
          </a:xfrm>
          <a:prstGeom prst="rect">
            <a:avLst/>
          </a:prstGeom>
        </p:spPr>
        <p:txBody>
          <a:bodyPr lIns="0" tIns="0" rIns="0" bIns="0" rtlCol="0" anchor="t">
            <a:spAutoFit/>
          </a:bodyPr>
          <a:lstStyle/>
          <a:p>
            <a:pPr algn="l">
              <a:lnSpc>
                <a:spcPts val="2753"/>
              </a:lnSpc>
            </a:pPr>
            <a:r>
              <a:rPr lang="en-US" sz="1699" b="1" spc="-61">
                <a:solidFill>
                  <a:srgbClr val="FFFFFF"/>
                </a:solidFill>
                <a:latin typeface="Montserrat Bold"/>
                <a:ea typeface="Montserrat Bold"/>
                <a:cs typeface="Montserrat Bold"/>
                <a:sym typeface="Montserrat Bold"/>
              </a:rPr>
              <a:t>LƯU Ý</a:t>
            </a:r>
          </a:p>
        </p:txBody>
      </p:sp>
    </p:spTree>
    <p:extLst>
      <p:ext uri="{BB962C8B-B14F-4D97-AF65-F5344CB8AC3E}">
        <p14:creationId xmlns:p14="http://schemas.microsoft.com/office/powerpoint/2010/main" val="3923276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down)">
                                      <p:cBhvr>
                                        <p:cTn id="16" dur="5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down)">
                                      <p:cBhvr>
                                        <p:cTn id="21" dur="500"/>
                                        <p:tgtEl>
                                          <p:spTgt spid="17"/>
                                        </p:tgtEl>
                                      </p:cBhvr>
                                    </p:animEffect>
                                  </p:childTnLst>
                                </p:cTn>
                              </p:par>
                              <p:par>
                                <p:cTn id="22" presetID="22" presetClass="entr" presetSubtype="4"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down)">
                                      <p:cBhvr>
                                        <p:cTn id="24" dur="500"/>
                                        <p:tgtEl>
                                          <p:spTgt spid="10"/>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down)">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wipe(down)">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down)">
                                      <p:cBhvr>
                                        <p:cTn id="37" dur="500"/>
                                        <p:tgtEl>
                                          <p:spTgt spid="12"/>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wipe(down)">
                                      <p:cBhvr>
                                        <p:cTn id="40" dur="500"/>
                                        <p:tgtEl>
                                          <p:spTgt spid="22"/>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wipe(down)">
                                      <p:cBhvr>
                                        <p:cTn id="43" dur="500"/>
                                        <p:tgtEl>
                                          <p:spTgt spid="20"/>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wipe(down)">
                                      <p:cBhvr>
                                        <p:cTn id="46" dur="500"/>
                                        <p:tgtEl>
                                          <p:spTgt spid="21"/>
                                        </p:tgtEl>
                                      </p:cBhvr>
                                    </p:animEffect>
                                  </p:childTnLst>
                                </p:cTn>
                              </p:par>
                              <p:par>
                                <p:cTn id="47" presetID="22" presetClass="entr" presetSubtype="4" fill="hold" nodeType="with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wipe(down)">
                                      <p:cBhvr>
                                        <p:cTn id="49" dur="500"/>
                                        <p:tgtEl>
                                          <p:spTgt spid="28"/>
                                        </p:tgtEl>
                                      </p:cBhvr>
                                    </p:animEffect>
                                  </p:childTnLst>
                                </p:cTn>
                              </p:par>
                              <p:par>
                                <p:cTn id="50" presetID="22" presetClass="entr" presetSubtype="4" fill="hold" nodeType="with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wipe(down)">
                                      <p:cBhvr>
                                        <p:cTn id="52" dur="500"/>
                                        <p:tgtEl>
                                          <p:spTgt spid="30"/>
                                        </p:tgtEl>
                                      </p:cBhvr>
                                    </p:animEffect>
                                  </p:childTnLst>
                                </p:cTn>
                              </p:par>
                              <p:par>
                                <p:cTn id="53" presetID="22" presetClass="entr" presetSubtype="4" fill="hold" nodeType="with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wipe(down)">
                                      <p:cBhvr>
                                        <p:cTn id="55" dur="500"/>
                                        <p:tgtEl>
                                          <p:spTgt spid="31"/>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grpId="0" nodeType="clickEffect">
                                  <p:stCondLst>
                                    <p:cond delay="0"/>
                                  </p:stCondLst>
                                  <p:childTnLst>
                                    <p:set>
                                      <p:cBhvr>
                                        <p:cTn id="59" dur="1" fill="hold">
                                          <p:stCondLst>
                                            <p:cond delay="0"/>
                                          </p:stCondLst>
                                        </p:cTn>
                                        <p:tgtEl>
                                          <p:spTgt spid="34"/>
                                        </p:tgtEl>
                                        <p:attrNameLst>
                                          <p:attrName>style.visibility</p:attrName>
                                        </p:attrNameLst>
                                      </p:cBhvr>
                                      <p:to>
                                        <p:strVal val="visible"/>
                                      </p:to>
                                    </p:set>
                                    <p:animEffect transition="in" filter="wipe(down)">
                                      <p:cBhvr>
                                        <p:cTn id="60"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16" grpId="0"/>
      <p:bldP spid="17" grpId="0"/>
      <p:bldP spid="19" grpId="0"/>
      <p:bldP spid="20" grpId="0"/>
      <p:bldP spid="21" grpId="0"/>
      <p:bldP spid="22" grpId="0"/>
      <p:bldP spid="3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Nhóm 13">
            <a:extLst>
              <a:ext uri="{FF2B5EF4-FFF2-40B4-BE49-F238E27FC236}">
                <a16:creationId xmlns:a16="http://schemas.microsoft.com/office/drawing/2014/main" id="{4B6C7C22-05CC-4EE5-96FC-E98C4CA5845B}"/>
              </a:ext>
            </a:extLst>
          </p:cNvPr>
          <p:cNvGrpSpPr/>
          <p:nvPr/>
        </p:nvGrpSpPr>
        <p:grpSpPr>
          <a:xfrm>
            <a:off x="838200" y="1795130"/>
            <a:ext cx="13211669" cy="1552371"/>
            <a:chOff x="1028700" y="2365030"/>
            <a:chExt cx="13211669" cy="1552371"/>
          </a:xfrm>
        </p:grpSpPr>
        <p:sp>
          <p:nvSpPr>
            <p:cNvPr id="7" name="Freeform 7"/>
            <p:cNvSpPr/>
            <p:nvPr/>
          </p:nvSpPr>
          <p:spPr>
            <a:xfrm>
              <a:off x="1028700" y="2365030"/>
              <a:ext cx="13211669" cy="1552371"/>
            </a:xfrm>
            <a:custGeom>
              <a:avLst/>
              <a:gdLst/>
              <a:ahLst/>
              <a:cxnLst/>
              <a:rect l="l" t="t" r="r" b="b"/>
              <a:pathLst>
                <a:path w="13211669" h="1552371">
                  <a:moveTo>
                    <a:pt x="0" y="0"/>
                  </a:moveTo>
                  <a:lnTo>
                    <a:pt x="13211669" y="0"/>
                  </a:lnTo>
                  <a:lnTo>
                    <a:pt x="13211669" y="1552372"/>
                  </a:lnTo>
                  <a:lnTo>
                    <a:pt x="0" y="1552372"/>
                  </a:lnTo>
                  <a:lnTo>
                    <a:pt x="0" y="0"/>
                  </a:lnTo>
                  <a:close/>
                </a:path>
              </a:pathLst>
            </a:custGeom>
            <a:blipFill>
              <a:blip r:embed="rId2"/>
              <a:stretch>
                <a:fillRect/>
              </a:stretch>
            </a:blipFill>
          </p:spPr>
        </p:sp>
        <p:sp>
          <p:nvSpPr>
            <p:cNvPr id="10" name="TextBox 10"/>
            <p:cNvSpPr txBox="1"/>
            <p:nvPr/>
          </p:nvSpPr>
          <p:spPr>
            <a:xfrm>
              <a:off x="1379438" y="2812739"/>
              <a:ext cx="6856813" cy="599804"/>
            </a:xfrm>
            <a:prstGeom prst="rect">
              <a:avLst/>
            </a:prstGeom>
          </p:spPr>
          <p:txBody>
            <a:bodyPr lIns="0" tIns="0" rIns="0" bIns="0" rtlCol="0" anchor="t">
              <a:spAutoFit/>
            </a:bodyPr>
            <a:lstStyle/>
            <a:p>
              <a:pPr algn="l">
                <a:lnSpc>
                  <a:spcPts val="5073"/>
                </a:lnSpc>
                <a:spcBef>
                  <a:spcPct val="0"/>
                </a:spcBef>
              </a:pPr>
              <a:r>
                <a:rPr lang="en-US" sz="3623" b="1">
                  <a:solidFill>
                    <a:srgbClr val="FFFFFF"/>
                  </a:solidFill>
                  <a:latin typeface="Montserrat Bold"/>
                  <a:ea typeface="Montserrat Bold"/>
                  <a:cs typeface="Montserrat Bold"/>
                  <a:sym typeface="Montserrat Bold"/>
                </a:rPr>
                <a:t>CÔNG NGHỆ EXOSOME</a:t>
              </a:r>
            </a:p>
          </p:txBody>
        </p:sp>
      </p:grpSp>
      <p:sp>
        <p:nvSpPr>
          <p:cNvPr id="11" name="TextBox 11"/>
          <p:cNvSpPr txBox="1"/>
          <p:nvPr/>
        </p:nvSpPr>
        <p:spPr>
          <a:xfrm>
            <a:off x="571229" y="3562638"/>
            <a:ext cx="9563100" cy="1163588"/>
          </a:xfrm>
          <a:prstGeom prst="rect">
            <a:avLst/>
          </a:prstGeom>
        </p:spPr>
        <p:txBody>
          <a:bodyPr wrap="square" lIns="0" tIns="0" rIns="0" bIns="0" rtlCol="0" anchor="t">
            <a:spAutoFit/>
          </a:bodyPr>
          <a:lstStyle/>
          <a:p>
            <a:pPr marL="479551" lvl="1" indent="-239775">
              <a:lnSpc>
                <a:spcPts val="3109"/>
              </a:lnSpc>
              <a:buFont typeface="Arial"/>
              <a:buChar char="•"/>
            </a:pPr>
            <a:r>
              <a:rPr lang="en-US" sz="2221" b="1" err="1">
                <a:solidFill>
                  <a:srgbClr val="000000"/>
                </a:solidFill>
                <a:latin typeface="Montserrat Medium"/>
                <a:ea typeface="Montserrat Medium"/>
                <a:cs typeface="Montserrat Medium"/>
                <a:sym typeface="Montserrat Medium"/>
              </a:rPr>
              <a:t>Là</a:t>
            </a:r>
            <a:r>
              <a:rPr lang="en-US" sz="2221" b="1">
                <a:solidFill>
                  <a:srgbClr val="000000"/>
                </a:solidFill>
                <a:latin typeface="Montserrat Medium"/>
                <a:ea typeface="Montserrat Medium"/>
                <a:cs typeface="Montserrat Medium"/>
                <a:sym typeface="Montserrat Medium"/>
              </a:rPr>
              <a:t> </a:t>
            </a:r>
            <a:r>
              <a:rPr lang="en-US" sz="2221" b="1" err="1">
                <a:solidFill>
                  <a:srgbClr val="000000"/>
                </a:solidFill>
                <a:latin typeface="Montserrat Medium"/>
                <a:ea typeface="Montserrat Medium"/>
                <a:cs typeface="Montserrat Medium"/>
                <a:sym typeface="Montserrat Medium"/>
              </a:rPr>
              <a:t>một</a:t>
            </a:r>
            <a:r>
              <a:rPr lang="en-US" sz="2221" b="1">
                <a:solidFill>
                  <a:srgbClr val="000000"/>
                </a:solidFill>
                <a:latin typeface="Montserrat Medium"/>
                <a:ea typeface="Montserrat Medium"/>
                <a:cs typeface="Montserrat Medium"/>
                <a:sym typeface="Montserrat Medium"/>
              </a:rPr>
              <a:t> </a:t>
            </a:r>
            <a:r>
              <a:rPr lang="en-US" sz="2221" b="1" err="1">
                <a:solidFill>
                  <a:srgbClr val="000000"/>
                </a:solidFill>
                <a:latin typeface="Montserrat Medium"/>
                <a:ea typeface="Montserrat Medium"/>
                <a:cs typeface="Montserrat Medium"/>
                <a:sym typeface="Montserrat Medium"/>
              </a:rPr>
              <a:t>loại</a:t>
            </a:r>
            <a:r>
              <a:rPr lang="en-US" sz="2221" b="1">
                <a:solidFill>
                  <a:srgbClr val="000000"/>
                </a:solidFill>
                <a:latin typeface="Montserrat Medium"/>
                <a:ea typeface="Montserrat Medium"/>
                <a:cs typeface="Montserrat Medium"/>
                <a:sym typeface="Montserrat Medium"/>
              </a:rPr>
              <a:t> </a:t>
            </a:r>
            <a:r>
              <a:rPr lang="en-US" sz="2221" b="1" err="1">
                <a:solidFill>
                  <a:srgbClr val="000000"/>
                </a:solidFill>
                <a:latin typeface="Montserrat Medium"/>
                <a:ea typeface="Montserrat Medium"/>
                <a:cs typeface="Montserrat Medium"/>
                <a:sym typeface="Montserrat Medium"/>
              </a:rPr>
              <a:t>túi</a:t>
            </a:r>
            <a:r>
              <a:rPr lang="en-US" sz="2221" b="1">
                <a:solidFill>
                  <a:srgbClr val="000000"/>
                </a:solidFill>
                <a:latin typeface="Montserrat Medium"/>
                <a:ea typeface="Montserrat Medium"/>
                <a:cs typeface="Montserrat Medium"/>
                <a:sym typeface="Montserrat Medium"/>
              </a:rPr>
              <a:t> </a:t>
            </a:r>
            <a:r>
              <a:rPr lang="en-US" sz="2221" b="1" err="1">
                <a:solidFill>
                  <a:srgbClr val="000000"/>
                </a:solidFill>
                <a:latin typeface="Montserrat Medium"/>
                <a:ea typeface="Montserrat Medium"/>
                <a:cs typeface="Montserrat Medium"/>
                <a:sym typeface="Montserrat Medium"/>
              </a:rPr>
              <a:t>ngoại</a:t>
            </a:r>
            <a:r>
              <a:rPr lang="en-US" sz="2221" b="1">
                <a:solidFill>
                  <a:srgbClr val="000000"/>
                </a:solidFill>
                <a:latin typeface="Montserrat Medium"/>
                <a:ea typeface="Montserrat Medium"/>
                <a:cs typeface="Montserrat Medium"/>
                <a:sym typeface="Montserrat Medium"/>
              </a:rPr>
              <a:t> </a:t>
            </a:r>
            <a:r>
              <a:rPr lang="en-US" sz="2221" b="1" err="1">
                <a:solidFill>
                  <a:srgbClr val="000000"/>
                </a:solidFill>
                <a:latin typeface="Montserrat Medium"/>
                <a:ea typeface="Montserrat Medium"/>
                <a:cs typeface="Montserrat Medium"/>
                <a:sym typeface="Montserrat Medium"/>
              </a:rPr>
              <a:t>bào</a:t>
            </a:r>
            <a:r>
              <a:rPr lang="en-US" sz="2221" b="1">
                <a:solidFill>
                  <a:srgbClr val="000000"/>
                </a:solidFill>
                <a:latin typeface="Montserrat Medium"/>
                <a:ea typeface="Montserrat Medium"/>
                <a:cs typeface="Montserrat Medium"/>
                <a:sym typeface="Montserrat Medium"/>
              </a:rPr>
              <a:t> </a:t>
            </a:r>
            <a:r>
              <a:rPr lang="en-US" sz="2221" b="1" err="1">
                <a:solidFill>
                  <a:srgbClr val="000000"/>
                </a:solidFill>
                <a:latin typeface="Montserrat Medium"/>
                <a:ea typeface="Montserrat Medium"/>
                <a:cs typeface="Montserrat Medium"/>
                <a:sym typeface="Montserrat Medium"/>
              </a:rPr>
              <a:t>siêu</a:t>
            </a:r>
            <a:r>
              <a:rPr lang="en-US" sz="2221" b="1">
                <a:solidFill>
                  <a:srgbClr val="000000"/>
                </a:solidFill>
                <a:latin typeface="Montserrat Medium"/>
                <a:ea typeface="Montserrat Medium"/>
                <a:cs typeface="Montserrat Medium"/>
                <a:sym typeface="Montserrat Medium"/>
              </a:rPr>
              <a:t> </a:t>
            </a:r>
            <a:r>
              <a:rPr lang="en-US" sz="2221" b="1" err="1">
                <a:solidFill>
                  <a:srgbClr val="000000"/>
                </a:solidFill>
                <a:latin typeface="Montserrat Medium"/>
                <a:ea typeface="Montserrat Medium"/>
                <a:cs typeface="Montserrat Medium"/>
                <a:sym typeface="Montserrat Medium"/>
              </a:rPr>
              <a:t>nhỏ</a:t>
            </a:r>
            <a:r>
              <a:rPr lang="en-US" sz="2221" b="1">
                <a:solidFill>
                  <a:srgbClr val="000000"/>
                </a:solidFill>
                <a:latin typeface="Montserrat Medium"/>
                <a:ea typeface="Montserrat Medium"/>
                <a:cs typeface="Montserrat Medium"/>
                <a:sym typeface="Montserrat Medium"/>
              </a:rPr>
              <a:t> (</a:t>
            </a:r>
            <a:r>
              <a:rPr lang="en-US" sz="2221" b="1" err="1">
                <a:solidFill>
                  <a:srgbClr val="000000"/>
                </a:solidFill>
                <a:latin typeface="Montserrat Medium"/>
                <a:ea typeface="Montserrat Medium"/>
                <a:cs typeface="Montserrat Medium"/>
                <a:sym typeface="Montserrat Medium"/>
              </a:rPr>
              <a:t>đường</a:t>
            </a:r>
            <a:r>
              <a:rPr lang="en-US" sz="2221" b="1">
                <a:solidFill>
                  <a:srgbClr val="000000"/>
                </a:solidFill>
                <a:latin typeface="Montserrat Medium"/>
                <a:ea typeface="Montserrat Medium"/>
                <a:cs typeface="Montserrat Medium"/>
                <a:sym typeface="Montserrat Medium"/>
              </a:rPr>
              <a:t> </a:t>
            </a:r>
            <a:r>
              <a:rPr lang="en-US" sz="2221" b="1" err="1">
                <a:solidFill>
                  <a:srgbClr val="000000"/>
                </a:solidFill>
                <a:latin typeface="Montserrat Medium"/>
                <a:ea typeface="Montserrat Medium"/>
                <a:cs typeface="Montserrat Medium"/>
                <a:sym typeface="Montserrat Medium"/>
              </a:rPr>
              <a:t>kính</a:t>
            </a:r>
            <a:r>
              <a:rPr lang="en-US" sz="2221" b="1">
                <a:solidFill>
                  <a:srgbClr val="000000"/>
                </a:solidFill>
                <a:latin typeface="Montserrat Medium"/>
                <a:ea typeface="Montserrat Medium"/>
                <a:cs typeface="Montserrat Medium"/>
                <a:sym typeface="Montserrat Medium"/>
              </a:rPr>
              <a:t> </a:t>
            </a:r>
            <a:r>
              <a:rPr lang="en-US" sz="2221" b="1" err="1">
                <a:solidFill>
                  <a:srgbClr val="000000"/>
                </a:solidFill>
                <a:latin typeface="Montserrat Medium"/>
                <a:ea typeface="Montserrat Medium"/>
                <a:cs typeface="Montserrat Medium"/>
                <a:sym typeface="Montserrat Medium"/>
              </a:rPr>
              <a:t>chỉ</a:t>
            </a:r>
            <a:r>
              <a:rPr lang="en-US" sz="2221" b="1">
                <a:solidFill>
                  <a:srgbClr val="000000"/>
                </a:solidFill>
                <a:latin typeface="Montserrat Medium"/>
                <a:ea typeface="Montserrat Medium"/>
                <a:cs typeface="Montserrat Medium"/>
                <a:sym typeface="Montserrat Medium"/>
              </a:rPr>
              <a:t> </a:t>
            </a:r>
            <a:r>
              <a:rPr lang="en-US" sz="2221" b="1" err="1">
                <a:solidFill>
                  <a:srgbClr val="000000"/>
                </a:solidFill>
                <a:latin typeface="Montserrat Medium"/>
                <a:ea typeface="Montserrat Medium"/>
                <a:cs typeface="Montserrat Medium"/>
                <a:sym typeface="Montserrat Medium"/>
              </a:rPr>
              <a:t>khoảng</a:t>
            </a:r>
            <a:r>
              <a:rPr lang="en-US" sz="2221" b="1">
                <a:solidFill>
                  <a:srgbClr val="000000"/>
                </a:solidFill>
                <a:latin typeface="Montserrat Medium"/>
                <a:ea typeface="Montserrat Medium"/>
                <a:cs typeface="Montserrat Medium"/>
                <a:sym typeface="Montserrat Medium"/>
              </a:rPr>
              <a:t> 30–150 </a:t>
            </a:r>
            <a:r>
              <a:rPr lang="en-US" sz="2221" b="1" err="1">
                <a:solidFill>
                  <a:srgbClr val="000000"/>
                </a:solidFill>
                <a:latin typeface="Montserrat Medium"/>
                <a:ea typeface="Montserrat Medium"/>
                <a:cs typeface="Montserrat Medium"/>
                <a:sym typeface="Montserrat Medium"/>
              </a:rPr>
              <a:t>nanomet</a:t>
            </a:r>
            <a:r>
              <a:rPr lang="en-US" sz="2221" b="1">
                <a:solidFill>
                  <a:srgbClr val="000000"/>
                </a:solidFill>
                <a:latin typeface="Montserrat Medium"/>
                <a:ea typeface="Montserrat Medium"/>
                <a:cs typeface="Montserrat Medium"/>
                <a:sym typeface="Montserrat Medium"/>
              </a:rPr>
              <a:t>). Được tiết ra từ các tế bào và </a:t>
            </a:r>
            <a:r>
              <a:rPr lang="vi-VN" sz="2221" b="1">
                <a:solidFill>
                  <a:srgbClr val="000000"/>
                </a:solidFill>
                <a:latin typeface="Montserrat Medium"/>
                <a:ea typeface="Montserrat Medium"/>
                <a:cs typeface="Montserrat Medium"/>
                <a:sym typeface="Montserrat Medium"/>
              </a:rPr>
              <a:t>có màng lipid kép giống cấu trúc màng tế bào</a:t>
            </a:r>
            <a:r>
              <a:rPr lang="en-US" sz="2221" b="1">
                <a:solidFill>
                  <a:srgbClr val="000000"/>
                </a:solidFill>
                <a:latin typeface="Montserrat Medium"/>
                <a:ea typeface="Montserrat Medium"/>
                <a:cs typeface="Montserrat Medium"/>
                <a:sym typeface="Montserrat Medium"/>
              </a:rPr>
              <a:t>.</a:t>
            </a:r>
          </a:p>
        </p:txBody>
      </p:sp>
      <p:sp>
        <p:nvSpPr>
          <p:cNvPr id="12" name="TextBox 12"/>
          <p:cNvSpPr txBox="1"/>
          <p:nvPr/>
        </p:nvSpPr>
        <p:spPr>
          <a:xfrm>
            <a:off x="609600" y="5231084"/>
            <a:ext cx="9563100" cy="1163588"/>
          </a:xfrm>
          <a:prstGeom prst="rect">
            <a:avLst/>
          </a:prstGeom>
        </p:spPr>
        <p:txBody>
          <a:bodyPr wrap="square" lIns="0" tIns="0" rIns="0" bIns="0" rtlCol="0" anchor="t">
            <a:spAutoFit/>
          </a:bodyPr>
          <a:lstStyle/>
          <a:p>
            <a:pPr marL="479551" lvl="1" indent="-239775">
              <a:lnSpc>
                <a:spcPts val="3109"/>
              </a:lnSpc>
              <a:buFont typeface="Arial"/>
              <a:buChar char="•"/>
            </a:pPr>
            <a:r>
              <a:rPr lang="vi-VN" sz="2221" b="1">
                <a:solidFill>
                  <a:srgbClr val="000000"/>
                </a:solidFill>
                <a:latin typeface="Montserrat Medium"/>
                <a:ea typeface="Montserrat Medium"/>
                <a:cs typeface="Montserrat Medium"/>
                <a:sym typeface="Montserrat Medium"/>
              </a:rPr>
              <a:t>Exosome giúp đóng gói và vận chuyển các </a:t>
            </a:r>
            <a:r>
              <a:rPr lang="en-US" sz="2221" b="1">
                <a:solidFill>
                  <a:srgbClr val="000000"/>
                </a:solidFill>
                <a:latin typeface="Montserrat Medium"/>
                <a:ea typeface="Montserrat Medium"/>
                <a:cs typeface="Montserrat Medium"/>
                <a:sym typeface="Montserrat Medium"/>
              </a:rPr>
              <a:t>yếu tố tăng trưởng, cắc </a:t>
            </a:r>
            <a:r>
              <a:rPr lang="vi-VN" sz="2221" b="1">
                <a:solidFill>
                  <a:srgbClr val="000000"/>
                </a:solidFill>
                <a:latin typeface="Montserrat Medium"/>
                <a:ea typeface="Montserrat Medium"/>
                <a:cs typeface="Montserrat Medium"/>
                <a:sym typeface="Montserrat Medium"/>
              </a:rPr>
              <a:t>thông tinh sinh học như Protein, lipids, RNA DNA… từ tế bào này sang tế bào khác</a:t>
            </a:r>
          </a:p>
        </p:txBody>
      </p:sp>
      <p:sp>
        <p:nvSpPr>
          <p:cNvPr id="13" name="TextBox 13"/>
          <p:cNvSpPr txBox="1"/>
          <p:nvPr/>
        </p:nvSpPr>
        <p:spPr>
          <a:xfrm>
            <a:off x="599303" y="6579889"/>
            <a:ext cx="9563100" cy="1163588"/>
          </a:xfrm>
          <a:prstGeom prst="rect">
            <a:avLst/>
          </a:prstGeom>
        </p:spPr>
        <p:txBody>
          <a:bodyPr wrap="square" lIns="0" tIns="0" rIns="0" bIns="0" rtlCol="0" anchor="t">
            <a:spAutoFit/>
          </a:bodyPr>
          <a:lstStyle/>
          <a:p>
            <a:pPr marL="479551" lvl="1" indent="-239775">
              <a:lnSpc>
                <a:spcPts val="3109"/>
              </a:lnSpc>
              <a:buFont typeface="Arial"/>
              <a:buChar char="•"/>
            </a:pPr>
            <a:r>
              <a:rPr lang="vi-VN" sz="2221" b="1">
                <a:solidFill>
                  <a:srgbClr val="000000"/>
                </a:solidFill>
                <a:latin typeface="Montserrat Medium"/>
                <a:ea typeface="Montserrat Medium"/>
                <a:cs typeface="Montserrat Medium"/>
                <a:sym typeface="Montserrat Medium"/>
              </a:rPr>
              <a:t>Trong mỹ phẩm, người ta thường sử dụng Exosome chiết xuất từ tế bào gốc thực vật hoặc tế bào gốc người (đã qua kiểm định) để vận chuyển các thông tin sinh học vào sâu trong da</a:t>
            </a:r>
          </a:p>
        </p:txBody>
      </p:sp>
      <p:grpSp>
        <p:nvGrpSpPr>
          <p:cNvPr id="15" name="Group 2">
            <a:extLst>
              <a:ext uri="{FF2B5EF4-FFF2-40B4-BE49-F238E27FC236}">
                <a16:creationId xmlns:a16="http://schemas.microsoft.com/office/drawing/2014/main" id="{DE17C992-20C5-6E7D-B776-221169E35E5D}"/>
              </a:ext>
            </a:extLst>
          </p:cNvPr>
          <p:cNvGrpSpPr/>
          <p:nvPr/>
        </p:nvGrpSpPr>
        <p:grpSpPr>
          <a:xfrm>
            <a:off x="1028700" y="395218"/>
            <a:ext cx="17259300" cy="1078533"/>
            <a:chOff x="0" y="0"/>
            <a:chExt cx="23012400" cy="1438044"/>
          </a:xfrm>
        </p:grpSpPr>
        <p:sp>
          <p:nvSpPr>
            <p:cNvPr id="16" name="Freeform 3">
              <a:extLst>
                <a:ext uri="{FF2B5EF4-FFF2-40B4-BE49-F238E27FC236}">
                  <a16:creationId xmlns:a16="http://schemas.microsoft.com/office/drawing/2014/main" id="{50DDDC8B-45A9-155D-7D7E-49DAE983C9A3}"/>
                </a:ext>
              </a:extLst>
            </p:cNvPr>
            <p:cNvSpPr/>
            <p:nvPr/>
          </p:nvSpPr>
          <p:spPr>
            <a:xfrm>
              <a:off x="0" y="0"/>
              <a:ext cx="2937194" cy="1274008"/>
            </a:xfrm>
            <a:custGeom>
              <a:avLst/>
              <a:gdLst/>
              <a:ahLst/>
              <a:cxnLst/>
              <a:rect l="l" t="t" r="r" b="b"/>
              <a:pathLst>
                <a:path w="2937194" h="1274008">
                  <a:moveTo>
                    <a:pt x="0" y="0"/>
                  </a:moveTo>
                  <a:lnTo>
                    <a:pt x="2937194" y="0"/>
                  </a:lnTo>
                  <a:lnTo>
                    <a:pt x="2937194" y="1274008"/>
                  </a:lnTo>
                  <a:lnTo>
                    <a:pt x="0" y="1274008"/>
                  </a:lnTo>
                  <a:lnTo>
                    <a:pt x="0" y="0"/>
                  </a:lnTo>
                  <a:close/>
                </a:path>
              </a:pathLst>
            </a:custGeom>
            <a:blipFill>
              <a:blip r:embed="rId3"/>
              <a:stretch>
                <a:fillRect/>
              </a:stretch>
            </a:blipFill>
          </p:spPr>
        </p:sp>
        <p:sp>
          <p:nvSpPr>
            <p:cNvPr id="17" name="Freeform 4">
              <a:extLst>
                <a:ext uri="{FF2B5EF4-FFF2-40B4-BE49-F238E27FC236}">
                  <a16:creationId xmlns:a16="http://schemas.microsoft.com/office/drawing/2014/main" id="{C34AD4F8-2E60-7EC8-EADC-6668FF772A08}"/>
                </a:ext>
              </a:extLst>
            </p:cNvPr>
            <p:cNvSpPr/>
            <p:nvPr/>
          </p:nvSpPr>
          <p:spPr>
            <a:xfrm>
              <a:off x="3134311" y="224397"/>
              <a:ext cx="2339750" cy="1036911"/>
            </a:xfrm>
            <a:custGeom>
              <a:avLst/>
              <a:gdLst/>
              <a:ahLst/>
              <a:cxnLst/>
              <a:rect l="l" t="t" r="r" b="b"/>
              <a:pathLst>
                <a:path w="2339750" h="1036911">
                  <a:moveTo>
                    <a:pt x="0" y="0"/>
                  </a:moveTo>
                  <a:lnTo>
                    <a:pt x="2339749" y="0"/>
                  </a:lnTo>
                  <a:lnTo>
                    <a:pt x="2339749" y="1036911"/>
                  </a:lnTo>
                  <a:lnTo>
                    <a:pt x="0" y="1036911"/>
                  </a:lnTo>
                  <a:lnTo>
                    <a:pt x="0" y="0"/>
                  </a:lnTo>
                  <a:close/>
                </a:path>
              </a:pathLst>
            </a:custGeom>
            <a:blipFill>
              <a:blip r:embed="rId4"/>
              <a:stretch>
                <a:fillRect l="-8002" t="-69970" b="-73732"/>
              </a:stretch>
            </a:blipFill>
          </p:spPr>
        </p:sp>
        <p:sp>
          <p:nvSpPr>
            <p:cNvPr id="18" name="AutoShape 5">
              <a:extLst>
                <a:ext uri="{FF2B5EF4-FFF2-40B4-BE49-F238E27FC236}">
                  <a16:creationId xmlns:a16="http://schemas.microsoft.com/office/drawing/2014/main" id="{453A139D-5A0A-AB8C-5B92-65F1FBDA2F8B}"/>
                </a:ext>
              </a:extLst>
            </p:cNvPr>
            <p:cNvSpPr/>
            <p:nvPr/>
          </p:nvSpPr>
          <p:spPr>
            <a:xfrm flipV="1">
              <a:off x="16552532" y="1299408"/>
              <a:ext cx="6459868" cy="0"/>
            </a:xfrm>
            <a:prstGeom prst="line">
              <a:avLst/>
            </a:prstGeom>
            <a:ln w="25400" cap="flat">
              <a:solidFill>
                <a:srgbClr val="000000"/>
              </a:solidFill>
              <a:prstDash val="solid"/>
              <a:headEnd type="none" w="sm" len="sm"/>
              <a:tailEnd type="none" w="sm" len="sm"/>
            </a:ln>
          </p:spPr>
        </p:sp>
        <p:sp>
          <p:nvSpPr>
            <p:cNvPr id="19" name="TextBox 6">
              <a:extLst>
                <a:ext uri="{FF2B5EF4-FFF2-40B4-BE49-F238E27FC236}">
                  <a16:creationId xmlns:a16="http://schemas.microsoft.com/office/drawing/2014/main" id="{42204922-444B-1556-C4F8-44FEBF663827}"/>
                </a:ext>
              </a:extLst>
            </p:cNvPr>
            <p:cNvSpPr txBox="1"/>
            <p:nvPr/>
          </p:nvSpPr>
          <p:spPr>
            <a:xfrm>
              <a:off x="12954000" y="1088377"/>
              <a:ext cx="3934687" cy="349667"/>
            </a:xfrm>
            <a:prstGeom prst="rect">
              <a:avLst/>
            </a:prstGeom>
          </p:spPr>
          <p:txBody>
            <a:bodyPr wrap="square" lIns="0" tIns="0" rIns="0" bIns="0" rtlCol="0" anchor="t">
              <a:spAutoFit/>
            </a:bodyPr>
            <a:lstStyle/>
            <a:p>
              <a:pPr algn="ctr">
                <a:lnSpc>
                  <a:spcPts val="2239"/>
                </a:lnSpc>
                <a:spcBef>
                  <a:spcPct val="0"/>
                </a:spcBef>
              </a:pPr>
              <a:r>
                <a:rPr lang="en-US" sz="1599" b="1" i="1">
                  <a:solidFill>
                    <a:srgbClr val="000000"/>
                  </a:solidFill>
                  <a:latin typeface="Montserrat Semi-Bold" panose="020B0604020202020204" charset="0"/>
                  <a:ea typeface="Montserrat Medium Italics"/>
                  <a:cs typeface="Montserrat Medium Italics"/>
                  <a:sym typeface="Montserrat Medium Italics"/>
                </a:rPr>
                <a:t>THUẦN HOA GROUP</a:t>
              </a:r>
            </a:p>
          </p:txBody>
        </p:sp>
      </p:grpSp>
      <p:pic>
        <p:nvPicPr>
          <p:cNvPr id="2" name="Picture 1">
            <a:extLst>
              <a:ext uri="{FF2B5EF4-FFF2-40B4-BE49-F238E27FC236}">
                <a16:creationId xmlns:a16="http://schemas.microsoft.com/office/drawing/2014/main" id="{11A5CFA3-33A2-4996-A065-531E9178F582}"/>
              </a:ext>
            </a:extLst>
          </p:cNvPr>
          <p:cNvPicPr>
            <a:picLocks noChangeAspect="1"/>
          </p:cNvPicPr>
          <p:nvPr/>
        </p:nvPicPr>
        <p:blipFill>
          <a:blip r:embed="rId5"/>
          <a:stretch>
            <a:fillRect/>
          </a:stretch>
        </p:blipFill>
        <p:spPr>
          <a:xfrm>
            <a:off x="10314803" y="3801432"/>
            <a:ext cx="7884872" cy="6090344"/>
          </a:xfrm>
          <a:prstGeom prst="rect">
            <a:avLst/>
          </a:prstGeom>
        </p:spPr>
      </p:pic>
      <p:sp>
        <p:nvSpPr>
          <p:cNvPr id="20" name="TextBox 11">
            <a:extLst>
              <a:ext uri="{FF2B5EF4-FFF2-40B4-BE49-F238E27FC236}">
                <a16:creationId xmlns:a16="http://schemas.microsoft.com/office/drawing/2014/main" id="{771689F0-FAB9-4E75-B3DD-843B234502C3}"/>
              </a:ext>
            </a:extLst>
          </p:cNvPr>
          <p:cNvSpPr txBox="1"/>
          <p:nvPr/>
        </p:nvSpPr>
        <p:spPr>
          <a:xfrm>
            <a:off x="599303" y="7933104"/>
            <a:ext cx="9715500" cy="1958678"/>
          </a:xfrm>
          <a:prstGeom prst="rect">
            <a:avLst/>
          </a:prstGeom>
        </p:spPr>
        <p:txBody>
          <a:bodyPr wrap="square" lIns="0" tIns="0" rIns="0" bIns="0" rtlCol="0" anchor="t">
            <a:spAutoFit/>
          </a:bodyPr>
          <a:lstStyle/>
          <a:p>
            <a:pPr marL="479551" lvl="1" indent="-239775">
              <a:lnSpc>
                <a:spcPts val="3109"/>
              </a:lnSpc>
              <a:buFont typeface="Arial"/>
              <a:buChar char="•"/>
            </a:pPr>
            <a:r>
              <a:rPr lang="en-US" sz="2221" b="1">
                <a:solidFill>
                  <a:srgbClr val="000000"/>
                </a:solidFill>
                <a:latin typeface="Montserrat Medium"/>
                <a:ea typeface="Montserrat Medium"/>
                <a:cs typeface="Montserrat Medium"/>
                <a:sym typeface="Montserrat Medium"/>
              </a:rPr>
              <a:t>Exosome</a:t>
            </a:r>
            <a:r>
              <a:rPr lang="vi-VN" sz="2221" b="1">
                <a:solidFill>
                  <a:srgbClr val="000000"/>
                </a:solidFill>
                <a:latin typeface="Montserrat Medium"/>
                <a:ea typeface="Montserrat Medium"/>
                <a:cs typeface="Montserrat Medium"/>
                <a:sym typeface="Montserrat Medium"/>
              </a:rPr>
              <a:t> có khả năng giao tiếp và đánh thức tế bào, chúng truyền tín hiệu yêu cầu tế bào già cỗi và hư tổn tự sửa chữa, đồng thời kích hoạt các tế bào mới hoạt động mạnh mẽ hơn. Bên cạnh đó exosome còn tác động trực tiếp lên nguyên bào sợi fibroblast kích thích quá trình tăng sinh collagen và elastin tự nhiên… </a:t>
            </a:r>
            <a:endParaRPr lang="en-US" sz="2221" b="1">
              <a:solidFill>
                <a:srgbClr val="000000"/>
              </a:solidFill>
              <a:latin typeface="Montserrat Medium"/>
              <a:ea typeface="Montserrat Medium"/>
              <a:cs typeface="Montserrat Medium"/>
              <a:sym typeface="Montserrat Medium"/>
            </a:endParaRPr>
          </a:p>
        </p:txBody>
      </p:sp>
    </p:spTree>
    <p:extLst>
      <p:ext uri="{BB962C8B-B14F-4D97-AF65-F5344CB8AC3E}">
        <p14:creationId xmlns:p14="http://schemas.microsoft.com/office/powerpoint/2010/main" val="28931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down)">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down)">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down)">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wipe(down)">
                                      <p:cBhvr>
                                        <p:cTn id="2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2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oup 2">
            <a:extLst>
              <a:ext uri="{FF2B5EF4-FFF2-40B4-BE49-F238E27FC236}">
                <a16:creationId xmlns:a16="http://schemas.microsoft.com/office/drawing/2014/main" id="{88E2F5D9-E7E1-F951-AFC8-E2B16096FBC4}"/>
              </a:ext>
            </a:extLst>
          </p:cNvPr>
          <p:cNvGrpSpPr/>
          <p:nvPr/>
        </p:nvGrpSpPr>
        <p:grpSpPr>
          <a:xfrm>
            <a:off x="1028700" y="395218"/>
            <a:ext cx="17259300" cy="1078533"/>
            <a:chOff x="0" y="0"/>
            <a:chExt cx="23012400" cy="1438044"/>
          </a:xfrm>
        </p:grpSpPr>
        <p:sp>
          <p:nvSpPr>
            <p:cNvPr id="24" name="Freeform 3">
              <a:extLst>
                <a:ext uri="{FF2B5EF4-FFF2-40B4-BE49-F238E27FC236}">
                  <a16:creationId xmlns:a16="http://schemas.microsoft.com/office/drawing/2014/main" id="{68392607-E38F-F5A4-8597-DA29F0D4AA46}"/>
                </a:ext>
              </a:extLst>
            </p:cNvPr>
            <p:cNvSpPr/>
            <p:nvPr/>
          </p:nvSpPr>
          <p:spPr>
            <a:xfrm>
              <a:off x="0" y="0"/>
              <a:ext cx="2937194" cy="1274008"/>
            </a:xfrm>
            <a:custGeom>
              <a:avLst/>
              <a:gdLst/>
              <a:ahLst/>
              <a:cxnLst/>
              <a:rect l="l" t="t" r="r" b="b"/>
              <a:pathLst>
                <a:path w="2937194" h="1274008">
                  <a:moveTo>
                    <a:pt x="0" y="0"/>
                  </a:moveTo>
                  <a:lnTo>
                    <a:pt x="2937194" y="0"/>
                  </a:lnTo>
                  <a:lnTo>
                    <a:pt x="2937194" y="1274008"/>
                  </a:lnTo>
                  <a:lnTo>
                    <a:pt x="0" y="1274008"/>
                  </a:lnTo>
                  <a:lnTo>
                    <a:pt x="0" y="0"/>
                  </a:lnTo>
                  <a:close/>
                </a:path>
              </a:pathLst>
            </a:custGeom>
            <a:blipFill>
              <a:blip r:embed="rId2"/>
              <a:stretch>
                <a:fillRect/>
              </a:stretch>
            </a:blipFill>
          </p:spPr>
        </p:sp>
        <p:sp>
          <p:nvSpPr>
            <p:cNvPr id="25" name="Freeform 4">
              <a:extLst>
                <a:ext uri="{FF2B5EF4-FFF2-40B4-BE49-F238E27FC236}">
                  <a16:creationId xmlns:a16="http://schemas.microsoft.com/office/drawing/2014/main" id="{1907FBD7-2AA0-38F0-2210-77A8C3C8E54F}"/>
                </a:ext>
              </a:extLst>
            </p:cNvPr>
            <p:cNvSpPr/>
            <p:nvPr/>
          </p:nvSpPr>
          <p:spPr>
            <a:xfrm>
              <a:off x="3134311" y="224397"/>
              <a:ext cx="2339750" cy="1036911"/>
            </a:xfrm>
            <a:custGeom>
              <a:avLst/>
              <a:gdLst/>
              <a:ahLst/>
              <a:cxnLst/>
              <a:rect l="l" t="t" r="r" b="b"/>
              <a:pathLst>
                <a:path w="2339750" h="1036911">
                  <a:moveTo>
                    <a:pt x="0" y="0"/>
                  </a:moveTo>
                  <a:lnTo>
                    <a:pt x="2339749" y="0"/>
                  </a:lnTo>
                  <a:lnTo>
                    <a:pt x="2339749" y="1036911"/>
                  </a:lnTo>
                  <a:lnTo>
                    <a:pt x="0" y="1036911"/>
                  </a:lnTo>
                  <a:lnTo>
                    <a:pt x="0" y="0"/>
                  </a:lnTo>
                  <a:close/>
                </a:path>
              </a:pathLst>
            </a:custGeom>
            <a:blipFill>
              <a:blip r:embed="rId3"/>
              <a:stretch>
                <a:fillRect l="-8002" t="-69970" b="-73732"/>
              </a:stretch>
            </a:blipFill>
          </p:spPr>
        </p:sp>
        <p:sp>
          <p:nvSpPr>
            <p:cNvPr id="26" name="AutoShape 5">
              <a:extLst>
                <a:ext uri="{FF2B5EF4-FFF2-40B4-BE49-F238E27FC236}">
                  <a16:creationId xmlns:a16="http://schemas.microsoft.com/office/drawing/2014/main" id="{984FC247-41BF-97EF-1A8D-B3189E3B6905}"/>
                </a:ext>
              </a:extLst>
            </p:cNvPr>
            <p:cNvSpPr/>
            <p:nvPr/>
          </p:nvSpPr>
          <p:spPr>
            <a:xfrm flipV="1">
              <a:off x="16552532" y="1299408"/>
              <a:ext cx="6459868" cy="0"/>
            </a:xfrm>
            <a:prstGeom prst="line">
              <a:avLst/>
            </a:prstGeom>
            <a:ln w="25400" cap="flat">
              <a:solidFill>
                <a:srgbClr val="000000"/>
              </a:solidFill>
              <a:prstDash val="solid"/>
              <a:headEnd type="none" w="sm" len="sm"/>
              <a:tailEnd type="none" w="sm" len="sm"/>
            </a:ln>
          </p:spPr>
        </p:sp>
        <p:sp>
          <p:nvSpPr>
            <p:cNvPr id="27" name="TextBox 6">
              <a:extLst>
                <a:ext uri="{FF2B5EF4-FFF2-40B4-BE49-F238E27FC236}">
                  <a16:creationId xmlns:a16="http://schemas.microsoft.com/office/drawing/2014/main" id="{A7D8CE84-ABDA-9AB5-9EE6-28F7A856B33E}"/>
                </a:ext>
              </a:extLst>
            </p:cNvPr>
            <p:cNvSpPr txBox="1"/>
            <p:nvPr/>
          </p:nvSpPr>
          <p:spPr>
            <a:xfrm>
              <a:off x="12954000" y="1088377"/>
              <a:ext cx="3934687" cy="349667"/>
            </a:xfrm>
            <a:prstGeom prst="rect">
              <a:avLst/>
            </a:prstGeom>
          </p:spPr>
          <p:txBody>
            <a:bodyPr wrap="square" lIns="0" tIns="0" rIns="0" bIns="0" rtlCol="0" anchor="t">
              <a:spAutoFit/>
            </a:bodyPr>
            <a:lstStyle/>
            <a:p>
              <a:pPr algn="ctr">
                <a:lnSpc>
                  <a:spcPts val="2239"/>
                </a:lnSpc>
                <a:spcBef>
                  <a:spcPct val="0"/>
                </a:spcBef>
              </a:pPr>
              <a:r>
                <a:rPr lang="en-US" sz="1599" b="1" i="1">
                  <a:solidFill>
                    <a:srgbClr val="000000"/>
                  </a:solidFill>
                  <a:latin typeface="Montserrat Semi-Bold" panose="020B0604020202020204" charset="0"/>
                  <a:ea typeface="Montserrat Medium Italics"/>
                  <a:cs typeface="Montserrat Medium Italics"/>
                  <a:sym typeface="Montserrat Medium Italics"/>
                </a:rPr>
                <a:t>THUẦN HOA GROUP</a:t>
              </a:r>
            </a:p>
          </p:txBody>
        </p:sp>
      </p:grpSp>
      <p:pic>
        <p:nvPicPr>
          <p:cNvPr id="12" name="Picture 11">
            <a:extLst>
              <a:ext uri="{FF2B5EF4-FFF2-40B4-BE49-F238E27FC236}">
                <a16:creationId xmlns:a16="http://schemas.microsoft.com/office/drawing/2014/main" id="{A1066347-2AA1-47E0-8617-ECA6864FEC00}"/>
              </a:ext>
            </a:extLst>
          </p:cNvPr>
          <p:cNvPicPr>
            <a:picLocks noChangeAspect="1"/>
          </p:cNvPicPr>
          <p:nvPr/>
        </p:nvPicPr>
        <p:blipFill>
          <a:blip r:embed="rId4"/>
          <a:stretch>
            <a:fillRect/>
          </a:stretch>
        </p:blipFill>
        <p:spPr>
          <a:xfrm>
            <a:off x="9448800" y="2140458"/>
            <a:ext cx="8839200" cy="7917941"/>
          </a:xfrm>
          <a:prstGeom prst="rect">
            <a:avLst/>
          </a:prstGeom>
        </p:spPr>
      </p:pic>
      <p:pic>
        <p:nvPicPr>
          <p:cNvPr id="3" name="Picture 2">
            <a:extLst>
              <a:ext uri="{FF2B5EF4-FFF2-40B4-BE49-F238E27FC236}">
                <a16:creationId xmlns:a16="http://schemas.microsoft.com/office/drawing/2014/main" id="{089C4D46-CAF7-489D-AAF5-97BFDFC7287A}"/>
              </a:ext>
            </a:extLst>
          </p:cNvPr>
          <p:cNvPicPr>
            <a:picLocks noChangeAspect="1"/>
          </p:cNvPicPr>
          <p:nvPr/>
        </p:nvPicPr>
        <p:blipFill>
          <a:blip r:embed="rId5"/>
          <a:stretch>
            <a:fillRect/>
          </a:stretch>
        </p:blipFill>
        <p:spPr>
          <a:xfrm>
            <a:off x="0" y="2369058"/>
            <a:ext cx="9448800" cy="7917942"/>
          </a:xfrm>
          <a:prstGeom prst="rect">
            <a:avLst/>
          </a:prstGeom>
        </p:spPr>
      </p:pic>
    </p:spTree>
    <p:extLst>
      <p:ext uri="{BB962C8B-B14F-4D97-AF65-F5344CB8AC3E}">
        <p14:creationId xmlns:p14="http://schemas.microsoft.com/office/powerpoint/2010/main" val="36315809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7"/>
          <p:cNvSpPr txBox="1"/>
          <p:nvPr/>
        </p:nvSpPr>
        <p:spPr>
          <a:xfrm>
            <a:off x="861868" y="2861998"/>
            <a:ext cx="9437627" cy="1111843"/>
          </a:xfrm>
          <a:prstGeom prst="rect">
            <a:avLst/>
          </a:prstGeom>
        </p:spPr>
        <p:txBody>
          <a:bodyPr lIns="0" tIns="0" rIns="0" bIns="0" rtlCol="0" anchor="t">
            <a:spAutoFit/>
          </a:bodyPr>
          <a:lstStyle/>
          <a:p>
            <a:pPr marL="367029" lvl="1" indent="-183514" algn="l">
              <a:lnSpc>
                <a:spcPts val="2209"/>
              </a:lnSpc>
              <a:buFont typeface="Arial"/>
              <a:buChar char="•"/>
            </a:pPr>
            <a:r>
              <a:rPr lang="en-US" sz="1699" b="1" spc="-61">
                <a:solidFill>
                  <a:srgbClr val="000000"/>
                </a:solidFill>
                <a:latin typeface="Montserrat Medium"/>
                <a:ea typeface="Montserrat Medium"/>
                <a:cs typeface="Montserrat Medium"/>
                <a:sym typeface="Montserrat Medium"/>
              </a:rPr>
              <a:t>Kích thích tăng sinh Collagen &amp; Elastin, cải thiện độ đàn hồi và nếp nhăn trên da, giúp về mặt da tươi tẻ và cải thiện rõ rệt tình trạng lỗ chân lông.</a:t>
            </a:r>
          </a:p>
          <a:p>
            <a:pPr marL="367029" lvl="1" indent="-183514" algn="l">
              <a:lnSpc>
                <a:spcPts val="2209"/>
              </a:lnSpc>
              <a:buFont typeface="Arial"/>
              <a:buChar char="•"/>
            </a:pPr>
            <a:r>
              <a:rPr lang="en-US" sz="1699" b="1" spc="-61">
                <a:solidFill>
                  <a:srgbClr val="000000"/>
                </a:solidFill>
                <a:latin typeface="Montserrat Medium"/>
                <a:ea typeface="Montserrat Medium"/>
                <a:cs typeface="Montserrat Medium"/>
                <a:sym typeface="Montserrat Medium"/>
              </a:rPr>
              <a:t>Hỗ trợ kháng viêm, kiểm soát vi khuẩn P. acnes , bạt sừng và làm thông thoáng lỗ chân lông</a:t>
            </a:r>
          </a:p>
        </p:txBody>
      </p:sp>
      <p:sp>
        <p:nvSpPr>
          <p:cNvPr id="8" name="Freeform 8"/>
          <p:cNvSpPr/>
          <p:nvPr/>
        </p:nvSpPr>
        <p:spPr>
          <a:xfrm>
            <a:off x="624332" y="1881451"/>
            <a:ext cx="2508617" cy="391612"/>
          </a:xfrm>
          <a:custGeom>
            <a:avLst/>
            <a:gdLst/>
            <a:ahLst/>
            <a:cxnLst/>
            <a:rect l="l" t="t" r="r" b="b"/>
            <a:pathLst>
              <a:path w="2508617" h="391612">
                <a:moveTo>
                  <a:pt x="0" y="0"/>
                </a:moveTo>
                <a:lnTo>
                  <a:pt x="2508617" y="0"/>
                </a:lnTo>
                <a:lnTo>
                  <a:pt x="2508617" y="391612"/>
                </a:lnTo>
                <a:lnTo>
                  <a:pt x="0" y="391612"/>
                </a:lnTo>
                <a:lnTo>
                  <a:pt x="0" y="0"/>
                </a:lnTo>
                <a:close/>
              </a:path>
            </a:pathLst>
          </a:custGeom>
          <a:blipFill>
            <a:blip r:embed="rId2"/>
            <a:stretch>
              <a:fillRect l="-44596" t="-943" r="-155901" b="-125237"/>
            </a:stretch>
          </a:blipFill>
        </p:spPr>
      </p:sp>
      <p:sp>
        <p:nvSpPr>
          <p:cNvPr id="9" name="TextBox 9"/>
          <p:cNvSpPr txBox="1"/>
          <p:nvPr/>
        </p:nvSpPr>
        <p:spPr>
          <a:xfrm>
            <a:off x="861868" y="1884471"/>
            <a:ext cx="2131558" cy="318897"/>
          </a:xfrm>
          <a:prstGeom prst="rect">
            <a:avLst/>
          </a:prstGeom>
        </p:spPr>
        <p:txBody>
          <a:bodyPr lIns="0" tIns="0" rIns="0" bIns="0" rtlCol="0" anchor="t">
            <a:spAutoFit/>
          </a:bodyPr>
          <a:lstStyle/>
          <a:p>
            <a:pPr algn="l">
              <a:lnSpc>
                <a:spcPts val="2753"/>
              </a:lnSpc>
            </a:pPr>
            <a:r>
              <a:rPr lang="en-US" sz="1699" b="1" spc="-61">
                <a:solidFill>
                  <a:srgbClr val="FFFFFF"/>
                </a:solidFill>
                <a:latin typeface="Montserrat Ultra-Bold"/>
                <a:ea typeface="Montserrat Ultra-Bold"/>
                <a:cs typeface="Montserrat Ultra-Bold"/>
                <a:sym typeface="Montserrat Ultra-Bold"/>
              </a:rPr>
              <a:t>CƠ CHẾ TÁC DỤNG</a:t>
            </a:r>
          </a:p>
        </p:txBody>
      </p:sp>
      <p:sp>
        <p:nvSpPr>
          <p:cNvPr id="10" name="TextBox 10"/>
          <p:cNvSpPr txBox="1"/>
          <p:nvPr/>
        </p:nvSpPr>
        <p:spPr>
          <a:xfrm>
            <a:off x="861867" y="2456161"/>
            <a:ext cx="8986853" cy="323165"/>
          </a:xfrm>
          <a:prstGeom prst="rect">
            <a:avLst/>
          </a:prstGeom>
        </p:spPr>
        <p:txBody>
          <a:bodyPr wrap="square" lIns="0" tIns="0" rIns="0" bIns="0" rtlCol="0" anchor="t">
            <a:spAutoFit/>
          </a:bodyPr>
          <a:lstStyle/>
          <a:p>
            <a:pPr algn="l">
              <a:lnSpc>
                <a:spcPts val="2753"/>
              </a:lnSpc>
            </a:pPr>
            <a:r>
              <a:rPr lang="en-US" sz="1699" b="1" i="1" spc="-61">
                <a:solidFill>
                  <a:srgbClr val="000000"/>
                </a:solidFill>
                <a:latin typeface="Montserrat Bold Italics"/>
                <a:ea typeface="Montserrat Bold Italics"/>
                <a:cs typeface="Montserrat Bold Italics"/>
                <a:sym typeface="Montserrat Bold Italics"/>
              </a:rPr>
              <a:t>CÔNG THỨC VÀNG NHÂN ĐÔI SỨC MẠNH RETINAL 0,1% VÀ BAKUCHIOL 2%</a:t>
            </a:r>
          </a:p>
        </p:txBody>
      </p:sp>
      <p:sp>
        <p:nvSpPr>
          <p:cNvPr id="12" name="TextBox 12"/>
          <p:cNvSpPr txBox="1"/>
          <p:nvPr/>
        </p:nvSpPr>
        <p:spPr>
          <a:xfrm>
            <a:off x="415432" y="6382772"/>
            <a:ext cx="10163877" cy="829714"/>
          </a:xfrm>
          <a:prstGeom prst="rect">
            <a:avLst/>
          </a:prstGeom>
        </p:spPr>
        <p:txBody>
          <a:bodyPr wrap="square" lIns="0" tIns="0" rIns="0" bIns="0" rtlCol="0" anchor="t">
            <a:spAutoFit/>
          </a:bodyPr>
          <a:lstStyle/>
          <a:p>
            <a:pPr marL="367029" lvl="1" indent="-183514">
              <a:lnSpc>
                <a:spcPts val="2209"/>
              </a:lnSpc>
              <a:buFont typeface="Arial"/>
              <a:buChar char="•"/>
            </a:pPr>
            <a:r>
              <a:rPr lang="vi-VN" sz="1699" b="1" spc="-61">
                <a:solidFill>
                  <a:srgbClr val="000000"/>
                </a:solidFill>
                <a:latin typeface="Montserrat Medium"/>
                <a:ea typeface="Montserrat Medium"/>
                <a:cs typeface="Montserrat Medium"/>
                <a:sym typeface="Montserrat Medium"/>
              </a:rPr>
              <a:t>Tổ hợp </a:t>
            </a:r>
            <a:r>
              <a:rPr lang="en-US" sz="1699" b="1" spc="-61">
                <a:solidFill>
                  <a:srgbClr val="000000"/>
                </a:solidFill>
                <a:latin typeface="Montserrat Medium"/>
                <a:ea typeface="Montserrat Medium"/>
                <a:cs typeface="Montserrat Medium"/>
                <a:sym typeface="Montserrat Medium"/>
              </a:rPr>
              <a:t> hơn 20 loại </a:t>
            </a:r>
            <a:r>
              <a:rPr lang="vi-VN" sz="1699" b="1" spc="-61">
                <a:solidFill>
                  <a:srgbClr val="000000"/>
                </a:solidFill>
                <a:latin typeface="Montserrat Medium"/>
                <a:ea typeface="Montserrat Medium"/>
                <a:cs typeface="Montserrat Medium"/>
                <a:sym typeface="Montserrat Medium"/>
              </a:rPr>
              <a:t>peptide giúp kích thích sản sinh Collagen, hỗ trợ phục hồi cấu trúc da và làm chậm quá trình lão hoá. </a:t>
            </a:r>
          </a:p>
          <a:p>
            <a:pPr marL="367029" lvl="1" indent="-183514">
              <a:lnSpc>
                <a:spcPts val="2209"/>
              </a:lnSpc>
              <a:buFont typeface="Arial"/>
              <a:buChar char="•"/>
            </a:pPr>
            <a:r>
              <a:rPr lang="vi-VN" sz="1699" b="1" spc="-61">
                <a:solidFill>
                  <a:srgbClr val="000000"/>
                </a:solidFill>
                <a:latin typeface="Montserrat Medium"/>
                <a:ea typeface="Montserrat Medium"/>
                <a:cs typeface="Montserrat Medium"/>
                <a:sym typeface="Montserrat Medium"/>
              </a:rPr>
              <a:t>Mang lại làn da săn chắc, khỏe mạnh và trẻ trung hơn theo thời gian.</a:t>
            </a:r>
          </a:p>
        </p:txBody>
      </p:sp>
      <p:sp>
        <p:nvSpPr>
          <p:cNvPr id="13" name="TextBox 13"/>
          <p:cNvSpPr txBox="1"/>
          <p:nvPr/>
        </p:nvSpPr>
        <p:spPr>
          <a:xfrm>
            <a:off x="575880" y="4880250"/>
            <a:ext cx="9437627" cy="547586"/>
          </a:xfrm>
          <a:prstGeom prst="rect">
            <a:avLst/>
          </a:prstGeom>
        </p:spPr>
        <p:txBody>
          <a:bodyPr lIns="0" tIns="0" rIns="0" bIns="0" rtlCol="0" anchor="t">
            <a:spAutoFit/>
          </a:bodyPr>
          <a:lstStyle/>
          <a:p>
            <a:pPr marL="367029" lvl="1" indent="-183514">
              <a:lnSpc>
                <a:spcPts val="2209"/>
              </a:lnSpc>
              <a:buFont typeface="Arial"/>
              <a:buChar char="•"/>
            </a:pPr>
            <a:r>
              <a:rPr lang="en-US" sz="1699" b="1" spc="-61">
                <a:solidFill>
                  <a:srgbClr val="000000"/>
                </a:solidFill>
                <a:latin typeface="Montserrat Medium"/>
                <a:ea typeface="Montserrat Medium"/>
                <a:cs typeface="Montserrat Medium"/>
                <a:sym typeface="Montserrat Medium"/>
              </a:rPr>
              <a:t>Giúp </a:t>
            </a:r>
            <a:r>
              <a:rPr lang="vi-VN" sz="1699" b="1" spc="-61">
                <a:solidFill>
                  <a:srgbClr val="000000"/>
                </a:solidFill>
                <a:latin typeface="Montserrat Medium"/>
                <a:ea typeface="Montserrat Medium"/>
                <a:cs typeface="Montserrat Medium"/>
                <a:sym typeface="Montserrat Medium"/>
              </a:rPr>
              <a:t>nhận diện vùng da tổn thương </a:t>
            </a:r>
            <a:r>
              <a:rPr lang="en-US" sz="1699" b="1" spc="-61">
                <a:solidFill>
                  <a:srgbClr val="000000"/>
                </a:solidFill>
                <a:latin typeface="Montserrat Medium"/>
                <a:ea typeface="Montserrat Medium"/>
                <a:cs typeface="Montserrat Medium"/>
                <a:sym typeface="Montserrat Medium"/>
              </a:rPr>
              <a:t>và</a:t>
            </a:r>
            <a:r>
              <a:rPr lang="vi-VN" sz="1699" b="1" spc="-61">
                <a:solidFill>
                  <a:srgbClr val="000000"/>
                </a:solidFill>
                <a:latin typeface="Montserrat Medium"/>
                <a:ea typeface="Montserrat Medium"/>
                <a:cs typeface="Montserrat Medium"/>
                <a:sym typeface="Montserrat Medium"/>
              </a:rPr>
              <a:t> giải phóng hoạt chất</a:t>
            </a:r>
            <a:r>
              <a:rPr lang="en-US" sz="1699" b="1" spc="-61">
                <a:solidFill>
                  <a:srgbClr val="000000"/>
                </a:solidFill>
                <a:latin typeface="Montserrat Medium"/>
                <a:ea typeface="Montserrat Medium"/>
                <a:cs typeface="Montserrat Medium"/>
                <a:sym typeface="Montserrat Medium"/>
              </a:rPr>
              <a:t> cùng các yếu tố tăng trưởng</a:t>
            </a:r>
            <a:r>
              <a:rPr lang="vi-VN" sz="1699" b="1" spc="-61">
                <a:solidFill>
                  <a:srgbClr val="000000"/>
                </a:solidFill>
                <a:latin typeface="Montserrat Medium"/>
                <a:ea typeface="Montserrat Medium"/>
                <a:cs typeface="Montserrat Medium"/>
                <a:sym typeface="Montserrat Medium"/>
              </a:rPr>
              <a:t>, giúp da hồi phục ngay trong khi đang tái tạo với Retinal</a:t>
            </a:r>
            <a:endParaRPr lang="en-US" sz="1699" b="1" spc="-61">
              <a:solidFill>
                <a:srgbClr val="000000"/>
              </a:solidFill>
              <a:latin typeface="Montserrat Medium"/>
              <a:ea typeface="Montserrat Medium"/>
              <a:cs typeface="Montserrat Medium"/>
              <a:sym typeface="Montserrat Medium"/>
            </a:endParaRPr>
          </a:p>
        </p:txBody>
      </p:sp>
      <p:sp>
        <p:nvSpPr>
          <p:cNvPr id="14" name="TextBox 14"/>
          <p:cNvSpPr txBox="1"/>
          <p:nvPr/>
        </p:nvSpPr>
        <p:spPr>
          <a:xfrm>
            <a:off x="10859125" y="2861998"/>
            <a:ext cx="6886731" cy="2240357"/>
          </a:xfrm>
          <a:prstGeom prst="rect">
            <a:avLst/>
          </a:prstGeom>
        </p:spPr>
        <p:txBody>
          <a:bodyPr wrap="square" lIns="0" tIns="0" rIns="0" bIns="0" rtlCol="0" anchor="t">
            <a:spAutoFit/>
          </a:bodyPr>
          <a:lstStyle/>
          <a:p>
            <a:pPr marL="367029" lvl="1" indent="-183514">
              <a:lnSpc>
                <a:spcPts val="2209"/>
              </a:lnSpc>
              <a:buFont typeface="Arial"/>
              <a:buChar char="•"/>
            </a:pPr>
            <a:r>
              <a:rPr lang="en-US" sz="1699" b="1" spc="-61">
                <a:solidFill>
                  <a:srgbClr val="000000"/>
                </a:solidFill>
                <a:latin typeface="Montserrat Medium"/>
                <a:ea typeface="Montserrat Medium"/>
                <a:cs typeface="Montserrat Medium"/>
                <a:sym typeface="Montserrat Medium"/>
              </a:rPr>
              <a:t>Panthenol (2%): </a:t>
            </a:r>
            <a:r>
              <a:rPr lang="vi-VN" sz="1699" b="1" spc="-61">
                <a:solidFill>
                  <a:srgbClr val="000000"/>
                </a:solidFill>
                <a:latin typeface="Montserrat Medium"/>
                <a:ea typeface="Montserrat Medium"/>
                <a:cs typeface="Montserrat Medium"/>
                <a:sym typeface="Montserrat Medium"/>
              </a:rPr>
              <a:t>Nồng độ lý tưởng để làm dịu, phục hồi các tổn thương</a:t>
            </a:r>
            <a:endParaRPr lang="en-US" sz="1699" b="1" spc="-61">
              <a:solidFill>
                <a:srgbClr val="000000"/>
              </a:solidFill>
              <a:latin typeface="Montserrat Medium"/>
              <a:ea typeface="Montserrat Medium"/>
              <a:cs typeface="Montserrat Medium"/>
              <a:sym typeface="Montserrat Medium"/>
            </a:endParaRPr>
          </a:p>
          <a:p>
            <a:pPr marL="367029" lvl="1" indent="-183514">
              <a:lnSpc>
                <a:spcPts val="2209"/>
              </a:lnSpc>
              <a:buFont typeface="Arial"/>
              <a:buChar char="•"/>
            </a:pPr>
            <a:r>
              <a:rPr lang="en-US" sz="1699" b="1" spc="-61">
                <a:solidFill>
                  <a:srgbClr val="000000"/>
                </a:solidFill>
                <a:latin typeface="Montserrat Medium"/>
                <a:ea typeface="Montserrat Medium"/>
                <a:cs typeface="Montserrat Medium"/>
                <a:sym typeface="Montserrat Medium"/>
              </a:rPr>
              <a:t>Hyaluronic Acid: G</a:t>
            </a:r>
            <a:r>
              <a:rPr lang="vi-VN" sz="1699" b="1" spc="-61">
                <a:solidFill>
                  <a:srgbClr val="000000"/>
                </a:solidFill>
                <a:latin typeface="Montserrat Medium"/>
                <a:ea typeface="Montserrat Medium"/>
                <a:cs typeface="Montserrat Medium"/>
                <a:sym typeface="Montserrat Medium"/>
              </a:rPr>
              <a:t>iúp ngậm nước và duy trì độ ẩm</a:t>
            </a:r>
            <a:r>
              <a:rPr lang="en-US" sz="1699" b="1" spc="-61">
                <a:solidFill>
                  <a:srgbClr val="000000"/>
                </a:solidFill>
                <a:latin typeface="Montserrat Medium"/>
                <a:ea typeface="Montserrat Medium"/>
                <a:cs typeface="Montserrat Medium"/>
                <a:sym typeface="Montserrat Medium"/>
              </a:rPr>
              <a:t> cho da</a:t>
            </a:r>
          </a:p>
          <a:p>
            <a:pPr marL="367029" lvl="1" indent="-183514">
              <a:lnSpc>
                <a:spcPts val="2209"/>
              </a:lnSpc>
              <a:buFont typeface="Arial"/>
              <a:buChar char="•"/>
            </a:pPr>
            <a:r>
              <a:rPr lang="en-US" sz="1699" b="1" spc="-61">
                <a:solidFill>
                  <a:srgbClr val="000000"/>
                </a:solidFill>
                <a:latin typeface="Montserrat Medium"/>
                <a:ea typeface="Montserrat Medium"/>
                <a:cs typeface="Montserrat Medium"/>
                <a:sym typeface="Montserrat Medium"/>
              </a:rPr>
              <a:t>Glycerin (10%): T</a:t>
            </a:r>
            <a:r>
              <a:rPr lang="vi-VN" sz="1699" b="1" spc="-61">
                <a:solidFill>
                  <a:srgbClr val="000000"/>
                </a:solidFill>
                <a:latin typeface="Montserrat Medium"/>
                <a:ea typeface="Montserrat Medium"/>
                <a:cs typeface="Montserrat Medium"/>
                <a:sym typeface="Montserrat Medium"/>
              </a:rPr>
              <a:t>ạo ra một mạng lưới </a:t>
            </a:r>
            <a:r>
              <a:rPr lang="en-US" sz="1699" b="1" spc="-61">
                <a:solidFill>
                  <a:srgbClr val="000000"/>
                </a:solidFill>
                <a:latin typeface="Montserrat Medium"/>
                <a:ea typeface="Montserrat Medium"/>
                <a:cs typeface="Montserrat Medium"/>
                <a:sym typeface="Montserrat Medium"/>
              </a:rPr>
              <a:t>cấp ẩm</a:t>
            </a:r>
            <a:r>
              <a:rPr lang="vi-VN" sz="1699" b="1" spc="-61">
                <a:solidFill>
                  <a:srgbClr val="000000"/>
                </a:solidFill>
                <a:latin typeface="Montserrat Medium"/>
                <a:ea typeface="Montserrat Medium"/>
                <a:cs typeface="Montserrat Medium"/>
                <a:sym typeface="Montserrat Medium"/>
              </a:rPr>
              <a:t> bền vững</a:t>
            </a:r>
            <a:r>
              <a:rPr lang="en-US" sz="1699" b="1" spc="-61">
                <a:solidFill>
                  <a:srgbClr val="000000"/>
                </a:solidFill>
                <a:latin typeface="Montserrat Medium"/>
                <a:ea typeface="Montserrat Medium"/>
                <a:cs typeface="Montserrat Medium"/>
                <a:sym typeface="Montserrat Medium"/>
              </a:rPr>
              <a:t>, </a:t>
            </a:r>
            <a:r>
              <a:rPr lang="vi-VN" sz="1699" b="1" spc="-61">
                <a:solidFill>
                  <a:srgbClr val="000000"/>
                </a:solidFill>
                <a:latin typeface="Montserrat Medium"/>
                <a:ea typeface="Montserrat Medium"/>
                <a:cs typeface="Montserrat Medium"/>
                <a:sym typeface="Montserrat Medium"/>
              </a:rPr>
              <a:t>duy trì cấu trúc của các lớp lipid gian bào, ngăn chặn tình trạng mất nước xuyên biểu bì</a:t>
            </a:r>
            <a:endParaRPr lang="en-US" sz="1699" b="1" spc="-61">
              <a:solidFill>
                <a:srgbClr val="000000"/>
              </a:solidFill>
              <a:latin typeface="Montserrat Medium"/>
              <a:ea typeface="Montserrat Medium"/>
              <a:cs typeface="Montserrat Medium"/>
              <a:sym typeface="Montserrat Medium"/>
            </a:endParaRPr>
          </a:p>
          <a:p>
            <a:pPr marL="367029" lvl="1" indent="-183514">
              <a:lnSpc>
                <a:spcPts val="2209"/>
              </a:lnSpc>
              <a:buFont typeface="Arial"/>
              <a:buChar char="•"/>
            </a:pPr>
            <a:r>
              <a:rPr lang="vi-VN" sz="1699" b="1" spc="-61">
                <a:solidFill>
                  <a:srgbClr val="000000"/>
                </a:solidFill>
                <a:latin typeface="Montserrat Medium"/>
                <a:ea typeface="Montserrat Medium"/>
                <a:cs typeface="Montserrat Medium"/>
                <a:sym typeface="Montserrat Medium"/>
              </a:rPr>
              <a:t>Caprylic/Capric Glycerides (10%): Một loại acid béo giúp làm mềm da, tạo lớp màng ngăn chặn sự mất nước qua d</a:t>
            </a:r>
            <a:r>
              <a:rPr lang="en-US" sz="1699" b="1" spc="-61">
                <a:solidFill>
                  <a:srgbClr val="000000"/>
                </a:solidFill>
                <a:latin typeface="Montserrat Medium"/>
                <a:ea typeface="Montserrat Medium"/>
                <a:cs typeface="Montserrat Medium"/>
                <a:sym typeface="Montserrat Medium"/>
              </a:rPr>
              <a:t>a</a:t>
            </a:r>
          </a:p>
        </p:txBody>
      </p:sp>
      <p:sp>
        <p:nvSpPr>
          <p:cNvPr id="16" name="TextBox 16"/>
          <p:cNvSpPr txBox="1"/>
          <p:nvPr/>
        </p:nvSpPr>
        <p:spPr>
          <a:xfrm>
            <a:off x="859690" y="5806814"/>
            <a:ext cx="3374736" cy="323165"/>
          </a:xfrm>
          <a:prstGeom prst="rect">
            <a:avLst/>
          </a:prstGeom>
        </p:spPr>
        <p:txBody>
          <a:bodyPr lIns="0" tIns="0" rIns="0" bIns="0" rtlCol="0" anchor="t">
            <a:spAutoFit/>
          </a:bodyPr>
          <a:lstStyle/>
          <a:p>
            <a:pPr>
              <a:lnSpc>
                <a:spcPts val="2753"/>
              </a:lnSpc>
            </a:pPr>
            <a:r>
              <a:rPr lang="en-US" sz="1699" b="1" i="1" spc="-61">
                <a:solidFill>
                  <a:srgbClr val="000000"/>
                </a:solidFill>
                <a:latin typeface="Montserrat Bold Italics"/>
                <a:ea typeface="Montserrat Bold Italics"/>
                <a:cs typeface="Montserrat Bold Italics"/>
                <a:sym typeface="Montserrat Bold Italics"/>
              </a:rPr>
              <a:t>PEPTIDE COMPLEX</a:t>
            </a:r>
          </a:p>
        </p:txBody>
      </p:sp>
      <p:sp>
        <p:nvSpPr>
          <p:cNvPr id="17" name="TextBox 17"/>
          <p:cNvSpPr txBox="1"/>
          <p:nvPr/>
        </p:nvSpPr>
        <p:spPr>
          <a:xfrm>
            <a:off x="859690" y="4265463"/>
            <a:ext cx="4014930" cy="323165"/>
          </a:xfrm>
          <a:prstGeom prst="rect">
            <a:avLst/>
          </a:prstGeom>
        </p:spPr>
        <p:txBody>
          <a:bodyPr wrap="square" lIns="0" tIns="0" rIns="0" bIns="0" rtlCol="0" anchor="t">
            <a:spAutoFit/>
          </a:bodyPr>
          <a:lstStyle/>
          <a:p>
            <a:pPr algn="l">
              <a:lnSpc>
                <a:spcPts val="2753"/>
              </a:lnSpc>
            </a:pPr>
            <a:r>
              <a:rPr lang="en-US" sz="1699" b="1" i="1" spc="-61">
                <a:solidFill>
                  <a:srgbClr val="000000"/>
                </a:solidFill>
                <a:latin typeface="Montserrat Bold Italics"/>
                <a:ea typeface="Montserrat Bold Italics"/>
                <a:cs typeface="Montserrat Bold Italics"/>
                <a:sym typeface="Montserrat Bold Italics"/>
              </a:rPr>
              <a:t>EXOSOME CHIẾT XUẤT RAU MÁ</a:t>
            </a:r>
          </a:p>
        </p:txBody>
      </p:sp>
      <p:sp>
        <p:nvSpPr>
          <p:cNvPr id="18" name="TextBox 18"/>
          <p:cNvSpPr txBox="1"/>
          <p:nvPr/>
        </p:nvSpPr>
        <p:spPr>
          <a:xfrm>
            <a:off x="642244" y="7620763"/>
            <a:ext cx="7358753" cy="323165"/>
          </a:xfrm>
          <a:prstGeom prst="rect">
            <a:avLst/>
          </a:prstGeom>
        </p:spPr>
        <p:txBody>
          <a:bodyPr wrap="square" lIns="0" tIns="0" rIns="0" bIns="0" rtlCol="0" anchor="t">
            <a:spAutoFit/>
          </a:bodyPr>
          <a:lstStyle/>
          <a:p>
            <a:pPr algn="l">
              <a:lnSpc>
                <a:spcPts val="2753"/>
              </a:lnSpc>
            </a:pPr>
            <a:r>
              <a:rPr lang="en-US" sz="1699" b="1" i="1" spc="-61">
                <a:solidFill>
                  <a:srgbClr val="000000"/>
                </a:solidFill>
                <a:latin typeface="Montserrat Bold Italics"/>
                <a:ea typeface="Montserrat Bold Italics"/>
                <a:cs typeface="Montserrat Bold Italics"/>
                <a:sym typeface="Montserrat Bold Italics"/>
              </a:rPr>
              <a:t>PHỨC HỢP VITAMIN VÀ HOẠT CHẤT HỖ TRỢ</a:t>
            </a:r>
          </a:p>
        </p:txBody>
      </p:sp>
      <p:sp>
        <p:nvSpPr>
          <p:cNvPr id="19" name="TextBox 19"/>
          <p:cNvSpPr txBox="1"/>
          <p:nvPr/>
        </p:nvSpPr>
        <p:spPr>
          <a:xfrm>
            <a:off x="11145113" y="6410881"/>
            <a:ext cx="5031992" cy="2483485"/>
          </a:xfrm>
          <a:prstGeom prst="rect">
            <a:avLst/>
          </a:prstGeom>
        </p:spPr>
        <p:txBody>
          <a:bodyPr lIns="0" tIns="0" rIns="0" bIns="0" rtlCol="0" anchor="t">
            <a:spAutoFit/>
          </a:bodyPr>
          <a:lstStyle/>
          <a:p>
            <a:pPr marL="367029" lvl="1" indent="-183514" algn="l">
              <a:lnSpc>
                <a:spcPts val="2209"/>
              </a:lnSpc>
              <a:buFont typeface="Arial"/>
              <a:buChar char="•"/>
            </a:pPr>
            <a:r>
              <a:rPr lang="en-US" sz="1699" b="1" spc="-61">
                <a:solidFill>
                  <a:srgbClr val="000000"/>
                </a:solidFill>
                <a:latin typeface="Montserrat Medium"/>
                <a:ea typeface="Montserrat Medium"/>
                <a:cs typeface="Montserrat Medium"/>
                <a:sym typeface="Montserrat Medium"/>
              </a:rPr>
              <a:t>DR.CGF Retinal nổi bật với Retinal 0,1% thế hệ mới, hiệu quả cao trong cải thiện mụn và trẻ hoá da. </a:t>
            </a:r>
          </a:p>
          <a:p>
            <a:pPr marL="367029" lvl="1" indent="-183514" algn="l">
              <a:lnSpc>
                <a:spcPts val="2209"/>
              </a:lnSpc>
              <a:buFont typeface="Arial"/>
              <a:buChar char="•"/>
            </a:pPr>
            <a:r>
              <a:rPr lang="en-US" sz="1699" b="1" spc="-61">
                <a:solidFill>
                  <a:srgbClr val="000000"/>
                </a:solidFill>
                <a:latin typeface="Montserrat Medium"/>
                <a:ea typeface="Montserrat Medium"/>
                <a:cs typeface="Montserrat Medium"/>
                <a:sym typeface="Montserrat Medium"/>
              </a:rPr>
              <a:t>Công thức cân bằng cùng Bakuchiol – Niacinamide – Panthenol – Peptide Complex giúp giảm kích ứng, phục hồi và tăng dung nạp. </a:t>
            </a:r>
          </a:p>
          <a:p>
            <a:pPr marL="367029" lvl="1" indent="-183514" algn="l">
              <a:lnSpc>
                <a:spcPts val="2209"/>
              </a:lnSpc>
              <a:buFont typeface="Arial"/>
              <a:buChar char="•"/>
            </a:pPr>
            <a:r>
              <a:rPr lang="en-US" sz="1699" b="1" spc="-61">
                <a:solidFill>
                  <a:srgbClr val="000000"/>
                </a:solidFill>
                <a:latin typeface="Montserrat Medium"/>
                <a:ea typeface="Montserrat Medium"/>
                <a:cs typeface="Montserrat Medium"/>
                <a:sym typeface="Montserrat Medium"/>
              </a:rPr>
              <a:t>Giải pháp hiệu quả – an toàn – bền vững, phù hợp để sử dụng lâu dài</a:t>
            </a:r>
          </a:p>
        </p:txBody>
      </p:sp>
      <p:sp>
        <p:nvSpPr>
          <p:cNvPr id="20" name="Freeform 20"/>
          <p:cNvSpPr/>
          <p:nvPr/>
        </p:nvSpPr>
        <p:spPr>
          <a:xfrm>
            <a:off x="10859125" y="5495526"/>
            <a:ext cx="2048712" cy="391612"/>
          </a:xfrm>
          <a:custGeom>
            <a:avLst/>
            <a:gdLst/>
            <a:ahLst/>
            <a:cxnLst/>
            <a:rect l="l" t="t" r="r" b="b"/>
            <a:pathLst>
              <a:path w="2048712" h="391612">
                <a:moveTo>
                  <a:pt x="0" y="0"/>
                </a:moveTo>
                <a:lnTo>
                  <a:pt x="2048712" y="0"/>
                </a:lnTo>
                <a:lnTo>
                  <a:pt x="2048712" y="391612"/>
                </a:lnTo>
                <a:lnTo>
                  <a:pt x="0" y="391612"/>
                </a:lnTo>
                <a:lnTo>
                  <a:pt x="0" y="0"/>
                </a:lnTo>
                <a:close/>
              </a:path>
            </a:pathLst>
          </a:custGeom>
          <a:blipFill>
            <a:blip r:embed="rId2"/>
            <a:stretch>
              <a:fillRect l="-54608" t="-943" r="-213347" b="-125237"/>
            </a:stretch>
          </a:blipFill>
        </p:spPr>
      </p:sp>
      <p:sp>
        <p:nvSpPr>
          <p:cNvPr id="21" name="TextBox 21"/>
          <p:cNvSpPr txBox="1"/>
          <p:nvPr/>
        </p:nvSpPr>
        <p:spPr>
          <a:xfrm>
            <a:off x="10995414" y="5437372"/>
            <a:ext cx="1811176" cy="318897"/>
          </a:xfrm>
          <a:prstGeom prst="rect">
            <a:avLst/>
          </a:prstGeom>
        </p:spPr>
        <p:txBody>
          <a:bodyPr lIns="0" tIns="0" rIns="0" bIns="0" rtlCol="0" anchor="t">
            <a:spAutoFit/>
          </a:bodyPr>
          <a:lstStyle/>
          <a:p>
            <a:pPr algn="l">
              <a:lnSpc>
                <a:spcPts val="2753"/>
              </a:lnSpc>
            </a:pPr>
            <a:r>
              <a:rPr lang="en-US" sz="1699" b="1" spc="-61">
                <a:solidFill>
                  <a:srgbClr val="FFFFFF"/>
                </a:solidFill>
                <a:latin typeface="Montserrat Ultra-Bold"/>
                <a:ea typeface="Montserrat Ultra-Bold"/>
                <a:cs typeface="Montserrat Ultra-Bold"/>
                <a:sym typeface="Montserrat Ultra-Bold"/>
              </a:rPr>
              <a:t>ĐIỂM MẠNH</a:t>
            </a:r>
          </a:p>
        </p:txBody>
      </p:sp>
      <p:sp>
        <p:nvSpPr>
          <p:cNvPr id="22" name="AutoShape 22"/>
          <p:cNvSpPr/>
          <p:nvPr/>
        </p:nvSpPr>
        <p:spPr>
          <a:xfrm>
            <a:off x="10579311" y="1881451"/>
            <a:ext cx="0" cy="7376849"/>
          </a:xfrm>
          <a:prstGeom prst="line">
            <a:avLst/>
          </a:prstGeom>
          <a:ln w="19050" cap="flat">
            <a:solidFill>
              <a:srgbClr val="000000"/>
            </a:solidFill>
            <a:prstDash val="solid"/>
            <a:headEnd type="none" w="sm" len="sm"/>
            <a:tailEnd type="none" w="sm" len="sm"/>
          </a:ln>
        </p:spPr>
      </p:sp>
      <p:grpSp>
        <p:nvGrpSpPr>
          <p:cNvPr id="23" name="Group 2">
            <a:extLst>
              <a:ext uri="{FF2B5EF4-FFF2-40B4-BE49-F238E27FC236}">
                <a16:creationId xmlns:a16="http://schemas.microsoft.com/office/drawing/2014/main" id="{88E2F5D9-E7E1-F951-AFC8-E2B16096FBC4}"/>
              </a:ext>
            </a:extLst>
          </p:cNvPr>
          <p:cNvGrpSpPr/>
          <p:nvPr/>
        </p:nvGrpSpPr>
        <p:grpSpPr>
          <a:xfrm>
            <a:off x="1028700" y="395218"/>
            <a:ext cx="17259300" cy="1078533"/>
            <a:chOff x="0" y="0"/>
            <a:chExt cx="23012400" cy="1438044"/>
          </a:xfrm>
        </p:grpSpPr>
        <p:sp>
          <p:nvSpPr>
            <p:cNvPr id="24" name="Freeform 3">
              <a:extLst>
                <a:ext uri="{FF2B5EF4-FFF2-40B4-BE49-F238E27FC236}">
                  <a16:creationId xmlns:a16="http://schemas.microsoft.com/office/drawing/2014/main" id="{68392607-E38F-F5A4-8597-DA29F0D4AA46}"/>
                </a:ext>
              </a:extLst>
            </p:cNvPr>
            <p:cNvSpPr/>
            <p:nvPr/>
          </p:nvSpPr>
          <p:spPr>
            <a:xfrm>
              <a:off x="0" y="0"/>
              <a:ext cx="2937194" cy="1274008"/>
            </a:xfrm>
            <a:custGeom>
              <a:avLst/>
              <a:gdLst/>
              <a:ahLst/>
              <a:cxnLst/>
              <a:rect l="l" t="t" r="r" b="b"/>
              <a:pathLst>
                <a:path w="2937194" h="1274008">
                  <a:moveTo>
                    <a:pt x="0" y="0"/>
                  </a:moveTo>
                  <a:lnTo>
                    <a:pt x="2937194" y="0"/>
                  </a:lnTo>
                  <a:lnTo>
                    <a:pt x="2937194" y="1274008"/>
                  </a:lnTo>
                  <a:lnTo>
                    <a:pt x="0" y="1274008"/>
                  </a:lnTo>
                  <a:lnTo>
                    <a:pt x="0" y="0"/>
                  </a:lnTo>
                  <a:close/>
                </a:path>
              </a:pathLst>
            </a:custGeom>
            <a:blipFill>
              <a:blip r:embed="rId3"/>
              <a:stretch>
                <a:fillRect/>
              </a:stretch>
            </a:blipFill>
          </p:spPr>
        </p:sp>
        <p:sp>
          <p:nvSpPr>
            <p:cNvPr id="25" name="Freeform 4">
              <a:extLst>
                <a:ext uri="{FF2B5EF4-FFF2-40B4-BE49-F238E27FC236}">
                  <a16:creationId xmlns:a16="http://schemas.microsoft.com/office/drawing/2014/main" id="{1907FBD7-2AA0-38F0-2210-77A8C3C8E54F}"/>
                </a:ext>
              </a:extLst>
            </p:cNvPr>
            <p:cNvSpPr/>
            <p:nvPr/>
          </p:nvSpPr>
          <p:spPr>
            <a:xfrm>
              <a:off x="3134311" y="224397"/>
              <a:ext cx="2339750" cy="1036911"/>
            </a:xfrm>
            <a:custGeom>
              <a:avLst/>
              <a:gdLst/>
              <a:ahLst/>
              <a:cxnLst/>
              <a:rect l="l" t="t" r="r" b="b"/>
              <a:pathLst>
                <a:path w="2339750" h="1036911">
                  <a:moveTo>
                    <a:pt x="0" y="0"/>
                  </a:moveTo>
                  <a:lnTo>
                    <a:pt x="2339749" y="0"/>
                  </a:lnTo>
                  <a:lnTo>
                    <a:pt x="2339749" y="1036911"/>
                  </a:lnTo>
                  <a:lnTo>
                    <a:pt x="0" y="1036911"/>
                  </a:lnTo>
                  <a:lnTo>
                    <a:pt x="0" y="0"/>
                  </a:lnTo>
                  <a:close/>
                </a:path>
              </a:pathLst>
            </a:custGeom>
            <a:blipFill>
              <a:blip r:embed="rId4"/>
              <a:stretch>
                <a:fillRect l="-8002" t="-69970" b="-73732"/>
              </a:stretch>
            </a:blipFill>
          </p:spPr>
        </p:sp>
        <p:sp>
          <p:nvSpPr>
            <p:cNvPr id="26" name="AutoShape 5">
              <a:extLst>
                <a:ext uri="{FF2B5EF4-FFF2-40B4-BE49-F238E27FC236}">
                  <a16:creationId xmlns:a16="http://schemas.microsoft.com/office/drawing/2014/main" id="{984FC247-41BF-97EF-1A8D-B3189E3B6905}"/>
                </a:ext>
              </a:extLst>
            </p:cNvPr>
            <p:cNvSpPr/>
            <p:nvPr/>
          </p:nvSpPr>
          <p:spPr>
            <a:xfrm flipV="1">
              <a:off x="16552532" y="1299408"/>
              <a:ext cx="6459868" cy="0"/>
            </a:xfrm>
            <a:prstGeom prst="line">
              <a:avLst/>
            </a:prstGeom>
            <a:ln w="25400" cap="flat">
              <a:solidFill>
                <a:srgbClr val="000000"/>
              </a:solidFill>
              <a:prstDash val="solid"/>
              <a:headEnd type="none" w="sm" len="sm"/>
              <a:tailEnd type="none" w="sm" len="sm"/>
            </a:ln>
          </p:spPr>
        </p:sp>
        <p:sp>
          <p:nvSpPr>
            <p:cNvPr id="27" name="TextBox 6">
              <a:extLst>
                <a:ext uri="{FF2B5EF4-FFF2-40B4-BE49-F238E27FC236}">
                  <a16:creationId xmlns:a16="http://schemas.microsoft.com/office/drawing/2014/main" id="{A7D8CE84-ABDA-9AB5-9EE6-28F7A856B33E}"/>
                </a:ext>
              </a:extLst>
            </p:cNvPr>
            <p:cNvSpPr txBox="1"/>
            <p:nvPr/>
          </p:nvSpPr>
          <p:spPr>
            <a:xfrm>
              <a:off x="12954000" y="1088377"/>
              <a:ext cx="3934687" cy="349667"/>
            </a:xfrm>
            <a:prstGeom prst="rect">
              <a:avLst/>
            </a:prstGeom>
          </p:spPr>
          <p:txBody>
            <a:bodyPr wrap="square" lIns="0" tIns="0" rIns="0" bIns="0" rtlCol="0" anchor="t">
              <a:spAutoFit/>
            </a:bodyPr>
            <a:lstStyle/>
            <a:p>
              <a:pPr algn="ctr">
                <a:lnSpc>
                  <a:spcPts val="2239"/>
                </a:lnSpc>
                <a:spcBef>
                  <a:spcPct val="0"/>
                </a:spcBef>
              </a:pPr>
              <a:r>
                <a:rPr lang="en-US" sz="1599" b="1" i="1">
                  <a:solidFill>
                    <a:srgbClr val="000000"/>
                  </a:solidFill>
                  <a:latin typeface="Montserrat Semi-Bold" panose="020B0604020202020204" charset="0"/>
                  <a:ea typeface="Montserrat Medium Italics"/>
                  <a:cs typeface="Montserrat Medium Italics"/>
                  <a:sym typeface="Montserrat Medium Italics"/>
                </a:rPr>
                <a:t>THUẦN HOA GROUP</a:t>
              </a:r>
            </a:p>
          </p:txBody>
        </p:sp>
      </p:grpSp>
      <p:sp>
        <p:nvSpPr>
          <p:cNvPr id="28" name="TextBox 18">
            <a:extLst>
              <a:ext uri="{FF2B5EF4-FFF2-40B4-BE49-F238E27FC236}">
                <a16:creationId xmlns:a16="http://schemas.microsoft.com/office/drawing/2014/main" id="{56631B4B-D158-4F98-97D9-2632FD77131C}"/>
              </a:ext>
            </a:extLst>
          </p:cNvPr>
          <p:cNvSpPr txBox="1"/>
          <p:nvPr/>
        </p:nvSpPr>
        <p:spPr>
          <a:xfrm>
            <a:off x="11176312" y="2365716"/>
            <a:ext cx="7358753" cy="323165"/>
          </a:xfrm>
          <a:prstGeom prst="rect">
            <a:avLst/>
          </a:prstGeom>
        </p:spPr>
        <p:txBody>
          <a:bodyPr wrap="square" lIns="0" tIns="0" rIns="0" bIns="0" rtlCol="0" anchor="t">
            <a:spAutoFit/>
          </a:bodyPr>
          <a:lstStyle/>
          <a:p>
            <a:pPr algn="l">
              <a:lnSpc>
                <a:spcPts val="2753"/>
              </a:lnSpc>
            </a:pPr>
            <a:r>
              <a:rPr lang="en-US" sz="1699" b="1" i="1" spc="-61">
                <a:solidFill>
                  <a:srgbClr val="000000"/>
                </a:solidFill>
                <a:latin typeface="Montserrat Bold Italics"/>
                <a:ea typeface="Montserrat Bold Italics"/>
                <a:cs typeface="Montserrat Bold Italics"/>
                <a:sym typeface="Montserrat Bold Italics"/>
              </a:rPr>
              <a:t>HỆ THỐNG DƯỠNG ẨM TẦNG SÂU TỪ CẤP ẨM ĐẾN KHOÁ ẨM</a:t>
            </a:r>
          </a:p>
        </p:txBody>
      </p:sp>
      <p:sp>
        <p:nvSpPr>
          <p:cNvPr id="29" name="TextBox 14">
            <a:extLst>
              <a:ext uri="{FF2B5EF4-FFF2-40B4-BE49-F238E27FC236}">
                <a16:creationId xmlns:a16="http://schemas.microsoft.com/office/drawing/2014/main" id="{3B518E72-E1F4-4C5D-B47B-167D9B978314}"/>
              </a:ext>
            </a:extLst>
          </p:cNvPr>
          <p:cNvSpPr txBox="1"/>
          <p:nvPr/>
        </p:nvSpPr>
        <p:spPr>
          <a:xfrm>
            <a:off x="500778" y="8039371"/>
            <a:ext cx="10078531" cy="1111843"/>
          </a:xfrm>
          <a:prstGeom prst="rect">
            <a:avLst/>
          </a:prstGeom>
        </p:spPr>
        <p:txBody>
          <a:bodyPr wrap="square" lIns="0" tIns="0" rIns="0" bIns="0" rtlCol="0" anchor="t">
            <a:spAutoFit/>
          </a:bodyPr>
          <a:lstStyle/>
          <a:p>
            <a:pPr marL="367029" lvl="1" indent="-183514">
              <a:lnSpc>
                <a:spcPts val="2209"/>
              </a:lnSpc>
              <a:buFont typeface="Arial"/>
              <a:buChar char="•"/>
            </a:pPr>
            <a:r>
              <a:rPr lang="vi-VN" sz="1699" b="1" spc="-61">
                <a:solidFill>
                  <a:srgbClr val="000000"/>
                </a:solidFill>
                <a:latin typeface="Montserrat Medium"/>
                <a:ea typeface="Montserrat Medium"/>
                <a:cs typeface="Montserrat Medium"/>
                <a:sym typeface="Montserrat Medium"/>
              </a:rPr>
              <a:t>Vitamin Complex (B3, B5, C, K, B9, B12...): Cung cấp nguồn dinh dưỡng thiết yếu để nuôi dưỡng làn da, chống oxy hóa và bảo vệ da khỏi các gốc tự do gây lão hóa</a:t>
            </a:r>
            <a:endParaRPr lang="en-US" sz="1699" b="1" spc="-61">
              <a:solidFill>
                <a:srgbClr val="000000"/>
              </a:solidFill>
              <a:latin typeface="Montserrat Medium"/>
              <a:ea typeface="Montserrat Medium"/>
              <a:cs typeface="Montserrat Medium"/>
              <a:sym typeface="Montserrat Medium"/>
            </a:endParaRPr>
          </a:p>
          <a:p>
            <a:pPr marL="367029" lvl="1" indent="-183514">
              <a:lnSpc>
                <a:spcPts val="2209"/>
              </a:lnSpc>
              <a:buFont typeface="Arial"/>
              <a:buChar char="•"/>
            </a:pPr>
            <a:r>
              <a:rPr lang="vi-VN" sz="1699" b="1" spc="-61">
                <a:solidFill>
                  <a:srgbClr val="000000"/>
                </a:solidFill>
                <a:latin typeface="Montserrat Medium"/>
                <a:ea typeface="Montserrat Medium"/>
                <a:cs typeface="Montserrat Medium"/>
                <a:sym typeface="Montserrat Medium"/>
              </a:rPr>
              <a:t>.</a:t>
            </a:r>
            <a:r>
              <a:rPr lang="en-US" sz="1699" b="1" spc="-61">
                <a:solidFill>
                  <a:srgbClr val="000000"/>
                </a:solidFill>
                <a:latin typeface="Montserrat Medium"/>
                <a:ea typeface="Montserrat Medium"/>
                <a:cs typeface="Montserrat Medium"/>
                <a:sym typeface="Montserrat Medium"/>
              </a:rPr>
              <a:t> Niacinamide (2.002%) &amp; Adenosine (0.04%): Bộ đôi giúp làm sáng da, cải thiện sắc tố và làm mịn các rãnh nhăn li ti</a:t>
            </a:r>
          </a:p>
        </p:txBody>
      </p:sp>
    </p:spTree>
    <p:extLst>
      <p:ext uri="{BB962C8B-B14F-4D97-AF65-F5344CB8AC3E}">
        <p14:creationId xmlns:p14="http://schemas.microsoft.com/office/powerpoint/2010/main" val="2426829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par>
                                <p:cTn id="8" presetID="22" presetClass="entr" presetSubtype="4"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down)">
                                      <p:cBhvr>
                                        <p:cTn id="10" dur="500"/>
                                        <p:tgtEl>
                                          <p:spTgt spid="8"/>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down)">
                                      <p:cBhvr>
                                        <p:cTn id="13" dur="500"/>
                                        <p:tgtEl>
                                          <p:spTgt spid="9"/>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down)">
                                      <p:cBhvr>
                                        <p:cTn id="16" dur="500"/>
                                        <p:tgtEl>
                                          <p:spTgt spid="10"/>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down)">
                                      <p:cBhvr>
                                        <p:cTn id="19" dur="500"/>
                                        <p:tgtEl>
                                          <p:spTgt spid="12"/>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down)">
                                      <p:cBhvr>
                                        <p:cTn id="22" dur="500"/>
                                        <p:tgtEl>
                                          <p:spTgt spid="13"/>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wipe(down)">
                                      <p:cBhvr>
                                        <p:cTn id="25" dur="500"/>
                                        <p:tgtEl>
                                          <p:spTgt spid="14"/>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wipe(down)">
                                      <p:cBhvr>
                                        <p:cTn id="28" dur="500"/>
                                        <p:tgtEl>
                                          <p:spTgt spid="16"/>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wipe(down)">
                                      <p:cBhvr>
                                        <p:cTn id="31" dur="500"/>
                                        <p:tgtEl>
                                          <p:spTgt spid="17"/>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wipe(down)">
                                      <p:cBhvr>
                                        <p:cTn id="34" dur="500"/>
                                        <p:tgtEl>
                                          <p:spTgt spid="18"/>
                                        </p:tgtEl>
                                      </p:cBhvr>
                                    </p:animEffect>
                                  </p:childTnLst>
                                </p:cTn>
                              </p:par>
                              <p:par>
                                <p:cTn id="35" presetID="22" presetClass="entr" presetSubtype="4" fill="hold"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wipe(down)">
                                      <p:cBhvr>
                                        <p:cTn id="37" dur="5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wipe(down)">
                                      <p:cBhvr>
                                        <p:cTn id="42" dur="500"/>
                                        <p:tgtEl>
                                          <p:spTgt spid="19"/>
                                        </p:tgtEl>
                                      </p:cBhvr>
                                    </p:animEffect>
                                  </p:childTnLst>
                                </p:cTn>
                              </p:par>
                              <p:par>
                                <p:cTn id="43" presetID="22" presetClass="entr" presetSubtype="4" fill="hold"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down)">
                                      <p:cBhvr>
                                        <p:cTn id="45" dur="500"/>
                                        <p:tgtEl>
                                          <p:spTgt spid="20"/>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wipe(down)">
                                      <p:cBhvr>
                                        <p:cTn id="48" dur="500"/>
                                        <p:tgtEl>
                                          <p:spTgt spid="21"/>
                                        </p:tgtEl>
                                      </p:cBhvr>
                                    </p:animEffect>
                                  </p:childTnLst>
                                </p:cTn>
                              </p:par>
                              <p:par>
                                <p:cTn id="49" presetID="22" presetClass="entr" presetSubtype="4"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wipe(down)">
                                      <p:cBhvr>
                                        <p:cTn id="51" dur="500"/>
                                        <p:tgtEl>
                                          <p:spTgt spid="28"/>
                                        </p:tgtEl>
                                      </p:cBhvr>
                                    </p:animEffect>
                                  </p:childTnLst>
                                </p:cTn>
                              </p:par>
                              <p:par>
                                <p:cTn id="52" presetID="22" presetClass="entr" presetSubtype="4" fill="hold" grpId="0" nodeType="withEffect">
                                  <p:stCondLst>
                                    <p:cond delay="0"/>
                                  </p:stCondLst>
                                  <p:childTnLst>
                                    <p:set>
                                      <p:cBhvr>
                                        <p:cTn id="53" dur="1" fill="hold">
                                          <p:stCondLst>
                                            <p:cond delay="0"/>
                                          </p:stCondLst>
                                        </p:cTn>
                                        <p:tgtEl>
                                          <p:spTgt spid="29"/>
                                        </p:tgtEl>
                                        <p:attrNameLst>
                                          <p:attrName>style.visibility</p:attrName>
                                        </p:attrNameLst>
                                      </p:cBhvr>
                                      <p:to>
                                        <p:strVal val="visible"/>
                                      </p:to>
                                    </p:set>
                                    <p:animEffect transition="in" filter="wipe(down)">
                                      <p:cBhvr>
                                        <p:cTn id="54"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P spid="12" grpId="0"/>
      <p:bldP spid="13" grpId="0"/>
      <p:bldP spid="14" grpId="0"/>
      <p:bldP spid="16" grpId="0"/>
      <p:bldP spid="17" grpId="0"/>
      <p:bldP spid="18" grpId="0"/>
      <p:bldP spid="19" grpId="0"/>
      <p:bldP spid="21" grpId="0"/>
      <p:bldP spid="28" grpId="0"/>
      <p:bldP spid="2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1028700" y="2038377"/>
            <a:ext cx="4938607" cy="7219923"/>
            <a:chOff x="0" y="0"/>
            <a:chExt cx="765120" cy="1118555"/>
          </a:xfrm>
        </p:grpSpPr>
        <p:sp>
          <p:nvSpPr>
            <p:cNvPr id="8" name="Freeform 8"/>
            <p:cNvSpPr/>
            <p:nvPr/>
          </p:nvSpPr>
          <p:spPr>
            <a:xfrm>
              <a:off x="0" y="0"/>
              <a:ext cx="765119" cy="1118555"/>
            </a:xfrm>
            <a:custGeom>
              <a:avLst/>
              <a:gdLst/>
              <a:ahLst/>
              <a:cxnLst/>
              <a:rect l="l" t="t" r="r" b="b"/>
              <a:pathLst>
                <a:path w="765119" h="1118555">
                  <a:moveTo>
                    <a:pt x="0" y="0"/>
                  </a:moveTo>
                  <a:lnTo>
                    <a:pt x="765119" y="0"/>
                  </a:lnTo>
                  <a:lnTo>
                    <a:pt x="765119" y="1118555"/>
                  </a:lnTo>
                  <a:lnTo>
                    <a:pt x="0" y="1118555"/>
                  </a:lnTo>
                  <a:close/>
                </a:path>
              </a:pathLst>
            </a:custGeom>
            <a:blipFill>
              <a:blip r:embed="rId2"/>
              <a:stretch>
                <a:fillRect l="-13802" t="-8190" r="-4822"/>
              </a:stretch>
            </a:blipFill>
          </p:spPr>
        </p:sp>
      </p:grpSp>
      <p:sp>
        <p:nvSpPr>
          <p:cNvPr id="9" name="Freeform 9"/>
          <p:cNvSpPr/>
          <p:nvPr/>
        </p:nvSpPr>
        <p:spPr>
          <a:xfrm>
            <a:off x="6357832" y="2038377"/>
            <a:ext cx="11463317" cy="699294"/>
          </a:xfrm>
          <a:custGeom>
            <a:avLst/>
            <a:gdLst/>
            <a:ahLst/>
            <a:cxnLst/>
            <a:rect l="l" t="t" r="r" b="b"/>
            <a:pathLst>
              <a:path w="11463317" h="699294">
                <a:moveTo>
                  <a:pt x="0" y="0"/>
                </a:moveTo>
                <a:lnTo>
                  <a:pt x="11463317" y="0"/>
                </a:lnTo>
                <a:lnTo>
                  <a:pt x="11463317" y="699294"/>
                </a:lnTo>
                <a:lnTo>
                  <a:pt x="0" y="699294"/>
                </a:lnTo>
                <a:lnTo>
                  <a:pt x="0" y="0"/>
                </a:lnTo>
                <a:close/>
              </a:path>
            </a:pathLst>
          </a:custGeom>
          <a:blipFill>
            <a:blip r:embed="rId3"/>
            <a:stretch>
              <a:fillRect l="-17427" t="-943" b="-125237"/>
            </a:stretch>
          </a:blipFill>
        </p:spPr>
      </p:sp>
      <p:sp>
        <p:nvSpPr>
          <p:cNvPr id="10" name="Freeform 10"/>
          <p:cNvSpPr/>
          <p:nvPr/>
        </p:nvSpPr>
        <p:spPr>
          <a:xfrm>
            <a:off x="6398641" y="5977413"/>
            <a:ext cx="1691066" cy="391612"/>
          </a:xfrm>
          <a:custGeom>
            <a:avLst/>
            <a:gdLst/>
            <a:ahLst/>
            <a:cxnLst/>
            <a:rect l="l" t="t" r="r" b="b"/>
            <a:pathLst>
              <a:path w="1691066" h="391612">
                <a:moveTo>
                  <a:pt x="0" y="0"/>
                </a:moveTo>
                <a:lnTo>
                  <a:pt x="1691066" y="0"/>
                </a:lnTo>
                <a:lnTo>
                  <a:pt x="1691066" y="391612"/>
                </a:lnTo>
                <a:lnTo>
                  <a:pt x="0" y="391612"/>
                </a:lnTo>
                <a:lnTo>
                  <a:pt x="0" y="0"/>
                </a:lnTo>
                <a:close/>
              </a:path>
            </a:pathLst>
          </a:custGeom>
          <a:blipFill>
            <a:blip r:embed="rId3"/>
            <a:stretch>
              <a:fillRect l="-66157" t="-943" r="-279617" b="-125237"/>
            </a:stretch>
          </a:blipFill>
        </p:spPr>
      </p:sp>
      <p:sp>
        <p:nvSpPr>
          <p:cNvPr id="11" name="Freeform 11"/>
          <p:cNvSpPr/>
          <p:nvPr/>
        </p:nvSpPr>
        <p:spPr>
          <a:xfrm>
            <a:off x="6441240" y="7138617"/>
            <a:ext cx="1778146" cy="391612"/>
          </a:xfrm>
          <a:custGeom>
            <a:avLst/>
            <a:gdLst/>
            <a:ahLst/>
            <a:cxnLst/>
            <a:rect l="l" t="t" r="r" b="b"/>
            <a:pathLst>
              <a:path w="1778146" h="391612">
                <a:moveTo>
                  <a:pt x="0" y="0"/>
                </a:moveTo>
                <a:lnTo>
                  <a:pt x="1778146" y="0"/>
                </a:lnTo>
                <a:lnTo>
                  <a:pt x="1778146" y="391612"/>
                </a:lnTo>
                <a:lnTo>
                  <a:pt x="0" y="391612"/>
                </a:lnTo>
                <a:lnTo>
                  <a:pt x="0" y="0"/>
                </a:lnTo>
                <a:close/>
              </a:path>
            </a:pathLst>
          </a:custGeom>
          <a:blipFill>
            <a:blip r:embed="rId3"/>
            <a:stretch>
              <a:fillRect l="-62917" t="-943" r="-261026" b="-125237"/>
            </a:stretch>
          </a:blipFill>
        </p:spPr>
      </p:sp>
      <p:sp>
        <p:nvSpPr>
          <p:cNvPr id="12" name="Freeform 12"/>
          <p:cNvSpPr/>
          <p:nvPr/>
        </p:nvSpPr>
        <p:spPr>
          <a:xfrm>
            <a:off x="6398641" y="8477169"/>
            <a:ext cx="2048712" cy="391612"/>
          </a:xfrm>
          <a:custGeom>
            <a:avLst/>
            <a:gdLst/>
            <a:ahLst/>
            <a:cxnLst/>
            <a:rect l="l" t="t" r="r" b="b"/>
            <a:pathLst>
              <a:path w="2048712" h="391612">
                <a:moveTo>
                  <a:pt x="0" y="0"/>
                </a:moveTo>
                <a:lnTo>
                  <a:pt x="2048712" y="0"/>
                </a:lnTo>
                <a:lnTo>
                  <a:pt x="2048712" y="391612"/>
                </a:lnTo>
                <a:lnTo>
                  <a:pt x="0" y="391612"/>
                </a:lnTo>
                <a:lnTo>
                  <a:pt x="0" y="0"/>
                </a:lnTo>
                <a:close/>
              </a:path>
            </a:pathLst>
          </a:custGeom>
          <a:blipFill>
            <a:blip r:embed="rId3"/>
            <a:stretch>
              <a:fillRect l="-54608" t="-943" r="-213347" b="-125237"/>
            </a:stretch>
          </a:blipFill>
        </p:spPr>
      </p:sp>
      <p:sp>
        <p:nvSpPr>
          <p:cNvPr id="13" name="TextBox 13"/>
          <p:cNvSpPr txBox="1"/>
          <p:nvPr/>
        </p:nvSpPr>
        <p:spPr>
          <a:xfrm>
            <a:off x="6529157" y="2128614"/>
            <a:ext cx="9514736" cy="471195"/>
          </a:xfrm>
          <a:prstGeom prst="rect">
            <a:avLst/>
          </a:prstGeom>
        </p:spPr>
        <p:txBody>
          <a:bodyPr lIns="0" tIns="0" rIns="0" bIns="0" rtlCol="0" anchor="t">
            <a:spAutoFit/>
          </a:bodyPr>
          <a:lstStyle/>
          <a:p>
            <a:pPr algn="l">
              <a:lnSpc>
                <a:spcPts val="3953"/>
              </a:lnSpc>
              <a:spcBef>
                <a:spcPct val="0"/>
              </a:spcBef>
            </a:pPr>
            <a:r>
              <a:rPr lang="en-US" sz="2824" b="1">
                <a:solidFill>
                  <a:srgbClr val="FFFFFF"/>
                </a:solidFill>
                <a:latin typeface="Montserrat Bold"/>
                <a:ea typeface="Montserrat Bold"/>
                <a:cs typeface="Montserrat Bold"/>
                <a:sym typeface="Montserrat Bold"/>
              </a:rPr>
              <a:t>DR.CGF TRANEXAMIC </a:t>
            </a:r>
            <a:r>
              <a:rPr lang="en-US" sz="2824" b="1">
                <a:solidFill>
                  <a:srgbClr val="6C90FF"/>
                </a:solidFill>
                <a:latin typeface="Montserrat Bold"/>
                <a:ea typeface="Montserrat Bold"/>
                <a:cs typeface="Montserrat Bold"/>
                <a:sym typeface="Montserrat Bold"/>
              </a:rPr>
              <a:t>MELA EXOSOME AMPOULE</a:t>
            </a:r>
          </a:p>
        </p:txBody>
      </p:sp>
      <p:sp>
        <p:nvSpPr>
          <p:cNvPr id="15" name="TextBox 15"/>
          <p:cNvSpPr txBox="1"/>
          <p:nvPr/>
        </p:nvSpPr>
        <p:spPr>
          <a:xfrm>
            <a:off x="6376757" y="4223529"/>
            <a:ext cx="11202286" cy="829714"/>
          </a:xfrm>
          <a:prstGeom prst="rect">
            <a:avLst/>
          </a:prstGeom>
        </p:spPr>
        <p:txBody>
          <a:bodyPr lIns="0" tIns="0" rIns="0" bIns="0" rtlCol="0" anchor="t">
            <a:spAutoFit/>
          </a:bodyPr>
          <a:lstStyle/>
          <a:p>
            <a:pPr algn="l">
              <a:lnSpc>
                <a:spcPts val="2209"/>
              </a:lnSpc>
            </a:pPr>
            <a:r>
              <a:rPr lang="en-US" sz="1699" b="1" spc="-61">
                <a:solidFill>
                  <a:srgbClr val="000000"/>
                </a:solidFill>
                <a:latin typeface="Montserrat Medium"/>
                <a:ea typeface="Montserrat Medium"/>
                <a:cs typeface="Montserrat Medium"/>
                <a:sym typeface="Montserrat Medium"/>
              </a:rPr>
              <a:t>DR.CGF Tranexamic Mela Exosome Ampoule </a:t>
            </a:r>
            <a:r>
              <a:rPr lang="en-US" sz="1699" b="1" spc="-61" err="1">
                <a:solidFill>
                  <a:srgbClr val="000000"/>
                </a:solidFill>
                <a:latin typeface="Montserrat Medium"/>
                <a:ea typeface="Montserrat Medium"/>
                <a:cs typeface="Montserrat Medium"/>
                <a:sym typeface="Montserrat Medium"/>
              </a:rPr>
              <a:t>là</a:t>
            </a:r>
            <a:r>
              <a:rPr lang="en-US" sz="1699" b="1" spc="-61">
                <a:solidFill>
                  <a:srgbClr val="000000"/>
                </a:solidFill>
                <a:latin typeface="Montserrat Medium"/>
                <a:ea typeface="Montserrat Medium"/>
                <a:cs typeface="Montserrat Medium"/>
                <a:sym typeface="Montserrat Medium"/>
              </a:rPr>
              <a:t> </a:t>
            </a:r>
            <a:r>
              <a:rPr lang="en-US" sz="1699" b="1" spc="-61" err="1">
                <a:solidFill>
                  <a:srgbClr val="000000"/>
                </a:solidFill>
                <a:latin typeface="Montserrat Medium"/>
                <a:ea typeface="Montserrat Medium"/>
                <a:cs typeface="Montserrat Medium"/>
                <a:sym typeface="Montserrat Medium"/>
              </a:rPr>
              <a:t>tinh</a:t>
            </a:r>
            <a:r>
              <a:rPr lang="en-US" sz="1699" b="1" spc="-61">
                <a:solidFill>
                  <a:srgbClr val="000000"/>
                </a:solidFill>
                <a:latin typeface="Montserrat Medium"/>
                <a:ea typeface="Montserrat Medium"/>
                <a:cs typeface="Montserrat Medium"/>
                <a:sym typeface="Montserrat Medium"/>
              </a:rPr>
              <a:t> </a:t>
            </a:r>
            <a:r>
              <a:rPr lang="en-US" sz="1699" b="1" spc="-61" err="1">
                <a:solidFill>
                  <a:srgbClr val="000000"/>
                </a:solidFill>
                <a:latin typeface="Montserrat Medium"/>
                <a:ea typeface="Montserrat Medium"/>
                <a:cs typeface="Montserrat Medium"/>
                <a:sym typeface="Montserrat Medium"/>
              </a:rPr>
              <a:t>chất</a:t>
            </a:r>
            <a:r>
              <a:rPr lang="en-US" sz="1699" b="1" spc="-61">
                <a:solidFill>
                  <a:srgbClr val="000000"/>
                </a:solidFill>
                <a:latin typeface="Montserrat Medium"/>
                <a:ea typeface="Montserrat Medium"/>
                <a:cs typeface="Montserrat Medium"/>
                <a:sym typeface="Montserrat Medium"/>
              </a:rPr>
              <a:t> </a:t>
            </a:r>
            <a:r>
              <a:rPr lang="en-US" sz="1699" b="1" spc="-61" err="1">
                <a:solidFill>
                  <a:srgbClr val="000000"/>
                </a:solidFill>
                <a:latin typeface="Montserrat Medium"/>
                <a:ea typeface="Montserrat Medium"/>
                <a:cs typeface="Montserrat Medium"/>
                <a:sym typeface="Montserrat Medium"/>
              </a:rPr>
              <a:t>làm</a:t>
            </a:r>
            <a:r>
              <a:rPr lang="en-US" sz="1699" b="1" spc="-61">
                <a:solidFill>
                  <a:srgbClr val="000000"/>
                </a:solidFill>
                <a:latin typeface="Montserrat Medium"/>
                <a:ea typeface="Montserrat Medium"/>
                <a:cs typeface="Montserrat Medium"/>
                <a:sym typeface="Montserrat Medium"/>
              </a:rPr>
              <a:t> </a:t>
            </a:r>
            <a:r>
              <a:rPr lang="en-US" sz="1699" b="1" spc="-61" err="1">
                <a:solidFill>
                  <a:srgbClr val="000000"/>
                </a:solidFill>
                <a:latin typeface="Montserrat Medium"/>
                <a:ea typeface="Montserrat Medium"/>
                <a:cs typeface="Montserrat Medium"/>
                <a:sym typeface="Montserrat Medium"/>
              </a:rPr>
              <a:t>sáng</a:t>
            </a:r>
            <a:r>
              <a:rPr lang="en-US" sz="1699" b="1" spc="-61">
                <a:solidFill>
                  <a:srgbClr val="000000"/>
                </a:solidFill>
                <a:latin typeface="Montserrat Medium"/>
                <a:ea typeface="Montserrat Medium"/>
                <a:cs typeface="Montserrat Medium"/>
                <a:sym typeface="Montserrat Medium"/>
              </a:rPr>
              <a:t> da </a:t>
            </a:r>
            <a:r>
              <a:rPr lang="en-US" sz="1699" b="1" spc="-61" err="1">
                <a:solidFill>
                  <a:srgbClr val="000000"/>
                </a:solidFill>
                <a:latin typeface="Montserrat Medium"/>
                <a:ea typeface="Montserrat Medium"/>
                <a:cs typeface="Montserrat Medium"/>
                <a:sym typeface="Montserrat Medium"/>
              </a:rPr>
              <a:t>chuyên</a:t>
            </a:r>
            <a:r>
              <a:rPr lang="en-US" sz="1699" b="1" spc="-61">
                <a:solidFill>
                  <a:srgbClr val="000000"/>
                </a:solidFill>
                <a:latin typeface="Montserrat Medium"/>
                <a:ea typeface="Montserrat Medium"/>
                <a:cs typeface="Montserrat Medium"/>
                <a:sym typeface="Montserrat Medium"/>
              </a:rPr>
              <a:t> </a:t>
            </a:r>
            <a:r>
              <a:rPr lang="en-US" sz="1699" b="1" spc="-61" err="1">
                <a:solidFill>
                  <a:srgbClr val="000000"/>
                </a:solidFill>
                <a:latin typeface="Montserrat Medium"/>
                <a:ea typeface="Montserrat Medium"/>
                <a:cs typeface="Montserrat Medium"/>
                <a:sym typeface="Montserrat Medium"/>
              </a:rPr>
              <a:t>sâu</a:t>
            </a:r>
            <a:r>
              <a:rPr lang="en-US" sz="1699" b="1" spc="-61">
                <a:solidFill>
                  <a:srgbClr val="000000"/>
                </a:solidFill>
                <a:latin typeface="Montserrat Medium"/>
                <a:ea typeface="Montserrat Medium"/>
                <a:cs typeface="Montserrat Medium"/>
                <a:sym typeface="Montserrat Medium"/>
              </a:rPr>
              <a:t>,  cải thiện sắc tố, làm đều màu da, kiềm dầu, thu nhỏ lỗ chân lông…</a:t>
            </a:r>
          </a:p>
          <a:p>
            <a:pPr>
              <a:lnSpc>
                <a:spcPts val="2209"/>
              </a:lnSpc>
            </a:pPr>
            <a:r>
              <a:rPr lang="en-US" sz="1699" b="1" spc="-61">
                <a:solidFill>
                  <a:srgbClr val="000000"/>
                </a:solidFill>
                <a:latin typeface="Montserrat Medium"/>
                <a:ea typeface="Montserrat Medium"/>
                <a:cs typeface="Montserrat Medium"/>
                <a:sym typeface="Montserrat Medium"/>
              </a:rPr>
              <a:t>Sản phẩm đã hoàn thành thử nghiệm kích ứng da Dermatest của Đức ở cấp độ exxellent</a:t>
            </a:r>
          </a:p>
        </p:txBody>
      </p:sp>
      <p:sp>
        <p:nvSpPr>
          <p:cNvPr id="16" name="TextBox 16"/>
          <p:cNvSpPr txBox="1"/>
          <p:nvPr/>
        </p:nvSpPr>
        <p:spPr>
          <a:xfrm>
            <a:off x="6529157" y="6502375"/>
            <a:ext cx="6524710" cy="318897"/>
          </a:xfrm>
          <a:prstGeom prst="rect">
            <a:avLst/>
          </a:prstGeom>
        </p:spPr>
        <p:txBody>
          <a:bodyPr lIns="0" tIns="0" rIns="0" bIns="0" rtlCol="0" anchor="t">
            <a:spAutoFit/>
          </a:bodyPr>
          <a:lstStyle/>
          <a:p>
            <a:pPr algn="l">
              <a:lnSpc>
                <a:spcPts val="2753"/>
              </a:lnSpc>
            </a:pPr>
            <a:r>
              <a:rPr lang="en-US" sz="1699" b="1" spc="-61">
                <a:solidFill>
                  <a:srgbClr val="000000"/>
                </a:solidFill>
                <a:latin typeface="Montserrat Medium"/>
                <a:ea typeface="Montserrat Medium"/>
                <a:cs typeface="Montserrat Medium"/>
                <a:sym typeface="Montserrat Medium"/>
              </a:rPr>
              <a:t>Chai </a:t>
            </a:r>
            <a:r>
              <a:rPr lang="en-US" sz="1699" b="1" spc="-61" err="1">
                <a:solidFill>
                  <a:srgbClr val="000000"/>
                </a:solidFill>
                <a:latin typeface="Montserrat Medium"/>
                <a:ea typeface="Montserrat Medium"/>
                <a:cs typeface="Montserrat Medium"/>
                <a:sym typeface="Montserrat Medium"/>
              </a:rPr>
              <a:t>có</a:t>
            </a:r>
            <a:r>
              <a:rPr lang="en-US" sz="1699" b="1" spc="-61">
                <a:solidFill>
                  <a:srgbClr val="000000"/>
                </a:solidFill>
                <a:latin typeface="Montserrat Medium"/>
                <a:ea typeface="Montserrat Medium"/>
                <a:cs typeface="Montserrat Medium"/>
                <a:sym typeface="Montserrat Medium"/>
              </a:rPr>
              <a:t> </a:t>
            </a:r>
            <a:r>
              <a:rPr lang="en-US" sz="1699" b="1" spc="-61" err="1">
                <a:solidFill>
                  <a:srgbClr val="000000"/>
                </a:solidFill>
                <a:latin typeface="Montserrat Medium"/>
                <a:ea typeface="Montserrat Medium"/>
                <a:cs typeface="Montserrat Medium"/>
                <a:sym typeface="Montserrat Medium"/>
              </a:rPr>
              <a:t>nắp</a:t>
            </a:r>
            <a:r>
              <a:rPr lang="en-US" sz="1699" b="1" spc="-61">
                <a:solidFill>
                  <a:srgbClr val="000000"/>
                </a:solidFill>
                <a:latin typeface="Montserrat Medium"/>
                <a:ea typeface="Montserrat Medium"/>
                <a:cs typeface="Montserrat Medium"/>
                <a:sym typeface="Montserrat Medium"/>
              </a:rPr>
              <a:t> </a:t>
            </a:r>
            <a:r>
              <a:rPr lang="en-US" sz="1699" b="1" spc="-61" err="1">
                <a:solidFill>
                  <a:srgbClr val="000000"/>
                </a:solidFill>
                <a:latin typeface="Montserrat Medium"/>
                <a:ea typeface="Montserrat Medium"/>
                <a:cs typeface="Montserrat Medium"/>
                <a:sym typeface="Montserrat Medium"/>
              </a:rPr>
              <a:t>dạng</a:t>
            </a:r>
            <a:r>
              <a:rPr lang="en-US" sz="1699" b="1" spc="-61">
                <a:solidFill>
                  <a:srgbClr val="000000"/>
                </a:solidFill>
                <a:latin typeface="Montserrat Medium"/>
                <a:ea typeface="Montserrat Medium"/>
                <a:cs typeface="Montserrat Medium"/>
                <a:sym typeface="Montserrat Medium"/>
              </a:rPr>
              <a:t> </a:t>
            </a:r>
            <a:r>
              <a:rPr lang="en-US" sz="1699" b="1" spc="-61" err="1">
                <a:solidFill>
                  <a:srgbClr val="000000"/>
                </a:solidFill>
                <a:latin typeface="Montserrat Medium"/>
                <a:ea typeface="Montserrat Medium"/>
                <a:cs typeface="Montserrat Medium"/>
                <a:sym typeface="Montserrat Medium"/>
              </a:rPr>
              <a:t>đầu</a:t>
            </a:r>
            <a:r>
              <a:rPr lang="en-US" sz="1699" b="1" spc="-61">
                <a:solidFill>
                  <a:srgbClr val="000000"/>
                </a:solidFill>
                <a:latin typeface="Montserrat Medium"/>
                <a:ea typeface="Montserrat Medium"/>
                <a:cs typeface="Montserrat Medium"/>
                <a:sym typeface="Montserrat Medium"/>
              </a:rPr>
              <a:t> </a:t>
            </a:r>
            <a:r>
              <a:rPr lang="en-US" sz="1699" b="1" spc="-61" err="1">
                <a:solidFill>
                  <a:srgbClr val="000000"/>
                </a:solidFill>
                <a:latin typeface="Montserrat Medium"/>
                <a:ea typeface="Montserrat Medium"/>
                <a:cs typeface="Montserrat Medium"/>
                <a:sym typeface="Montserrat Medium"/>
              </a:rPr>
              <a:t>hút</a:t>
            </a:r>
            <a:r>
              <a:rPr lang="en-US" sz="1699" b="1" spc="-61">
                <a:solidFill>
                  <a:srgbClr val="000000"/>
                </a:solidFill>
                <a:latin typeface="Montserrat Medium"/>
                <a:ea typeface="Montserrat Medium"/>
                <a:cs typeface="Montserrat Medium"/>
                <a:sym typeface="Montserrat Medium"/>
              </a:rPr>
              <a:t> </a:t>
            </a:r>
            <a:r>
              <a:rPr lang="en-US" sz="1699" b="1" spc="-61" err="1">
                <a:solidFill>
                  <a:srgbClr val="000000"/>
                </a:solidFill>
                <a:latin typeface="Montserrat Medium"/>
                <a:ea typeface="Montserrat Medium"/>
                <a:cs typeface="Montserrat Medium"/>
                <a:sym typeface="Montserrat Medium"/>
              </a:rPr>
              <a:t>nhỏ</a:t>
            </a:r>
            <a:r>
              <a:rPr lang="en-US" sz="1699" b="1" spc="-61">
                <a:solidFill>
                  <a:srgbClr val="000000"/>
                </a:solidFill>
                <a:latin typeface="Montserrat Medium"/>
                <a:ea typeface="Montserrat Medium"/>
                <a:cs typeface="Montserrat Medium"/>
                <a:sym typeface="Montserrat Medium"/>
              </a:rPr>
              <a:t> </a:t>
            </a:r>
            <a:r>
              <a:rPr lang="en-US" sz="1699" b="1" spc="-61" err="1">
                <a:solidFill>
                  <a:srgbClr val="000000"/>
                </a:solidFill>
                <a:latin typeface="Montserrat Medium"/>
                <a:ea typeface="Montserrat Medium"/>
                <a:cs typeface="Montserrat Medium"/>
                <a:sym typeface="Montserrat Medium"/>
              </a:rPr>
              <a:t>giọt</a:t>
            </a:r>
            <a:r>
              <a:rPr lang="en-US" sz="1699" b="1" spc="-61">
                <a:solidFill>
                  <a:srgbClr val="000000"/>
                </a:solidFill>
                <a:latin typeface="Montserrat Medium"/>
                <a:ea typeface="Montserrat Medium"/>
                <a:cs typeface="Montserrat Medium"/>
                <a:sym typeface="Montserrat Medium"/>
              </a:rPr>
              <a:t> 50ml ( 1.69 </a:t>
            </a:r>
            <a:r>
              <a:rPr lang="en-US" sz="1699" b="1" spc="-61" err="1">
                <a:solidFill>
                  <a:srgbClr val="000000"/>
                </a:solidFill>
                <a:latin typeface="Montserrat Medium"/>
                <a:ea typeface="Montserrat Medium"/>
                <a:cs typeface="Montserrat Medium"/>
                <a:sym typeface="Montserrat Medium"/>
              </a:rPr>
              <a:t>fl.oz</a:t>
            </a:r>
            <a:r>
              <a:rPr lang="en-US" sz="1699" b="1" spc="-61">
                <a:solidFill>
                  <a:srgbClr val="000000"/>
                </a:solidFill>
                <a:latin typeface="Montserrat Medium"/>
                <a:ea typeface="Montserrat Medium"/>
                <a:cs typeface="Montserrat Medium"/>
                <a:sym typeface="Montserrat Medium"/>
              </a:rPr>
              <a:t> ).</a:t>
            </a:r>
          </a:p>
        </p:txBody>
      </p:sp>
      <p:sp>
        <p:nvSpPr>
          <p:cNvPr id="17" name="TextBox 17"/>
          <p:cNvSpPr txBox="1"/>
          <p:nvPr/>
        </p:nvSpPr>
        <p:spPr>
          <a:xfrm>
            <a:off x="6636177" y="6058143"/>
            <a:ext cx="1215994" cy="318897"/>
          </a:xfrm>
          <a:prstGeom prst="rect">
            <a:avLst/>
          </a:prstGeom>
        </p:spPr>
        <p:txBody>
          <a:bodyPr lIns="0" tIns="0" rIns="0" bIns="0" rtlCol="0" anchor="t">
            <a:spAutoFit/>
          </a:bodyPr>
          <a:lstStyle/>
          <a:p>
            <a:pPr algn="l">
              <a:lnSpc>
                <a:spcPts val="2753"/>
              </a:lnSpc>
            </a:pPr>
            <a:r>
              <a:rPr lang="en-US" sz="1699" b="1" spc="-61">
                <a:solidFill>
                  <a:srgbClr val="FFFFFF"/>
                </a:solidFill>
                <a:latin typeface="Montserrat Bold"/>
                <a:ea typeface="Montserrat Bold"/>
                <a:cs typeface="Montserrat Bold"/>
                <a:sym typeface="Montserrat Bold"/>
              </a:rPr>
              <a:t>QUY CÁCH</a:t>
            </a:r>
          </a:p>
        </p:txBody>
      </p:sp>
      <p:sp>
        <p:nvSpPr>
          <p:cNvPr id="18" name="TextBox 18"/>
          <p:cNvSpPr txBox="1"/>
          <p:nvPr/>
        </p:nvSpPr>
        <p:spPr>
          <a:xfrm>
            <a:off x="6529157" y="7660559"/>
            <a:ext cx="11137028" cy="549910"/>
          </a:xfrm>
          <a:prstGeom prst="rect">
            <a:avLst/>
          </a:prstGeom>
        </p:spPr>
        <p:txBody>
          <a:bodyPr lIns="0" tIns="0" rIns="0" bIns="0" rtlCol="0" anchor="t">
            <a:spAutoFit/>
          </a:bodyPr>
          <a:lstStyle/>
          <a:p>
            <a:pPr algn="l">
              <a:lnSpc>
                <a:spcPts val="2209"/>
              </a:lnSpc>
            </a:pPr>
            <a:r>
              <a:rPr lang="en-US" sz="1699" b="1" spc="-61" err="1">
                <a:solidFill>
                  <a:srgbClr val="000000"/>
                </a:solidFill>
                <a:latin typeface="Montserrat Medium"/>
                <a:ea typeface="Montserrat Medium"/>
                <a:cs typeface="Montserrat Medium"/>
                <a:sym typeface="Montserrat Medium"/>
              </a:rPr>
              <a:t>Lấy</a:t>
            </a:r>
            <a:r>
              <a:rPr lang="en-US" sz="1699" b="1" spc="-61">
                <a:solidFill>
                  <a:srgbClr val="000000"/>
                </a:solidFill>
                <a:latin typeface="Montserrat Medium"/>
                <a:ea typeface="Montserrat Medium"/>
                <a:cs typeface="Montserrat Medium"/>
                <a:sym typeface="Montserrat Medium"/>
              </a:rPr>
              <a:t> serum </a:t>
            </a:r>
            <a:r>
              <a:rPr lang="en-US" sz="1699" b="1" spc="-61" err="1">
                <a:solidFill>
                  <a:srgbClr val="000000"/>
                </a:solidFill>
                <a:latin typeface="Montserrat Medium"/>
                <a:ea typeface="Montserrat Medium"/>
                <a:cs typeface="Montserrat Medium"/>
                <a:sym typeface="Montserrat Medium"/>
              </a:rPr>
              <a:t>nám</a:t>
            </a:r>
            <a:r>
              <a:rPr lang="en-US" sz="1699" b="1" spc="-61">
                <a:solidFill>
                  <a:srgbClr val="000000"/>
                </a:solidFill>
                <a:latin typeface="Montserrat Medium"/>
                <a:ea typeface="Montserrat Medium"/>
                <a:cs typeface="Montserrat Medium"/>
                <a:sym typeface="Montserrat Medium"/>
              </a:rPr>
              <a:t> </a:t>
            </a:r>
            <a:r>
              <a:rPr lang="en-US" sz="1699" b="1" spc="-61" err="1">
                <a:solidFill>
                  <a:srgbClr val="000000"/>
                </a:solidFill>
                <a:latin typeface="Montserrat Medium"/>
                <a:ea typeface="Montserrat Medium"/>
                <a:cs typeface="Montserrat Medium"/>
                <a:sym typeface="Montserrat Medium"/>
              </a:rPr>
              <a:t>nhỏ</a:t>
            </a:r>
            <a:r>
              <a:rPr lang="en-US" sz="1699" b="1" spc="-61">
                <a:solidFill>
                  <a:srgbClr val="000000"/>
                </a:solidFill>
                <a:latin typeface="Montserrat Medium"/>
                <a:ea typeface="Montserrat Medium"/>
                <a:cs typeface="Montserrat Medium"/>
                <a:sym typeface="Montserrat Medium"/>
              </a:rPr>
              <a:t> 5 </a:t>
            </a:r>
            <a:r>
              <a:rPr lang="en-US" sz="1699" b="1" spc="-61" err="1">
                <a:solidFill>
                  <a:srgbClr val="000000"/>
                </a:solidFill>
                <a:latin typeface="Montserrat Medium"/>
                <a:ea typeface="Montserrat Medium"/>
                <a:cs typeface="Montserrat Medium"/>
                <a:sym typeface="Montserrat Medium"/>
              </a:rPr>
              <a:t>giọt</a:t>
            </a:r>
            <a:r>
              <a:rPr lang="en-US" sz="1699" b="1" spc="-61">
                <a:solidFill>
                  <a:srgbClr val="000000"/>
                </a:solidFill>
                <a:latin typeface="Montserrat Medium"/>
                <a:ea typeface="Montserrat Medium"/>
                <a:cs typeface="Montserrat Medium"/>
                <a:sym typeface="Montserrat Medium"/>
              </a:rPr>
              <a:t> </a:t>
            </a:r>
            <a:r>
              <a:rPr lang="en-US" sz="1699" b="1" spc="-61" err="1">
                <a:solidFill>
                  <a:srgbClr val="000000"/>
                </a:solidFill>
                <a:latin typeface="Montserrat Medium"/>
                <a:ea typeface="Montserrat Medium"/>
                <a:cs typeface="Montserrat Medium"/>
                <a:sym typeface="Montserrat Medium"/>
              </a:rPr>
              <a:t>lên</a:t>
            </a:r>
            <a:r>
              <a:rPr lang="en-US" sz="1699" b="1" spc="-61">
                <a:solidFill>
                  <a:srgbClr val="000000"/>
                </a:solidFill>
                <a:latin typeface="Montserrat Medium"/>
                <a:ea typeface="Montserrat Medium"/>
                <a:cs typeface="Montserrat Medium"/>
                <a:sym typeface="Montserrat Medium"/>
              </a:rPr>
              <a:t> </a:t>
            </a:r>
            <a:r>
              <a:rPr lang="en-US" sz="1699" b="1" spc="-61" err="1">
                <a:solidFill>
                  <a:srgbClr val="000000"/>
                </a:solidFill>
                <a:latin typeface="Montserrat Medium"/>
                <a:ea typeface="Montserrat Medium"/>
                <a:cs typeface="Montserrat Medium"/>
                <a:sym typeface="Montserrat Medium"/>
              </a:rPr>
              <a:t>trán</a:t>
            </a:r>
            <a:r>
              <a:rPr lang="en-US" sz="1699" b="1" spc="-61">
                <a:solidFill>
                  <a:srgbClr val="000000"/>
                </a:solidFill>
                <a:latin typeface="Montserrat Medium"/>
                <a:ea typeface="Montserrat Medium"/>
                <a:cs typeface="Montserrat Medium"/>
                <a:sym typeface="Montserrat Medium"/>
              </a:rPr>
              <a:t>, 2 </a:t>
            </a:r>
            <a:r>
              <a:rPr lang="en-US" sz="1699" b="1" spc="-61" err="1">
                <a:solidFill>
                  <a:srgbClr val="000000"/>
                </a:solidFill>
                <a:latin typeface="Montserrat Medium"/>
                <a:ea typeface="Montserrat Medium"/>
                <a:cs typeface="Montserrat Medium"/>
                <a:sym typeface="Montserrat Medium"/>
              </a:rPr>
              <a:t>má</a:t>
            </a:r>
            <a:r>
              <a:rPr lang="en-US" sz="1699" b="1" spc="-61">
                <a:solidFill>
                  <a:srgbClr val="000000"/>
                </a:solidFill>
                <a:latin typeface="Montserrat Medium"/>
                <a:ea typeface="Montserrat Medium"/>
                <a:cs typeface="Montserrat Medium"/>
                <a:sym typeface="Montserrat Medium"/>
              </a:rPr>
              <a:t>, </a:t>
            </a:r>
            <a:r>
              <a:rPr lang="en-US" sz="1699" b="1" spc="-61" err="1">
                <a:solidFill>
                  <a:srgbClr val="000000"/>
                </a:solidFill>
                <a:latin typeface="Montserrat Medium"/>
                <a:ea typeface="Montserrat Medium"/>
                <a:cs typeface="Montserrat Medium"/>
                <a:sym typeface="Montserrat Medium"/>
              </a:rPr>
              <a:t>mũi</a:t>
            </a:r>
            <a:r>
              <a:rPr lang="en-US" sz="1699" b="1" spc="-61">
                <a:solidFill>
                  <a:srgbClr val="000000"/>
                </a:solidFill>
                <a:latin typeface="Montserrat Medium"/>
                <a:ea typeface="Montserrat Medium"/>
                <a:cs typeface="Montserrat Medium"/>
                <a:sym typeface="Montserrat Medium"/>
              </a:rPr>
              <a:t>, </a:t>
            </a:r>
            <a:r>
              <a:rPr lang="en-US" sz="1699" b="1" spc="-61" err="1">
                <a:solidFill>
                  <a:srgbClr val="000000"/>
                </a:solidFill>
                <a:latin typeface="Montserrat Medium"/>
                <a:ea typeface="Montserrat Medium"/>
                <a:cs typeface="Montserrat Medium"/>
                <a:sym typeface="Montserrat Medium"/>
              </a:rPr>
              <a:t>cằm</a:t>
            </a:r>
            <a:r>
              <a:rPr lang="en-US" sz="1699" b="1" spc="-61">
                <a:solidFill>
                  <a:srgbClr val="000000"/>
                </a:solidFill>
                <a:latin typeface="Montserrat Medium"/>
                <a:ea typeface="Montserrat Medium"/>
                <a:cs typeface="Montserrat Medium"/>
                <a:sym typeface="Montserrat Medium"/>
              </a:rPr>
              <a:t> </a:t>
            </a:r>
            <a:r>
              <a:rPr lang="en-US" sz="1699" b="1" spc="-61" err="1">
                <a:solidFill>
                  <a:srgbClr val="000000"/>
                </a:solidFill>
                <a:latin typeface="Montserrat Medium"/>
                <a:ea typeface="Montserrat Medium"/>
                <a:cs typeface="Montserrat Medium"/>
                <a:sym typeface="Montserrat Medium"/>
              </a:rPr>
              <a:t>rùi</a:t>
            </a:r>
            <a:r>
              <a:rPr lang="en-US" sz="1699" b="1" spc="-61">
                <a:solidFill>
                  <a:srgbClr val="000000"/>
                </a:solidFill>
                <a:latin typeface="Montserrat Medium"/>
                <a:ea typeface="Montserrat Medium"/>
                <a:cs typeface="Montserrat Medium"/>
                <a:sym typeface="Montserrat Medium"/>
              </a:rPr>
              <a:t> massage </a:t>
            </a:r>
            <a:r>
              <a:rPr lang="en-US" sz="1699" b="1" spc="-61" err="1">
                <a:solidFill>
                  <a:srgbClr val="000000"/>
                </a:solidFill>
                <a:latin typeface="Montserrat Medium"/>
                <a:ea typeface="Montserrat Medium"/>
                <a:cs typeface="Montserrat Medium"/>
                <a:sym typeface="Montserrat Medium"/>
              </a:rPr>
              <a:t>cho</a:t>
            </a:r>
            <a:r>
              <a:rPr lang="en-US" sz="1699" b="1" spc="-61">
                <a:solidFill>
                  <a:srgbClr val="000000"/>
                </a:solidFill>
                <a:latin typeface="Montserrat Medium"/>
                <a:ea typeface="Montserrat Medium"/>
                <a:cs typeface="Montserrat Medium"/>
                <a:sym typeface="Montserrat Medium"/>
              </a:rPr>
              <a:t> </a:t>
            </a:r>
            <a:r>
              <a:rPr lang="en-US" sz="1699" b="1" spc="-61" err="1">
                <a:solidFill>
                  <a:srgbClr val="000000"/>
                </a:solidFill>
                <a:latin typeface="Montserrat Medium"/>
                <a:ea typeface="Montserrat Medium"/>
                <a:cs typeface="Montserrat Medium"/>
                <a:sym typeface="Montserrat Medium"/>
              </a:rPr>
              <a:t>đến</a:t>
            </a:r>
            <a:r>
              <a:rPr lang="en-US" sz="1699" b="1" spc="-61">
                <a:solidFill>
                  <a:srgbClr val="000000"/>
                </a:solidFill>
                <a:latin typeface="Montserrat Medium"/>
                <a:ea typeface="Montserrat Medium"/>
                <a:cs typeface="Montserrat Medium"/>
                <a:sym typeface="Montserrat Medium"/>
              </a:rPr>
              <a:t> </a:t>
            </a:r>
            <a:r>
              <a:rPr lang="en-US" sz="1699" b="1" spc="-61" err="1">
                <a:solidFill>
                  <a:srgbClr val="000000"/>
                </a:solidFill>
                <a:latin typeface="Montserrat Medium"/>
                <a:ea typeface="Montserrat Medium"/>
                <a:cs typeface="Montserrat Medium"/>
                <a:sym typeface="Montserrat Medium"/>
              </a:rPr>
              <a:t>khi</a:t>
            </a:r>
            <a:r>
              <a:rPr lang="en-US" sz="1699" b="1" spc="-61">
                <a:solidFill>
                  <a:srgbClr val="000000"/>
                </a:solidFill>
                <a:latin typeface="Montserrat Medium"/>
                <a:ea typeface="Montserrat Medium"/>
                <a:cs typeface="Montserrat Medium"/>
                <a:sym typeface="Montserrat Medium"/>
              </a:rPr>
              <a:t> serum </a:t>
            </a:r>
            <a:r>
              <a:rPr lang="en-US" sz="1699" b="1" spc="-61" err="1">
                <a:solidFill>
                  <a:srgbClr val="000000"/>
                </a:solidFill>
                <a:latin typeface="Montserrat Medium"/>
                <a:ea typeface="Montserrat Medium"/>
                <a:cs typeface="Montserrat Medium"/>
                <a:sym typeface="Montserrat Medium"/>
              </a:rPr>
              <a:t>thẩm</a:t>
            </a:r>
            <a:r>
              <a:rPr lang="en-US" sz="1699" b="1" spc="-61">
                <a:solidFill>
                  <a:srgbClr val="000000"/>
                </a:solidFill>
                <a:latin typeface="Montserrat Medium"/>
                <a:ea typeface="Montserrat Medium"/>
                <a:cs typeface="Montserrat Medium"/>
                <a:sym typeface="Montserrat Medium"/>
              </a:rPr>
              <a:t> </a:t>
            </a:r>
            <a:r>
              <a:rPr lang="en-US" sz="1699" b="1" spc="-61" err="1">
                <a:solidFill>
                  <a:srgbClr val="000000"/>
                </a:solidFill>
                <a:latin typeface="Montserrat Medium"/>
                <a:ea typeface="Montserrat Medium"/>
                <a:cs typeface="Montserrat Medium"/>
                <a:sym typeface="Montserrat Medium"/>
              </a:rPr>
              <a:t>thấu</a:t>
            </a:r>
            <a:r>
              <a:rPr lang="en-US" sz="1699" b="1" spc="-61">
                <a:solidFill>
                  <a:srgbClr val="000000"/>
                </a:solidFill>
                <a:latin typeface="Montserrat Medium"/>
                <a:ea typeface="Montserrat Medium"/>
                <a:cs typeface="Montserrat Medium"/>
                <a:sym typeface="Montserrat Medium"/>
              </a:rPr>
              <a:t> </a:t>
            </a:r>
            <a:r>
              <a:rPr lang="en-US" sz="1699" b="1" spc="-61" err="1">
                <a:solidFill>
                  <a:srgbClr val="000000"/>
                </a:solidFill>
                <a:latin typeface="Montserrat Medium"/>
                <a:ea typeface="Montserrat Medium"/>
                <a:cs typeface="Montserrat Medium"/>
                <a:sym typeface="Montserrat Medium"/>
              </a:rPr>
              <a:t>hoàn</a:t>
            </a:r>
            <a:r>
              <a:rPr lang="en-US" sz="1699" b="1" spc="-61">
                <a:solidFill>
                  <a:srgbClr val="000000"/>
                </a:solidFill>
                <a:latin typeface="Montserrat Medium"/>
                <a:ea typeface="Montserrat Medium"/>
                <a:cs typeface="Montserrat Medium"/>
                <a:sym typeface="Montserrat Medium"/>
              </a:rPr>
              <a:t> </a:t>
            </a:r>
            <a:r>
              <a:rPr lang="en-US" sz="1699" b="1" spc="-61" err="1">
                <a:solidFill>
                  <a:srgbClr val="000000"/>
                </a:solidFill>
                <a:latin typeface="Montserrat Medium"/>
                <a:ea typeface="Montserrat Medium"/>
                <a:cs typeface="Montserrat Medium"/>
                <a:sym typeface="Montserrat Medium"/>
              </a:rPr>
              <a:t>toàn</a:t>
            </a:r>
            <a:r>
              <a:rPr lang="en-US" sz="1699" b="1" spc="-61">
                <a:solidFill>
                  <a:srgbClr val="000000"/>
                </a:solidFill>
                <a:latin typeface="Montserrat Medium"/>
                <a:ea typeface="Montserrat Medium"/>
                <a:cs typeface="Montserrat Medium"/>
                <a:sym typeface="Montserrat Medium"/>
              </a:rPr>
              <a:t> </a:t>
            </a:r>
            <a:r>
              <a:rPr lang="en-US" sz="1699" b="1" spc="-61" err="1">
                <a:solidFill>
                  <a:srgbClr val="000000"/>
                </a:solidFill>
                <a:latin typeface="Montserrat Medium"/>
                <a:ea typeface="Montserrat Medium"/>
                <a:cs typeface="Montserrat Medium"/>
                <a:sym typeface="Montserrat Medium"/>
              </a:rPr>
              <a:t>vào</a:t>
            </a:r>
            <a:r>
              <a:rPr lang="en-US" sz="1699" b="1" spc="-61">
                <a:solidFill>
                  <a:srgbClr val="000000"/>
                </a:solidFill>
                <a:latin typeface="Montserrat Medium"/>
                <a:ea typeface="Montserrat Medium"/>
                <a:cs typeface="Montserrat Medium"/>
                <a:sym typeface="Montserrat Medium"/>
              </a:rPr>
              <a:t> da </a:t>
            </a:r>
            <a:r>
              <a:rPr lang="en-US" sz="1699" b="1" spc="-61" err="1">
                <a:solidFill>
                  <a:srgbClr val="000000"/>
                </a:solidFill>
                <a:latin typeface="Montserrat Medium"/>
                <a:ea typeface="Montserrat Medium"/>
                <a:cs typeface="Montserrat Medium"/>
                <a:sym typeface="Montserrat Medium"/>
              </a:rPr>
              <a:t>và</a:t>
            </a:r>
            <a:r>
              <a:rPr lang="en-US" sz="1699" b="1" spc="-61">
                <a:solidFill>
                  <a:srgbClr val="000000"/>
                </a:solidFill>
                <a:latin typeface="Montserrat Medium"/>
                <a:ea typeface="Montserrat Medium"/>
                <a:cs typeface="Montserrat Medium"/>
                <a:sym typeface="Montserrat Medium"/>
              </a:rPr>
              <a:t> </a:t>
            </a:r>
            <a:r>
              <a:rPr lang="en-US" sz="1699" b="1" spc="-61" err="1">
                <a:solidFill>
                  <a:srgbClr val="000000"/>
                </a:solidFill>
                <a:latin typeface="Montserrat Medium"/>
                <a:ea typeface="Montserrat Medium"/>
                <a:cs typeface="Montserrat Medium"/>
                <a:sym typeface="Montserrat Medium"/>
              </a:rPr>
              <a:t>tiếp</a:t>
            </a:r>
            <a:r>
              <a:rPr lang="en-US" sz="1699" b="1" spc="-61">
                <a:solidFill>
                  <a:srgbClr val="000000"/>
                </a:solidFill>
                <a:latin typeface="Montserrat Medium"/>
                <a:ea typeface="Montserrat Medium"/>
                <a:cs typeface="Montserrat Medium"/>
                <a:sym typeface="Montserrat Medium"/>
              </a:rPr>
              <a:t> </a:t>
            </a:r>
            <a:r>
              <a:rPr lang="en-US" sz="1699" b="1" spc="-61" err="1">
                <a:solidFill>
                  <a:srgbClr val="000000"/>
                </a:solidFill>
                <a:latin typeface="Montserrat Medium"/>
                <a:ea typeface="Montserrat Medium"/>
                <a:cs typeface="Montserrat Medium"/>
                <a:sym typeface="Montserrat Medium"/>
              </a:rPr>
              <a:t>theo</a:t>
            </a:r>
            <a:r>
              <a:rPr lang="en-US" sz="1699" b="1" spc="-61">
                <a:solidFill>
                  <a:srgbClr val="000000"/>
                </a:solidFill>
                <a:latin typeface="Montserrat Medium"/>
                <a:ea typeface="Montserrat Medium"/>
                <a:cs typeface="Montserrat Medium"/>
                <a:sym typeface="Montserrat Medium"/>
              </a:rPr>
              <a:t> </a:t>
            </a:r>
            <a:r>
              <a:rPr lang="en-US" sz="1699" b="1" spc="-61" err="1">
                <a:solidFill>
                  <a:srgbClr val="000000"/>
                </a:solidFill>
                <a:latin typeface="Montserrat Medium"/>
                <a:ea typeface="Montserrat Medium"/>
                <a:cs typeface="Montserrat Medium"/>
                <a:sym typeface="Montserrat Medium"/>
              </a:rPr>
              <a:t>các</a:t>
            </a:r>
            <a:r>
              <a:rPr lang="en-US" sz="1699" b="1" spc="-61">
                <a:solidFill>
                  <a:srgbClr val="000000"/>
                </a:solidFill>
                <a:latin typeface="Montserrat Medium"/>
                <a:ea typeface="Montserrat Medium"/>
                <a:cs typeface="Montserrat Medium"/>
                <a:sym typeface="Montserrat Medium"/>
              </a:rPr>
              <a:t> </a:t>
            </a:r>
            <a:r>
              <a:rPr lang="en-US" sz="1699" b="1" spc="-61" err="1">
                <a:solidFill>
                  <a:srgbClr val="000000"/>
                </a:solidFill>
                <a:latin typeface="Montserrat Medium"/>
                <a:ea typeface="Montserrat Medium"/>
                <a:cs typeface="Montserrat Medium"/>
                <a:sym typeface="Montserrat Medium"/>
              </a:rPr>
              <a:t>bước</a:t>
            </a:r>
            <a:r>
              <a:rPr lang="en-US" sz="1699" b="1" spc="-61">
                <a:solidFill>
                  <a:srgbClr val="000000"/>
                </a:solidFill>
                <a:latin typeface="Montserrat Medium"/>
                <a:ea typeface="Montserrat Medium"/>
                <a:cs typeface="Montserrat Medium"/>
                <a:sym typeface="Montserrat Medium"/>
              </a:rPr>
              <a:t> </a:t>
            </a:r>
            <a:r>
              <a:rPr lang="en-US" sz="1699" b="1" spc="-61" err="1">
                <a:solidFill>
                  <a:srgbClr val="000000"/>
                </a:solidFill>
                <a:latin typeface="Montserrat Medium"/>
                <a:ea typeface="Montserrat Medium"/>
                <a:cs typeface="Montserrat Medium"/>
                <a:sym typeface="Montserrat Medium"/>
              </a:rPr>
              <a:t>kem</a:t>
            </a:r>
            <a:r>
              <a:rPr lang="en-US" sz="1699" b="1" spc="-61">
                <a:solidFill>
                  <a:srgbClr val="000000"/>
                </a:solidFill>
                <a:latin typeface="Montserrat Medium"/>
                <a:ea typeface="Montserrat Medium"/>
                <a:cs typeface="Montserrat Medium"/>
                <a:sym typeface="Montserrat Medium"/>
              </a:rPr>
              <a:t> </a:t>
            </a:r>
            <a:r>
              <a:rPr lang="en-US" sz="1699" b="1" spc="-61" err="1">
                <a:solidFill>
                  <a:srgbClr val="000000"/>
                </a:solidFill>
                <a:latin typeface="Montserrat Medium"/>
                <a:ea typeface="Montserrat Medium"/>
                <a:cs typeface="Montserrat Medium"/>
                <a:sym typeface="Montserrat Medium"/>
              </a:rPr>
              <a:t>dưỡng</a:t>
            </a:r>
            <a:r>
              <a:rPr lang="en-US" sz="1699" b="1" spc="-61">
                <a:solidFill>
                  <a:srgbClr val="000000"/>
                </a:solidFill>
                <a:latin typeface="Montserrat Medium"/>
                <a:ea typeface="Montserrat Medium"/>
                <a:cs typeface="Montserrat Medium"/>
                <a:sym typeface="Montserrat Medium"/>
              </a:rPr>
              <a:t> </a:t>
            </a:r>
            <a:r>
              <a:rPr lang="en-US" sz="1699" b="1" spc="-61" err="1">
                <a:solidFill>
                  <a:srgbClr val="000000"/>
                </a:solidFill>
                <a:latin typeface="Montserrat Medium"/>
                <a:ea typeface="Montserrat Medium"/>
                <a:cs typeface="Montserrat Medium"/>
                <a:sym typeface="Montserrat Medium"/>
              </a:rPr>
              <a:t>sau</a:t>
            </a:r>
            <a:r>
              <a:rPr lang="en-US" sz="1699" b="1" spc="-61">
                <a:solidFill>
                  <a:srgbClr val="000000"/>
                </a:solidFill>
                <a:latin typeface="Montserrat Medium"/>
                <a:ea typeface="Montserrat Medium"/>
                <a:cs typeface="Montserrat Medium"/>
                <a:sym typeface="Montserrat Medium"/>
              </a:rPr>
              <a:t> </a:t>
            </a:r>
            <a:r>
              <a:rPr lang="en-US" sz="1699" b="1" spc="-61" err="1">
                <a:solidFill>
                  <a:srgbClr val="000000"/>
                </a:solidFill>
                <a:latin typeface="Montserrat Medium"/>
                <a:ea typeface="Montserrat Medium"/>
                <a:cs typeface="Montserrat Medium"/>
                <a:sym typeface="Montserrat Medium"/>
              </a:rPr>
              <a:t>đó</a:t>
            </a:r>
            <a:r>
              <a:rPr lang="en-US" sz="1699" b="1" spc="-61">
                <a:solidFill>
                  <a:srgbClr val="000000"/>
                </a:solidFill>
                <a:latin typeface="Montserrat Medium"/>
                <a:ea typeface="Montserrat Medium"/>
                <a:cs typeface="Montserrat Medium"/>
                <a:sym typeface="Montserrat Medium"/>
              </a:rPr>
              <a:t>. </a:t>
            </a:r>
            <a:r>
              <a:rPr lang="en-US" sz="1699" b="1" spc="-61" err="1">
                <a:solidFill>
                  <a:srgbClr val="000000"/>
                </a:solidFill>
                <a:latin typeface="Montserrat Medium"/>
                <a:ea typeface="Montserrat Medium"/>
                <a:cs typeface="Montserrat Medium"/>
                <a:sym typeface="Montserrat Medium"/>
              </a:rPr>
              <a:t>Dùng</a:t>
            </a:r>
            <a:r>
              <a:rPr lang="en-US" sz="1699" b="1" spc="-61">
                <a:solidFill>
                  <a:srgbClr val="000000"/>
                </a:solidFill>
                <a:latin typeface="Montserrat Medium"/>
                <a:ea typeface="Montserrat Medium"/>
                <a:cs typeface="Montserrat Medium"/>
                <a:sym typeface="Montserrat Medium"/>
              </a:rPr>
              <a:t> </a:t>
            </a:r>
            <a:r>
              <a:rPr lang="en-US" sz="1699" b="1" spc="-61" err="1">
                <a:solidFill>
                  <a:srgbClr val="000000"/>
                </a:solidFill>
                <a:latin typeface="Montserrat Medium"/>
                <a:ea typeface="Montserrat Medium"/>
                <a:cs typeface="Montserrat Medium"/>
                <a:sym typeface="Montserrat Medium"/>
              </a:rPr>
              <a:t>sáng</a:t>
            </a:r>
            <a:r>
              <a:rPr lang="en-US" sz="1699" b="1" spc="-61">
                <a:solidFill>
                  <a:srgbClr val="000000"/>
                </a:solidFill>
                <a:latin typeface="Montserrat Medium"/>
                <a:ea typeface="Montserrat Medium"/>
                <a:cs typeface="Montserrat Medium"/>
                <a:sym typeface="Montserrat Medium"/>
              </a:rPr>
              <a:t> </a:t>
            </a:r>
            <a:r>
              <a:rPr lang="en-US" sz="1699" b="1" spc="-61" err="1">
                <a:solidFill>
                  <a:srgbClr val="000000"/>
                </a:solidFill>
                <a:latin typeface="Montserrat Medium"/>
                <a:ea typeface="Montserrat Medium"/>
                <a:cs typeface="Montserrat Medium"/>
                <a:sym typeface="Montserrat Medium"/>
              </a:rPr>
              <a:t>và</a:t>
            </a:r>
            <a:r>
              <a:rPr lang="en-US" sz="1699" b="1" spc="-61">
                <a:solidFill>
                  <a:srgbClr val="000000"/>
                </a:solidFill>
                <a:latin typeface="Montserrat Medium"/>
                <a:ea typeface="Montserrat Medium"/>
                <a:cs typeface="Montserrat Medium"/>
                <a:sym typeface="Montserrat Medium"/>
              </a:rPr>
              <a:t> </a:t>
            </a:r>
            <a:r>
              <a:rPr lang="en-US" sz="1699" b="1" spc="-61" err="1">
                <a:solidFill>
                  <a:srgbClr val="000000"/>
                </a:solidFill>
                <a:latin typeface="Montserrat Medium"/>
                <a:ea typeface="Montserrat Medium"/>
                <a:cs typeface="Montserrat Medium"/>
                <a:sym typeface="Montserrat Medium"/>
              </a:rPr>
              <a:t>tối</a:t>
            </a:r>
            <a:r>
              <a:rPr lang="en-US" sz="1699" b="1" spc="-61">
                <a:solidFill>
                  <a:srgbClr val="000000"/>
                </a:solidFill>
                <a:latin typeface="Montserrat Medium"/>
                <a:ea typeface="Montserrat Medium"/>
                <a:cs typeface="Montserrat Medium"/>
                <a:sym typeface="Montserrat Medium"/>
              </a:rPr>
              <a:t>.</a:t>
            </a:r>
          </a:p>
        </p:txBody>
      </p:sp>
      <p:sp>
        <p:nvSpPr>
          <p:cNvPr id="19" name="TextBox 19"/>
          <p:cNvSpPr txBox="1"/>
          <p:nvPr/>
        </p:nvSpPr>
        <p:spPr>
          <a:xfrm>
            <a:off x="6636177" y="7090992"/>
            <a:ext cx="1388272" cy="318897"/>
          </a:xfrm>
          <a:prstGeom prst="rect">
            <a:avLst/>
          </a:prstGeom>
        </p:spPr>
        <p:txBody>
          <a:bodyPr lIns="0" tIns="0" rIns="0" bIns="0" rtlCol="0" anchor="t">
            <a:spAutoFit/>
          </a:bodyPr>
          <a:lstStyle/>
          <a:p>
            <a:pPr algn="l">
              <a:lnSpc>
                <a:spcPts val="2753"/>
              </a:lnSpc>
            </a:pPr>
            <a:r>
              <a:rPr lang="en-US" sz="1699" b="1" spc="-61">
                <a:solidFill>
                  <a:srgbClr val="FFFFFF"/>
                </a:solidFill>
                <a:latin typeface="Montserrat Ultra-Bold"/>
                <a:ea typeface="Montserrat Ultra-Bold"/>
                <a:cs typeface="Montserrat Ultra-Bold"/>
                <a:sym typeface="Montserrat Ultra-Bold"/>
              </a:rPr>
              <a:t>CÁCH DÙNG</a:t>
            </a:r>
          </a:p>
        </p:txBody>
      </p:sp>
      <p:sp>
        <p:nvSpPr>
          <p:cNvPr id="20" name="TextBox 20"/>
          <p:cNvSpPr txBox="1"/>
          <p:nvPr/>
        </p:nvSpPr>
        <p:spPr>
          <a:xfrm>
            <a:off x="6529157" y="9049756"/>
            <a:ext cx="4884355" cy="273685"/>
          </a:xfrm>
          <a:prstGeom prst="rect">
            <a:avLst/>
          </a:prstGeom>
        </p:spPr>
        <p:txBody>
          <a:bodyPr lIns="0" tIns="0" rIns="0" bIns="0" rtlCol="0" anchor="t">
            <a:spAutoFit/>
          </a:bodyPr>
          <a:lstStyle/>
          <a:p>
            <a:pPr marL="367029" lvl="1" indent="-183514" algn="l">
              <a:lnSpc>
                <a:spcPts val="2209"/>
              </a:lnSpc>
              <a:buFont typeface="Arial"/>
              <a:buChar char="•"/>
            </a:pPr>
            <a:r>
              <a:rPr lang="en-US" sz="1699" b="1" spc="-61" err="1">
                <a:solidFill>
                  <a:srgbClr val="000000"/>
                </a:solidFill>
                <a:latin typeface="Montserrat Medium"/>
                <a:ea typeface="Montserrat Medium"/>
                <a:cs typeface="Montserrat Medium"/>
                <a:sym typeface="Montserrat Medium"/>
              </a:rPr>
              <a:t>Dành</a:t>
            </a:r>
            <a:r>
              <a:rPr lang="en-US" sz="1699" b="1" spc="-61">
                <a:solidFill>
                  <a:srgbClr val="000000"/>
                </a:solidFill>
                <a:latin typeface="Montserrat Medium"/>
                <a:ea typeface="Montserrat Medium"/>
                <a:cs typeface="Montserrat Medium"/>
                <a:sym typeface="Montserrat Medium"/>
              </a:rPr>
              <a:t> </a:t>
            </a:r>
            <a:r>
              <a:rPr lang="en-US" sz="1699" b="1" spc="-61" err="1">
                <a:solidFill>
                  <a:srgbClr val="000000"/>
                </a:solidFill>
                <a:latin typeface="Montserrat Medium"/>
                <a:ea typeface="Montserrat Medium"/>
                <a:cs typeface="Montserrat Medium"/>
                <a:sym typeface="Montserrat Medium"/>
              </a:rPr>
              <a:t>cho</a:t>
            </a:r>
            <a:r>
              <a:rPr lang="en-US" sz="1699" b="1" spc="-61">
                <a:solidFill>
                  <a:srgbClr val="000000"/>
                </a:solidFill>
                <a:latin typeface="Montserrat Medium"/>
                <a:ea typeface="Montserrat Medium"/>
                <a:cs typeface="Montserrat Medium"/>
                <a:sym typeface="Montserrat Medium"/>
              </a:rPr>
              <a:t> </a:t>
            </a:r>
            <a:r>
              <a:rPr lang="en-US" sz="1699" b="1" spc="-61" err="1">
                <a:solidFill>
                  <a:srgbClr val="000000"/>
                </a:solidFill>
                <a:latin typeface="Montserrat Medium"/>
                <a:ea typeface="Montserrat Medium"/>
                <a:cs typeface="Montserrat Medium"/>
                <a:sym typeface="Montserrat Medium"/>
              </a:rPr>
              <a:t>mọi</a:t>
            </a:r>
            <a:r>
              <a:rPr lang="en-US" sz="1699" b="1" spc="-61">
                <a:solidFill>
                  <a:srgbClr val="000000"/>
                </a:solidFill>
                <a:latin typeface="Montserrat Medium"/>
                <a:ea typeface="Montserrat Medium"/>
                <a:cs typeface="Montserrat Medium"/>
                <a:sym typeface="Montserrat Medium"/>
              </a:rPr>
              <a:t> </a:t>
            </a:r>
            <a:r>
              <a:rPr lang="en-US" sz="1699" b="1" spc="-61" err="1">
                <a:solidFill>
                  <a:srgbClr val="000000"/>
                </a:solidFill>
                <a:latin typeface="Montserrat Medium"/>
                <a:ea typeface="Montserrat Medium"/>
                <a:cs typeface="Montserrat Medium"/>
                <a:sym typeface="Montserrat Medium"/>
              </a:rPr>
              <a:t>loại</a:t>
            </a:r>
            <a:r>
              <a:rPr lang="en-US" sz="1699" b="1" spc="-61">
                <a:solidFill>
                  <a:srgbClr val="000000"/>
                </a:solidFill>
                <a:latin typeface="Montserrat Medium"/>
                <a:ea typeface="Montserrat Medium"/>
                <a:cs typeface="Montserrat Medium"/>
                <a:sym typeface="Montserrat Medium"/>
              </a:rPr>
              <a:t> da.</a:t>
            </a:r>
          </a:p>
        </p:txBody>
      </p:sp>
      <p:sp>
        <p:nvSpPr>
          <p:cNvPr id="21" name="TextBox 21"/>
          <p:cNvSpPr txBox="1"/>
          <p:nvPr/>
        </p:nvSpPr>
        <p:spPr>
          <a:xfrm>
            <a:off x="6636177" y="8480189"/>
            <a:ext cx="1811176" cy="318897"/>
          </a:xfrm>
          <a:prstGeom prst="rect">
            <a:avLst/>
          </a:prstGeom>
        </p:spPr>
        <p:txBody>
          <a:bodyPr lIns="0" tIns="0" rIns="0" bIns="0" rtlCol="0" anchor="t">
            <a:spAutoFit/>
          </a:bodyPr>
          <a:lstStyle/>
          <a:p>
            <a:pPr algn="l">
              <a:lnSpc>
                <a:spcPts val="2753"/>
              </a:lnSpc>
            </a:pPr>
            <a:r>
              <a:rPr lang="en-US" sz="1699" b="1" spc="-61">
                <a:solidFill>
                  <a:srgbClr val="FFFFFF"/>
                </a:solidFill>
                <a:latin typeface="Montserrat Ultra-Bold"/>
                <a:ea typeface="Montserrat Ultra-Bold"/>
                <a:cs typeface="Montserrat Ultra-Bold"/>
                <a:sym typeface="Montserrat Ultra-Bold"/>
              </a:rPr>
              <a:t>DÀNH CHO DA</a:t>
            </a:r>
          </a:p>
        </p:txBody>
      </p:sp>
      <p:grpSp>
        <p:nvGrpSpPr>
          <p:cNvPr id="22" name="Group 2">
            <a:extLst>
              <a:ext uri="{FF2B5EF4-FFF2-40B4-BE49-F238E27FC236}">
                <a16:creationId xmlns:a16="http://schemas.microsoft.com/office/drawing/2014/main" id="{00798038-D931-8786-87E4-038C92FFB33D}"/>
              </a:ext>
            </a:extLst>
          </p:cNvPr>
          <p:cNvGrpSpPr/>
          <p:nvPr/>
        </p:nvGrpSpPr>
        <p:grpSpPr>
          <a:xfrm>
            <a:off x="1028700" y="395218"/>
            <a:ext cx="17259300" cy="1078533"/>
            <a:chOff x="0" y="0"/>
            <a:chExt cx="23012400" cy="1438044"/>
          </a:xfrm>
        </p:grpSpPr>
        <p:sp>
          <p:nvSpPr>
            <p:cNvPr id="23" name="Freeform 3">
              <a:extLst>
                <a:ext uri="{FF2B5EF4-FFF2-40B4-BE49-F238E27FC236}">
                  <a16:creationId xmlns:a16="http://schemas.microsoft.com/office/drawing/2014/main" id="{11B57CBA-BFDC-CDAA-3999-2D6DEE4EABCF}"/>
                </a:ext>
              </a:extLst>
            </p:cNvPr>
            <p:cNvSpPr/>
            <p:nvPr/>
          </p:nvSpPr>
          <p:spPr>
            <a:xfrm>
              <a:off x="0" y="0"/>
              <a:ext cx="2937194" cy="1274008"/>
            </a:xfrm>
            <a:custGeom>
              <a:avLst/>
              <a:gdLst/>
              <a:ahLst/>
              <a:cxnLst/>
              <a:rect l="l" t="t" r="r" b="b"/>
              <a:pathLst>
                <a:path w="2937194" h="1274008">
                  <a:moveTo>
                    <a:pt x="0" y="0"/>
                  </a:moveTo>
                  <a:lnTo>
                    <a:pt x="2937194" y="0"/>
                  </a:lnTo>
                  <a:lnTo>
                    <a:pt x="2937194" y="1274008"/>
                  </a:lnTo>
                  <a:lnTo>
                    <a:pt x="0" y="1274008"/>
                  </a:lnTo>
                  <a:lnTo>
                    <a:pt x="0" y="0"/>
                  </a:lnTo>
                  <a:close/>
                </a:path>
              </a:pathLst>
            </a:custGeom>
            <a:blipFill>
              <a:blip r:embed="rId4"/>
              <a:stretch>
                <a:fillRect/>
              </a:stretch>
            </a:blipFill>
          </p:spPr>
        </p:sp>
        <p:sp>
          <p:nvSpPr>
            <p:cNvPr id="24" name="Freeform 4">
              <a:extLst>
                <a:ext uri="{FF2B5EF4-FFF2-40B4-BE49-F238E27FC236}">
                  <a16:creationId xmlns:a16="http://schemas.microsoft.com/office/drawing/2014/main" id="{3FA8AC02-B9E6-F5E4-F701-CC6E11489B17}"/>
                </a:ext>
              </a:extLst>
            </p:cNvPr>
            <p:cNvSpPr/>
            <p:nvPr/>
          </p:nvSpPr>
          <p:spPr>
            <a:xfrm>
              <a:off x="3134311" y="224397"/>
              <a:ext cx="2339750" cy="1036911"/>
            </a:xfrm>
            <a:custGeom>
              <a:avLst/>
              <a:gdLst/>
              <a:ahLst/>
              <a:cxnLst/>
              <a:rect l="l" t="t" r="r" b="b"/>
              <a:pathLst>
                <a:path w="2339750" h="1036911">
                  <a:moveTo>
                    <a:pt x="0" y="0"/>
                  </a:moveTo>
                  <a:lnTo>
                    <a:pt x="2339749" y="0"/>
                  </a:lnTo>
                  <a:lnTo>
                    <a:pt x="2339749" y="1036911"/>
                  </a:lnTo>
                  <a:lnTo>
                    <a:pt x="0" y="1036911"/>
                  </a:lnTo>
                  <a:lnTo>
                    <a:pt x="0" y="0"/>
                  </a:lnTo>
                  <a:close/>
                </a:path>
              </a:pathLst>
            </a:custGeom>
            <a:blipFill>
              <a:blip r:embed="rId5"/>
              <a:stretch>
                <a:fillRect l="-8002" t="-69970" b="-73732"/>
              </a:stretch>
            </a:blipFill>
          </p:spPr>
        </p:sp>
        <p:sp>
          <p:nvSpPr>
            <p:cNvPr id="25" name="AutoShape 5">
              <a:extLst>
                <a:ext uri="{FF2B5EF4-FFF2-40B4-BE49-F238E27FC236}">
                  <a16:creationId xmlns:a16="http://schemas.microsoft.com/office/drawing/2014/main" id="{6DB9662E-02CD-0AB4-4736-C4D178713774}"/>
                </a:ext>
              </a:extLst>
            </p:cNvPr>
            <p:cNvSpPr/>
            <p:nvPr/>
          </p:nvSpPr>
          <p:spPr>
            <a:xfrm flipV="1">
              <a:off x="16552532" y="1299408"/>
              <a:ext cx="6459868" cy="0"/>
            </a:xfrm>
            <a:prstGeom prst="line">
              <a:avLst/>
            </a:prstGeom>
            <a:ln w="25400" cap="flat">
              <a:solidFill>
                <a:srgbClr val="000000"/>
              </a:solidFill>
              <a:prstDash val="solid"/>
              <a:headEnd type="none" w="sm" len="sm"/>
              <a:tailEnd type="none" w="sm" len="sm"/>
            </a:ln>
          </p:spPr>
        </p:sp>
        <p:sp>
          <p:nvSpPr>
            <p:cNvPr id="26" name="TextBox 6">
              <a:extLst>
                <a:ext uri="{FF2B5EF4-FFF2-40B4-BE49-F238E27FC236}">
                  <a16:creationId xmlns:a16="http://schemas.microsoft.com/office/drawing/2014/main" id="{9ADF0BDC-EAF7-A8F7-DF8D-79FA4783E211}"/>
                </a:ext>
              </a:extLst>
            </p:cNvPr>
            <p:cNvSpPr txBox="1"/>
            <p:nvPr/>
          </p:nvSpPr>
          <p:spPr>
            <a:xfrm>
              <a:off x="12954000" y="1088377"/>
              <a:ext cx="3934687" cy="349667"/>
            </a:xfrm>
            <a:prstGeom prst="rect">
              <a:avLst/>
            </a:prstGeom>
          </p:spPr>
          <p:txBody>
            <a:bodyPr wrap="square" lIns="0" tIns="0" rIns="0" bIns="0" rtlCol="0" anchor="t">
              <a:spAutoFit/>
            </a:bodyPr>
            <a:lstStyle/>
            <a:p>
              <a:pPr algn="ctr">
                <a:lnSpc>
                  <a:spcPts val="2239"/>
                </a:lnSpc>
                <a:spcBef>
                  <a:spcPct val="0"/>
                </a:spcBef>
              </a:pPr>
              <a:r>
                <a:rPr lang="en-US" sz="1599" b="1" i="1">
                  <a:solidFill>
                    <a:srgbClr val="000000"/>
                  </a:solidFill>
                  <a:latin typeface="Montserrat Semi-Bold" panose="020B0604020202020204" charset="0"/>
                  <a:ea typeface="Montserrat Medium Italics"/>
                  <a:cs typeface="Montserrat Medium Italics"/>
                  <a:sym typeface="Montserrat Medium Italics"/>
                </a:rPr>
                <a:t>THUẦN HOA GROUP</a:t>
              </a:r>
            </a:p>
          </p:txBody>
        </p:sp>
      </p:grpSp>
      <p:sp>
        <p:nvSpPr>
          <p:cNvPr id="28" name="Freeform 11">
            <a:extLst>
              <a:ext uri="{FF2B5EF4-FFF2-40B4-BE49-F238E27FC236}">
                <a16:creationId xmlns:a16="http://schemas.microsoft.com/office/drawing/2014/main" id="{6F30D7F2-039E-447D-9E67-5081F690986C}"/>
              </a:ext>
            </a:extLst>
          </p:cNvPr>
          <p:cNvSpPr/>
          <p:nvPr/>
        </p:nvSpPr>
        <p:spPr>
          <a:xfrm>
            <a:off x="6326012" y="3483055"/>
            <a:ext cx="1778146" cy="391612"/>
          </a:xfrm>
          <a:custGeom>
            <a:avLst/>
            <a:gdLst/>
            <a:ahLst/>
            <a:cxnLst/>
            <a:rect l="l" t="t" r="r" b="b"/>
            <a:pathLst>
              <a:path w="1778146" h="391612">
                <a:moveTo>
                  <a:pt x="0" y="0"/>
                </a:moveTo>
                <a:lnTo>
                  <a:pt x="1778146" y="0"/>
                </a:lnTo>
                <a:lnTo>
                  <a:pt x="1778146" y="391612"/>
                </a:lnTo>
                <a:lnTo>
                  <a:pt x="0" y="391612"/>
                </a:lnTo>
                <a:lnTo>
                  <a:pt x="0" y="0"/>
                </a:lnTo>
                <a:close/>
              </a:path>
            </a:pathLst>
          </a:custGeom>
          <a:blipFill>
            <a:blip r:embed="rId3"/>
            <a:stretch>
              <a:fillRect l="-62917" t="-943" r="-261026" b="-125237"/>
            </a:stretch>
          </a:blipFill>
        </p:spPr>
        <p:txBody>
          <a:bodyPr/>
          <a:lstStyle/>
          <a:p>
            <a:pPr>
              <a:lnSpc>
                <a:spcPts val="2753"/>
              </a:lnSpc>
            </a:pPr>
            <a:r>
              <a:rPr lang="en-US" sz="1699" b="1" spc="-61">
                <a:solidFill>
                  <a:srgbClr val="FFFFFF"/>
                </a:solidFill>
                <a:latin typeface="Montserrat Bold"/>
                <a:ea typeface="Montserrat Bold"/>
                <a:cs typeface="Montserrat Bold"/>
              </a:rPr>
              <a:t>CÔNG DỤNG</a:t>
            </a:r>
          </a:p>
        </p:txBody>
      </p:sp>
    </p:spTree>
    <p:extLst>
      <p:ext uri="{BB962C8B-B14F-4D97-AF65-F5344CB8AC3E}">
        <p14:creationId xmlns:p14="http://schemas.microsoft.com/office/powerpoint/2010/main" val="2677886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wipe(down)">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wipe(down)">
                                      <p:cBhvr>
                                        <p:cTn id="23" dur="500"/>
                                        <p:tgtEl>
                                          <p:spTgt spid="16"/>
                                        </p:tgtEl>
                                      </p:cBhvr>
                                    </p:animEffect>
                                  </p:childTnLst>
                                </p:cTn>
                              </p:par>
                              <p:par>
                                <p:cTn id="24" presetID="22" presetClass="entr" presetSubtype="4" fill="hold"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down)">
                                      <p:cBhvr>
                                        <p:cTn id="26" dur="500"/>
                                        <p:tgtEl>
                                          <p:spTgt spid="10"/>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wipe(down)">
                                      <p:cBhvr>
                                        <p:cTn id="29" dur="500"/>
                                        <p:tgtEl>
                                          <p:spTgt spid="1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wipe(down)">
                                      <p:cBhvr>
                                        <p:cTn id="34" dur="500"/>
                                        <p:tgtEl>
                                          <p:spTgt spid="18"/>
                                        </p:tgtEl>
                                      </p:cBhvr>
                                    </p:animEffect>
                                  </p:childTnLst>
                                </p:cTn>
                              </p:par>
                              <p:par>
                                <p:cTn id="35" presetID="22" presetClass="entr" presetSubtype="4" fill="hold"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down)">
                                      <p:cBhvr>
                                        <p:cTn id="37" dur="500"/>
                                        <p:tgtEl>
                                          <p:spTgt spid="11"/>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down)">
                                      <p:cBhvr>
                                        <p:cTn id="40" dur="500"/>
                                        <p:tgtEl>
                                          <p:spTgt spid="19"/>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down)">
                                      <p:cBhvr>
                                        <p:cTn id="45" dur="500"/>
                                        <p:tgtEl>
                                          <p:spTgt spid="20"/>
                                        </p:tgtEl>
                                      </p:cBhvr>
                                    </p:animEffect>
                                  </p:childTnLst>
                                </p:cTn>
                              </p:par>
                              <p:par>
                                <p:cTn id="46" presetID="22" presetClass="entr" presetSubtype="4" fill="hold" nodeType="with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wipe(down)">
                                      <p:cBhvr>
                                        <p:cTn id="48" dur="500"/>
                                        <p:tgtEl>
                                          <p:spTgt spid="12"/>
                                        </p:tgtEl>
                                      </p:cBhvr>
                                    </p:animEffect>
                                  </p:childTnLst>
                                </p:cTn>
                              </p:par>
                              <p:par>
                                <p:cTn id="49" presetID="22" presetClass="entr" presetSubtype="4"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wipe(down)">
                                      <p:cBhvr>
                                        <p:cTn id="51" dur="500"/>
                                        <p:tgtEl>
                                          <p:spTgt spid="21"/>
                                        </p:tgtEl>
                                      </p:cBhvr>
                                    </p:animEffect>
                                  </p:childTnLst>
                                </p:cTn>
                              </p:par>
                              <p:par>
                                <p:cTn id="52" presetID="22" presetClass="entr" presetSubtype="4" fill="hold" nodeType="with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wipe(down)">
                                      <p:cBhvr>
                                        <p:cTn id="54"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16" grpId="0"/>
      <p:bldP spid="17" grpId="0"/>
      <p:bldP spid="18" grpId="0"/>
      <p:bldP spid="19" grpId="0"/>
      <p:bldP spid="20" grpId="0"/>
      <p:bldP spid="2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a:off x="1028700" y="1881451"/>
            <a:ext cx="2508617" cy="391612"/>
          </a:xfrm>
          <a:custGeom>
            <a:avLst/>
            <a:gdLst/>
            <a:ahLst/>
            <a:cxnLst/>
            <a:rect l="l" t="t" r="r" b="b"/>
            <a:pathLst>
              <a:path w="2508617" h="391612">
                <a:moveTo>
                  <a:pt x="0" y="0"/>
                </a:moveTo>
                <a:lnTo>
                  <a:pt x="2508617" y="0"/>
                </a:lnTo>
                <a:lnTo>
                  <a:pt x="2508617" y="391612"/>
                </a:lnTo>
                <a:lnTo>
                  <a:pt x="0" y="391612"/>
                </a:lnTo>
                <a:lnTo>
                  <a:pt x="0" y="0"/>
                </a:lnTo>
                <a:close/>
              </a:path>
            </a:pathLst>
          </a:custGeom>
          <a:blipFill>
            <a:blip r:embed="rId2"/>
            <a:stretch>
              <a:fillRect l="-44596" t="-943" r="-155901" b="-125237"/>
            </a:stretch>
          </a:blipFill>
        </p:spPr>
      </p:sp>
      <p:sp>
        <p:nvSpPr>
          <p:cNvPr id="9" name="TextBox 9"/>
          <p:cNvSpPr txBox="1"/>
          <p:nvPr/>
        </p:nvSpPr>
        <p:spPr>
          <a:xfrm>
            <a:off x="1266236" y="1884471"/>
            <a:ext cx="2131558" cy="318897"/>
          </a:xfrm>
          <a:prstGeom prst="rect">
            <a:avLst/>
          </a:prstGeom>
        </p:spPr>
        <p:txBody>
          <a:bodyPr lIns="0" tIns="0" rIns="0" bIns="0" rtlCol="0" anchor="t">
            <a:spAutoFit/>
          </a:bodyPr>
          <a:lstStyle/>
          <a:p>
            <a:pPr algn="l">
              <a:lnSpc>
                <a:spcPts val="2753"/>
              </a:lnSpc>
            </a:pPr>
            <a:r>
              <a:rPr lang="en-US" sz="1699" b="1" spc="-61">
                <a:solidFill>
                  <a:srgbClr val="FFFFFF"/>
                </a:solidFill>
                <a:latin typeface="Montserrat Ultra-Bold"/>
                <a:ea typeface="Montserrat Ultra-Bold"/>
                <a:cs typeface="Montserrat Ultra-Bold"/>
                <a:sym typeface="Montserrat Ultra-Bold"/>
              </a:rPr>
              <a:t>CƠ CHẾ TÁC DỤNG</a:t>
            </a:r>
          </a:p>
        </p:txBody>
      </p:sp>
      <p:sp>
        <p:nvSpPr>
          <p:cNvPr id="11" name="TextBox 11"/>
          <p:cNvSpPr txBox="1"/>
          <p:nvPr/>
        </p:nvSpPr>
        <p:spPr>
          <a:xfrm>
            <a:off x="824867" y="3192355"/>
            <a:ext cx="7877764" cy="1393971"/>
          </a:xfrm>
          <a:prstGeom prst="rect">
            <a:avLst/>
          </a:prstGeom>
        </p:spPr>
        <p:txBody>
          <a:bodyPr lIns="0" tIns="0" rIns="0" bIns="0" rtlCol="0" anchor="t">
            <a:spAutoFit/>
          </a:bodyPr>
          <a:lstStyle/>
          <a:p>
            <a:pPr marL="367029" lvl="1" indent="-183514">
              <a:lnSpc>
                <a:spcPts val="2209"/>
              </a:lnSpc>
              <a:buFont typeface="Arial"/>
              <a:buChar char="•"/>
            </a:pPr>
            <a:r>
              <a:rPr lang="en-US" sz="1699" b="1" spc="-61">
                <a:solidFill>
                  <a:srgbClr val="000000"/>
                </a:solidFill>
                <a:latin typeface="Montserrat Medium"/>
                <a:ea typeface="Montserrat Medium"/>
                <a:cs typeface="Montserrat Medium"/>
                <a:sym typeface="Montserrat Medium"/>
              </a:rPr>
              <a:t>Bộ 3 hoạt chất vàng bao gồm Niacinamide 10%, tranexamic acid 3% và Arbutin 2% (tỉ lệ nồng độ kết hợp cực chuẩn) </a:t>
            </a:r>
          </a:p>
          <a:p>
            <a:pPr marL="367029" lvl="1" indent="-183514">
              <a:lnSpc>
                <a:spcPts val="2209"/>
              </a:lnSpc>
              <a:buFont typeface="Arial"/>
              <a:buChar char="•"/>
            </a:pPr>
            <a:r>
              <a:rPr lang="en-US" sz="1699" b="1" spc="-61">
                <a:solidFill>
                  <a:srgbClr val="000000"/>
                </a:solidFill>
                <a:latin typeface="Montserrat Medium"/>
                <a:ea typeface="Montserrat Medium"/>
                <a:cs typeface="Montserrat Medium"/>
                <a:sym typeface="Montserrat Medium"/>
              </a:rPr>
              <a:t>	Giai đoạn 1 - Ức chế tín hiệu (3% Tranexamic Acid)</a:t>
            </a:r>
          </a:p>
          <a:p>
            <a:pPr marL="367029" lvl="1" indent="-183514">
              <a:lnSpc>
                <a:spcPts val="2209"/>
              </a:lnSpc>
              <a:buFont typeface="Arial"/>
              <a:buChar char="•"/>
            </a:pPr>
            <a:r>
              <a:rPr lang="en-US" sz="1699" b="1" spc="-61">
                <a:solidFill>
                  <a:srgbClr val="000000"/>
                </a:solidFill>
                <a:latin typeface="Montserrat Medium"/>
                <a:ea typeface="Montserrat Medium"/>
                <a:cs typeface="Montserrat Medium"/>
                <a:sym typeface="Montserrat Medium"/>
              </a:rPr>
              <a:t>	Giai đoạn 2 - Ức chế sản xuất (2% Arbutin)</a:t>
            </a:r>
          </a:p>
          <a:p>
            <a:pPr marL="367029" lvl="1" indent="-183514">
              <a:lnSpc>
                <a:spcPts val="2209"/>
              </a:lnSpc>
              <a:buFont typeface="Arial"/>
              <a:buChar char="•"/>
            </a:pPr>
            <a:r>
              <a:rPr lang="en-US" sz="1699" b="1" spc="-61">
                <a:solidFill>
                  <a:srgbClr val="000000"/>
                </a:solidFill>
                <a:latin typeface="Montserrat Medium"/>
                <a:ea typeface="Montserrat Medium"/>
                <a:cs typeface="Montserrat Medium"/>
                <a:sym typeface="Montserrat Medium"/>
              </a:rPr>
              <a:t>	Giai đoạn 3 - Ức chế vận chuyển (10% Niacinamide)</a:t>
            </a:r>
          </a:p>
        </p:txBody>
      </p:sp>
      <p:sp>
        <p:nvSpPr>
          <p:cNvPr id="12" name="TextBox 12"/>
          <p:cNvSpPr txBox="1"/>
          <p:nvPr/>
        </p:nvSpPr>
        <p:spPr>
          <a:xfrm>
            <a:off x="11979390" y="2484957"/>
            <a:ext cx="6216095" cy="829714"/>
          </a:xfrm>
          <a:prstGeom prst="rect">
            <a:avLst/>
          </a:prstGeom>
        </p:spPr>
        <p:txBody>
          <a:bodyPr wrap="square" lIns="0" tIns="0" rIns="0" bIns="0" rtlCol="0" anchor="t">
            <a:spAutoFit/>
          </a:bodyPr>
          <a:lstStyle/>
          <a:p>
            <a:pPr marL="367029" lvl="1" indent="-183514">
              <a:lnSpc>
                <a:spcPts val="2209"/>
              </a:lnSpc>
              <a:buFont typeface="Arial"/>
              <a:buChar char="•"/>
            </a:pPr>
            <a:r>
              <a:rPr lang="en-US" sz="1699" b="1" spc="-61">
                <a:solidFill>
                  <a:srgbClr val="000000"/>
                </a:solidFill>
                <a:latin typeface="Montserrat Medium"/>
                <a:ea typeface="Montserrat Medium"/>
                <a:cs typeface="Montserrat Medium"/>
                <a:sym typeface="Montserrat Medium"/>
              </a:rPr>
              <a:t>Đ</a:t>
            </a:r>
            <a:r>
              <a:rPr lang="vi-VN" sz="1699" b="1" spc="-61">
                <a:solidFill>
                  <a:srgbClr val="000000"/>
                </a:solidFill>
                <a:latin typeface="Montserrat Medium"/>
                <a:ea typeface="Montserrat Medium"/>
                <a:cs typeface="Montserrat Medium"/>
                <a:sym typeface="Montserrat Medium"/>
              </a:rPr>
              <a:t>ã được cấp bằng sáng chế và được bảo hộ tại nhiều quốc gia. Không chỉ có hiệu quả trong việc làm sáng da mà còn có khả năng chống lão hoá phục hồi da mạnh mẽ </a:t>
            </a:r>
            <a:endParaRPr lang="en-US" sz="1699" b="1" spc="-61">
              <a:solidFill>
                <a:srgbClr val="000000"/>
              </a:solidFill>
              <a:latin typeface="Montserrat Medium"/>
              <a:ea typeface="Montserrat Medium"/>
              <a:cs typeface="Montserrat Medium"/>
              <a:sym typeface="Montserrat Medium"/>
            </a:endParaRPr>
          </a:p>
        </p:txBody>
      </p:sp>
      <p:sp>
        <p:nvSpPr>
          <p:cNvPr id="13" name="TextBox 13"/>
          <p:cNvSpPr txBox="1"/>
          <p:nvPr/>
        </p:nvSpPr>
        <p:spPr>
          <a:xfrm>
            <a:off x="12001161" y="4059454"/>
            <a:ext cx="6156221" cy="547586"/>
          </a:xfrm>
          <a:prstGeom prst="rect">
            <a:avLst/>
          </a:prstGeom>
        </p:spPr>
        <p:txBody>
          <a:bodyPr wrap="square" lIns="0" tIns="0" rIns="0" bIns="0" rtlCol="0" anchor="t">
            <a:spAutoFit/>
          </a:bodyPr>
          <a:lstStyle/>
          <a:p>
            <a:pPr marL="367029" lvl="1" indent="-183514">
              <a:lnSpc>
                <a:spcPts val="2209"/>
              </a:lnSpc>
              <a:buFont typeface="Arial"/>
              <a:buChar char="•"/>
            </a:pPr>
            <a:r>
              <a:rPr lang="vi-VN" sz="1699" b="1" spc="-61">
                <a:solidFill>
                  <a:srgbClr val="000000"/>
                </a:solidFill>
                <a:latin typeface="Montserrat Medium"/>
                <a:ea typeface="Montserrat Medium"/>
                <a:cs typeface="Montserrat Medium"/>
                <a:sym typeface="Montserrat Medium"/>
              </a:rPr>
              <a:t>Đây là nồng độ lý tưởng để điều tiết bã nhờn, kháng khuẩn và hỗ trợ giảm viêm cho da mụn hoặc da dầu</a:t>
            </a:r>
            <a:r>
              <a:rPr lang="en-US" sz="1699" b="1" spc="-61">
                <a:solidFill>
                  <a:srgbClr val="000000"/>
                </a:solidFill>
                <a:latin typeface="Montserrat Medium"/>
                <a:ea typeface="Montserrat Medium"/>
                <a:cs typeface="Montserrat Medium"/>
                <a:sym typeface="Montserrat Medium"/>
              </a:rPr>
              <a:t>. </a:t>
            </a:r>
          </a:p>
        </p:txBody>
      </p:sp>
      <p:sp>
        <p:nvSpPr>
          <p:cNvPr id="14" name="TextBox 14"/>
          <p:cNvSpPr txBox="1"/>
          <p:nvPr/>
        </p:nvSpPr>
        <p:spPr>
          <a:xfrm>
            <a:off x="1086555" y="2697143"/>
            <a:ext cx="5353872" cy="323165"/>
          </a:xfrm>
          <a:prstGeom prst="rect">
            <a:avLst/>
          </a:prstGeom>
        </p:spPr>
        <p:txBody>
          <a:bodyPr lIns="0" tIns="0" rIns="0" bIns="0" rtlCol="0" anchor="t">
            <a:spAutoFit/>
          </a:bodyPr>
          <a:lstStyle/>
          <a:p>
            <a:pPr>
              <a:lnSpc>
                <a:spcPts val="2753"/>
              </a:lnSpc>
            </a:pPr>
            <a:r>
              <a:rPr lang="en-US" sz="1699" b="1" i="1" spc="-61">
                <a:solidFill>
                  <a:srgbClr val="000000"/>
                </a:solidFill>
                <a:latin typeface="Montserrat Bold Italics"/>
                <a:ea typeface="Montserrat Bold Italics"/>
                <a:cs typeface="Montserrat Bold Italics"/>
                <a:sym typeface="Montserrat Bold Italics"/>
              </a:rPr>
              <a:t>NHÓM HOẠT CHẤT TRẮNG SÁNG MỜ NÁM</a:t>
            </a:r>
          </a:p>
        </p:txBody>
      </p:sp>
      <p:sp>
        <p:nvSpPr>
          <p:cNvPr id="15" name="TextBox 15"/>
          <p:cNvSpPr txBox="1"/>
          <p:nvPr/>
        </p:nvSpPr>
        <p:spPr>
          <a:xfrm>
            <a:off x="12219707" y="1858231"/>
            <a:ext cx="4067763" cy="323165"/>
          </a:xfrm>
          <a:prstGeom prst="rect">
            <a:avLst/>
          </a:prstGeom>
        </p:spPr>
        <p:txBody>
          <a:bodyPr wrap="square" lIns="0" tIns="0" rIns="0" bIns="0" rtlCol="0" anchor="t">
            <a:spAutoFit/>
          </a:bodyPr>
          <a:lstStyle/>
          <a:p>
            <a:pPr algn="l">
              <a:lnSpc>
                <a:spcPts val="2753"/>
              </a:lnSpc>
            </a:pPr>
            <a:r>
              <a:rPr lang="en-US" sz="1699" b="1" i="1" spc="-61">
                <a:solidFill>
                  <a:srgbClr val="000000"/>
                </a:solidFill>
                <a:latin typeface="Montserrat Bold Italics"/>
                <a:ea typeface="Montserrat Bold Italics"/>
                <a:cs typeface="Montserrat Bold Italics"/>
                <a:sym typeface="Montserrat Bold Italics"/>
              </a:rPr>
              <a:t>EXOSOME CHIẾT SUẤT NHÂN SÂM</a:t>
            </a:r>
          </a:p>
        </p:txBody>
      </p:sp>
      <p:sp>
        <p:nvSpPr>
          <p:cNvPr id="16" name="TextBox 16"/>
          <p:cNvSpPr txBox="1"/>
          <p:nvPr/>
        </p:nvSpPr>
        <p:spPr>
          <a:xfrm>
            <a:off x="12110741" y="3560788"/>
            <a:ext cx="2598587" cy="323165"/>
          </a:xfrm>
          <a:prstGeom prst="rect">
            <a:avLst/>
          </a:prstGeom>
        </p:spPr>
        <p:txBody>
          <a:bodyPr lIns="0" tIns="0" rIns="0" bIns="0" rtlCol="0" anchor="t">
            <a:spAutoFit/>
          </a:bodyPr>
          <a:lstStyle/>
          <a:p>
            <a:pPr algn="l">
              <a:lnSpc>
                <a:spcPts val="2753"/>
              </a:lnSpc>
            </a:pPr>
            <a:r>
              <a:rPr lang="en-US" sz="1699" b="1" i="1" spc="-61">
                <a:solidFill>
                  <a:srgbClr val="000000"/>
                </a:solidFill>
                <a:latin typeface="Montserrat Bold Italics"/>
                <a:ea typeface="Montserrat Bold Italics"/>
                <a:cs typeface="Montserrat Bold Italics"/>
                <a:sym typeface="Montserrat Bold Italics"/>
              </a:rPr>
              <a:t>ZINC PCA 1%</a:t>
            </a:r>
          </a:p>
        </p:txBody>
      </p:sp>
      <p:sp>
        <p:nvSpPr>
          <p:cNvPr id="17" name="TextBox 17"/>
          <p:cNvSpPr txBox="1"/>
          <p:nvPr/>
        </p:nvSpPr>
        <p:spPr>
          <a:xfrm>
            <a:off x="12020183" y="5846839"/>
            <a:ext cx="6216106" cy="3368871"/>
          </a:xfrm>
          <a:prstGeom prst="rect">
            <a:avLst/>
          </a:prstGeom>
        </p:spPr>
        <p:txBody>
          <a:bodyPr wrap="square" lIns="0" tIns="0" rIns="0" bIns="0" rtlCol="0" anchor="t">
            <a:spAutoFit/>
          </a:bodyPr>
          <a:lstStyle/>
          <a:p>
            <a:pPr marL="367029" lvl="1" indent="-183514" algn="l">
              <a:lnSpc>
                <a:spcPts val="2209"/>
              </a:lnSpc>
              <a:buFont typeface="Arial"/>
              <a:buChar char="•"/>
            </a:pPr>
            <a:r>
              <a:rPr lang="en-US" sz="1699" b="1" spc="-61">
                <a:solidFill>
                  <a:srgbClr val="000000"/>
                </a:solidFill>
                <a:latin typeface="Montserrat Medium"/>
                <a:ea typeface="Montserrat Medium"/>
                <a:cs typeface="Montserrat Medium"/>
                <a:sym typeface="Montserrat Medium"/>
              </a:rPr>
              <a:t>Giảm nám đa cơ chế – sáng da bền vững Tranexamic Acid 3% kết hợp Niacinamide 10%, Arbutin &amp; Glutathione tác động toàn diện lên chu trình melanin, giúp cải thiện nám – thâm – da xỉn màu rõ rệt.</a:t>
            </a:r>
          </a:p>
          <a:p>
            <a:pPr algn="l">
              <a:lnSpc>
                <a:spcPts val="2209"/>
              </a:lnSpc>
            </a:pPr>
            <a:endParaRPr lang="en-US" sz="1699" b="1" spc="-61">
              <a:solidFill>
                <a:srgbClr val="000000"/>
              </a:solidFill>
              <a:latin typeface="Montserrat Medium"/>
              <a:ea typeface="Montserrat Medium"/>
              <a:cs typeface="Montserrat Medium"/>
              <a:sym typeface="Montserrat Medium"/>
            </a:endParaRPr>
          </a:p>
          <a:p>
            <a:pPr marL="367029" lvl="1" indent="-183514" algn="l">
              <a:lnSpc>
                <a:spcPts val="2209"/>
              </a:lnSpc>
              <a:buFont typeface="Arial"/>
              <a:buChar char="•"/>
            </a:pPr>
            <a:r>
              <a:rPr lang="en-US" sz="1699" b="1" spc="-61">
                <a:solidFill>
                  <a:srgbClr val="000000"/>
                </a:solidFill>
                <a:latin typeface="Montserrat Medium"/>
                <a:ea typeface="Montserrat Medium"/>
                <a:cs typeface="Montserrat Medium"/>
                <a:sym typeface="Montserrat Medium"/>
              </a:rPr>
              <a:t>Hiệu quả mạnh nhưng vẫn an toàn cho da Công thức cân bằng điều trị &amp; phục hồi, kiểm soát dầu nhờ Zinc PCA, hạn chế kích ứng, phù hợp dùng lâu dài.</a:t>
            </a:r>
          </a:p>
          <a:p>
            <a:pPr algn="l">
              <a:lnSpc>
                <a:spcPts val="2209"/>
              </a:lnSpc>
            </a:pPr>
            <a:endParaRPr lang="en-US" sz="1699" b="1" spc="-61">
              <a:solidFill>
                <a:srgbClr val="000000"/>
              </a:solidFill>
              <a:latin typeface="Montserrat Medium"/>
              <a:ea typeface="Montserrat Medium"/>
              <a:cs typeface="Montserrat Medium"/>
              <a:sym typeface="Montserrat Medium"/>
            </a:endParaRPr>
          </a:p>
          <a:p>
            <a:pPr marL="367029" lvl="1" indent="-183514" algn="l">
              <a:lnSpc>
                <a:spcPts val="2209"/>
              </a:lnSpc>
              <a:buFont typeface="Arial"/>
              <a:buChar char="•"/>
            </a:pPr>
            <a:r>
              <a:rPr lang="en-US" sz="1699" b="1" spc="-61">
                <a:solidFill>
                  <a:srgbClr val="000000"/>
                </a:solidFill>
                <a:latin typeface="Montserrat Medium"/>
                <a:ea typeface="Montserrat Medium"/>
                <a:cs typeface="Montserrat Medium"/>
                <a:sym typeface="Montserrat Medium"/>
              </a:rPr>
              <a:t>Đạt chứng nhận Dermatest® – Đức Được kiểm nghiệm da liễu về độ dung nạp, gia tăng độ tin cậy và an tâm khi ứng dụng trong liệu trình spa/clinic.</a:t>
            </a:r>
          </a:p>
        </p:txBody>
      </p:sp>
      <p:sp>
        <p:nvSpPr>
          <p:cNvPr id="18" name="Freeform 18"/>
          <p:cNvSpPr/>
          <p:nvPr/>
        </p:nvSpPr>
        <p:spPr>
          <a:xfrm>
            <a:off x="12418743" y="5214161"/>
            <a:ext cx="2048712" cy="391612"/>
          </a:xfrm>
          <a:custGeom>
            <a:avLst/>
            <a:gdLst/>
            <a:ahLst/>
            <a:cxnLst/>
            <a:rect l="l" t="t" r="r" b="b"/>
            <a:pathLst>
              <a:path w="2048712" h="391612">
                <a:moveTo>
                  <a:pt x="0" y="0"/>
                </a:moveTo>
                <a:lnTo>
                  <a:pt x="2048712" y="0"/>
                </a:lnTo>
                <a:lnTo>
                  <a:pt x="2048712" y="391612"/>
                </a:lnTo>
                <a:lnTo>
                  <a:pt x="0" y="391612"/>
                </a:lnTo>
                <a:lnTo>
                  <a:pt x="0" y="0"/>
                </a:lnTo>
                <a:close/>
              </a:path>
            </a:pathLst>
          </a:custGeom>
          <a:blipFill>
            <a:blip r:embed="rId2"/>
            <a:stretch>
              <a:fillRect l="-54608" t="-943" r="-213347" b="-125237"/>
            </a:stretch>
          </a:blipFill>
        </p:spPr>
      </p:sp>
      <p:sp>
        <p:nvSpPr>
          <p:cNvPr id="19" name="TextBox 19"/>
          <p:cNvSpPr txBox="1"/>
          <p:nvPr/>
        </p:nvSpPr>
        <p:spPr>
          <a:xfrm>
            <a:off x="12537511" y="5214161"/>
            <a:ext cx="1811176" cy="318897"/>
          </a:xfrm>
          <a:prstGeom prst="rect">
            <a:avLst/>
          </a:prstGeom>
        </p:spPr>
        <p:txBody>
          <a:bodyPr lIns="0" tIns="0" rIns="0" bIns="0" rtlCol="0" anchor="t">
            <a:spAutoFit/>
          </a:bodyPr>
          <a:lstStyle/>
          <a:p>
            <a:pPr algn="l">
              <a:lnSpc>
                <a:spcPts val="2753"/>
              </a:lnSpc>
            </a:pPr>
            <a:r>
              <a:rPr lang="en-US" sz="1699" b="1" spc="-61">
                <a:solidFill>
                  <a:srgbClr val="FFFFFF"/>
                </a:solidFill>
                <a:latin typeface="Montserrat Ultra-Bold"/>
                <a:ea typeface="Montserrat Ultra-Bold"/>
                <a:cs typeface="Montserrat Ultra-Bold"/>
                <a:sym typeface="Montserrat Ultra-Bold"/>
              </a:rPr>
              <a:t>ĐIỂM MẠNH</a:t>
            </a:r>
          </a:p>
        </p:txBody>
      </p:sp>
      <p:sp>
        <p:nvSpPr>
          <p:cNvPr id="20" name="AutoShape 20"/>
          <p:cNvSpPr/>
          <p:nvPr/>
        </p:nvSpPr>
        <p:spPr>
          <a:xfrm>
            <a:off x="11979391" y="1881451"/>
            <a:ext cx="0" cy="7376849"/>
          </a:xfrm>
          <a:prstGeom prst="line">
            <a:avLst/>
          </a:prstGeom>
          <a:ln w="19050" cap="flat">
            <a:solidFill>
              <a:srgbClr val="000000"/>
            </a:solidFill>
            <a:prstDash val="solid"/>
            <a:headEnd type="none" w="sm" len="sm"/>
            <a:tailEnd type="none" w="sm" len="sm"/>
          </a:ln>
        </p:spPr>
      </p:sp>
      <p:grpSp>
        <p:nvGrpSpPr>
          <p:cNvPr id="21" name="Group 2">
            <a:extLst>
              <a:ext uri="{FF2B5EF4-FFF2-40B4-BE49-F238E27FC236}">
                <a16:creationId xmlns:a16="http://schemas.microsoft.com/office/drawing/2014/main" id="{9CF92149-73B3-4160-D808-D49C675B82FA}"/>
              </a:ext>
            </a:extLst>
          </p:cNvPr>
          <p:cNvGrpSpPr/>
          <p:nvPr/>
        </p:nvGrpSpPr>
        <p:grpSpPr>
          <a:xfrm>
            <a:off x="1028700" y="395218"/>
            <a:ext cx="17259300" cy="1078533"/>
            <a:chOff x="0" y="0"/>
            <a:chExt cx="23012400" cy="1438044"/>
          </a:xfrm>
        </p:grpSpPr>
        <p:sp>
          <p:nvSpPr>
            <p:cNvPr id="22" name="Freeform 3">
              <a:extLst>
                <a:ext uri="{FF2B5EF4-FFF2-40B4-BE49-F238E27FC236}">
                  <a16:creationId xmlns:a16="http://schemas.microsoft.com/office/drawing/2014/main" id="{DB944296-6C68-40D1-55A4-B3602C39A7FF}"/>
                </a:ext>
              </a:extLst>
            </p:cNvPr>
            <p:cNvSpPr/>
            <p:nvPr/>
          </p:nvSpPr>
          <p:spPr>
            <a:xfrm>
              <a:off x="0" y="0"/>
              <a:ext cx="2937194" cy="1274008"/>
            </a:xfrm>
            <a:custGeom>
              <a:avLst/>
              <a:gdLst/>
              <a:ahLst/>
              <a:cxnLst/>
              <a:rect l="l" t="t" r="r" b="b"/>
              <a:pathLst>
                <a:path w="2937194" h="1274008">
                  <a:moveTo>
                    <a:pt x="0" y="0"/>
                  </a:moveTo>
                  <a:lnTo>
                    <a:pt x="2937194" y="0"/>
                  </a:lnTo>
                  <a:lnTo>
                    <a:pt x="2937194" y="1274008"/>
                  </a:lnTo>
                  <a:lnTo>
                    <a:pt x="0" y="1274008"/>
                  </a:lnTo>
                  <a:lnTo>
                    <a:pt x="0" y="0"/>
                  </a:lnTo>
                  <a:close/>
                </a:path>
              </a:pathLst>
            </a:custGeom>
            <a:blipFill>
              <a:blip r:embed="rId3"/>
              <a:stretch>
                <a:fillRect/>
              </a:stretch>
            </a:blipFill>
          </p:spPr>
        </p:sp>
        <p:sp>
          <p:nvSpPr>
            <p:cNvPr id="23" name="Freeform 4">
              <a:extLst>
                <a:ext uri="{FF2B5EF4-FFF2-40B4-BE49-F238E27FC236}">
                  <a16:creationId xmlns:a16="http://schemas.microsoft.com/office/drawing/2014/main" id="{9585C545-9DE8-42F2-75DD-183500125803}"/>
                </a:ext>
              </a:extLst>
            </p:cNvPr>
            <p:cNvSpPr/>
            <p:nvPr/>
          </p:nvSpPr>
          <p:spPr>
            <a:xfrm>
              <a:off x="3134311" y="224397"/>
              <a:ext cx="2339750" cy="1036911"/>
            </a:xfrm>
            <a:custGeom>
              <a:avLst/>
              <a:gdLst/>
              <a:ahLst/>
              <a:cxnLst/>
              <a:rect l="l" t="t" r="r" b="b"/>
              <a:pathLst>
                <a:path w="2339750" h="1036911">
                  <a:moveTo>
                    <a:pt x="0" y="0"/>
                  </a:moveTo>
                  <a:lnTo>
                    <a:pt x="2339749" y="0"/>
                  </a:lnTo>
                  <a:lnTo>
                    <a:pt x="2339749" y="1036911"/>
                  </a:lnTo>
                  <a:lnTo>
                    <a:pt x="0" y="1036911"/>
                  </a:lnTo>
                  <a:lnTo>
                    <a:pt x="0" y="0"/>
                  </a:lnTo>
                  <a:close/>
                </a:path>
              </a:pathLst>
            </a:custGeom>
            <a:blipFill>
              <a:blip r:embed="rId4"/>
              <a:stretch>
                <a:fillRect l="-8002" t="-69970" b="-73732"/>
              </a:stretch>
            </a:blipFill>
          </p:spPr>
        </p:sp>
        <p:sp>
          <p:nvSpPr>
            <p:cNvPr id="24" name="AutoShape 5">
              <a:extLst>
                <a:ext uri="{FF2B5EF4-FFF2-40B4-BE49-F238E27FC236}">
                  <a16:creationId xmlns:a16="http://schemas.microsoft.com/office/drawing/2014/main" id="{1F24CCDC-14DF-64E6-E4CE-782CEF13DE44}"/>
                </a:ext>
              </a:extLst>
            </p:cNvPr>
            <p:cNvSpPr/>
            <p:nvPr/>
          </p:nvSpPr>
          <p:spPr>
            <a:xfrm flipV="1">
              <a:off x="16552532" y="1299408"/>
              <a:ext cx="6459868" cy="0"/>
            </a:xfrm>
            <a:prstGeom prst="line">
              <a:avLst/>
            </a:prstGeom>
            <a:ln w="25400" cap="flat">
              <a:solidFill>
                <a:srgbClr val="000000"/>
              </a:solidFill>
              <a:prstDash val="solid"/>
              <a:headEnd type="none" w="sm" len="sm"/>
              <a:tailEnd type="none" w="sm" len="sm"/>
            </a:ln>
          </p:spPr>
        </p:sp>
        <p:sp>
          <p:nvSpPr>
            <p:cNvPr id="25" name="TextBox 6">
              <a:extLst>
                <a:ext uri="{FF2B5EF4-FFF2-40B4-BE49-F238E27FC236}">
                  <a16:creationId xmlns:a16="http://schemas.microsoft.com/office/drawing/2014/main" id="{3799BF28-B88C-43CC-846F-3661B3E59542}"/>
                </a:ext>
              </a:extLst>
            </p:cNvPr>
            <p:cNvSpPr txBox="1"/>
            <p:nvPr/>
          </p:nvSpPr>
          <p:spPr>
            <a:xfrm>
              <a:off x="12954000" y="1088377"/>
              <a:ext cx="3934687" cy="349667"/>
            </a:xfrm>
            <a:prstGeom prst="rect">
              <a:avLst/>
            </a:prstGeom>
          </p:spPr>
          <p:txBody>
            <a:bodyPr wrap="square" lIns="0" tIns="0" rIns="0" bIns="0" rtlCol="0" anchor="t">
              <a:spAutoFit/>
            </a:bodyPr>
            <a:lstStyle/>
            <a:p>
              <a:pPr algn="ctr">
                <a:lnSpc>
                  <a:spcPts val="2239"/>
                </a:lnSpc>
                <a:spcBef>
                  <a:spcPct val="0"/>
                </a:spcBef>
              </a:pPr>
              <a:r>
                <a:rPr lang="en-US" sz="1599" b="1" i="1">
                  <a:solidFill>
                    <a:srgbClr val="000000"/>
                  </a:solidFill>
                  <a:latin typeface="Montserrat Semi-Bold" panose="020B0604020202020204" charset="0"/>
                  <a:ea typeface="Montserrat Medium Italics"/>
                  <a:cs typeface="Montserrat Medium Italics"/>
                  <a:sym typeface="Montserrat Medium Italics"/>
                </a:rPr>
                <a:t>THUẦN HOA GROUP</a:t>
              </a:r>
            </a:p>
          </p:txBody>
        </p:sp>
      </p:grpSp>
      <p:pic>
        <p:nvPicPr>
          <p:cNvPr id="2" name="Picture 1">
            <a:extLst>
              <a:ext uri="{FF2B5EF4-FFF2-40B4-BE49-F238E27FC236}">
                <a16:creationId xmlns:a16="http://schemas.microsoft.com/office/drawing/2014/main" id="{0902CAF9-70F6-4753-A31E-C3D3930927BD}"/>
              </a:ext>
            </a:extLst>
          </p:cNvPr>
          <p:cNvPicPr>
            <a:picLocks noChangeAspect="1"/>
          </p:cNvPicPr>
          <p:nvPr/>
        </p:nvPicPr>
        <p:blipFill>
          <a:blip r:embed="rId5"/>
          <a:stretch>
            <a:fillRect/>
          </a:stretch>
        </p:blipFill>
        <p:spPr>
          <a:xfrm>
            <a:off x="824866" y="4758373"/>
            <a:ext cx="10300333" cy="5133409"/>
          </a:xfrm>
          <a:prstGeom prst="rect">
            <a:avLst/>
          </a:prstGeom>
        </p:spPr>
      </p:pic>
      <p:pic>
        <p:nvPicPr>
          <p:cNvPr id="3" name="Picture 2">
            <a:extLst>
              <a:ext uri="{FF2B5EF4-FFF2-40B4-BE49-F238E27FC236}">
                <a16:creationId xmlns:a16="http://schemas.microsoft.com/office/drawing/2014/main" id="{EB11EF7E-2AA6-4C7A-BE0D-4D544A4BAE46}"/>
              </a:ext>
            </a:extLst>
          </p:cNvPr>
          <p:cNvPicPr>
            <a:picLocks noChangeAspect="1"/>
          </p:cNvPicPr>
          <p:nvPr/>
        </p:nvPicPr>
        <p:blipFill>
          <a:blip r:embed="rId6"/>
          <a:stretch>
            <a:fillRect/>
          </a:stretch>
        </p:blipFill>
        <p:spPr>
          <a:xfrm>
            <a:off x="9117876" y="1546312"/>
            <a:ext cx="2820721" cy="3082989"/>
          </a:xfrm>
          <a:prstGeom prst="rect">
            <a:avLst/>
          </a:prstGeom>
        </p:spPr>
      </p:pic>
    </p:spTree>
    <p:extLst>
      <p:ext uri="{BB962C8B-B14F-4D97-AF65-F5344CB8AC3E}">
        <p14:creationId xmlns:p14="http://schemas.microsoft.com/office/powerpoint/2010/main" val="21248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down)">
                                      <p:cBhvr>
                                        <p:cTn id="10" dur="500"/>
                                        <p:tgtEl>
                                          <p:spTgt spid="9"/>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down)">
                                      <p:cBhvr>
                                        <p:cTn id="13" dur="500"/>
                                        <p:tgtEl>
                                          <p:spTgt spid="11"/>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down)">
                                      <p:cBhvr>
                                        <p:cTn id="16" dur="500"/>
                                        <p:tgtEl>
                                          <p:spTgt spid="12"/>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down)">
                                      <p:cBhvr>
                                        <p:cTn id="19" dur="500"/>
                                        <p:tgtEl>
                                          <p:spTgt spid="13"/>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down)">
                                      <p:cBhvr>
                                        <p:cTn id="22" dur="500"/>
                                        <p:tgtEl>
                                          <p:spTgt spid="14"/>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wipe(down)">
                                      <p:cBhvr>
                                        <p:cTn id="25" dur="500"/>
                                        <p:tgtEl>
                                          <p:spTgt spid="15"/>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wipe(down)">
                                      <p:cBhvr>
                                        <p:cTn id="28" dur="500"/>
                                        <p:tgtEl>
                                          <p:spTgt spid="16"/>
                                        </p:tgtEl>
                                      </p:cBhvr>
                                    </p:animEffect>
                                  </p:childTnLst>
                                </p:cTn>
                              </p:par>
                              <p:par>
                                <p:cTn id="29" presetID="22" presetClass="entr" presetSubtype="4" fill="hold" nodeType="with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wipe(down)">
                                      <p:cBhvr>
                                        <p:cTn id="31" dur="500"/>
                                        <p:tgtEl>
                                          <p:spTgt spid="2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wipe(down)">
                                      <p:cBhvr>
                                        <p:cTn id="36" dur="500"/>
                                        <p:tgtEl>
                                          <p:spTgt spid="17"/>
                                        </p:tgtEl>
                                      </p:cBhvr>
                                    </p:animEffect>
                                  </p:childTnLst>
                                </p:cTn>
                              </p:par>
                              <p:par>
                                <p:cTn id="37" presetID="22" presetClass="entr" presetSubtype="4"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wipe(down)">
                                      <p:cBhvr>
                                        <p:cTn id="39" dur="500"/>
                                        <p:tgtEl>
                                          <p:spTgt spid="18"/>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wipe(down)">
                                      <p:cBhvr>
                                        <p:cTn id="4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2" grpId="0"/>
      <p:bldP spid="13" grpId="0"/>
      <p:bldP spid="14" grpId="0"/>
      <p:bldP spid="15" grpId="0"/>
      <p:bldP spid="16" grpId="0"/>
      <p:bldP spid="17" grpId="0"/>
      <p:bldP spid="1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reeform 9"/>
          <p:cNvSpPr/>
          <p:nvPr/>
        </p:nvSpPr>
        <p:spPr>
          <a:xfrm>
            <a:off x="6357832" y="1663872"/>
            <a:ext cx="11463317" cy="699294"/>
          </a:xfrm>
          <a:custGeom>
            <a:avLst/>
            <a:gdLst/>
            <a:ahLst/>
            <a:cxnLst/>
            <a:rect l="l" t="t" r="r" b="b"/>
            <a:pathLst>
              <a:path w="11463317" h="699294">
                <a:moveTo>
                  <a:pt x="0" y="0"/>
                </a:moveTo>
                <a:lnTo>
                  <a:pt x="11463317" y="0"/>
                </a:lnTo>
                <a:lnTo>
                  <a:pt x="11463317" y="699294"/>
                </a:lnTo>
                <a:lnTo>
                  <a:pt x="0" y="699294"/>
                </a:lnTo>
                <a:lnTo>
                  <a:pt x="0" y="0"/>
                </a:lnTo>
                <a:close/>
              </a:path>
            </a:pathLst>
          </a:custGeom>
          <a:blipFill>
            <a:blip r:embed="rId2"/>
            <a:stretch>
              <a:fillRect l="-17427" t="-943" b="-125237"/>
            </a:stretch>
          </a:blipFill>
        </p:spPr>
        <p:txBody>
          <a:bodyPr/>
          <a:lstStyle/>
          <a:p>
            <a:endParaRPr lang="en-US"/>
          </a:p>
        </p:txBody>
      </p:sp>
      <p:sp>
        <p:nvSpPr>
          <p:cNvPr id="10" name="Freeform 10"/>
          <p:cNvSpPr/>
          <p:nvPr/>
        </p:nvSpPr>
        <p:spPr>
          <a:xfrm>
            <a:off x="6398641" y="5527498"/>
            <a:ext cx="1691066" cy="391612"/>
          </a:xfrm>
          <a:custGeom>
            <a:avLst/>
            <a:gdLst/>
            <a:ahLst/>
            <a:cxnLst/>
            <a:rect l="l" t="t" r="r" b="b"/>
            <a:pathLst>
              <a:path w="1691066" h="391612">
                <a:moveTo>
                  <a:pt x="0" y="0"/>
                </a:moveTo>
                <a:lnTo>
                  <a:pt x="1691066" y="0"/>
                </a:lnTo>
                <a:lnTo>
                  <a:pt x="1691066" y="391612"/>
                </a:lnTo>
                <a:lnTo>
                  <a:pt x="0" y="391612"/>
                </a:lnTo>
                <a:lnTo>
                  <a:pt x="0" y="0"/>
                </a:lnTo>
                <a:close/>
              </a:path>
            </a:pathLst>
          </a:custGeom>
          <a:blipFill>
            <a:blip r:embed="rId2"/>
            <a:stretch>
              <a:fillRect l="-66157" t="-943" r="-279617" b="-125237"/>
            </a:stretch>
          </a:blipFill>
        </p:spPr>
      </p:sp>
      <p:sp>
        <p:nvSpPr>
          <p:cNvPr id="11" name="Freeform 11"/>
          <p:cNvSpPr/>
          <p:nvPr/>
        </p:nvSpPr>
        <p:spPr>
          <a:xfrm>
            <a:off x="6398641" y="6542807"/>
            <a:ext cx="1778146" cy="391612"/>
          </a:xfrm>
          <a:custGeom>
            <a:avLst/>
            <a:gdLst/>
            <a:ahLst/>
            <a:cxnLst/>
            <a:rect l="l" t="t" r="r" b="b"/>
            <a:pathLst>
              <a:path w="1778146" h="391612">
                <a:moveTo>
                  <a:pt x="0" y="0"/>
                </a:moveTo>
                <a:lnTo>
                  <a:pt x="1778146" y="0"/>
                </a:lnTo>
                <a:lnTo>
                  <a:pt x="1778146" y="391612"/>
                </a:lnTo>
                <a:lnTo>
                  <a:pt x="0" y="391612"/>
                </a:lnTo>
                <a:lnTo>
                  <a:pt x="0" y="0"/>
                </a:lnTo>
                <a:close/>
              </a:path>
            </a:pathLst>
          </a:custGeom>
          <a:blipFill>
            <a:blip r:embed="rId2"/>
            <a:stretch>
              <a:fillRect l="-62917" t="-943" r="-261026" b="-125237"/>
            </a:stretch>
          </a:blipFill>
        </p:spPr>
      </p:sp>
      <p:sp>
        <p:nvSpPr>
          <p:cNvPr id="12" name="Freeform 12"/>
          <p:cNvSpPr/>
          <p:nvPr/>
        </p:nvSpPr>
        <p:spPr>
          <a:xfrm>
            <a:off x="6398641" y="7932004"/>
            <a:ext cx="2048712" cy="391612"/>
          </a:xfrm>
          <a:custGeom>
            <a:avLst/>
            <a:gdLst/>
            <a:ahLst/>
            <a:cxnLst/>
            <a:rect l="l" t="t" r="r" b="b"/>
            <a:pathLst>
              <a:path w="2048712" h="391612">
                <a:moveTo>
                  <a:pt x="0" y="0"/>
                </a:moveTo>
                <a:lnTo>
                  <a:pt x="2048712" y="0"/>
                </a:lnTo>
                <a:lnTo>
                  <a:pt x="2048712" y="391612"/>
                </a:lnTo>
                <a:lnTo>
                  <a:pt x="0" y="391612"/>
                </a:lnTo>
                <a:lnTo>
                  <a:pt x="0" y="0"/>
                </a:lnTo>
                <a:close/>
              </a:path>
            </a:pathLst>
          </a:custGeom>
          <a:blipFill>
            <a:blip r:embed="rId2"/>
            <a:stretch>
              <a:fillRect l="-54608" t="-943" r="-213347" b="-125237"/>
            </a:stretch>
          </a:blipFill>
        </p:spPr>
      </p:sp>
      <p:sp>
        <p:nvSpPr>
          <p:cNvPr id="13" name="TextBox 13"/>
          <p:cNvSpPr txBox="1"/>
          <p:nvPr/>
        </p:nvSpPr>
        <p:spPr>
          <a:xfrm>
            <a:off x="6529157" y="1754109"/>
            <a:ext cx="9514736" cy="471195"/>
          </a:xfrm>
          <a:prstGeom prst="rect">
            <a:avLst/>
          </a:prstGeom>
        </p:spPr>
        <p:txBody>
          <a:bodyPr lIns="0" tIns="0" rIns="0" bIns="0" rtlCol="0" anchor="t">
            <a:spAutoFit/>
          </a:bodyPr>
          <a:lstStyle/>
          <a:p>
            <a:pPr algn="l">
              <a:lnSpc>
                <a:spcPts val="3953"/>
              </a:lnSpc>
              <a:spcBef>
                <a:spcPct val="0"/>
              </a:spcBef>
            </a:pPr>
            <a:r>
              <a:rPr lang="en-US" sz="2824" b="1">
                <a:solidFill>
                  <a:srgbClr val="FFFFFF"/>
                </a:solidFill>
                <a:latin typeface="Montserrat Bold"/>
                <a:ea typeface="Montserrat Bold"/>
                <a:cs typeface="Montserrat Bold"/>
                <a:sym typeface="Montserrat Bold"/>
              </a:rPr>
              <a:t>DR.CGF</a:t>
            </a:r>
            <a:r>
              <a:rPr lang="en-US" sz="2824" b="1">
                <a:solidFill>
                  <a:srgbClr val="6C90FF"/>
                </a:solidFill>
                <a:latin typeface="Montserrat Bold"/>
                <a:ea typeface="Montserrat Bold"/>
                <a:cs typeface="Montserrat Bold"/>
                <a:sym typeface="Montserrat Bold"/>
              </a:rPr>
              <a:t> EXOCELL HEALING CREAM</a:t>
            </a:r>
          </a:p>
        </p:txBody>
      </p:sp>
      <p:sp>
        <p:nvSpPr>
          <p:cNvPr id="14" name="TextBox 14"/>
          <p:cNvSpPr txBox="1"/>
          <p:nvPr/>
        </p:nvSpPr>
        <p:spPr>
          <a:xfrm>
            <a:off x="6529157" y="2525091"/>
            <a:ext cx="3148243" cy="1759456"/>
          </a:xfrm>
          <a:prstGeom prst="rect">
            <a:avLst/>
          </a:prstGeom>
        </p:spPr>
        <p:txBody>
          <a:bodyPr wrap="square" lIns="0" tIns="0" rIns="0" bIns="0" rtlCol="0" anchor="t">
            <a:spAutoFit/>
          </a:bodyPr>
          <a:lstStyle/>
          <a:p>
            <a:pPr algn="l">
              <a:lnSpc>
                <a:spcPts val="2753"/>
              </a:lnSpc>
            </a:pPr>
            <a:r>
              <a:rPr lang="en-US" sz="1699" b="1" spc="-61">
                <a:solidFill>
                  <a:srgbClr val="000000"/>
                </a:solidFill>
                <a:latin typeface="Montserrat Semi-Bold"/>
                <a:ea typeface="Montserrat Semi-Bold"/>
                <a:cs typeface="Montserrat Semi-Bold"/>
                <a:sym typeface="Montserrat Semi-Bold"/>
              </a:rPr>
              <a:t>PANTHENOL </a:t>
            </a:r>
          </a:p>
          <a:p>
            <a:pPr algn="l">
              <a:lnSpc>
                <a:spcPts val="2753"/>
              </a:lnSpc>
            </a:pPr>
            <a:r>
              <a:rPr lang="en-US" sz="1699" b="1" spc="-61">
                <a:solidFill>
                  <a:srgbClr val="000000"/>
                </a:solidFill>
                <a:latin typeface="Montserrat Semi-Bold"/>
                <a:ea typeface="Montserrat Semi-Bold"/>
                <a:cs typeface="Montserrat Semi-Bold"/>
                <a:sym typeface="Montserrat Semi-Bold"/>
              </a:rPr>
              <a:t>CERAMIDE NP </a:t>
            </a:r>
          </a:p>
          <a:p>
            <a:pPr algn="l">
              <a:lnSpc>
                <a:spcPts val="2753"/>
              </a:lnSpc>
            </a:pPr>
            <a:r>
              <a:rPr lang="en-US" sz="1699" b="1" spc="-61">
                <a:solidFill>
                  <a:srgbClr val="000000"/>
                </a:solidFill>
                <a:latin typeface="Montserrat Semi-Bold"/>
                <a:ea typeface="Montserrat Semi-Bold"/>
                <a:cs typeface="Montserrat Semi-Bold"/>
                <a:sym typeface="Montserrat Semi-Bold"/>
              </a:rPr>
              <a:t>NIACINAMIDE </a:t>
            </a:r>
          </a:p>
          <a:p>
            <a:pPr algn="l">
              <a:lnSpc>
                <a:spcPts val="2753"/>
              </a:lnSpc>
            </a:pPr>
            <a:r>
              <a:rPr lang="en-US" sz="1699" b="1" spc="-61">
                <a:solidFill>
                  <a:srgbClr val="000000"/>
                </a:solidFill>
                <a:latin typeface="Montserrat Semi-Bold"/>
                <a:ea typeface="Montserrat Semi-Bold"/>
                <a:cs typeface="Montserrat Semi-Bold"/>
                <a:sym typeface="Montserrat Semi-Bold"/>
              </a:rPr>
              <a:t>VITAMIN K</a:t>
            </a:r>
          </a:p>
          <a:p>
            <a:pPr algn="l">
              <a:lnSpc>
                <a:spcPts val="2753"/>
              </a:lnSpc>
            </a:pPr>
            <a:r>
              <a:rPr lang="en-US" sz="1699" b="1" spc="-61">
                <a:solidFill>
                  <a:srgbClr val="000000"/>
                </a:solidFill>
                <a:latin typeface="Montserrat Semi-Bold"/>
                <a:ea typeface="Montserrat Semi-Bold"/>
                <a:cs typeface="Montserrat Semi-Bold"/>
                <a:sym typeface="Montserrat Semi-Bold"/>
              </a:rPr>
              <a:t>GLUTATHION</a:t>
            </a:r>
          </a:p>
        </p:txBody>
      </p:sp>
      <p:sp>
        <p:nvSpPr>
          <p:cNvPr id="15" name="TextBox 15"/>
          <p:cNvSpPr txBox="1"/>
          <p:nvPr/>
        </p:nvSpPr>
        <p:spPr>
          <a:xfrm>
            <a:off x="6529157" y="4415613"/>
            <a:ext cx="11202286" cy="547586"/>
          </a:xfrm>
          <a:prstGeom prst="rect">
            <a:avLst/>
          </a:prstGeom>
        </p:spPr>
        <p:txBody>
          <a:bodyPr lIns="0" tIns="0" rIns="0" bIns="0" rtlCol="0" anchor="t">
            <a:spAutoFit/>
          </a:bodyPr>
          <a:lstStyle/>
          <a:p>
            <a:pPr algn="l">
              <a:lnSpc>
                <a:spcPts val="2209"/>
              </a:lnSpc>
            </a:pPr>
            <a:r>
              <a:rPr lang="en-US" sz="1699" b="1" spc="-61">
                <a:solidFill>
                  <a:srgbClr val="000000"/>
                </a:solidFill>
                <a:latin typeface="Montserrat Medium"/>
                <a:ea typeface="Montserrat Medium"/>
                <a:cs typeface="Montserrat Medium"/>
                <a:sym typeface="Montserrat Medium"/>
              </a:rPr>
              <a:t>Phục hồi và làm dịu da cấp tôc, cấp ẩm sâu đa tầng, trẻ hoá xoá nhăn, tăng độ đàn hồi, dưỡng sáng đều màu da</a:t>
            </a:r>
          </a:p>
          <a:p>
            <a:pPr algn="l">
              <a:lnSpc>
                <a:spcPts val="2209"/>
              </a:lnSpc>
            </a:pPr>
            <a:r>
              <a:rPr lang="en-US" sz="1699" b="1" spc="-61">
                <a:solidFill>
                  <a:srgbClr val="000000"/>
                </a:solidFill>
                <a:latin typeface="Montserrat Medium"/>
                <a:ea typeface="Montserrat Medium"/>
                <a:cs typeface="Montserrat Medium"/>
                <a:sym typeface="Montserrat Medium"/>
              </a:rPr>
              <a:t>Sản phẩm có tích hợp công nghệ exosome và công nghệ thủy phân</a:t>
            </a:r>
          </a:p>
        </p:txBody>
      </p:sp>
      <p:sp>
        <p:nvSpPr>
          <p:cNvPr id="16" name="TextBox 16"/>
          <p:cNvSpPr txBox="1"/>
          <p:nvPr/>
        </p:nvSpPr>
        <p:spPr>
          <a:xfrm>
            <a:off x="6529157" y="5957210"/>
            <a:ext cx="6524710" cy="323165"/>
          </a:xfrm>
          <a:prstGeom prst="rect">
            <a:avLst/>
          </a:prstGeom>
        </p:spPr>
        <p:txBody>
          <a:bodyPr lIns="0" tIns="0" rIns="0" bIns="0" rtlCol="0" anchor="t">
            <a:spAutoFit/>
          </a:bodyPr>
          <a:lstStyle/>
          <a:p>
            <a:pPr algn="l">
              <a:lnSpc>
                <a:spcPts val="2753"/>
              </a:lnSpc>
            </a:pPr>
            <a:r>
              <a:rPr lang="en-US" sz="1699" b="1" spc="-61">
                <a:solidFill>
                  <a:srgbClr val="000000"/>
                </a:solidFill>
                <a:latin typeface="Montserrat Medium"/>
                <a:ea typeface="Montserrat Medium"/>
                <a:cs typeface="Montserrat Medium"/>
                <a:sym typeface="Montserrat Medium"/>
              </a:rPr>
              <a:t>Hũ nhấn chân không 50gram.</a:t>
            </a:r>
          </a:p>
        </p:txBody>
      </p:sp>
      <p:sp>
        <p:nvSpPr>
          <p:cNvPr id="17" name="TextBox 17"/>
          <p:cNvSpPr txBox="1"/>
          <p:nvPr/>
        </p:nvSpPr>
        <p:spPr>
          <a:xfrm>
            <a:off x="6636177" y="5530518"/>
            <a:ext cx="1215994" cy="318897"/>
          </a:xfrm>
          <a:prstGeom prst="rect">
            <a:avLst/>
          </a:prstGeom>
        </p:spPr>
        <p:txBody>
          <a:bodyPr lIns="0" tIns="0" rIns="0" bIns="0" rtlCol="0" anchor="t">
            <a:spAutoFit/>
          </a:bodyPr>
          <a:lstStyle/>
          <a:p>
            <a:pPr algn="l">
              <a:lnSpc>
                <a:spcPts val="2753"/>
              </a:lnSpc>
            </a:pPr>
            <a:r>
              <a:rPr lang="en-US" sz="1699" b="1" spc="-61">
                <a:solidFill>
                  <a:srgbClr val="FFFFFF"/>
                </a:solidFill>
                <a:latin typeface="Montserrat Bold"/>
                <a:ea typeface="Montserrat Bold"/>
                <a:cs typeface="Montserrat Bold"/>
                <a:sym typeface="Montserrat Bold"/>
              </a:rPr>
              <a:t>QUY CÁCH</a:t>
            </a:r>
          </a:p>
        </p:txBody>
      </p:sp>
      <p:sp>
        <p:nvSpPr>
          <p:cNvPr id="18" name="TextBox 18"/>
          <p:cNvSpPr txBox="1"/>
          <p:nvPr/>
        </p:nvSpPr>
        <p:spPr>
          <a:xfrm>
            <a:off x="6529157" y="7115394"/>
            <a:ext cx="11137028" cy="547586"/>
          </a:xfrm>
          <a:prstGeom prst="rect">
            <a:avLst/>
          </a:prstGeom>
        </p:spPr>
        <p:txBody>
          <a:bodyPr lIns="0" tIns="0" rIns="0" bIns="0" rtlCol="0" anchor="t">
            <a:spAutoFit/>
          </a:bodyPr>
          <a:lstStyle/>
          <a:p>
            <a:pPr marL="183515" lvl="1" algn="l">
              <a:lnSpc>
                <a:spcPts val="2209"/>
              </a:lnSpc>
            </a:pPr>
            <a:r>
              <a:rPr lang="en-US" sz="1699" b="1" spc="-61">
                <a:solidFill>
                  <a:srgbClr val="000000"/>
                </a:solidFill>
                <a:latin typeface="Montserrat Medium"/>
                <a:ea typeface="Montserrat Medium"/>
                <a:cs typeface="Montserrat Medium"/>
                <a:sym typeface="Montserrat Medium"/>
              </a:rPr>
              <a:t>- Buổi sáng sử dụng trước bước kem chống nắng</a:t>
            </a:r>
          </a:p>
          <a:p>
            <a:pPr marL="183515" lvl="1" algn="l">
              <a:lnSpc>
                <a:spcPts val="2209"/>
              </a:lnSpc>
            </a:pPr>
            <a:r>
              <a:rPr lang="en-US" sz="1699" b="1" spc="-61">
                <a:solidFill>
                  <a:srgbClr val="000000"/>
                </a:solidFill>
                <a:latin typeface="Montserrat Medium"/>
                <a:ea typeface="Montserrat Medium"/>
                <a:cs typeface="Montserrat Medium"/>
                <a:sym typeface="Montserrat Medium"/>
              </a:rPr>
              <a:t>- Buổi tối sử  dụng sau cùng các bước dương</a:t>
            </a:r>
          </a:p>
        </p:txBody>
      </p:sp>
      <p:sp>
        <p:nvSpPr>
          <p:cNvPr id="19" name="TextBox 19"/>
          <p:cNvSpPr txBox="1"/>
          <p:nvPr/>
        </p:nvSpPr>
        <p:spPr>
          <a:xfrm>
            <a:off x="6636177" y="6545827"/>
            <a:ext cx="1388272" cy="318897"/>
          </a:xfrm>
          <a:prstGeom prst="rect">
            <a:avLst/>
          </a:prstGeom>
        </p:spPr>
        <p:txBody>
          <a:bodyPr lIns="0" tIns="0" rIns="0" bIns="0" rtlCol="0" anchor="t">
            <a:spAutoFit/>
          </a:bodyPr>
          <a:lstStyle/>
          <a:p>
            <a:pPr algn="l">
              <a:lnSpc>
                <a:spcPts val="2753"/>
              </a:lnSpc>
            </a:pPr>
            <a:r>
              <a:rPr lang="en-US" sz="1699" b="1" spc="-61">
                <a:solidFill>
                  <a:srgbClr val="FFFFFF"/>
                </a:solidFill>
                <a:latin typeface="Montserrat Ultra-Bold"/>
                <a:ea typeface="Montserrat Ultra-Bold"/>
                <a:cs typeface="Montserrat Ultra-Bold"/>
                <a:sym typeface="Montserrat Ultra-Bold"/>
              </a:rPr>
              <a:t>CÁCH DÙNG</a:t>
            </a:r>
          </a:p>
        </p:txBody>
      </p:sp>
      <p:sp>
        <p:nvSpPr>
          <p:cNvPr id="20" name="TextBox 20"/>
          <p:cNvSpPr txBox="1"/>
          <p:nvPr/>
        </p:nvSpPr>
        <p:spPr>
          <a:xfrm>
            <a:off x="6529157" y="8504591"/>
            <a:ext cx="3593692" cy="826135"/>
          </a:xfrm>
          <a:prstGeom prst="rect">
            <a:avLst/>
          </a:prstGeom>
        </p:spPr>
        <p:txBody>
          <a:bodyPr lIns="0" tIns="0" rIns="0" bIns="0" rtlCol="0" anchor="t">
            <a:spAutoFit/>
          </a:bodyPr>
          <a:lstStyle/>
          <a:p>
            <a:pPr marL="367029" lvl="1" indent="-183514" algn="l">
              <a:lnSpc>
                <a:spcPts val="2209"/>
              </a:lnSpc>
              <a:buFont typeface="Arial"/>
              <a:buChar char="•"/>
            </a:pPr>
            <a:r>
              <a:rPr lang="en-US" sz="1699" b="1" spc="-61">
                <a:solidFill>
                  <a:srgbClr val="000000"/>
                </a:solidFill>
                <a:latin typeface="Montserrat Medium"/>
                <a:ea typeface="Montserrat Medium"/>
                <a:cs typeface="Montserrat Medium"/>
                <a:sym typeface="Montserrat Medium"/>
              </a:rPr>
              <a:t>Phù hợp mọi loại da.</a:t>
            </a:r>
          </a:p>
          <a:p>
            <a:pPr marL="367029" lvl="1" indent="-183514" algn="l">
              <a:lnSpc>
                <a:spcPts val="2209"/>
              </a:lnSpc>
              <a:buFont typeface="Arial"/>
              <a:buChar char="•"/>
            </a:pPr>
            <a:r>
              <a:rPr lang="en-US" sz="1699" b="1" spc="-61">
                <a:solidFill>
                  <a:srgbClr val="000000"/>
                </a:solidFill>
                <a:latin typeface="Montserrat Medium"/>
                <a:ea typeface="Montserrat Medium"/>
                <a:cs typeface="Montserrat Medium"/>
                <a:sym typeface="Montserrat Medium"/>
              </a:rPr>
              <a:t>Đặc biệt là  da khô, da thiếu ẩm, da nhạy cảm..</a:t>
            </a:r>
          </a:p>
        </p:txBody>
      </p:sp>
      <p:sp>
        <p:nvSpPr>
          <p:cNvPr id="21" name="TextBox 21"/>
          <p:cNvSpPr txBox="1"/>
          <p:nvPr/>
        </p:nvSpPr>
        <p:spPr>
          <a:xfrm>
            <a:off x="6636177" y="7935024"/>
            <a:ext cx="1811176" cy="318897"/>
          </a:xfrm>
          <a:prstGeom prst="rect">
            <a:avLst/>
          </a:prstGeom>
        </p:spPr>
        <p:txBody>
          <a:bodyPr lIns="0" tIns="0" rIns="0" bIns="0" rtlCol="0" anchor="t">
            <a:spAutoFit/>
          </a:bodyPr>
          <a:lstStyle/>
          <a:p>
            <a:pPr algn="l">
              <a:lnSpc>
                <a:spcPts val="2753"/>
              </a:lnSpc>
            </a:pPr>
            <a:r>
              <a:rPr lang="en-US" sz="1699" b="1" spc="-61">
                <a:solidFill>
                  <a:srgbClr val="FFFFFF"/>
                </a:solidFill>
                <a:latin typeface="Montserrat Ultra-Bold"/>
                <a:ea typeface="Montserrat Ultra-Bold"/>
                <a:cs typeface="Montserrat Ultra-Bold"/>
                <a:sym typeface="Montserrat Ultra-Bold"/>
              </a:rPr>
              <a:t>DÀNH CHO DA</a:t>
            </a:r>
          </a:p>
        </p:txBody>
      </p:sp>
      <p:grpSp>
        <p:nvGrpSpPr>
          <p:cNvPr id="22" name="Group 2">
            <a:extLst>
              <a:ext uri="{FF2B5EF4-FFF2-40B4-BE49-F238E27FC236}">
                <a16:creationId xmlns:a16="http://schemas.microsoft.com/office/drawing/2014/main" id="{858F5D6B-D0F2-2903-4053-D959C14E0462}"/>
              </a:ext>
            </a:extLst>
          </p:cNvPr>
          <p:cNvGrpSpPr/>
          <p:nvPr/>
        </p:nvGrpSpPr>
        <p:grpSpPr>
          <a:xfrm>
            <a:off x="1028700" y="395218"/>
            <a:ext cx="17259300" cy="1078533"/>
            <a:chOff x="0" y="0"/>
            <a:chExt cx="23012400" cy="1438044"/>
          </a:xfrm>
        </p:grpSpPr>
        <p:sp>
          <p:nvSpPr>
            <p:cNvPr id="23" name="Freeform 3">
              <a:extLst>
                <a:ext uri="{FF2B5EF4-FFF2-40B4-BE49-F238E27FC236}">
                  <a16:creationId xmlns:a16="http://schemas.microsoft.com/office/drawing/2014/main" id="{B2452A2C-FF06-91AF-6D0B-5E34CED3F7ED}"/>
                </a:ext>
              </a:extLst>
            </p:cNvPr>
            <p:cNvSpPr/>
            <p:nvPr/>
          </p:nvSpPr>
          <p:spPr>
            <a:xfrm>
              <a:off x="0" y="0"/>
              <a:ext cx="2937194" cy="1274008"/>
            </a:xfrm>
            <a:custGeom>
              <a:avLst/>
              <a:gdLst/>
              <a:ahLst/>
              <a:cxnLst/>
              <a:rect l="l" t="t" r="r" b="b"/>
              <a:pathLst>
                <a:path w="2937194" h="1274008">
                  <a:moveTo>
                    <a:pt x="0" y="0"/>
                  </a:moveTo>
                  <a:lnTo>
                    <a:pt x="2937194" y="0"/>
                  </a:lnTo>
                  <a:lnTo>
                    <a:pt x="2937194" y="1274008"/>
                  </a:lnTo>
                  <a:lnTo>
                    <a:pt x="0" y="1274008"/>
                  </a:lnTo>
                  <a:lnTo>
                    <a:pt x="0" y="0"/>
                  </a:lnTo>
                  <a:close/>
                </a:path>
              </a:pathLst>
            </a:custGeom>
            <a:blipFill>
              <a:blip r:embed="rId3"/>
              <a:stretch>
                <a:fillRect/>
              </a:stretch>
            </a:blipFill>
          </p:spPr>
        </p:sp>
        <p:sp>
          <p:nvSpPr>
            <p:cNvPr id="24" name="Freeform 4">
              <a:extLst>
                <a:ext uri="{FF2B5EF4-FFF2-40B4-BE49-F238E27FC236}">
                  <a16:creationId xmlns:a16="http://schemas.microsoft.com/office/drawing/2014/main" id="{EDEA1F8D-C4BF-ECB8-FD05-E956963A4C97}"/>
                </a:ext>
              </a:extLst>
            </p:cNvPr>
            <p:cNvSpPr/>
            <p:nvPr/>
          </p:nvSpPr>
          <p:spPr>
            <a:xfrm>
              <a:off x="3134311" y="224397"/>
              <a:ext cx="2339750" cy="1036911"/>
            </a:xfrm>
            <a:custGeom>
              <a:avLst/>
              <a:gdLst/>
              <a:ahLst/>
              <a:cxnLst/>
              <a:rect l="l" t="t" r="r" b="b"/>
              <a:pathLst>
                <a:path w="2339750" h="1036911">
                  <a:moveTo>
                    <a:pt x="0" y="0"/>
                  </a:moveTo>
                  <a:lnTo>
                    <a:pt x="2339749" y="0"/>
                  </a:lnTo>
                  <a:lnTo>
                    <a:pt x="2339749" y="1036911"/>
                  </a:lnTo>
                  <a:lnTo>
                    <a:pt x="0" y="1036911"/>
                  </a:lnTo>
                  <a:lnTo>
                    <a:pt x="0" y="0"/>
                  </a:lnTo>
                  <a:close/>
                </a:path>
              </a:pathLst>
            </a:custGeom>
            <a:blipFill>
              <a:blip r:embed="rId4"/>
              <a:stretch>
                <a:fillRect l="-8002" t="-69970" b="-73732"/>
              </a:stretch>
            </a:blipFill>
          </p:spPr>
        </p:sp>
        <p:sp>
          <p:nvSpPr>
            <p:cNvPr id="25" name="AutoShape 5">
              <a:extLst>
                <a:ext uri="{FF2B5EF4-FFF2-40B4-BE49-F238E27FC236}">
                  <a16:creationId xmlns:a16="http://schemas.microsoft.com/office/drawing/2014/main" id="{991E9D9D-8D98-D2A1-2A68-500B2C85AA8C}"/>
                </a:ext>
              </a:extLst>
            </p:cNvPr>
            <p:cNvSpPr/>
            <p:nvPr/>
          </p:nvSpPr>
          <p:spPr>
            <a:xfrm flipV="1">
              <a:off x="16552532" y="1299408"/>
              <a:ext cx="6459868" cy="0"/>
            </a:xfrm>
            <a:prstGeom prst="line">
              <a:avLst/>
            </a:prstGeom>
            <a:ln w="25400" cap="flat">
              <a:solidFill>
                <a:srgbClr val="000000"/>
              </a:solidFill>
              <a:prstDash val="solid"/>
              <a:headEnd type="none" w="sm" len="sm"/>
              <a:tailEnd type="none" w="sm" len="sm"/>
            </a:ln>
          </p:spPr>
        </p:sp>
        <p:sp>
          <p:nvSpPr>
            <p:cNvPr id="26" name="TextBox 6">
              <a:extLst>
                <a:ext uri="{FF2B5EF4-FFF2-40B4-BE49-F238E27FC236}">
                  <a16:creationId xmlns:a16="http://schemas.microsoft.com/office/drawing/2014/main" id="{1BB9EFAA-0E22-3132-404B-3628FCE5812B}"/>
                </a:ext>
              </a:extLst>
            </p:cNvPr>
            <p:cNvSpPr txBox="1"/>
            <p:nvPr/>
          </p:nvSpPr>
          <p:spPr>
            <a:xfrm>
              <a:off x="12954000" y="1088377"/>
              <a:ext cx="3934687" cy="349667"/>
            </a:xfrm>
            <a:prstGeom prst="rect">
              <a:avLst/>
            </a:prstGeom>
          </p:spPr>
          <p:txBody>
            <a:bodyPr wrap="square" lIns="0" tIns="0" rIns="0" bIns="0" rtlCol="0" anchor="t">
              <a:spAutoFit/>
            </a:bodyPr>
            <a:lstStyle/>
            <a:p>
              <a:pPr algn="ctr">
                <a:lnSpc>
                  <a:spcPts val="2239"/>
                </a:lnSpc>
                <a:spcBef>
                  <a:spcPct val="0"/>
                </a:spcBef>
              </a:pPr>
              <a:r>
                <a:rPr lang="en-US" sz="1599" b="1" i="1">
                  <a:solidFill>
                    <a:srgbClr val="000000"/>
                  </a:solidFill>
                  <a:latin typeface="Montserrat Semi-Bold" panose="020B0604020202020204" charset="0"/>
                  <a:ea typeface="Montserrat Medium Italics"/>
                  <a:cs typeface="Montserrat Medium Italics"/>
                  <a:sym typeface="Montserrat Medium Italics"/>
                </a:rPr>
                <a:t>THUẦN HOA GROUP</a:t>
              </a:r>
            </a:p>
          </p:txBody>
        </p:sp>
      </p:grpSp>
      <p:pic>
        <p:nvPicPr>
          <p:cNvPr id="5" name="Picture 4">
            <a:extLst>
              <a:ext uri="{FF2B5EF4-FFF2-40B4-BE49-F238E27FC236}">
                <a16:creationId xmlns:a16="http://schemas.microsoft.com/office/drawing/2014/main" id="{460F0754-0B89-41FE-AE03-83539598908B}"/>
              </a:ext>
            </a:extLst>
          </p:cNvPr>
          <p:cNvPicPr>
            <a:picLocks noChangeAspect="1"/>
          </p:cNvPicPr>
          <p:nvPr/>
        </p:nvPicPr>
        <p:blipFill>
          <a:blip r:embed="rId5"/>
          <a:stretch>
            <a:fillRect/>
          </a:stretch>
        </p:blipFill>
        <p:spPr>
          <a:xfrm>
            <a:off x="825269" y="2688216"/>
            <a:ext cx="5016194" cy="6642510"/>
          </a:xfrm>
          <a:prstGeom prst="rect">
            <a:avLst/>
          </a:prstGeom>
        </p:spPr>
      </p:pic>
      <p:sp>
        <p:nvSpPr>
          <p:cNvPr id="28" name="TextBox 27">
            <a:extLst>
              <a:ext uri="{FF2B5EF4-FFF2-40B4-BE49-F238E27FC236}">
                <a16:creationId xmlns:a16="http://schemas.microsoft.com/office/drawing/2014/main" id="{EC50F64F-F216-4EF9-BE6D-C8437147679E}"/>
              </a:ext>
            </a:extLst>
          </p:cNvPr>
          <p:cNvSpPr txBox="1"/>
          <p:nvPr/>
        </p:nvSpPr>
        <p:spPr>
          <a:xfrm>
            <a:off x="9479773" y="2453403"/>
            <a:ext cx="2739934" cy="1495922"/>
          </a:xfrm>
          <a:prstGeom prst="rect">
            <a:avLst/>
          </a:prstGeom>
          <a:noFill/>
        </p:spPr>
        <p:txBody>
          <a:bodyPr wrap="square">
            <a:spAutoFit/>
          </a:bodyPr>
          <a:lstStyle/>
          <a:p>
            <a:pPr algn="l">
              <a:lnSpc>
                <a:spcPts val="2753"/>
              </a:lnSpc>
            </a:pPr>
            <a:r>
              <a:rPr lang="en-US" sz="1800" b="1" spc="-61">
                <a:solidFill>
                  <a:srgbClr val="000000"/>
                </a:solidFill>
                <a:latin typeface="Montserrat Semi-Bold"/>
                <a:ea typeface="Montserrat Semi-Bold"/>
                <a:cs typeface="Montserrat Semi-Bold"/>
                <a:sym typeface="Montserrat Semi-Bold"/>
              </a:rPr>
              <a:t>EXOSOME</a:t>
            </a:r>
          </a:p>
          <a:p>
            <a:pPr algn="l">
              <a:lnSpc>
                <a:spcPts val="2753"/>
              </a:lnSpc>
            </a:pPr>
            <a:r>
              <a:rPr lang="en-US" sz="1800" b="1" spc="-61">
                <a:solidFill>
                  <a:srgbClr val="000000"/>
                </a:solidFill>
                <a:latin typeface="Montserrat Semi-Bold"/>
                <a:ea typeface="Montserrat Semi-Bold"/>
                <a:cs typeface="Montserrat Semi-Bold"/>
                <a:sym typeface="Montserrat Semi-Bold"/>
              </a:rPr>
              <a:t>PEPTIDE COMPLEX </a:t>
            </a:r>
          </a:p>
          <a:p>
            <a:pPr algn="l">
              <a:lnSpc>
                <a:spcPts val="2753"/>
              </a:lnSpc>
            </a:pPr>
            <a:r>
              <a:rPr lang="en-US" sz="1800" b="1" spc="-61">
                <a:solidFill>
                  <a:srgbClr val="000000"/>
                </a:solidFill>
                <a:latin typeface="Montserrat Semi-Bold"/>
                <a:ea typeface="Montserrat Semi-Bold"/>
                <a:cs typeface="Montserrat Semi-Bold"/>
                <a:sym typeface="Montserrat Semi-Bold"/>
              </a:rPr>
              <a:t>6GF</a:t>
            </a:r>
          </a:p>
          <a:p>
            <a:pPr algn="l">
              <a:lnSpc>
                <a:spcPts val="2753"/>
              </a:lnSpc>
            </a:pPr>
            <a:r>
              <a:rPr lang="en-US" sz="1800" b="1" spc="-61">
                <a:solidFill>
                  <a:srgbClr val="000000"/>
                </a:solidFill>
                <a:latin typeface="Montserrat Semi-Bold"/>
                <a:ea typeface="Montserrat Semi-Bold"/>
                <a:cs typeface="Montserrat Semi-Bold"/>
                <a:sym typeface="Montserrat Semi-Bold"/>
              </a:rPr>
              <a:t>HYALURONIC</a:t>
            </a:r>
          </a:p>
        </p:txBody>
      </p:sp>
    </p:spTree>
    <p:extLst>
      <p:ext uri="{BB962C8B-B14F-4D97-AF65-F5344CB8AC3E}">
        <p14:creationId xmlns:p14="http://schemas.microsoft.com/office/powerpoint/2010/main" val="4040224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down)">
                                      <p:cBhvr>
                                        <p:cTn id="15" dur="500"/>
                                        <p:tgtEl>
                                          <p:spTgt spid="14"/>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wipe(down)">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down)">
                                      <p:cBhvr>
                                        <p:cTn id="23" dur="500"/>
                                        <p:tgtEl>
                                          <p:spTgt spid="10"/>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wipe(down)">
                                      <p:cBhvr>
                                        <p:cTn id="26" dur="500"/>
                                        <p:tgtEl>
                                          <p:spTgt spid="17"/>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wipe(down)">
                                      <p:cBhvr>
                                        <p:cTn id="29" dur="500"/>
                                        <p:tgtEl>
                                          <p:spTgt spid="1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wipe(down)">
                                      <p:cBhvr>
                                        <p:cTn id="34" dur="500"/>
                                        <p:tgtEl>
                                          <p:spTgt spid="11"/>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wipe(down)">
                                      <p:cBhvr>
                                        <p:cTn id="37" dur="500"/>
                                        <p:tgtEl>
                                          <p:spTgt spid="19"/>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wipe(down)">
                                      <p:cBhvr>
                                        <p:cTn id="40" dur="500"/>
                                        <p:tgtEl>
                                          <p:spTgt spid="18"/>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nodeType="click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wipe(down)">
                                      <p:cBhvr>
                                        <p:cTn id="45" dur="500"/>
                                        <p:tgtEl>
                                          <p:spTgt spid="12"/>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wipe(down)">
                                      <p:cBhvr>
                                        <p:cTn id="48" dur="500"/>
                                        <p:tgtEl>
                                          <p:spTgt spid="21"/>
                                        </p:tgtEl>
                                      </p:cBhvr>
                                    </p:animEffect>
                                  </p:childTnLst>
                                </p:cTn>
                              </p:par>
                              <p:par>
                                <p:cTn id="49" presetID="22" presetClass="entr" presetSubtype="4"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wipe(down)">
                                      <p:cBhvr>
                                        <p:cTn id="5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p:bldP spid="18" grpId="0"/>
      <p:bldP spid="19" grpId="0"/>
      <p:bldP spid="20" grpId="0"/>
      <p:bldP spid="2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reeform 9"/>
          <p:cNvSpPr/>
          <p:nvPr/>
        </p:nvSpPr>
        <p:spPr>
          <a:xfrm>
            <a:off x="6357832" y="1663872"/>
            <a:ext cx="11463317" cy="699294"/>
          </a:xfrm>
          <a:custGeom>
            <a:avLst/>
            <a:gdLst/>
            <a:ahLst/>
            <a:cxnLst/>
            <a:rect l="l" t="t" r="r" b="b"/>
            <a:pathLst>
              <a:path w="11463317" h="699294">
                <a:moveTo>
                  <a:pt x="0" y="0"/>
                </a:moveTo>
                <a:lnTo>
                  <a:pt x="11463317" y="0"/>
                </a:lnTo>
                <a:lnTo>
                  <a:pt x="11463317" y="699294"/>
                </a:lnTo>
                <a:lnTo>
                  <a:pt x="0" y="699294"/>
                </a:lnTo>
                <a:lnTo>
                  <a:pt x="0" y="0"/>
                </a:lnTo>
                <a:close/>
              </a:path>
            </a:pathLst>
          </a:custGeom>
          <a:blipFill>
            <a:blip r:embed="rId2"/>
            <a:stretch>
              <a:fillRect l="-17427" t="-943" b="-125237"/>
            </a:stretch>
          </a:blipFill>
        </p:spPr>
        <p:txBody>
          <a:bodyPr/>
          <a:lstStyle/>
          <a:p>
            <a:endParaRPr lang="en-US"/>
          </a:p>
        </p:txBody>
      </p:sp>
      <p:sp>
        <p:nvSpPr>
          <p:cNvPr id="13" name="TextBox 13"/>
          <p:cNvSpPr txBox="1"/>
          <p:nvPr/>
        </p:nvSpPr>
        <p:spPr>
          <a:xfrm>
            <a:off x="6529157" y="1754109"/>
            <a:ext cx="9514736" cy="471195"/>
          </a:xfrm>
          <a:prstGeom prst="rect">
            <a:avLst/>
          </a:prstGeom>
        </p:spPr>
        <p:txBody>
          <a:bodyPr lIns="0" tIns="0" rIns="0" bIns="0" rtlCol="0" anchor="t">
            <a:spAutoFit/>
          </a:bodyPr>
          <a:lstStyle/>
          <a:p>
            <a:pPr algn="l">
              <a:lnSpc>
                <a:spcPts val="3953"/>
              </a:lnSpc>
              <a:spcBef>
                <a:spcPct val="0"/>
              </a:spcBef>
            </a:pPr>
            <a:r>
              <a:rPr lang="en-US" sz="2824" b="1">
                <a:solidFill>
                  <a:srgbClr val="FFFFFF"/>
                </a:solidFill>
                <a:latin typeface="Montserrat Bold"/>
                <a:ea typeface="Montserrat Bold"/>
                <a:cs typeface="Montserrat Bold"/>
                <a:sym typeface="Montserrat Bold"/>
              </a:rPr>
              <a:t>CÔNG NGHỆ THỦY PHÂN</a:t>
            </a:r>
            <a:endParaRPr lang="en-US" sz="2824" b="1">
              <a:solidFill>
                <a:srgbClr val="6C90FF"/>
              </a:solidFill>
              <a:latin typeface="Montserrat Bold"/>
              <a:ea typeface="Montserrat Bold"/>
              <a:cs typeface="Montserrat Bold"/>
              <a:sym typeface="Montserrat Bold"/>
            </a:endParaRPr>
          </a:p>
        </p:txBody>
      </p:sp>
      <p:grpSp>
        <p:nvGrpSpPr>
          <p:cNvPr id="22" name="Group 2">
            <a:extLst>
              <a:ext uri="{FF2B5EF4-FFF2-40B4-BE49-F238E27FC236}">
                <a16:creationId xmlns:a16="http://schemas.microsoft.com/office/drawing/2014/main" id="{858F5D6B-D0F2-2903-4053-D959C14E0462}"/>
              </a:ext>
            </a:extLst>
          </p:cNvPr>
          <p:cNvGrpSpPr/>
          <p:nvPr/>
        </p:nvGrpSpPr>
        <p:grpSpPr>
          <a:xfrm>
            <a:off x="1028700" y="395218"/>
            <a:ext cx="17259300" cy="1078533"/>
            <a:chOff x="0" y="0"/>
            <a:chExt cx="23012400" cy="1438044"/>
          </a:xfrm>
        </p:grpSpPr>
        <p:sp>
          <p:nvSpPr>
            <p:cNvPr id="23" name="Freeform 3">
              <a:extLst>
                <a:ext uri="{FF2B5EF4-FFF2-40B4-BE49-F238E27FC236}">
                  <a16:creationId xmlns:a16="http://schemas.microsoft.com/office/drawing/2014/main" id="{B2452A2C-FF06-91AF-6D0B-5E34CED3F7ED}"/>
                </a:ext>
              </a:extLst>
            </p:cNvPr>
            <p:cNvSpPr/>
            <p:nvPr/>
          </p:nvSpPr>
          <p:spPr>
            <a:xfrm>
              <a:off x="0" y="0"/>
              <a:ext cx="2937194" cy="1274008"/>
            </a:xfrm>
            <a:custGeom>
              <a:avLst/>
              <a:gdLst/>
              <a:ahLst/>
              <a:cxnLst/>
              <a:rect l="l" t="t" r="r" b="b"/>
              <a:pathLst>
                <a:path w="2937194" h="1274008">
                  <a:moveTo>
                    <a:pt x="0" y="0"/>
                  </a:moveTo>
                  <a:lnTo>
                    <a:pt x="2937194" y="0"/>
                  </a:lnTo>
                  <a:lnTo>
                    <a:pt x="2937194" y="1274008"/>
                  </a:lnTo>
                  <a:lnTo>
                    <a:pt x="0" y="1274008"/>
                  </a:lnTo>
                  <a:lnTo>
                    <a:pt x="0" y="0"/>
                  </a:lnTo>
                  <a:close/>
                </a:path>
              </a:pathLst>
            </a:custGeom>
            <a:blipFill>
              <a:blip r:embed="rId3"/>
              <a:stretch>
                <a:fillRect/>
              </a:stretch>
            </a:blipFill>
          </p:spPr>
        </p:sp>
        <p:sp>
          <p:nvSpPr>
            <p:cNvPr id="24" name="Freeform 4">
              <a:extLst>
                <a:ext uri="{FF2B5EF4-FFF2-40B4-BE49-F238E27FC236}">
                  <a16:creationId xmlns:a16="http://schemas.microsoft.com/office/drawing/2014/main" id="{EDEA1F8D-C4BF-ECB8-FD05-E956963A4C97}"/>
                </a:ext>
              </a:extLst>
            </p:cNvPr>
            <p:cNvSpPr/>
            <p:nvPr/>
          </p:nvSpPr>
          <p:spPr>
            <a:xfrm>
              <a:off x="3134311" y="224397"/>
              <a:ext cx="2339750" cy="1036911"/>
            </a:xfrm>
            <a:custGeom>
              <a:avLst/>
              <a:gdLst/>
              <a:ahLst/>
              <a:cxnLst/>
              <a:rect l="l" t="t" r="r" b="b"/>
              <a:pathLst>
                <a:path w="2339750" h="1036911">
                  <a:moveTo>
                    <a:pt x="0" y="0"/>
                  </a:moveTo>
                  <a:lnTo>
                    <a:pt x="2339749" y="0"/>
                  </a:lnTo>
                  <a:lnTo>
                    <a:pt x="2339749" y="1036911"/>
                  </a:lnTo>
                  <a:lnTo>
                    <a:pt x="0" y="1036911"/>
                  </a:lnTo>
                  <a:lnTo>
                    <a:pt x="0" y="0"/>
                  </a:lnTo>
                  <a:close/>
                </a:path>
              </a:pathLst>
            </a:custGeom>
            <a:blipFill>
              <a:blip r:embed="rId4"/>
              <a:stretch>
                <a:fillRect l="-8002" t="-69970" b="-73732"/>
              </a:stretch>
            </a:blipFill>
          </p:spPr>
        </p:sp>
        <p:sp>
          <p:nvSpPr>
            <p:cNvPr id="25" name="AutoShape 5">
              <a:extLst>
                <a:ext uri="{FF2B5EF4-FFF2-40B4-BE49-F238E27FC236}">
                  <a16:creationId xmlns:a16="http://schemas.microsoft.com/office/drawing/2014/main" id="{991E9D9D-8D98-D2A1-2A68-500B2C85AA8C}"/>
                </a:ext>
              </a:extLst>
            </p:cNvPr>
            <p:cNvSpPr/>
            <p:nvPr/>
          </p:nvSpPr>
          <p:spPr>
            <a:xfrm flipV="1">
              <a:off x="16552532" y="1299408"/>
              <a:ext cx="6459868" cy="0"/>
            </a:xfrm>
            <a:prstGeom prst="line">
              <a:avLst/>
            </a:prstGeom>
            <a:ln w="25400" cap="flat">
              <a:solidFill>
                <a:srgbClr val="000000"/>
              </a:solidFill>
              <a:prstDash val="solid"/>
              <a:headEnd type="none" w="sm" len="sm"/>
              <a:tailEnd type="none" w="sm" len="sm"/>
            </a:ln>
          </p:spPr>
        </p:sp>
        <p:sp>
          <p:nvSpPr>
            <p:cNvPr id="26" name="TextBox 6">
              <a:extLst>
                <a:ext uri="{FF2B5EF4-FFF2-40B4-BE49-F238E27FC236}">
                  <a16:creationId xmlns:a16="http://schemas.microsoft.com/office/drawing/2014/main" id="{1BB9EFAA-0E22-3132-404B-3628FCE5812B}"/>
                </a:ext>
              </a:extLst>
            </p:cNvPr>
            <p:cNvSpPr txBox="1"/>
            <p:nvPr/>
          </p:nvSpPr>
          <p:spPr>
            <a:xfrm>
              <a:off x="12954000" y="1088377"/>
              <a:ext cx="3934687" cy="349667"/>
            </a:xfrm>
            <a:prstGeom prst="rect">
              <a:avLst/>
            </a:prstGeom>
          </p:spPr>
          <p:txBody>
            <a:bodyPr wrap="square" lIns="0" tIns="0" rIns="0" bIns="0" rtlCol="0" anchor="t">
              <a:spAutoFit/>
            </a:bodyPr>
            <a:lstStyle/>
            <a:p>
              <a:pPr algn="ctr">
                <a:lnSpc>
                  <a:spcPts val="2239"/>
                </a:lnSpc>
                <a:spcBef>
                  <a:spcPct val="0"/>
                </a:spcBef>
              </a:pPr>
              <a:r>
                <a:rPr lang="en-US" sz="1599" b="1" i="1">
                  <a:solidFill>
                    <a:srgbClr val="000000"/>
                  </a:solidFill>
                  <a:latin typeface="Montserrat Semi-Bold" panose="020B0604020202020204" charset="0"/>
                  <a:ea typeface="Montserrat Medium Italics"/>
                  <a:cs typeface="Montserrat Medium Italics"/>
                  <a:sym typeface="Montserrat Medium Italics"/>
                </a:rPr>
                <a:t>THUẦN HOA GROUP</a:t>
              </a:r>
            </a:p>
          </p:txBody>
        </p:sp>
      </p:grpSp>
      <p:sp>
        <p:nvSpPr>
          <p:cNvPr id="27" name="TextBox 26">
            <a:extLst>
              <a:ext uri="{FF2B5EF4-FFF2-40B4-BE49-F238E27FC236}">
                <a16:creationId xmlns:a16="http://schemas.microsoft.com/office/drawing/2014/main" id="{03035814-9D5E-403A-B3BF-FB239130D5C0}"/>
              </a:ext>
            </a:extLst>
          </p:cNvPr>
          <p:cNvSpPr txBox="1"/>
          <p:nvPr/>
        </p:nvSpPr>
        <p:spPr>
          <a:xfrm>
            <a:off x="381000" y="3680125"/>
            <a:ext cx="7086600" cy="876778"/>
          </a:xfrm>
          <a:prstGeom prst="rect">
            <a:avLst/>
          </a:prstGeom>
          <a:noFill/>
        </p:spPr>
        <p:txBody>
          <a:bodyPr wrap="square">
            <a:spAutoFit/>
          </a:bodyPr>
          <a:lstStyle/>
          <a:p>
            <a:r>
              <a:rPr lang="vi-VN" sz="1699" b="1" spc="-61">
                <a:solidFill>
                  <a:srgbClr val="000000"/>
                </a:solidFill>
                <a:latin typeface="Montserrat Medium"/>
              </a:rPr>
              <a:t>Giai đoạn 1 - HA </a:t>
            </a:r>
            <a:r>
              <a:rPr lang="en-US" sz="1699" b="1" spc="-61">
                <a:solidFill>
                  <a:srgbClr val="000000"/>
                </a:solidFill>
                <a:latin typeface="Montserrat Medium"/>
              </a:rPr>
              <a:t>nguyên bản </a:t>
            </a:r>
            <a:r>
              <a:rPr lang="vi-VN" sz="1699" b="1" spc="-61">
                <a:solidFill>
                  <a:srgbClr val="000000"/>
                </a:solidFill>
                <a:latin typeface="Montserrat Medium"/>
              </a:rPr>
              <a:t>(HMW): Các chuỗi HA dài, phức tạp với trọng lượng phân tử cao (&gt;1 triệu Daltons) chỉ có thể nằm trên bề mặt da.</a:t>
            </a:r>
            <a:endParaRPr lang="en-US" sz="1699" b="1" spc="-61">
              <a:solidFill>
                <a:srgbClr val="000000"/>
              </a:solidFill>
              <a:latin typeface="Montserrat Medium"/>
            </a:endParaRPr>
          </a:p>
        </p:txBody>
      </p:sp>
      <p:sp>
        <p:nvSpPr>
          <p:cNvPr id="30" name="TextBox 29">
            <a:extLst>
              <a:ext uri="{FF2B5EF4-FFF2-40B4-BE49-F238E27FC236}">
                <a16:creationId xmlns:a16="http://schemas.microsoft.com/office/drawing/2014/main" id="{87A10CF4-BD40-4D8B-A07A-DE83B002AB51}"/>
              </a:ext>
            </a:extLst>
          </p:cNvPr>
          <p:cNvSpPr txBox="1"/>
          <p:nvPr/>
        </p:nvSpPr>
        <p:spPr>
          <a:xfrm>
            <a:off x="381000" y="4966313"/>
            <a:ext cx="7086600" cy="615297"/>
          </a:xfrm>
          <a:prstGeom prst="rect">
            <a:avLst/>
          </a:prstGeom>
          <a:noFill/>
        </p:spPr>
        <p:txBody>
          <a:bodyPr wrap="square">
            <a:spAutoFit/>
          </a:bodyPr>
          <a:lstStyle/>
          <a:p>
            <a:r>
              <a:rPr lang="en-US" sz="1699" b="1" spc="-61">
                <a:solidFill>
                  <a:srgbClr val="000000"/>
                </a:solidFill>
                <a:latin typeface="Montserrat Medium"/>
              </a:rPr>
              <a:t>Giai đoạn 2 - Bắt đầu thủy phân: Sử dụng enzyme /acid/bazo phân cắt các chuỗi HA lớn.</a:t>
            </a:r>
          </a:p>
        </p:txBody>
      </p:sp>
      <p:sp>
        <p:nvSpPr>
          <p:cNvPr id="31" name="TextBox 30">
            <a:extLst>
              <a:ext uri="{FF2B5EF4-FFF2-40B4-BE49-F238E27FC236}">
                <a16:creationId xmlns:a16="http://schemas.microsoft.com/office/drawing/2014/main" id="{F942F78C-39C1-484E-983F-EA68F1691B86}"/>
              </a:ext>
            </a:extLst>
          </p:cNvPr>
          <p:cNvSpPr txBox="1"/>
          <p:nvPr/>
        </p:nvSpPr>
        <p:spPr>
          <a:xfrm>
            <a:off x="381000" y="5991020"/>
            <a:ext cx="7086600" cy="876778"/>
          </a:xfrm>
          <a:prstGeom prst="rect">
            <a:avLst/>
          </a:prstGeom>
          <a:noFill/>
        </p:spPr>
        <p:txBody>
          <a:bodyPr wrap="square">
            <a:spAutoFit/>
          </a:bodyPr>
          <a:lstStyle/>
          <a:p>
            <a:r>
              <a:rPr lang="vi-VN" sz="1699" b="1" spc="-61">
                <a:solidFill>
                  <a:srgbClr val="000000"/>
                </a:solidFill>
                <a:latin typeface="Montserrat Medium"/>
              </a:rPr>
              <a:t>Giai đoạn 3 - HA trọng lượng thấp (LMW): Tạo ra các mảnh HA có kích thước nhỏ hơn đáng kể (&lt;100 kDa), tăng khả năng thâm nhập qua các lớp da.</a:t>
            </a:r>
            <a:endParaRPr lang="en-US" sz="1699" b="1" spc="-61">
              <a:solidFill>
                <a:srgbClr val="000000"/>
              </a:solidFill>
              <a:latin typeface="Montserrat Medium"/>
            </a:endParaRPr>
          </a:p>
        </p:txBody>
      </p:sp>
      <p:sp>
        <p:nvSpPr>
          <p:cNvPr id="32" name="TextBox 31">
            <a:extLst>
              <a:ext uri="{FF2B5EF4-FFF2-40B4-BE49-F238E27FC236}">
                <a16:creationId xmlns:a16="http://schemas.microsoft.com/office/drawing/2014/main" id="{4CF81AA9-92B9-442C-B525-0C1E2D7A6157}"/>
              </a:ext>
            </a:extLst>
          </p:cNvPr>
          <p:cNvSpPr txBox="1"/>
          <p:nvPr/>
        </p:nvSpPr>
        <p:spPr>
          <a:xfrm>
            <a:off x="381000" y="7256525"/>
            <a:ext cx="7086600" cy="876778"/>
          </a:xfrm>
          <a:prstGeom prst="rect">
            <a:avLst/>
          </a:prstGeom>
          <a:noFill/>
        </p:spPr>
        <p:txBody>
          <a:bodyPr wrap="square">
            <a:spAutoFit/>
          </a:bodyPr>
          <a:lstStyle/>
          <a:p>
            <a:r>
              <a:rPr lang="en-US" sz="1699" b="1" spc="-61">
                <a:solidFill>
                  <a:srgbClr val="000000"/>
                </a:solidFill>
                <a:latin typeface="Montserrat Medium"/>
              </a:rPr>
              <a:t>Ứng dụng &amp; Tác dụng: Minh họa sự khác biệt khi HA nhỏ (LMW) có thể thẩm thấu sâu vào tầng trung bì để cấp ẩm, giữ ẩm,  làm đầy nếp nhăn và cải thiện độ đàn hồi, mang lại làn da căng mọng.</a:t>
            </a:r>
          </a:p>
        </p:txBody>
      </p:sp>
      <p:pic>
        <p:nvPicPr>
          <p:cNvPr id="34" name="Picture 33">
            <a:extLst>
              <a:ext uri="{FF2B5EF4-FFF2-40B4-BE49-F238E27FC236}">
                <a16:creationId xmlns:a16="http://schemas.microsoft.com/office/drawing/2014/main" id="{6AF6D908-1F06-47B7-B4B0-6D726F17FC64}"/>
              </a:ext>
            </a:extLst>
          </p:cNvPr>
          <p:cNvPicPr>
            <a:picLocks noChangeAspect="1"/>
          </p:cNvPicPr>
          <p:nvPr/>
        </p:nvPicPr>
        <p:blipFill>
          <a:blip r:embed="rId5"/>
          <a:stretch>
            <a:fillRect/>
          </a:stretch>
        </p:blipFill>
        <p:spPr>
          <a:xfrm>
            <a:off x="7538255" y="3581405"/>
            <a:ext cx="10591800" cy="6705595"/>
          </a:xfrm>
          <a:prstGeom prst="rect">
            <a:avLst/>
          </a:prstGeom>
        </p:spPr>
      </p:pic>
    </p:spTree>
    <p:extLst>
      <p:ext uri="{BB962C8B-B14F-4D97-AF65-F5344CB8AC3E}">
        <p14:creationId xmlns:p14="http://schemas.microsoft.com/office/powerpoint/2010/main" val="3607012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7"/>
          <p:cNvSpPr txBox="1"/>
          <p:nvPr/>
        </p:nvSpPr>
        <p:spPr>
          <a:xfrm>
            <a:off x="624331" y="2781762"/>
            <a:ext cx="9088094" cy="547586"/>
          </a:xfrm>
          <a:prstGeom prst="rect">
            <a:avLst/>
          </a:prstGeom>
        </p:spPr>
        <p:txBody>
          <a:bodyPr wrap="square" lIns="0" tIns="0" rIns="0" bIns="0" rtlCol="0" anchor="t">
            <a:spAutoFit/>
          </a:bodyPr>
          <a:lstStyle/>
          <a:p>
            <a:pPr marL="367029" lvl="1" indent="-183514">
              <a:lnSpc>
                <a:spcPts val="2209"/>
              </a:lnSpc>
              <a:buFont typeface="Arial"/>
              <a:buChar char="•"/>
            </a:pPr>
            <a:r>
              <a:rPr lang="en-US" sz="1699" b="1" spc="-61">
                <a:solidFill>
                  <a:srgbClr val="000000"/>
                </a:solidFill>
                <a:latin typeface="Montserrat Medium"/>
                <a:ea typeface="Montserrat Medium"/>
                <a:cs typeface="Montserrat Medium"/>
                <a:sym typeface="Montserrat Medium"/>
              </a:rPr>
              <a:t>Giúp phục hồi mạnh mẽ, rút ngắn tối đa thời gian tái tạo tế bào và làm dịu các phản ứng viêm da cấp tính</a:t>
            </a:r>
          </a:p>
        </p:txBody>
      </p:sp>
      <p:sp>
        <p:nvSpPr>
          <p:cNvPr id="8" name="Freeform 8"/>
          <p:cNvSpPr/>
          <p:nvPr/>
        </p:nvSpPr>
        <p:spPr>
          <a:xfrm>
            <a:off x="624332" y="1881451"/>
            <a:ext cx="2508617" cy="391612"/>
          </a:xfrm>
          <a:custGeom>
            <a:avLst/>
            <a:gdLst/>
            <a:ahLst/>
            <a:cxnLst/>
            <a:rect l="l" t="t" r="r" b="b"/>
            <a:pathLst>
              <a:path w="2508617" h="391612">
                <a:moveTo>
                  <a:pt x="0" y="0"/>
                </a:moveTo>
                <a:lnTo>
                  <a:pt x="2508617" y="0"/>
                </a:lnTo>
                <a:lnTo>
                  <a:pt x="2508617" y="391612"/>
                </a:lnTo>
                <a:lnTo>
                  <a:pt x="0" y="391612"/>
                </a:lnTo>
                <a:lnTo>
                  <a:pt x="0" y="0"/>
                </a:lnTo>
                <a:close/>
              </a:path>
            </a:pathLst>
          </a:custGeom>
          <a:blipFill>
            <a:blip r:embed="rId2"/>
            <a:stretch>
              <a:fillRect l="-44596" t="-943" r="-155901" b="-125237"/>
            </a:stretch>
          </a:blipFill>
        </p:spPr>
      </p:sp>
      <p:sp>
        <p:nvSpPr>
          <p:cNvPr id="9" name="TextBox 9"/>
          <p:cNvSpPr txBox="1"/>
          <p:nvPr/>
        </p:nvSpPr>
        <p:spPr>
          <a:xfrm>
            <a:off x="861868" y="1884471"/>
            <a:ext cx="2131558" cy="318897"/>
          </a:xfrm>
          <a:prstGeom prst="rect">
            <a:avLst/>
          </a:prstGeom>
        </p:spPr>
        <p:txBody>
          <a:bodyPr lIns="0" tIns="0" rIns="0" bIns="0" rtlCol="0" anchor="t">
            <a:spAutoFit/>
          </a:bodyPr>
          <a:lstStyle/>
          <a:p>
            <a:pPr algn="l">
              <a:lnSpc>
                <a:spcPts val="2753"/>
              </a:lnSpc>
            </a:pPr>
            <a:r>
              <a:rPr lang="en-US" sz="1699" b="1" spc="-61">
                <a:solidFill>
                  <a:srgbClr val="FFFFFF"/>
                </a:solidFill>
                <a:latin typeface="Montserrat Ultra-Bold"/>
                <a:ea typeface="Montserrat Ultra-Bold"/>
                <a:cs typeface="Montserrat Ultra-Bold"/>
                <a:sym typeface="Montserrat Ultra-Bold"/>
              </a:rPr>
              <a:t>CƠ CHẾ TÁC DỤNG</a:t>
            </a:r>
          </a:p>
        </p:txBody>
      </p:sp>
      <p:sp>
        <p:nvSpPr>
          <p:cNvPr id="10" name="TextBox 10"/>
          <p:cNvSpPr txBox="1"/>
          <p:nvPr/>
        </p:nvSpPr>
        <p:spPr>
          <a:xfrm>
            <a:off x="861867" y="2456161"/>
            <a:ext cx="3252929" cy="323165"/>
          </a:xfrm>
          <a:prstGeom prst="rect">
            <a:avLst/>
          </a:prstGeom>
        </p:spPr>
        <p:txBody>
          <a:bodyPr wrap="square" lIns="0" tIns="0" rIns="0" bIns="0" rtlCol="0" anchor="t">
            <a:spAutoFit/>
          </a:bodyPr>
          <a:lstStyle/>
          <a:p>
            <a:pPr>
              <a:lnSpc>
                <a:spcPts val="2753"/>
              </a:lnSpc>
            </a:pPr>
            <a:r>
              <a:rPr lang="en-US" sz="1699" b="1" i="1" spc="-61">
                <a:solidFill>
                  <a:srgbClr val="000000"/>
                </a:solidFill>
                <a:latin typeface="Montserrat Bold Italics"/>
                <a:ea typeface="Montserrat Bold Italics"/>
                <a:cs typeface="Montserrat Bold Italics"/>
                <a:sym typeface="Montserrat Bold Italics"/>
              </a:rPr>
              <a:t>DEXAPANTHENOL 10.5% </a:t>
            </a:r>
          </a:p>
        </p:txBody>
      </p:sp>
      <p:sp>
        <p:nvSpPr>
          <p:cNvPr id="11" name="TextBox 11"/>
          <p:cNvSpPr txBox="1"/>
          <p:nvPr/>
        </p:nvSpPr>
        <p:spPr>
          <a:xfrm>
            <a:off x="336924" y="4284736"/>
            <a:ext cx="9568045" cy="1111843"/>
          </a:xfrm>
          <a:prstGeom prst="rect">
            <a:avLst/>
          </a:prstGeom>
        </p:spPr>
        <p:txBody>
          <a:bodyPr wrap="square" lIns="0" tIns="0" rIns="0" bIns="0" rtlCol="0" anchor="t">
            <a:spAutoFit/>
          </a:bodyPr>
          <a:lstStyle/>
          <a:p>
            <a:pPr marL="367029" lvl="1" indent="-183514">
              <a:lnSpc>
                <a:spcPts val="2209"/>
              </a:lnSpc>
              <a:buFont typeface="Arial"/>
              <a:buChar char="•"/>
            </a:pPr>
            <a:r>
              <a:rPr lang="en-US" sz="1699" b="1" spc="-61">
                <a:solidFill>
                  <a:srgbClr val="000000"/>
                </a:solidFill>
                <a:latin typeface="Montserrat Medium"/>
                <a:ea typeface="Montserrat Medium"/>
                <a:cs typeface="Montserrat Medium"/>
                <a:sym typeface="Montserrat Medium"/>
              </a:rPr>
              <a:t>Hệ thống hút ẩm - cấp ẩm đa tầng giúp cấp ẩm từ biểu bì đến tầng sâu dưới da, đồng thời làm mềm thay đổi tạm thời cấu trúc lớp màng lipid làm giảm độ liên kết của các tế bào, làm thông thoáng lỗ chân lông mở đường cho quá trình thẩm thấu, củng cố và tái cấu  trúc hàng rào bảo vệ da,  làm dịu các phản ứng kích ứng, chống lão hoá, cải thiện độ đàn hồi da</a:t>
            </a:r>
          </a:p>
        </p:txBody>
      </p:sp>
      <p:sp>
        <p:nvSpPr>
          <p:cNvPr id="12" name="TextBox 12"/>
          <p:cNvSpPr txBox="1"/>
          <p:nvPr/>
        </p:nvSpPr>
        <p:spPr>
          <a:xfrm>
            <a:off x="506551" y="9292802"/>
            <a:ext cx="9088093" cy="547586"/>
          </a:xfrm>
          <a:prstGeom prst="rect">
            <a:avLst/>
          </a:prstGeom>
        </p:spPr>
        <p:txBody>
          <a:bodyPr wrap="square" lIns="0" tIns="0" rIns="0" bIns="0" rtlCol="0" anchor="t">
            <a:spAutoFit/>
          </a:bodyPr>
          <a:lstStyle/>
          <a:p>
            <a:pPr marL="367029" lvl="1" indent="-183514" algn="l">
              <a:lnSpc>
                <a:spcPts val="2209"/>
              </a:lnSpc>
              <a:buFont typeface="Arial"/>
              <a:buChar char="•"/>
            </a:pPr>
            <a:r>
              <a:rPr lang="en-US" sz="1699" b="1" spc="-61">
                <a:solidFill>
                  <a:srgbClr val="000000"/>
                </a:solidFill>
                <a:latin typeface="Montserrat Medium"/>
                <a:ea typeface="Montserrat Medium"/>
                <a:cs typeface="Montserrat Medium"/>
                <a:sym typeface="Montserrat Medium"/>
              </a:rPr>
              <a:t>Giúp làm sáng và đều màu da, hỗ trợ mờ thâm, đồng thời kiểm soát dầu và củng cố hàng rào bảo vệ da, cho làn da khỏe và mịn màng hơn.</a:t>
            </a:r>
          </a:p>
        </p:txBody>
      </p:sp>
      <p:sp>
        <p:nvSpPr>
          <p:cNvPr id="13" name="TextBox 13"/>
          <p:cNvSpPr txBox="1"/>
          <p:nvPr/>
        </p:nvSpPr>
        <p:spPr>
          <a:xfrm>
            <a:off x="336924" y="8055493"/>
            <a:ext cx="9294654" cy="547586"/>
          </a:xfrm>
          <a:prstGeom prst="rect">
            <a:avLst/>
          </a:prstGeom>
        </p:spPr>
        <p:txBody>
          <a:bodyPr wrap="square" lIns="0" tIns="0" rIns="0" bIns="0" rtlCol="0" anchor="t">
            <a:spAutoFit/>
          </a:bodyPr>
          <a:lstStyle/>
          <a:p>
            <a:pPr marL="367029" lvl="1" indent="-183514">
              <a:lnSpc>
                <a:spcPts val="2209"/>
              </a:lnSpc>
              <a:buFont typeface="Arial"/>
              <a:buChar char="•"/>
            </a:pPr>
            <a:r>
              <a:rPr lang="en-US" sz="1699" b="1" spc="-61">
                <a:solidFill>
                  <a:srgbClr val="000000"/>
                </a:solidFill>
                <a:latin typeface="Montserrat Medium"/>
                <a:ea typeface="Montserrat Medium"/>
                <a:cs typeface="Montserrat Medium"/>
                <a:sym typeface="Montserrat Medium"/>
              </a:rPr>
              <a:t>Cải thiện tình trạng giãn mao mạch và đỏ da giảm bầm sau xâm lấn, rút ngắn thời gian phục hồi, giảm quầng thâm mắt do nguyên nhân mạch máu,  giúp lành thương mờ sẹo</a:t>
            </a:r>
          </a:p>
        </p:txBody>
      </p:sp>
      <p:sp>
        <p:nvSpPr>
          <p:cNvPr id="15" name="TextBox 15"/>
          <p:cNvSpPr txBox="1"/>
          <p:nvPr/>
        </p:nvSpPr>
        <p:spPr>
          <a:xfrm>
            <a:off x="663756" y="3506773"/>
            <a:ext cx="9215087" cy="679032"/>
          </a:xfrm>
          <a:prstGeom prst="rect">
            <a:avLst/>
          </a:prstGeom>
        </p:spPr>
        <p:txBody>
          <a:bodyPr wrap="square" lIns="0" tIns="0" rIns="0" bIns="0" rtlCol="0" anchor="t">
            <a:spAutoFit/>
          </a:bodyPr>
          <a:lstStyle/>
          <a:p>
            <a:pPr>
              <a:lnSpc>
                <a:spcPts val="2753"/>
              </a:lnSpc>
            </a:pPr>
            <a:r>
              <a:rPr lang="en-US" sz="1600" b="1" i="1" spc="-61">
                <a:solidFill>
                  <a:srgbClr val="000000"/>
                </a:solidFill>
                <a:latin typeface="Montserrat Bold Italics"/>
                <a:ea typeface="Montserrat Bold Italics"/>
                <a:cs typeface="Montserrat Bold Italics"/>
                <a:sym typeface="Montserrat Bold Italics"/>
              </a:rPr>
              <a:t>GLYCERIN, BUTYLENE GLYCOL, HYDROLYZED SODIUM HYALURONATE, HYDROLYZED HYALURONIC ACID, ISOPROPYL MYRISTATE, CAPRYLIC/CAPRIC TRIGLYCERIDE… </a:t>
            </a:r>
          </a:p>
        </p:txBody>
      </p:sp>
      <p:sp>
        <p:nvSpPr>
          <p:cNvPr id="16" name="TextBox 16"/>
          <p:cNvSpPr txBox="1"/>
          <p:nvPr/>
        </p:nvSpPr>
        <p:spPr>
          <a:xfrm>
            <a:off x="663756" y="8786358"/>
            <a:ext cx="6393091" cy="323165"/>
          </a:xfrm>
          <a:prstGeom prst="rect">
            <a:avLst/>
          </a:prstGeom>
        </p:spPr>
        <p:txBody>
          <a:bodyPr lIns="0" tIns="0" rIns="0" bIns="0" rtlCol="0" anchor="t">
            <a:spAutoFit/>
          </a:bodyPr>
          <a:lstStyle/>
          <a:p>
            <a:pPr>
              <a:lnSpc>
                <a:spcPts val="2753"/>
              </a:lnSpc>
            </a:pPr>
            <a:r>
              <a:rPr lang="en-US" sz="1699" b="1" i="1" spc="-61">
                <a:solidFill>
                  <a:srgbClr val="000000"/>
                </a:solidFill>
                <a:latin typeface="Montserrat Bold Italics"/>
                <a:ea typeface="Montserrat Bold Italics"/>
                <a:cs typeface="Montserrat Bold Italics"/>
                <a:sym typeface="Montserrat Bold Italics"/>
              </a:rPr>
              <a:t>NIACINAMIDE 2%, GLUTATHIONE</a:t>
            </a:r>
          </a:p>
        </p:txBody>
      </p:sp>
      <p:sp>
        <p:nvSpPr>
          <p:cNvPr id="17" name="TextBox 17"/>
          <p:cNvSpPr txBox="1"/>
          <p:nvPr/>
        </p:nvSpPr>
        <p:spPr>
          <a:xfrm>
            <a:off x="663756" y="7581947"/>
            <a:ext cx="6294533" cy="323165"/>
          </a:xfrm>
          <a:prstGeom prst="rect">
            <a:avLst/>
          </a:prstGeom>
        </p:spPr>
        <p:txBody>
          <a:bodyPr lIns="0" tIns="0" rIns="0" bIns="0" rtlCol="0" anchor="t">
            <a:spAutoFit/>
          </a:bodyPr>
          <a:lstStyle/>
          <a:p>
            <a:pPr>
              <a:lnSpc>
                <a:spcPts val="2753"/>
              </a:lnSpc>
            </a:pPr>
            <a:r>
              <a:rPr lang="en-US" sz="1699" b="1" i="1" spc="-61">
                <a:solidFill>
                  <a:srgbClr val="000000"/>
                </a:solidFill>
                <a:latin typeface="Montserrat Bold Italics"/>
                <a:ea typeface="Montserrat Bold Italics"/>
                <a:cs typeface="Montserrat Bold Italics"/>
                <a:sym typeface="Montserrat Bold Italics"/>
              </a:rPr>
              <a:t>VITAMIN K</a:t>
            </a:r>
          </a:p>
        </p:txBody>
      </p:sp>
      <p:sp>
        <p:nvSpPr>
          <p:cNvPr id="19" name="TextBox 19"/>
          <p:cNvSpPr txBox="1"/>
          <p:nvPr/>
        </p:nvSpPr>
        <p:spPr>
          <a:xfrm>
            <a:off x="9878843" y="2868263"/>
            <a:ext cx="8011432" cy="1958228"/>
          </a:xfrm>
          <a:prstGeom prst="rect">
            <a:avLst/>
          </a:prstGeom>
        </p:spPr>
        <p:txBody>
          <a:bodyPr wrap="square" lIns="0" tIns="0" rIns="0" bIns="0" rtlCol="0" anchor="t">
            <a:spAutoFit/>
          </a:bodyPr>
          <a:lstStyle/>
          <a:p>
            <a:pPr marL="367029" lvl="1" indent="-183514" algn="l">
              <a:lnSpc>
                <a:spcPts val="2209"/>
              </a:lnSpc>
              <a:buFont typeface="Arial"/>
              <a:buChar char="•"/>
            </a:pPr>
            <a:r>
              <a:rPr lang="en-US" sz="1699" b="1" spc="-61">
                <a:solidFill>
                  <a:srgbClr val="000000"/>
                </a:solidFill>
                <a:latin typeface="Montserrat Medium"/>
                <a:ea typeface="Montserrat Medium"/>
                <a:cs typeface="Montserrat Medium"/>
                <a:sym typeface="Montserrat Medium"/>
              </a:rPr>
              <a:t>Phù hợp mọi loại da và hầu hết tình trạng da (trừ da mụn)</a:t>
            </a:r>
          </a:p>
          <a:p>
            <a:pPr marL="367029" lvl="1" indent="-183514" algn="l">
              <a:lnSpc>
                <a:spcPts val="2209"/>
              </a:lnSpc>
              <a:buFont typeface="Arial"/>
              <a:buChar char="•"/>
            </a:pPr>
            <a:r>
              <a:rPr lang="en-US" sz="1699" b="1" spc="-61">
                <a:solidFill>
                  <a:srgbClr val="000000"/>
                </a:solidFill>
                <a:latin typeface="Montserrat Medium"/>
                <a:ea typeface="Montserrat Medium"/>
                <a:cs typeface="Montserrat Medium"/>
                <a:sym typeface="Montserrat Medium"/>
              </a:rPr>
              <a:t>Nồng độ B5  vượt  trội 10.5% giúp tốc độ phục hội mạnh  mẽ</a:t>
            </a:r>
          </a:p>
          <a:p>
            <a:pPr marL="367029" lvl="1" indent="-183514">
              <a:lnSpc>
                <a:spcPts val="2209"/>
              </a:lnSpc>
              <a:buFont typeface="Arial"/>
              <a:buChar char="•"/>
            </a:pPr>
            <a:r>
              <a:rPr lang="vi-VN" sz="1699" b="1" spc="-61">
                <a:solidFill>
                  <a:srgbClr val="000000"/>
                </a:solidFill>
                <a:latin typeface="Montserrat Medium"/>
                <a:ea typeface="Montserrat Medium"/>
                <a:cs typeface="Montserrat Medium"/>
                <a:sym typeface="Montserrat Medium"/>
              </a:rPr>
              <a:t>phức hợp 6 yếu tố tăng trưởng này (6GF)</a:t>
            </a:r>
            <a:endParaRPr lang="en-US" sz="1699" b="1" spc="-61">
              <a:solidFill>
                <a:srgbClr val="000000"/>
              </a:solidFill>
              <a:latin typeface="Montserrat Medium"/>
              <a:ea typeface="Montserrat Medium"/>
              <a:cs typeface="Montserrat Medium"/>
              <a:sym typeface="Montserrat Medium"/>
            </a:endParaRPr>
          </a:p>
          <a:p>
            <a:pPr marL="367029" lvl="1" indent="-183514">
              <a:lnSpc>
                <a:spcPts val="2209"/>
              </a:lnSpc>
              <a:buFont typeface="Arial"/>
              <a:buChar char="•"/>
            </a:pPr>
            <a:r>
              <a:rPr lang="en-US" sz="1699" b="1" spc="-61">
                <a:solidFill>
                  <a:srgbClr val="000000"/>
                </a:solidFill>
                <a:latin typeface="Montserrat Medium"/>
                <a:ea typeface="Montserrat Medium"/>
                <a:cs typeface="Montserrat Medium"/>
                <a:sym typeface="Montserrat Medium"/>
              </a:rPr>
              <a:t>Phức hợp petide và Exosome chiết xuất từ tế bào chất của Rau má giúp để truyền phát tín hiệu phục hồi, chống viêm và kích thích sửa chữa DNA tế bào một cách chính xác và nhanh chóng, tái cấu trức da</a:t>
            </a:r>
            <a:r>
              <a:rPr lang="vi-VN" sz="1699" b="1" spc="-61">
                <a:solidFill>
                  <a:srgbClr val="000000"/>
                </a:solidFill>
                <a:latin typeface="Montserrat Medium"/>
                <a:ea typeface="Montserrat Medium"/>
                <a:cs typeface="Montserrat Medium"/>
                <a:sym typeface="Montserrat Medium"/>
              </a:rPr>
              <a:t>chống chảy xệ và ức chế tăng sắc tố.</a:t>
            </a:r>
            <a:endParaRPr lang="en-US" sz="1699" b="1" spc="-61">
              <a:solidFill>
                <a:srgbClr val="000000"/>
              </a:solidFill>
              <a:latin typeface="Montserrat Medium"/>
              <a:ea typeface="Montserrat Medium"/>
              <a:cs typeface="Montserrat Medium"/>
              <a:sym typeface="Montserrat Medium"/>
            </a:endParaRPr>
          </a:p>
        </p:txBody>
      </p:sp>
      <p:sp>
        <p:nvSpPr>
          <p:cNvPr id="20" name="Freeform 20"/>
          <p:cNvSpPr/>
          <p:nvPr/>
        </p:nvSpPr>
        <p:spPr>
          <a:xfrm>
            <a:off x="10098938" y="2167010"/>
            <a:ext cx="2048712" cy="391612"/>
          </a:xfrm>
          <a:custGeom>
            <a:avLst/>
            <a:gdLst/>
            <a:ahLst/>
            <a:cxnLst/>
            <a:rect l="l" t="t" r="r" b="b"/>
            <a:pathLst>
              <a:path w="2048712" h="391612">
                <a:moveTo>
                  <a:pt x="0" y="0"/>
                </a:moveTo>
                <a:lnTo>
                  <a:pt x="2048712" y="0"/>
                </a:lnTo>
                <a:lnTo>
                  <a:pt x="2048712" y="391612"/>
                </a:lnTo>
                <a:lnTo>
                  <a:pt x="0" y="391612"/>
                </a:lnTo>
                <a:lnTo>
                  <a:pt x="0" y="0"/>
                </a:lnTo>
                <a:close/>
              </a:path>
            </a:pathLst>
          </a:custGeom>
          <a:blipFill>
            <a:blip r:embed="rId2"/>
            <a:stretch>
              <a:fillRect l="-54608" t="-943" r="-213347" b="-125237"/>
            </a:stretch>
          </a:blipFill>
        </p:spPr>
      </p:sp>
      <p:sp>
        <p:nvSpPr>
          <p:cNvPr id="21" name="TextBox 21"/>
          <p:cNvSpPr txBox="1"/>
          <p:nvPr/>
        </p:nvSpPr>
        <p:spPr>
          <a:xfrm>
            <a:off x="10291875" y="2203368"/>
            <a:ext cx="1811176" cy="318897"/>
          </a:xfrm>
          <a:prstGeom prst="rect">
            <a:avLst/>
          </a:prstGeom>
        </p:spPr>
        <p:txBody>
          <a:bodyPr lIns="0" tIns="0" rIns="0" bIns="0" rtlCol="0" anchor="t">
            <a:spAutoFit/>
          </a:bodyPr>
          <a:lstStyle/>
          <a:p>
            <a:pPr algn="l">
              <a:lnSpc>
                <a:spcPts val="2753"/>
              </a:lnSpc>
            </a:pPr>
            <a:r>
              <a:rPr lang="en-US" sz="1699" b="1" spc="-61">
                <a:solidFill>
                  <a:srgbClr val="FFFFFF"/>
                </a:solidFill>
                <a:latin typeface="Montserrat Ultra-Bold"/>
                <a:ea typeface="Montserrat Ultra-Bold"/>
                <a:cs typeface="Montserrat Ultra-Bold"/>
                <a:sym typeface="Montserrat Ultra-Bold"/>
              </a:rPr>
              <a:t>ĐIỂM MẠNH</a:t>
            </a:r>
          </a:p>
        </p:txBody>
      </p:sp>
      <p:sp>
        <p:nvSpPr>
          <p:cNvPr id="22" name="AutoShape 22"/>
          <p:cNvSpPr/>
          <p:nvPr/>
        </p:nvSpPr>
        <p:spPr>
          <a:xfrm>
            <a:off x="9958241" y="2195149"/>
            <a:ext cx="0" cy="7376849"/>
          </a:xfrm>
          <a:prstGeom prst="line">
            <a:avLst/>
          </a:prstGeom>
          <a:ln w="19050" cap="flat">
            <a:solidFill>
              <a:srgbClr val="000000"/>
            </a:solidFill>
            <a:prstDash val="solid"/>
            <a:headEnd type="none" w="sm" len="sm"/>
            <a:tailEnd type="none" w="sm" len="sm"/>
          </a:ln>
        </p:spPr>
      </p:sp>
      <p:grpSp>
        <p:nvGrpSpPr>
          <p:cNvPr id="23" name="Group 2">
            <a:extLst>
              <a:ext uri="{FF2B5EF4-FFF2-40B4-BE49-F238E27FC236}">
                <a16:creationId xmlns:a16="http://schemas.microsoft.com/office/drawing/2014/main" id="{420BF82B-CBB1-531A-6104-EAF87254DDEF}"/>
              </a:ext>
            </a:extLst>
          </p:cNvPr>
          <p:cNvGrpSpPr/>
          <p:nvPr/>
        </p:nvGrpSpPr>
        <p:grpSpPr>
          <a:xfrm>
            <a:off x="1028700" y="395218"/>
            <a:ext cx="17259300" cy="1078533"/>
            <a:chOff x="0" y="0"/>
            <a:chExt cx="23012400" cy="1438044"/>
          </a:xfrm>
        </p:grpSpPr>
        <p:sp>
          <p:nvSpPr>
            <p:cNvPr id="24" name="Freeform 3">
              <a:extLst>
                <a:ext uri="{FF2B5EF4-FFF2-40B4-BE49-F238E27FC236}">
                  <a16:creationId xmlns:a16="http://schemas.microsoft.com/office/drawing/2014/main" id="{1B45BC4E-FC44-41B2-6C0D-90178A97D2BC}"/>
                </a:ext>
              </a:extLst>
            </p:cNvPr>
            <p:cNvSpPr/>
            <p:nvPr/>
          </p:nvSpPr>
          <p:spPr>
            <a:xfrm>
              <a:off x="0" y="0"/>
              <a:ext cx="2937194" cy="1274008"/>
            </a:xfrm>
            <a:custGeom>
              <a:avLst/>
              <a:gdLst/>
              <a:ahLst/>
              <a:cxnLst/>
              <a:rect l="l" t="t" r="r" b="b"/>
              <a:pathLst>
                <a:path w="2937194" h="1274008">
                  <a:moveTo>
                    <a:pt x="0" y="0"/>
                  </a:moveTo>
                  <a:lnTo>
                    <a:pt x="2937194" y="0"/>
                  </a:lnTo>
                  <a:lnTo>
                    <a:pt x="2937194" y="1274008"/>
                  </a:lnTo>
                  <a:lnTo>
                    <a:pt x="0" y="1274008"/>
                  </a:lnTo>
                  <a:lnTo>
                    <a:pt x="0" y="0"/>
                  </a:lnTo>
                  <a:close/>
                </a:path>
              </a:pathLst>
            </a:custGeom>
            <a:blipFill>
              <a:blip r:embed="rId3"/>
              <a:stretch>
                <a:fillRect/>
              </a:stretch>
            </a:blipFill>
          </p:spPr>
        </p:sp>
        <p:sp>
          <p:nvSpPr>
            <p:cNvPr id="25" name="Freeform 4">
              <a:extLst>
                <a:ext uri="{FF2B5EF4-FFF2-40B4-BE49-F238E27FC236}">
                  <a16:creationId xmlns:a16="http://schemas.microsoft.com/office/drawing/2014/main" id="{A0E83489-C62F-93CE-EDD0-E1684E96F1E2}"/>
                </a:ext>
              </a:extLst>
            </p:cNvPr>
            <p:cNvSpPr/>
            <p:nvPr/>
          </p:nvSpPr>
          <p:spPr>
            <a:xfrm>
              <a:off x="3134311" y="224397"/>
              <a:ext cx="2339750" cy="1036911"/>
            </a:xfrm>
            <a:custGeom>
              <a:avLst/>
              <a:gdLst/>
              <a:ahLst/>
              <a:cxnLst/>
              <a:rect l="l" t="t" r="r" b="b"/>
              <a:pathLst>
                <a:path w="2339750" h="1036911">
                  <a:moveTo>
                    <a:pt x="0" y="0"/>
                  </a:moveTo>
                  <a:lnTo>
                    <a:pt x="2339749" y="0"/>
                  </a:lnTo>
                  <a:lnTo>
                    <a:pt x="2339749" y="1036911"/>
                  </a:lnTo>
                  <a:lnTo>
                    <a:pt x="0" y="1036911"/>
                  </a:lnTo>
                  <a:lnTo>
                    <a:pt x="0" y="0"/>
                  </a:lnTo>
                  <a:close/>
                </a:path>
              </a:pathLst>
            </a:custGeom>
            <a:blipFill>
              <a:blip r:embed="rId4"/>
              <a:stretch>
                <a:fillRect l="-8002" t="-69970" b="-73732"/>
              </a:stretch>
            </a:blipFill>
          </p:spPr>
        </p:sp>
        <p:sp>
          <p:nvSpPr>
            <p:cNvPr id="26" name="AutoShape 5">
              <a:extLst>
                <a:ext uri="{FF2B5EF4-FFF2-40B4-BE49-F238E27FC236}">
                  <a16:creationId xmlns:a16="http://schemas.microsoft.com/office/drawing/2014/main" id="{1B6C097A-D900-D7F9-D009-D5BA55B9127E}"/>
                </a:ext>
              </a:extLst>
            </p:cNvPr>
            <p:cNvSpPr/>
            <p:nvPr/>
          </p:nvSpPr>
          <p:spPr>
            <a:xfrm flipV="1">
              <a:off x="16552532" y="1299408"/>
              <a:ext cx="6459868" cy="0"/>
            </a:xfrm>
            <a:prstGeom prst="line">
              <a:avLst/>
            </a:prstGeom>
            <a:ln w="25400" cap="flat">
              <a:solidFill>
                <a:srgbClr val="000000"/>
              </a:solidFill>
              <a:prstDash val="solid"/>
              <a:headEnd type="none" w="sm" len="sm"/>
              <a:tailEnd type="none" w="sm" len="sm"/>
            </a:ln>
          </p:spPr>
        </p:sp>
        <p:sp>
          <p:nvSpPr>
            <p:cNvPr id="27" name="TextBox 6">
              <a:extLst>
                <a:ext uri="{FF2B5EF4-FFF2-40B4-BE49-F238E27FC236}">
                  <a16:creationId xmlns:a16="http://schemas.microsoft.com/office/drawing/2014/main" id="{3A683CB2-BE4F-6141-0F03-3E0DA3218E94}"/>
                </a:ext>
              </a:extLst>
            </p:cNvPr>
            <p:cNvSpPr txBox="1"/>
            <p:nvPr/>
          </p:nvSpPr>
          <p:spPr>
            <a:xfrm>
              <a:off x="12954000" y="1088377"/>
              <a:ext cx="3934687" cy="349667"/>
            </a:xfrm>
            <a:prstGeom prst="rect">
              <a:avLst/>
            </a:prstGeom>
          </p:spPr>
          <p:txBody>
            <a:bodyPr wrap="square" lIns="0" tIns="0" rIns="0" bIns="0" rtlCol="0" anchor="t">
              <a:spAutoFit/>
            </a:bodyPr>
            <a:lstStyle/>
            <a:p>
              <a:pPr algn="ctr">
                <a:lnSpc>
                  <a:spcPts val="2239"/>
                </a:lnSpc>
                <a:spcBef>
                  <a:spcPct val="0"/>
                </a:spcBef>
              </a:pPr>
              <a:r>
                <a:rPr lang="en-US" sz="1599" b="1" i="1">
                  <a:solidFill>
                    <a:srgbClr val="000000"/>
                  </a:solidFill>
                  <a:latin typeface="Montserrat Semi-Bold" panose="020B0604020202020204" charset="0"/>
                  <a:ea typeface="Montserrat Medium Italics"/>
                  <a:cs typeface="Montserrat Medium Italics"/>
                  <a:sym typeface="Montserrat Medium Italics"/>
                </a:rPr>
                <a:t>THUẦN HOA GROUP</a:t>
              </a:r>
            </a:p>
          </p:txBody>
        </p:sp>
      </p:grpSp>
      <p:sp>
        <p:nvSpPr>
          <p:cNvPr id="28" name="TextBox 16">
            <a:extLst>
              <a:ext uri="{FF2B5EF4-FFF2-40B4-BE49-F238E27FC236}">
                <a16:creationId xmlns:a16="http://schemas.microsoft.com/office/drawing/2014/main" id="{90C55D5D-CE89-4710-B365-E6D3A53AD2D6}"/>
              </a:ext>
            </a:extLst>
          </p:cNvPr>
          <p:cNvSpPr txBox="1"/>
          <p:nvPr/>
        </p:nvSpPr>
        <p:spPr>
          <a:xfrm>
            <a:off x="597329" y="5634322"/>
            <a:ext cx="8546671" cy="323165"/>
          </a:xfrm>
          <a:prstGeom prst="rect">
            <a:avLst/>
          </a:prstGeom>
        </p:spPr>
        <p:txBody>
          <a:bodyPr wrap="square" lIns="0" tIns="0" rIns="0" bIns="0" rtlCol="0" anchor="t">
            <a:spAutoFit/>
          </a:bodyPr>
          <a:lstStyle/>
          <a:p>
            <a:pPr algn="l">
              <a:lnSpc>
                <a:spcPts val="2753"/>
              </a:lnSpc>
            </a:pPr>
            <a:r>
              <a:rPr lang="en-US" sz="1699" b="1" i="1" spc="-61">
                <a:solidFill>
                  <a:srgbClr val="000000"/>
                </a:solidFill>
                <a:latin typeface="Montserrat Bold Italics"/>
                <a:ea typeface="Montserrat Bold Italics"/>
                <a:cs typeface="Montserrat Bold Italics"/>
                <a:sym typeface="Montserrat Bold Italics"/>
              </a:rPr>
              <a:t>EXOSOME, PEPTIDE COMPLEX ,  6GF, RETINOL, RETINYL PALMITATE</a:t>
            </a:r>
          </a:p>
        </p:txBody>
      </p:sp>
      <p:sp>
        <p:nvSpPr>
          <p:cNvPr id="29" name="TextBox 28">
            <a:extLst>
              <a:ext uri="{FF2B5EF4-FFF2-40B4-BE49-F238E27FC236}">
                <a16:creationId xmlns:a16="http://schemas.microsoft.com/office/drawing/2014/main" id="{A095F9F1-7990-44B5-AD99-988705DE7B62}"/>
              </a:ext>
            </a:extLst>
          </p:cNvPr>
          <p:cNvSpPr txBox="1"/>
          <p:nvPr/>
        </p:nvSpPr>
        <p:spPr>
          <a:xfrm>
            <a:off x="336924" y="5943963"/>
            <a:ext cx="9568045" cy="1771639"/>
          </a:xfrm>
          <a:prstGeom prst="rect">
            <a:avLst/>
          </a:prstGeom>
          <a:noFill/>
        </p:spPr>
        <p:txBody>
          <a:bodyPr wrap="square">
            <a:spAutoFit/>
          </a:bodyPr>
          <a:lstStyle/>
          <a:p>
            <a:pPr marL="367029" lvl="1" indent="-183514" algn="l">
              <a:lnSpc>
                <a:spcPts val="2209"/>
              </a:lnSpc>
              <a:buFont typeface="Arial"/>
              <a:buChar char="•"/>
            </a:pPr>
            <a:r>
              <a:rPr lang="en-US" sz="1800" b="1" spc="-61">
                <a:solidFill>
                  <a:srgbClr val="000000"/>
                </a:solidFill>
                <a:latin typeface="Montserrat Medium"/>
                <a:ea typeface="Montserrat Medium"/>
                <a:cs typeface="Montserrat Medium"/>
                <a:sym typeface="Montserrat Medium"/>
              </a:rPr>
              <a:t>Exosome chiết xuất rau má làm dịu </a:t>
            </a:r>
            <a:r>
              <a:rPr lang="en-US" b="1" spc="-61">
                <a:solidFill>
                  <a:srgbClr val="000000"/>
                </a:solidFill>
                <a:latin typeface="Montserrat Medium"/>
                <a:ea typeface="Montserrat Medium"/>
                <a:cs typeface="Montserrat Medium"/>
                <a:sym typeface="Montserrat Medium"/>
              </a:rPr>
              <a:t>da </a:t>
            </a:r>
            <a:r>
              <a:rPr lang="en-US" sz="1800" b="1" spc="-61">
                <a:solidFill>
                  <a:srgbClr val="000000"/>
                </a:solidFill>
                <a:latin typeface="Montserrat Medium"/>
                <a:ea typeface="Montserrat Medium"/>
                <a:cs typeface="Montserrat Medium"/>
                <a:sym typeface="Montserrat Medium"/>
              </a:rPr>
              <a:t>tức thì, tái tạo phục hồi sửa chữa tổn thương </a:t>
            </a:r>
          </a:p>
          <a:p>
            <a:pPr marL="367029" lvl="1" indent="-183514">
              <a:lnSpc>
                <a:spcPts val="2209"/>
              </a:lnSpc>
              <a:buFont typeface="Arial"/>
              <a:buChar char="•"/>
            </a:pPr>
            <a:r>
              <a:rPr lang="en-US" sz="1800" b="1" spc="-61">
                <a:solidFill>
                  <a:srgbClr val="000000"/>
                </a:solidFill>
                <a:latin typeface="Montserrat Medium"/>
                <a:ea typeface="Montserrat Medium"/>
                <a:cs typeface="Montserrat Medium"/>
                <a:sym typeface="Montserrat Medium"/>
              </a:rPr>
              <a:t>Phức hợp </a:t>
            </a:r>
            <a:r>
              <a:rPr lang="en-US" b="1" spc="-61">
                <a:solidFill>
                  <a:srgbClr val="000000"/>
                </a:solidFill>
                <a:latin typeface="Montserrat Medium"/>
                <a:ea typeface="Montserrat Medium"/>
                <a:cs typeface="Montserrat Medium"/>
                <a:sym typeface="Montserrat Medium"/>
              </a:rPr>
              <a:t>các</a:t>
            </a:r>
            <a:r>
              <a:rPr lang="en-US" sz="1800" b="1" spc="-61">
                <a:solidFill>
                  <a:srgbClr val="000000"/>
                </a:solidFill>
                <a:latin typeface="Montserrat Medium"/>
                <a:ea typeface="Montserrat Medium"/>
                <a:cs typeface="Montserrat Medium"/>
                <a:sym typeface="Montserrat Medium"/>
              </a:rPr>
              <a:t> loại peptide, retinol… giúp kích thích sản sinh collagen, hỗ trợ phục hồi cấu trúc da và làm chậm quá trình lão hoá. </a:t>
            </a:r>
          </a:p>
          <a:p>
            <a:pPr marL="367029" lvl="1" indent="-183514">
              <a:lnSpc>
                <a:spcPts val="2209"/>
              </a:lnSpc>
              <a:buFont typeface="Arial"/>
              <a:buChar char="•"/>
            </a:pPr>
            <a:r>
              <a:rPr lang="en-US" sz="1800" b="1" spc="-61">
                <a:solidFill>
                  <a:srgbClr val="000000"/>
                </a:solidFill>
                <a:latin typeface="Montserrat Medium"/>
                <a:ea typeface="Montserrat Medium"/>
                <a:cs typeface="Montserrat Medium"/>
                <a:sym typeface="Montserrat Medium"/>
              </a:rPr>
              <a:t>Phức hợp 6 yếu tố tăng trưởng </a:t>
            </a:r>
            <a:r>
              <a:rPr lang="vi-VN" sz="1800" b="1" spc="-61">
                <a:solidFill>
                  <a:srgbClr val="000000"/>
                </a:solidFill>
                <a:latin typeface="Montserrat Medium"/>
                <a:ea typeface="Montserrat Medium"/>
                <a:cs typeface="Montserrat Medium"/>
                <a:sym typeface="Montserrat Medium"/>
              </a:rPr>
              <a:t>hoạt động như một hệ thống truyền tín hiệu đa tầng, tác động trực tiếp từ lớp biểu bì ngoài cùng xuống đến cấu trúc nền trung bì.</a:t>
            </a:r>
            <a:endParaRPr lang="en-US" sz="1800" b="1" spc="-61">
              <a:solidFill>
                <a:srgbClr val="000000"/>
              </a:solidFill>
              <a:latin typeface="Montserrat Medium"/>
              <a:ea typeface="Montserrat Medium"/>
              <a:cs typeface="Montserrat Medium"/>
              <a:sym typeface="Montserrat Medium"/>
            </a:endParaRPr>
          </a:p>
          <a:p>
            <a:pPr marL="367029" lvl="1" indent="-183514" algn="l">
              <a:lnSpc>
                <a:spcPts val="2209"/>
              </a:lnSpc>
              <a:buFont typeface="Arial"/>
              <a:buChar char="•"/>
            </a:pPr>
            <a:endParaRPr lang="en-US" sz="1800" b="1" spc="-61">
              <a:solidFill>
                <a:srgbClr val="000000"/>
              </a:solidFill>
              <a:latin typeface="Montserrat Medium"/>
              <a:ea typeface="Montserrat Medium"/>
              <a:cs typeface="Montserrat Medium"/>
              <a:sym typeface="Montserrat Medium"/>
            </a:endParaRPr>
          </a:p>
        </p:txBody>
      </p:sp>
      <p:sp>
        <p:nvSpPr>
          <p:cNvPr id="30" name="TextBox 29">
            <a:extLst>
              <a:ext uri="{FF2B5EF4-FFF2-40B4-BE49-F238E27FC236}">
                <a16:creationId xmlns:a16="http://schemas.microsoft.com/office/drawing/2014/main" id="{5B4CBB48-E498-479D-A26C-4B5BABD16299}"/>
              </a:ext>
            </a:extLst>
          </p:cNvPr>
          <p:cNvSpPr txBox="1"/>
          <p:nvPr/>
        </p:nvSpPr>
        <p:spPr>
          <a:xfrm>
            <a:off x="9904970" y="6228033"/>
            <a:ext cx="8211085" cy="3464410"/>
          </a:xfrm>
          <a:prstGeom prst="rect">
            <a:avLst/>
          </a:prstGeom>
          <a:noFill/>
        </p:spPr>
        <p:txBody>
          <a:bodyPr wrap="square">
            <a:spAutoFit/>
          </a:bodyPr>
          <a:lstStyle/>
          <a:p>
            <a:pPr marL="367029" lvl="1" indent="-183514" algn="l">
              <a:lnSpc>
                <a:spcPts val="2209"/>
              </a:lnSpc>
              <a:buFont typeface="Arial"/>
              <a:buChar char="•"/>
            </a:pPr>
            <a:r>
              <a:rPr lang="en-US" sz="1699" b="1" spc="-61">
                <a:solidFill>
                  <a:srgbClr val="000000"/>
                </a:solidFill>
                <a:latin typeface="Montserrat Medium"/>
                <a:sym typeface="Montserrat Medium"/>
              </a:rPr>
              <a:t>sh-Oligopeptide-1  (EGF – Epidermal Growth Factor): Yếu tố tăng trưởng biểu bì</a:t>
            </a:r>
          </a:p>
          <a:p>
            <a:pPr marL="367029" lvl="1" indent="-183514" algn="l">
              <a:lnSpc>
                <a:spcPts val="2209"/>
              </a:lnSpc>
              <a:buFont typeface="Arial"/>
              <a:buChar char="•"/>
            </a:pPr>
            <a:r>
              <a:rPr lang="en-US" sz="1699" b="1" spc="-61">
                <a:solidFill>
                  <a:srgbClr val="000000"/>
                </a:solidFill>
                <a:latin typeface="Montserrat Medium"/>
                <a:sym typeface="Montserrat Medium"/>
              </a:rPr>
              <a:t>sh-Oligopeptide-2 (IGF-1 - Insulin-like Growth Factor 1) – Yếu tố tăng trưởng giống Insulin 1</a:t>
            </a:r>
          </a:p>
          <a:p>
            <a:pPr marL="367029" lvl="1" indent="-183514" algn="l">
              <a:lnSpc>
                <a:spcPts val="2209"/>
              </a:lnSpc>
              <a:buFont typeface="Arial"/>
              <a:buChar char="•"/>
            </a:pPr>
            <a:r>
              <a:rPr lang="en-US" sz="1699" b="1" spc="-61">
                <a:solidFill>
                  <a:srgbClr val="000000"/>
                </a:solidFill>
                <a:latin typeface="Montserrat Medium"/>
                <a:sym typeface="Montserrat Medium"/>
              </a:rPr>
              <a:t>sh-Polypeptide-1 </a:t>
            </a:r>
            <a:r>
              <a:rPr lang="vi-VN" sz="1699" b="1" spc="-61">
                <a:solidFill>
                  <a:srgbClr val="000000"/>
                </a:solidFill>
                <a:latin typeface="Montserrat Medium"/>
                <a:sym typeface="Montserrat Medium"/>
              </a:rPr>
              <a:t>(bFGF - Basic Fibroblast Growth Factor) – Yếu tố tăng trưởng nguyên bào sợi cơ bản</a:t>
            </a:r>
            <a:endParaRPr lang="en-US" sz="1699" b="1" spc="-61">
              <a:solidFill>
                <a:srgbClr val="000000"/>
              </a:solidFill>
              <a:latin typeface="Montserrat Medium"/>
              <a:sym typeface="Montserrat Medium"/>
            </a:endParaRPr>
          </a:p>
          <a:p>
            <a:pPr marL="367029" lvl="1" indent="-183514" algn="l">
              <a:lnSpc>
                <a:spcPts val="2209"/>
              </a:lnSpc>
              <a:buFont typeface="Arial"/>
              <a:buChar char="•"/>
            </a:pPr>
            <a:r>
              <a:rPr lang="en-US" sz="1699" b="1" spc="-61">
                <a:solidFill>
                  <a:srgbClr val="000000"/>
                </a:solidFill>
                <a:latin typeface="Montserrat Medium"/>
                <a:sym typeface="Montserrat Medium"/>
              </a:rPr>
              <a:t>sh-Polypeptide-22 </a:t>
            </a:r>
            <a:r>
              <a:rPr lang="vi-VN" sz="1699" b="1" spc="-61">
                <a:solidFill>
                  <a:srgbClr val="000000"/>
                </a:solidFill>
                <a:latin typeface="Montserrat Medium"/>
                <a:sym typeface="Montserrat Medium"/>
              </a:rPr>
              <a:t>(TGF-beta 1 - Transforming Growth Factor Beta 1) – Yếu tố tăng trưởng chuyển hóa Beta 1</a:t>
            </a:r>
            <a:endParaRPr lang="en-US" sz="1699" b="1" spc="-61">
              <a:solidFill>
                <a:srgbClr val="000000"/>
              </a:solidFill>
              <a:latin typeface="Montserrat Medium"/>
              <a:sym typeface="Montserrat Medium"/>
            </a:endParaRPr>
          </a:p>
          <a:p>
            <a:pPr marL="367029" lvl="1" indent="-183514" algn="l">
              <a:lnSpc>
                <a:spcPts val="2209"/>
              </a:lnSpc>
              <a:buFont typeface="Arial"/>
              <a:buChar char="•"/>
            </a:pPr>
            <a:r>
              <a:rPr lang="en-US" sz="1699" b="1" spc="-61">
                <a:solidFill>
                  <a:srgbClr val="000000"/>
                </a:solidFill>
                <a:latin typeface="Montserrat Medium"/>
                <a:sym typeface="Montserrat Medium"/>
              </a:rPr>
              <a:t>sh-Polypeptide-3  KGF – Keratinocyte Growth Factor) Yếu tố tăng trưởng tế bào sừng</a:t>
            </a:r>
          </a:p>
          <a:p>
            <a:pPr marL="367029" lvl="1" indent="-183514" algn="l">
              <a:lnSpc>
                <a:spcPts val="2209"/>
              </a:lnSpc>
              <a:buFont typeface="Arial"/>
              <a:buChar char="•"/>
            </a:pPr>
            <a:r>
              <a:rPr lang="en-US" sz="1699" b="1" spc="-61">
                <a:solidFill>
                  <a:srgbClr val="000000"/>
                </a:solidFill>
                <a:latin typeface="Montserrat Medium"/>
                <a:sym typeface="Montserrat Medium"/>
              </a:rPr>
              <a:t>sh-Polypeptide-9 (VEGF – Vascular Endothelial Growth Factor) Yếu tố tăng trưởng nội mô mạch máu</a:t>
            </a:r>
          </a:p>
        </p:txBody>
      </p:sp>
    </p:spTree>
    <p:extLst>
      <p:ext uri="{BB962C8B-B14F-4D97-AF65-F5344CB8AC3E}">
        <p14:creationId xmlns:p14="http://schemas.microsoft.com/office/powerpoint/2010/main" val="3804769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par>
                                <p:cTn id="8" presetID="22" presetClass="entr" presetSubtype="4"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down)">
                                      <p:cBhvr>
                                        <p:cTn id="10" dur="500"/>
                                        <p:tgtEl>
                                          <p:spTgt spid="8"/>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down)">
                                      <p:cBhvr>
                                        <p:cTn id="13" dur="500"/>
                                        <p:tgtEl>
                                          <p:spTgt spid="9"/>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down)">
                                      <p:cBhvr>
                                        <p:cTn id="16" dur="500"/>
                                        <p:tgtEl>
                                          <p:spTgt spid="10"/>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down)">
                                      <p:cBhvr>
                                        <p:cTn id="19" dur="500"/>
                                        <p:tgtEl>
                                          <p:spTgt spid="11"/>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down)">
                                      <p:cBhvr>
                                        <p:cTn id="22" dur="500"/>
                                        <p:tgtEl>
                                          <p:spTgt spid="12"/>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down)">
                                      <p:cBhvr>
                                        <p:cTn id="25" dur="500"/>
                                        <p:tgtEl>
                                          <p:spTgt spid="13"/>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wipe(down)">
                                      <p:cBhvr>
                                        <p:cTn id="28" dur="500"/>
                                        <p:tgtEl>
                                          <p:spTgt spid="15"/>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wipe(down)">
                                      <p:cBhvr>
                                        <p:cTn id="31" dur="500"/>
                                        <p:tgtEl>
                                          <p:spTgt spid="16"/>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wipe(down)">
                                      <p:cBhvr>
                                        <p:cTn id="34" dur="500"/>
                                        <p:tgtEl>
                                          <p:spTgt spid="17"/>
                                        </p:tgtEl>
                                      </p:cBhvr>
                                    </p:animEffect>
                                  </p:childTnLst>
                                </p:cTn>
                              </p:par>
                              <p:par>
                                <p:cTn id="35" presetID="22" presetClass="entr" presetSubtype="4" fill="hold"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wipe(down)">
                                      <p:cBhvr>
                                        <p:cTn id="37" dur="5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wipe(down)">
                                      <p:cBhvr>
                                        <p:cTn id="42" dur="500"/>
                                        <p:tgtEl>
                                          <p:spTgt spid="19"/>
                                        </p:tgtEl>
                                      </p:cBhvr>
                                    </p:animEffect>
                                  </p:childTnLst>
                                </p:cTn>
                              </p:par>
                              <p:par>
                                <p:cTn id="43" presetID="22" presetClass="entr" presetSubtype="4" fill="hold"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down)">
                                      <p:cBhvr>
                                        <p:cTn id="45" dur="500"/>
                                        <p:tgtEl>
                                          <p:spTgt spid="20"/>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wipe(down)">
                                      <p:cBhvr>
                                        <p:cTn id="48" dur="500"/>
                                        <p:tgtEl>
                                          <p:spTgt spid="21"/>
                                        </p:tgtEl>
                                      </p:cBhvr>
                                    </p:animEffect>
                                  </p:childTnLst>
                                </p:cTn>
                              </p:par>
                              <p:par>
                                <p:cTn id="49" presetID="22" presetClass="entr" presetSubtype="4"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wipe(down)">
                                      <p:cBhvr>
                                        <p:cTn id="51"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P spid="11" grpId="0"/>
      <p:bldP spid="12" grpId="0"/>
      <p:bldP spid="13" grpId="0"/>
      <p:bldP spid="15" grpId="0"/>
      <p:bldP spid="16" grpId="0"/>
      <p:bldP spid="17" grpId="0"/>
      <p:bldP spid="19" grpId="0"/>
      <p:bldP spid="21" grpId="0"/>
      <p:bldP spid="2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571500" y="1715534"/>
            <a:ext cx="4938607" cy="7219923"/>
            <a:chOff x="0" y="0"/>
            <a:chExt cx="765120" cy="1118555"/>
          </a:xfrm>
        </p:grpSpPr>
        <p:sp>
          <p:nvSpPr>
            <p:cNvPr id="8" name="Freeform 8"/>
            <p:cNvSpPr/>
            <p:nvPr/>
          </p:nvSpPr>
          <p:spPr>
            <a:xfrm>
              <a:off x="0" y="0"/>
              <a:ext cx="765119" cy="1118555"/>
            </a:xfrm>
            <a:custGeom>
              <a:avLst/>
              <a:gdLst/>
              <a:ahLst/>
              <a:cxnLst/>
              <a:rect l="l" t="t" r="r" b="b"/>
              <a:pathLst>
                <a:path w="765119" h="1118555">
                  <a:moveTo>
                    <a:pt x="0" y="0"/>
                  </a:moveTo>
                  <a:lnTo>
                    <a:pt x="765119" y="0"/>
                  </a:lnTo>
                  <a:lnTo>
                    <a:pt x="765119" y="1118555"/>
                  </a:lnTo>
                  <a:lnTo>
                    <a:pt x="0" y="1118555"/>
                  </a:lnTo>
                  <a:close/>
                </a:path>
              </a:pathLst>
            </a:custGeom>
            <a:blipFill>
              <a:blip r:embed="rId2"/>
              <a:stretch>
                <a:fillRect t="-1333" b="-1333"/>
              </a:stretch>
            </a:blipFill>
          </p:spPr>
        </p:sp>
      </p:grpSp>
      <p:sp>
        <p:nvSpPr>
          <p:cNvPr id="9" name="Freeform 9"/>
          <p:cNvSpPr/>
          <p:nvPr/>
        </p:nvSpPr>
        <p:spPr>
          <a:xfrm>
            <a:off x="5700607" y="1715534"/>
            <a:ext cx="11463317" cy="699294"/>
          </a:xfrm>
          <a:custGeom>
            <a:avLst/>
            <a:gdLst/>
            <a:ahLst/>
            <a:cxnLst/>
            <a:rect l="l" t="t" r="r" b="b"/>
            <a:pathLst>
              <a:path w="11463317" h="699294">
                <a:moveTo>
                  <a:pt x="0" y="0"/>
                </a:moveTo>
                <a:lnTo>
                  <a:pt x="11463317" y="0"/>
                </a:lnTo>
                <a:lnTo>
                  <a:pt x="11463317" y="699294"/>
                </a:lnTo>
                <a:lnTo>
                  <a:pt x="0" y="699294"/>
                </a:lnTo>
                <a:lnTo>
                  <a:pt x="0" y="0"/>
                </a:lnTo>
                <a:close/>
              </a:path>
            </a:pathLst>
          </a:custGeom>
          <a:blipFill>
            <a:blip r:embed="rId3"/>
            <a:stretch>
              <a:fillRect l="-17427" t="-943" b="-125237"/>
            </a:stretch>
          </a:blipFill>
        </p:spPr>
      </p:sp>
      <p:sp>
        <p:nvSpPr>
          <p:cNvPr id="10" name="Freeform 10"/>
          <p:cNvSpPr/>
          <p:nvPr/>
        </p:nvSpPr>
        <p:spPr>
          <a:xfrm>
            <a:off x="5784956" y="4405367"/>
            <a:ext cx="1691066" cy="391612"/>
          </a:xfrm>
          <a:custGeom>
            <a:avLst/>
            <a:gdLst/>
            <a:ahLst/>
            <a:cxnLst/>
            <a:rect l="l" t="t" r="r" b="b"/>
            <a:pathLst>
              <a:path w="1691066" h="391612">
                <a:moveTo>
                  <a:pt x="0" y="0"/>
                </a:moveTo>
                <a:lnTo>
                  <a:pt x="1691066" y="0"/>
                </a:lnTo>
                <a:lnTo>
                  <a:pt x="1691066" y="391612"/>
                </a:lnTo>
                <a:lnTo>
                  <a:pt x="0" y="391612"/>
                </a:lnTo>
                <a:lnTo>
                  <a:pt x="0" y="0"/>
                </a:lnTo>
                <a:close/>
              </a:path>
            </a:pathLst>
          </a:custGeom>
          <a:blipFill>
            <a:blip r:embed="rId3"/>
            <a:stretch>
              <a:fillRect l="-66157" t="-943" r="-279617" b="-125237"/>
            </a:stretch>
          </a:blipFill>
        </p:spPr>
      </p:sp>
      <p:sp>
        <p:nvSpPr>
          <p:cNvPr id="11" name="Freeform 11"/>
          <p:cNvSpPr/>
          <p:nvPr/>
        </p:nvSpPr>
        <p:spPr>
          <a:xfrm>
            <a:off x="5784956" y="5791971"/>
            <a:ext cx="1778146" cy="391612"/>
          </a:xfrm>
          <a:custGeom>
            <a:avLst/>
            <a:gdLst/>
            <a:ahLst/>
            <a:cxnLst/>
            <a:rect l="l" t="t" r="r" b="b"/>
            <a:pathLst>
              <a:path w="1778146" h="391612">
                <a:moveTo>
                  <a:pt x="0" y="0"/>
                </a:moveTo>
                <a:lnTo>
                  <a:pt x="1778146" y="0"/>
                </a:lnTo>
                <a:lnTo>
                  <a:pt x="1778146" y="391612"/>
                </a:lnTo>
                <a:lnTo>
                  <a:pt x="0" y="391612"/>
                </a:lnTo>
                <a:lnTo>
                  <a:pt x="0" y="0"/>
                </a:lnTo>
                <a:close/>
              </a:path>
            </a:pathLst>
          </a:custGeom>
          <a:blipFill>
            <a:blip r:embed="rId3"/>
            <a:stretch>
              <a:fillRect l="-62917" t="-943" r="-261026" b="-125237"/>
            </a:stretch>
          </a:blipFill>
        </p:spPr>
      </p:sp>
      <p:sp>
        <p:nvSpPr>
          <p:cNvPr id="12" name="Freeform 12"/>
          <p:cNvSpPr/>
          <p:nvPr/>
        </p:nvSpPr>
        <p:spPr>
          <a:xfrm>
            <a:off x="5741416" y="8057225"/>
            <a:ext cx="2048712" cy="391612"/>
          </a:xfrm>
          <a:custGeom>
            <a:avLst/>
            <a:gdLst/>
            <a:ahLst/>
            <a:cxnLst/>
            <a:rect l="l" t="t" r="r" b="b"/>
            <a:pathLst>
              <a:path w="2048712" h="391612">
                <a:moveTo>
                  <a:pt x="0" y="0"/>
                </a:moveTo>
                <a:lnTo>
                  <a:pt x="2048712" y="0"/>
                </a:lnTo>
                <a:lnTo>
                  <a:pt x="2048712" y="391612"/>
                </a:lnTo>
                <a:lnTo>
                  <a:pt x="0" y="391612"/>
                </a:lnTo>
                <a:lnTo>
                  <a:pt x="0" y="0"/>
                </a:lnTo>
                <a:close/>
              </a:path>
            </a:pathLst>
          </a:custGeom>
          <a:blipFill>
            <a:blip r:embed="rId3"/>
            <a:stretch>
              <a:fillRect l="-54608" t="-943" r="-213347" b="-125237"/>
            </a:stretch>
          </a:blipFill>
        </p:spPr>
      </p:sp>
      <p:sp>
        <p:nvSpPr>
          <p:cNvPr id="13" name="TextBox 13"/>
          <p:cNvSpPr txBox="1"/>
          <p:nvPr/>
        </p:nvSpPr>
        <p:spPr>
          <a:xfrm>
            <a:off x="5871932" y="1805771"/>
            <a:ext cx="9514736" cy="471195"/>
          </a:xfrm>
          <a:prstGeom prst="rect">
            <a:avLst/>
          </a:prstGeom>
        </p:spPr>
        <p:txBody>
          <a:bodyPr lIns="0" tIns="0" rIns="0" bIns="0" rtlCol="0" anchor="t">
            <a:spAutoFit/>
          </a:bodyPr>
          <a:lstStyle/>
          <a:p>
            <a:pPr algn="l">
              <a:lnSpc>
                <a:spcPts val="3953"/>
              </a:lnSpc>
              <a:spcBef>
                <a:spcPct val="0"/>
              </a:spcBef>
            </a:pPr>
            <a:r>
              <a:rPr lang="en-US" sz="2824" b="1">
                <a:solidFill>
                  <a:srgbClr val="FFFFFF"/>
                </a:solidFill>
                <a:latin typeface="Montserrat Bold"/>
                <a:ea typeface="Montserrat Bold"/>
                <a:cs typeface="Montserrat Bold"/>
                <a:sym typeface="Montserrat Bold"/>
              </a:rPr>
              <a:t>DR.CGF STEM CELL SOLUTION</a:t>
            </a:r>
            <a:r>
              <a:rPr lang="en-US" sz="2824" b="1">
                <a:solidFill>
                  <a:srgbClr val="6C90FF"/>
                </a:solidFill>
                <a:latin typeface="Montserrat Bold"/>
                <a:ea typeface="Montserrat Bold"/>
                <a:cs typeface="Montserrat Bold"/>
                <a:sym typeface="Montserrat Bold"/>
              </a:rPr>
              <a:t> PREMIUM EX</a:t>
            </a:r>
          </a:p>
        </p:txBody>
      </p:sp>
      <p:sp>
        <p:nvSpPr>
          <p:cNvPr id="15" name="TextBox 15"/>
          <p:cNvSpPr txBox="1"/>
          <p:nvPr/>
        </p:nvSpPr>
        <p:spPr>
          <a:xfrm>
            <a:off x="5828496" y="3680394"/>
            <a:ext cx="11756678" cy="547586"/>
          </a:xfrm>
          <a:prstGeom prst="rect">
            <a:avLst/>
          </a:prstGeom>
        </p:spPr>
        <p:txBody>
          <a:bodyPr lIns="0" tIns="0" rIns="0" bIns="0" rtlCol="0" anchor="t">
            <a:spAutoFit/>
          </a:bodyPr>
          <a:lstStyle/>
          <a:p>
            <a:pPr algn="l">
              <a:lnSpc>
                <a:spcPts val="2209"/>
              </a:lnSpc>
            </a:pPr>
            <a:r>
              <a:rPr lang="en-US" sz="1699" b="1" spc="-61">
                <a:solidFill>
                  <a:srgbClr val="000000"/>
                </a:solidFill>
                <a:latin typeface="Montserrat Medium"/>
                <a:ea typeface="Montserrat Medium"/>
                <a:cs typeface="Montserrat Medium"/>
                <a:sym typeface="Montserrat Medium"/>
              </a:rPr>
              <a:t>Trẻ hoá phục hồi làm đầy sẹo, tái sinh da từ gốc</a:t>
            </a:r>
          </a:p>
          <a:p>
            <a:pPr algn="l">
              <a:lnSpc>
                <a:spcPts val="2209"/>
              </a:lnSpc>
            </a:pPr>
            <a:r>
              <a:rPr lang="en-US" sz="1699" b="1" spc="-61">
                <a:solidFill>
                  <a:srgbClr val="000000"/>
                </a:solidFill>
                <a:latin typeface="Montserrat Medium"/>
                <a:ea typeface="Montserrat Medium"/>
                <a:cs typeface="Montserrat Medium"/>
                <a:sym typeface="Montserrat Medium"/>
              </a:rPr>
              <a:t>Sản phẩm sở hữu công nghệ kép liposome và thủy phân</a:t>
            </a:r>
          </a:p>
        </p:txBody>
      </p:sp>
      <p:sp>
        <p:nvSpPr>
          <p:cNvPr id="16" name="TextBox 16"/>
          <p:cNvSpPr txBox="1"/>
          <p:nvPr/>
        </p:nvSpPr>
        <p:spPr>
          <a:xfrm>
            <a:off x="5779768" y="5079451"/>
            <a:ext cx="6524710" cy="318897"/>
          </a:xfrm>
          <a:prstGeom prst="rect">
            <a:avLst/>
          </a:prstGeom>
        </p:spPr>
        <p:txBody>
          <a:bodyPr lIns="0" tIns="0" rIns="0" bIns="0" rtlCol="0" anchor="t">
            <a:spAutoFit/>
          </a:bodyPr>
          <a:lstStyle/>
          <a:p>
            <a:pPr algn="l">
              <a:lnSpc>
                <a:spcPts val="2753"/>
              </a:lnSpc>
            </a:pPr>
            <a:r>
              <a:rPr lang="en-US" sz="1699" b="1" spc="-61">
                <a:solidFill>
                  <a:srgbClr val="000000"/>
                </a:solidFill>
                <a:latin typeface="Montserrat Medium"/>
                <a:ea typeface="Montserrat Medium"/>
                <a:cs typeface="Montserrat Medium"/>
                <a:sym typeface="Montserrat Medium"/>
              </a:rPr>
              <a:t>Hộp chứa 10 lọ thủy tinh, Mỗi lọ 8ml.</a:t>
            </a:r>
          </a:p>
        </p:txBody>
      </p:sp>
      <p:sp>
        <p:nvSpPr>
          <p:cNvPr id="17" name="TextBox 17"/>
          <p:cNvSpPr txBox="1"/>
          <p:nvPr/>
        </p:nvSpPr>
        <p:spPr>
          <a:xfrm>
            <a:off x="5978952" y="4441724"/>
            <a:ext cx="1215994" cy="318897"/>
          </a:xfrm>
          <a:prstGeom prst="rect">
            <a:avLst/>
          </a:prstGeom>
        </p:spPr>
        <p:txBody>
          <a:bodyPr lIns="0" tIns="0" rIns="0" bIns="0" rtlCol="0" anchor="t">
            <a:spAutoFit/>
          </a:bodyPr>
          <a:lstStyle/>
          <a:p>
            <a:pPr algn="l">
              <a:lnSpc>
                <a:spcPts val="2753"/>
              </a:lnSpc>
            </a:pPr>
            <a:r>
              <a:rPr lang="en-US" sz="1699" b="1" spc="-61">
                <a:solidFill>
                  <a:srgbClr val="FFFFFF"/>
                </a:solidFill>
                <a:latin typeface="Montserrat Bold"/>
                <a:ea typeface="Montserrat Bold"/>
                <a:cs typeface="Montserrat Bold"/>
                <a:sym typeface="Montserrat Bold"/>
              </a:rPr>
              <a:t>QUY CÁCH</a:t>
            </a:r>
          </a:p>
        </p:txBody>
      </p:sp>
      <p:sp>
        <p:nvSpPr>
          <p:cNvPr id="18" name="TextBox 18"/>
          <p:cNvSpPr txBox="1"/>
          <p:nvPr/>
        </p:nvSpPr>
        <p:spPr>
          <a:xfrm>
            <a:off x="5741416" y="6436600"/>
            <a:ext cx="11137028" cy="1378585"/>
          </a:xfrm>
          <a:prstGeom prst="rect">
            <a:avLst/>
          </a:prstGeom>
        </p:spPr>
        <p:txBody>
          <a:bodyPr lIns="0" tIns="0" rIns="0" bIns="0" rtlCol="0" anchor="t">
            <a:spAutoFit/>
          </a:bodyPr>
          <a:lstStyle/>
          <a:p>
            <a:pPr marL="367029" lvl="1" indent="-183514" algn="l">
              <a:lnSpc>
                <a:spcPts val="2209"/>
              </a:lnSpc>
              <a:buFont typeface="Arial"/>
              <a:buChar char="•"/>
            </a:pPr>
            <a:r>
              <a:rPr lang="en-US" sz="1699" b="1" spc="-61">
                <a:solidFill>
                  <a:srgbClr val="000000"/>
                </a:solidFill>
                <a:latin typeface="Montserrat Medium"/>
                <a:ea typeface="Montserrat Medium"/>
                <a:cs typeface="Montserrat Medium"/>
                <a:sym typeface="Montserrat Medium"/>
              </a:rPr>
              <a:t>Dùng sau bước cân bằng da, Lấy serum nhỏ 5 giọt lên trán, 2 má, mũi, cằm rùi massage cho đến khi serum thẩm thấu hoàn toàn vào da. </a:t>
            </a:r>
          </a:p>
          <a:p>
            <a:pPr algn="l">
              <a:lnSpc>
                <a:spcPts val="2209"/>
              </a:lnSpc>
            </a:pPr>
            <a:endParaRPr lang="en-US" sz="1699" b="1" spc="-61">
              <a:solidFill>
                <a:srgbClr val="000000"/>
              </a:solidFill>
              <a:latin typeface="Montserrat Medium"/>
              <a:ea typeface="Montserrat Medium"/>
              <a:cs typeface="Montserrat Medium"/>
              <a:sym typeface="Montserrat Medium"/>
            </a:endParaRPr>
          </a:p>
          <a:p>
            <a:pPr marL="367029" lvl="1" indent="-183514" algn="l">
              <a:lnSpc>
                <a:spcPts val="2209"/>
              </a:lnSpc>
              <a:buFont typeface="Arial"/>
              <a:buChar char="•"/>
            </a:pPr>
            <a:r>
              <a:rPr lang="en-US" sz="1699" b="1" spc="-61">
                <a:solidFill>
                  <a:srgbClr val="000000"/>
                </a:solidFill>
                <a:latin typeface="Montserrat Medium"/>
                <a:ea typeface="Montserrat Medium"/>
                <a:cs typeface="Montserrat Medium"/>
                <a:sym typeface="Montserrat Medium"/>
              </a:rPr>
              <a:t>Lưu ý: Vùng da nào bị tổn thương cần phục hồi nhanh nên dùng nhiều lần trong ngày để da được phục hồi nhanh chóng.</a:t>
            </a:r>
          </a:p>
        </p:txBody>
      </p:sp>
      <p:sp>
        <p:nvSpPr>
          <p:cNvPr id="19" name="TextBox 19"/>
          <p:cNvSpPr txBox="1"/>
          <p:nvPr/>
        </p:nvSpPr>
        <p:spPr>
          <a:xfrm>
            <a:off x="5936353" y="5756130"/>
            <a:ext cx="1388272" cy="318897"/>
          </a:xfrm>
          <a:prstGeom prst="rect">
            <a:avLst/>
          </a:prstGeom>
        </p:spPr>
        <p:txBody>
          <a:bodyPr lIns="0" tIns="0" rIns="0" bIns="0" rtlCol="0" anchor="t">
            <a:spAutoFit/>
          </a:bodyPr>
          <a:lstStyle/>
          <a:p>
            <a:pPr algn="l">
              <a:lnSpc>
                <a:spcPts val="2753"/>
              </a:lnSpc>
            </a:pPr>
            <a:r>
              <a:rPr lang="en-US" sz="1699" b="1" spc="-61">
                <a:solidFill>
                  <a:srgbClr val="FFFFFF"/>
                </a:solidFill>
                <a:latin typeface="Montserrat Ultra-Bold"/>
                <a:ea typeface="Montserrat Ultra-Bold"/>
                <a:cs typeface="Montserrat Ultra-Bold"/>
                <a:sym typeface="Montserrat Ultra-Bold"/>
              </a:rPr>
              <a:t>CÁCH DÙNG</a:t>
            </a:r>
          </a:p>
        </p:txBody>
      </p:sp>
      <p:sp>
        <p:nvSpPr>
          <p:cNvPr id="20" name="TextBox 20"/>
          <p:cNvSpPr txBox="1"/>
          <p:nvPr/>
        </p:nvSpPr>
        <p:spPr>
          <a:xfrm>
            <a:off x="5871932" y="8629812"/>
            <a:ext cx="8987068" cy="547586"/>
          </a:xfrm>
          <a:prstGeom prst="rect">
            <a:avLst/>
          </a:prstGeom>
        </p:spPr>
        <p:txBody>
          <a:bodyPr wrap="square" lIns="0" tIns="0" rIns="0" bIns="0" rtlCol="0" anchor="t">
            <a:spAutoFit/>
          </a:bodyPr>
          <a:lstStyle/>
          <a:p>
            <a:pPr marL="367029" lvl="1" indent="-183514" algn="l">
              <a:lnSpc>
                <a:spcPts val="2209"/>
              </a:lnSpc>
              <a:buFont typeface="Arial"/>
              <a:buChar char="•"/>
            </a:pPr>
            <a:r>
              <a:rPr lang="en-US" sz="1699" b="1" spc="-61">
                <a:solidFill>
                  <a:srgbClr val="000000"/>
                </a:solidFill>
                <a:latin typeface="Montserrat Medium"/>
                <a:ea typeface="Montserrat Medium"/>
                <a:cs typeface="Montserrat Medium"/>
                <a:sym typeface="Montserrat Medium"/>
              </a:rPr>
              <a:t>Phù hợp mọi loại da đặc biệt da đang cần tái tạo phục hồi, da lão hóa, da sau điều trị xâm lấn</a:t>
            </a:r>
          </a:p>
        </p:txBody>
      </p:sp>
      <p:sp>
        <p:nvSpPr>
          <p:cNvPr id="21" name="TextBox 21"/>
          <p:cNvSpPr txBox="1"/>
          <p:nvPr/>
        </p:nvSpPr>
        <p:spPr>
          <a:xfrm>
            <a:off x="5978952" y="8060245"/>
            <a:ext cx="1811176" cy="318897"/>
          </a:xfrm>
          <a:prstGeom prst="rect">
            <a:avLst/>
          </a:prstGeom>
        </p:spPr>
        <p:txBody>
          <a:bodyPr lIns="0" tIns="0" rIns="0" bIns="0" rtlCol="0" anchor="t">
            <a:spAutoFit/>
          </a:bodyPr>
          <a:lstStyle/>
          <a:p>
            <a:pPr algn="l">
              <a:lnSpc>
                <a:spcPts val="2753"/>
              </a:lnSpc>
            </a:pPr>
            <a:r>
              <a:rPr lang="en-US" sz="1699" b="1" spc="-61">
                <a:solidFill>
                  <a:srgbClr val="FFFFFF"/>
                </a:solidFill>
                <a:latin typeface="Montserrat Ultra-Bold"/>
                <a:ea typeface="Montserrat Ultra-Bold"/>
                <a:cs typeface="Montserrat Ultra-Bold"/>
                <a:sym typeface="Montserrat Ultra-Bold"/>
              </a:rPr>
              <a:t>DÀNH CHO DA</a:t>
            </a:r>
          </a:p>
        </p:txBody>
      </p:sp>
      <p:grpSp>
        <p:nvGrpSpPr>
          <p:cNvPr id="22" name="Group 2">
            <a:extLst>
              <a:ext uri="{FF2B5EF4-FFF2-40B4-BE49-F238E27FC236}">
                <a16:creationId xmlns:a16="http://schemas.microsoft.com/office/drawing/2014/main" id="{AC7412F9-6272-6AFC-0BBC-ED1440E100A1}"/>
              </a:ext>
            </a:extLst>
          </p:cNvPr>
          <p:cNvGrpSpPr/>
          <p:nvPr/>
        </p:nvGrpSpPr>
        <p:grpSpPr>
          <a:xfrm>
            <a:off x="1028700" y="395218"/>
            <a:ext cx="17259300" cy="1078533"/>
            <a:chOff x="0" y="0"/>
            <a:chExt cx="23012400" cy="1438044"/>
          </a:xfrm>
        </p:grpSpPr>
        <p:sp>
          <p:nvSpPr>
            <p:cNvPr id="23" name="Freeform 3">
              <a:extLst>
                <a:ext uri="{FF2B5EF4-FFF2-40B4-BE49-F238E27FC236}">
                  <a16:creationId xmlns:a16="http://schemas.microsoft.com/office/drawing/2014/main" id="{C02CD94E-919C-93F0-8A18-C7DA39B7379A}"/>
                </a:ext>
              </a:extLst>
            </p:cNvPr>
            <p:cNvSpPr/>
            <p:nvPr/>
          </p:nvSpPr>
          <p:spPr>
            <a:xfrm>
              <a:off x="0" y="0"/>
              <a:ext cx="2937194" cy="1274008"/>
            </a:xfrm>
            <a:custGeom>
              <a:avLst/>
              <a:gdLst/>
              <a:ahLst/>
              <a:cxnLst/>
              <a:rect l="l" t="t" r="r" b="b"/>
              <a:pathLst>
                <a:path w="2937194" h="1274008">
                  <a:moveTo>
                    <a:pt x="0" y="0"/>
                  </a:moveTo>
                  <a:lnTo>
                    <a:pt x="2937194" y="0"/>
                  </a:lnTo>
                  <a:lnTo>
                    <a:pt x="2937194" y="1274008"/>
                  </a:lnTo>
                  <a:lnTo>
                    <a:pt x="0" y="1274008"/>
                  </a:lnTo>
                  <a:lnTo>
                    <a:pt x="0" y="0"/>
                  </a:lnTo>
                  <a:close/>
                </a:path>
              </a:pathLst>
            </a:custGeom>
            <a:blipFill>
              <a:blip r:embed="rId4"/>
              <a:stretch>
                <a:fillRect/>
              </a:stretch>
            </a:blipFill>
          </p:spPr>
        </p:sp>
        <p:sp>
          <p:nvSpPr>
            <p:cNvPr id="24" name="Freeform 4">
              <a:extLst>
                <a:ext uri="{FF2B5EF4-FFF2-40B4-BE49-F238E27FC236}">
                  <a16:creationId xmlns:a16="http://schemas.microsoft.com/office/drawing/2014/main" id="{52FC1389-595A-7569-47CB-55FFBF5EB016}"/>
                </a:ext>
              </a:extLst>
            </p:cNvPr>
            <p:cNvSpPr/>
            <p:nvPr/>
          </p:nvSpPr>
          <p:spPr>
            <a:xfrm>
              <a:off x="3134311" y="224397"/>
              <a:ext cx="2339750" cy="1036911"/>
            </a:xfrm>
            <a:custGeom>
              <a:avLst/>
              <a:gdLst/>
              <a:ahLst/>
              <a:cxnLst/>
              <a:rect l="l" t="t" r="r" b="b"/>
              <a:pathLst>
                <a:path w="2339750" h="1036911">
                  <a:moveTo>
                    <a:pt x="0" y="0"/>
                  </a:moveTo>
                  <a:lnTo>
                    <a:pt x="2339749" y="0"/>
                  </a:lnTo>
                  <a:lnTo>
                    <a:pt x="2339749" y="1036911"/>
                  </a:lnTo>
                  <a:lnTo>
                    <a:pt x="0" y="1036911"/>
                  </a:lnTo>
                  <a:lnTo>
                    <a:pt x="0" y="0"/>
                  </a:lnTo>
                  <a:close/>
                </a:path>
              </a:pathLst>
            </a:custGeom>
            <a:blipFill>
              <a:blip r:embed="rId5"/>
              <a:stretch>
                <a:fillRect l="-8002" t="-69970" b="-73732"/>
              </a:stretch>
            </a:blipFill>
          </p:spPr>
        </p:sp>
        <p:sp>
          <p:nvSpPr>
            <p:cNvPr id="25" name="AutoShape 5">
              <a:extLst>
                <a:ext uri="{FF2B5EF4-FFF2-40B4-BE49-F238E27FC236}">
                  <a16:creationId xmlns:a16="http://schemas.microsoft.com/office/drawing/2014/main" id="{5DF5F00B-3A85-2BAB-906D-AF2E88B96AFD}"/>
                </a:ext>
              </a:extLst>
            </p:cNvPr>
            <p:cNvSpPr/>
            <p:nvPr/>
          </p:nvSpPr>
          <p:spPr>
            <a:xfrm flipV="1">
              <a:off x="16552532" y="1299408"/>
              <a:ext cx="6459868" cy="0"/>
            </a:xfrm>
            <a:prstGeom prst="line">
              <a:avLst/>
            </a:prstGeom>
            <a:ln w="25400" cap="flat">
              <a:solidFill>
                <a:srgbClr val="000000"/>
              </a:solidFill>
              <a:prstDash val="solid"/>
              <a:headEnd type="none" w="sm" len="sm"/>
              <a:tailEnd type="none" w="sm" len="sm"/>
            </a:ln>
          </p:spPr>
        </p:sp>
        <p:sp>
          <p:nvSpPr>
            <p:cNvPr id="26" name="TextBox 6">
              <a:extLst>
                <a:ext uri="{FF2B5EF4-FFF2-40B4-BE49-F238E27FC236}">
                  <a16:creationId xmlns:a16="http://schemas.microsoft.com/office/drawing/2014/main" id="{B772C2AB-1152-8086-7928-5ED86A01B5D3}"/>
                </a:ext>
              </a:extLst>
            </p:cNvPr>
            <p:cNvSpPr txBox="1"/>
            <p:nvPr/>
          </p:nvSpPr>
          <p:spPr>
            <a:xfrm>
              <a:off x="12954000" y="1088377"/>
              <a:ext cx="3934687" cy="349667"/>
            </a:xfrm>
            <a:prstGeom prst="rect">
              <a:avLst/>
            </a:prstGeom>
          </p:spPr>
          <p:txBody>
            <a:bodyPr wrap="square" lIns="0" tIns="0" rIns="0" bIns="0" rtlCol="0" anchor="t">
              <a:spAutoFit/>
            </a:bodyPr>
            <a:lstStyle/>
            <a:p>
              <a:pPr algn="ctr">
                <a:lnSpc>
                  <a:spcPts val="2239"/>
                </a:lnSpc>
                <a:spcBef>
                  <a:spcPct val="0"/>
                </a:spcBef>
              </a:pPr>
              <a:r>
                <a:rPr lang="en-US" sz="1599" b="1" i="1">
                  <a:solidFill>
                    <a:srgbClr val="000000"/>
                  </a:solidFill>
                  <a:latin typeface="Montserrat Semi-Bold" panose="020B0604020202020204" charset="0"/>
                  <a:ea typeface="Montserrat Medium Italics"/>
                  <a:cs typeface="Montserrat Medium Italics"/>
                  <a:sym typeface="Montserrat Medium Italics"/>
                </a:rPr>
                <a:t>THUẦN HOA GROUP</a:t>
              </a:r>
            </a:p>
          </p:txBody>
        </p:sp>
      </p:grpSp>
      <p:sp>
        <p:nvSpPr>
          <p:cNvPr id="28" name="Freeform 10">
            <a:extLst>
              <a:ext uri="{FF2B5EF4-FFF2-40B4-BE49-F238E27FC236}">
                <a16:creationId xmlns:a16="http://schemas.microsoft.com/office/drawing/2014/main" id="{8C4EE085-53E9-4A90-B0FB-6750DA6D7DA5}"/>
              </a:ext>
            </a:extLst>
          </p:cNvPr>
          <p:cNvSpPr/>
          <p:nvPr/>
        </p:nvSpPr>
        <p:spPr>
          <a:xfrm>
            <a:off x="5828496" y="3049578"/>
            <a:ext cx="1691066" cy="391612"/>
          </a:xfrm>
          <a:custGeom>
            <a:avLst/>
            <a:gdLst/>
            <a:ahLst/>
            <a:cxnLst/>
            <a:rect l="l" t="t" r="r" b="b"/>
            <a:pathLst>
              <a:path w="1691066" h="391612">
                <a:moveTo>
                  <a:pt x="0" y="0"/>
                </a:moveTo>
                <a:lnTo>
                  <a:pt x="1691066" y="0"/>
                </a:lnTo>
                <a:lnTo>
                  <a:pt x="1691066" y="391612"/>
                </a:lnTo>
                <a:lnTo>
                  <a:pt x="0" y="391612"/>
                </a:lnTo>
                <a:lnTo>
                  <a:pt x="0" y="0"/>
                </a:lnTo>
                <a:close/>
              </a:path>
            </a:pathLst>
          </a:custGeom>
          <a:blipFill>
            <a:blip r:embed="rId3"/>
            <a:stretch>
              <a:fillRect l="-66157" t="-943" r="-279617" b="-125237"/>
            </a:stretch>
          </a:blipFill>
        </p:spPr>
      </p:sp>
      <p:sp>
        <p:nvSpPr>
          <p:cNvPr id="29" name="TextBox 28">
            <a:extLst>
              <a:ext uri="{FF2B5EF4-FFF2-40B4-BE49-F238E27FC236}">
                <a16:creationId xmlns:a16="http://schemas.microsoft.com/office/drawing/2014/main" id="{9ACD6BF4-98A9-4438-AA90-631D1D8043ED}"/>
              </a:ext>
            </a:extLst>
          </p:cNvPr>
          <p:cNvSpPr txBox="1"/>
          <p:nvPr/>
        </p:nvSpPr>
        <p:spPr>
          <a:xfrm>
            <a:off x="5871932" y="2977042"/>
            <a:ext cx="9153524" cy="418704"/>
          </a:xfrm>
          <a:prstGeom prst="rect">
            <a:avLst/>
          </a:prstGeom>
          <a:noFill/>
        </p:spPr>
        <p:txBody>
          <a:bodyPr wrap="square">
            <a:spAutoFit/>
          </a:bodyPr>
          <a:lstStyle/>
          <a:p>
            <a:pPr algn="l">
              <a:lnSpc>
                <a:spcPts val="2753"/>
              </a:lnSpc>
            </a:pPr>
            <a:r>
              <a:rPr lang="en-US" sz="1800" b="1" spc="-61">
                <a:solidFill>
                  <a:srgbClr val="FFFFFF"/>
                </a:solidFill>
                <a:latin typeface="Montserrat Bold"/>
                <a:ea typeface="Montserrat Bold"/>
                <a:cs typeface="Montserrat Bold"/>
                <a:sym typeface="Montserrat Bold"/>
              </a:rPr>
              <a:t>CÔNG DỤNG</a:t>
            </a:r>
          </a:p>
        </p:txBody>
      </p:sp>
    </p:spTree>
    <p:extLst>
      <p:ext uri="{BB962C8B-B14F-4D97-AF65-F5344CB8AC3E}">
        <p14:creationId xmlns:p14="http://schemas.microsoft.com/office/powerpoint/2010/main" val="4010304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down)">
                                      <p:cBhvr>
                                        <p:cTn id="16" dur="5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down)">
                                      <p:cBhvr>
                                        <p:cTn id="21" dur="500"/>
                                        <p:tgtEl>
                                          <p:spTgt spid="17"/>
                                        </p:tgtEl>
                                      </p:cBhvr>
                                    </p:animEffect>
                                  </p:childTnLst>
                                </p:cTn>
                              </p:par>
                              <p:par>
                                <p:cTn id="22" presetID="22" presetClass="entr" presetSubtype="4"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down)">
                                      <p:cBhvr>
                                        <p:cTn id="24" dur="500"/>
                                        <p:tgtEl>
                                          <p:spTgt spid="10"/>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down)">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down)">
                                      <p:cBhvr>
                                        <p:cTn id="32" dur="500"/>
                                        <p:tgtEl>
                                          <p:spTgt spid="11"/>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wipe(down)">
                                      <p:cBhvr>
                                        <p:cTn id="35" dur="500"/>
                                        <p:tgtEl>
                                          <p:spTgt spid="19"/>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wipe(down)">
                                      <p:cBhvr>
                                        <p:cTn id="38" dur="500"/>
                                        <p:tgtEl>
                                          <p:spTgt spid="18"/>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wipe(down)">
                                      <p:cBhvr>
                                        <p:cTn id="43" dur="500"/>
                                        <p:tgtEl>
                                          <p:spTgt spid="12"/>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wipe(down)">
                                      <p:cBhvr>
                                        <p:cTn id="46" dur="500"/>
                                        <p:tgtEl>
                                          <p:spTgt spid="21"/>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wipe(down)">
                                      <p:cBhvr>
                                        <p:cTn id="49" dur="500"/>
                                        <p:tgtEl>
                                          <p:spTgt spid="20"/>
                                        </p:tgtEl>
                                      </p:cBhvr>
                                    </p:animEffect>
                                  </p:childTnLst>
                                </p:cTn>
                              </p:par>
                              <p:par>
                                <p:cTn id="50" presetID="22" presetClass="entr" presetSubtype="4" fill="hold" nodeType="with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wipe(down)">
                                      <p:cBhvr>
                                        <p:cTn id="5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16" grpId="0"/>
      <p:bldP spid="17" grpId="0"/>
      <p:bldP spid="18" grpId="0"/>
      <p:bldP spid="19" grpId="0"/>
      <p:bldP spid="20" grpId="0"/>
      <p:bldP spid="2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
            <a:extLst>
              <a:ext uri="{FF2B5EF4-FFF2-40B4-BE49-F238E27FC236}">
                <a16:creationId xmlns:a16="http://schemas.microsoft.com/office/drawing/2014/main" id="{AC7412F9-6272-6AFC-0BBC-ED1440E100A1}"/>
              </a:ext>
            </a:extLst>
          </p:cNvPr>
          <p:cNvGrpSpPr/>
          <p:nvPr/>
        </p:nvGrpSpPr>
        <p:grpSpPr>
          <a:xfrm>
            <a:off x="1028700" y="395218"/>
            <a:ext cx="17259300" cy="1078533"/>
            <a:chOff x="0" y="0"/>
            <a:chExt cx="23012400" cy="1438044"/>
          </a:xfrm>
        </p:grpSpPr>
        <p:sp>
          <p:nvSpPr>
            <p:cNvPr id="23" name="Freeform 3">
              <a:extLst>
                <a:ext uri="{FF2B5EF4-FFF2-40B4-BE49-F238E27FC236}">
                  <a16:creationId xmlns:a16="http://schemas.microsoft.com/office/drawing/2014/main" id="{C02CD94E-919C-93F0-8A18-C7DA39B7379A}"/>
                </a:ext>
              </a:extLst>
            </p:cNvPr>
            <p:cNvSpPr/>
            <p:nvPr/>
          </p:nvSpPr>
          <p:spPr>
            <a:xfrm>
              <a:off x="0" y="0"/>
              <a:ext cx="2937194" cy="1274008"/>
            </a:xfrm>
            <a:custGeom>
              <a:avLst/>
              <a:gdLst/>
              <a:ahLst/>
              <a:cxnLst/>
              <a:rect l="l" t="t" r="r" b="b"/>
              <a:pathLst>
                <a:path w="2937194" h="1274008">
                  <a:moveTo>
                    <a:pt x="0" y="0"/>
                  </a:moveTo>
                  <a:lnTo>
                    <a:pt x="2937194" y="0"/>
                  </a:lnTo>
                  <a:lnTo>
                    <a:pt x="2937194" y="1274008"/>
                  </a:lnTo>
                  <a:lnTo>
                    <a:pt x="0" y="1274008"/>
                  </a:lnTo>
                  <a:lnTo>
                    <a:pt x="0" y="0"/>
                  </a:lnTo>
                  <a:close/>
                </a:path>
              </a:pathLst>
            </a:custGeom>
            <a:blipFill>
              <a:blip r:embed="rId2"/>
              <a:stretch>
                <a:fillRect/>
              </a:stretch>
            </a:blipFill>
          </p:spPr>
        </p:sp>
        <p:sp>
          <p:nvSpPr>
            <p:cNvPr id="24" name="Freeform 4">
              <a:extLst>
                <a:ext uri="{FF2B5EF4-FFF2-40B4-BE49-F238E27FC236}">
                  <a16:creationId xmlns:a16="http://schemas.microsoft.com/office/drawing/2014/main" id="{52FC1389-595A-7569-47CB-55FFBF5EB016}"/>
                </a:ext>
              </a:extLst>
            </p:cNvPr>
            <p:cNvSpPr/>
            <p:nvPr/>
          </p:nvSpPr>
          <p:spPr>
            <a:xfrm>
              <a:off x="3134311" y="224397"/>
              <a:ext cx="2339750" cy="1036911"/>
            </a:xfrm>
            <a:custGeom>
              <a:avLst/>
              <a:gdLst/>
              <a:ahLst/>
              <a:cxnLst/>
              <a:rect l="l" t="t" r="r" b="b"/>
              <a:pathLst>
                <a:path w="2339750" h="1036911">
                  <a:moveTo>
                    <a:pt x="0" y="0"/>
                  </a:moveTo>
                  <a:lnTo>
                    <a:pt x="2339749" y="0"/>
                  </a:lnTo>
                  <a:lnTo>
                    <a:pt x="2339749" y="1036911"/>
                  </a:lnTo>
                  <a:lnTo>
                    <a:pt x="0" y="1036911"/>
                  </a:lnTo>
                  <a:lnTo>
                    <a:pt x="0" y="0"/>
                  </a:lnTo>
                  <a:close/>
                </a:path>
              </a:pathLst>
            </a:custGeom>
            <a:blipFill>
              <a:blip r:embed="rId3"/>
              <a:stretch>
                <a:fillRect l="-8002" t="-69970" b="-73732"/>
              </a:stretch>
            </a:blipFill>
          </p:spPr>
        </p:sp>
        <p:sp>
          <p:nvSpPr>
            <p:cNvPr id="25" name="AutoShape 5">
              <a:extLst>
                <a:ext uri="{FF2B5EF4-FFF2-40B4-BE49-F238E27FC236}">
                  <a16:creationId xmlns:a16="http://schemas.microsoft.com/office/drawing/2014/main" id="{5DF5F00B-3A85-2BAB-906D-AF2E88B96AFD}"/>
                </a:ext>
              </a:extLst>
            </p:cNvPr>
            <p:cNvSpPr/>
            <p:nvPr/>
          </p:nvSpPr>
          <p:spPr>
            <a:xfrm flipV="1">
              <a:off x="16552532" y="1299408"/>
              <a:ext cx="6459868" cy="0"/>
            </a:xfrm>
            <a:prstGeom prst="line">
              <a:avLst/>
            </a:prstGeom>
            <a:ln w="25400" cap="flat">
              <a:solidFill>
                <a:srgbClr val="000000"/>
              </a:solidFill>
              <a:prstDash val="solid"/>
              <a:headEnd type="none" w="sm" len="sm"/>
              <a:tailEnd type="none" w="sm" len="sm"/>
            </a:ln>
          </p:spPr>
        </p:sp>
        <p:sp>
          <p:nvSpPr>
            <p:cNvPr id="26" name="TextBox 6">
              <a:extLst>
                <a:ext uri="{FF2B5EF4-FFF2-40B4-BE49-F238E27FC236}">
                  <a16:creationId xmlns:a16="http://schemas.microsoft.com/office/drawing/2014/main" id="{B772C2AB-1152-8086-7928-5ED86A01B5D3}"/>
                </a:ext>
              </a:extLst>
            </p:cNvPr>
            <p:cNvSpPr txBox="1"/>
            <p:nvPr/>
          </p:nvSpPr>
          <p:spPr>
            <a:xfrm>
              <a:off x="12954000" y="1088377"/>
              <a:ext cx="3934687" cy="349667"/>
            </a:xfrm>
            <a:prstGeom prst="rect">
              <a:avLst/>
            </a:prstGeom>
          </p:spPr>
          <p:txBody>
            <a:bodyPr wrap="square" lIns="0" tIns="0" rIns="0" bIns="0" rtlCol="0" anchor="t">
              <a:spAutoFit/>
            </a:bodyPr>
            <a:lstStyle/>
            <a:p>
              <a:pPr algn="ctr">
                <a:lnSpc>
                  <a:spcPts val="2239"/>
                </a:lnSpc>
                <a:spcBef>
                  <a:spcPct val="0"/>
                </a:spcBef>
              </a:pPr>
              <a:r>
                <a:rPr lang="en-US" sz="1599" b="1" i="1">
                  <a:solidFill>
                    <a:srgbClr val="000000"/>
                  </a:solidFill>
                  <a:latin typeface="Montserrat Semi-Bold" panose="020B0604020202020204" charset="0"/>
                  <a:ea typeface="Montserrat Medium Italics"/>
                  <a:cs typeface="Montserrat Medium Italics"/>
                  <a:sym typeface="Montserrat Medium Italics"/>
                </a:rPr>
                <a:t>THUẦN HOA GROUP</a:t>
              </a:r>
            </a:p>
          </p:txBody>
        </p:sp>
      </p:grpSp>
      <p:pic>
        <p:nvPicPr>
          <p:cNvPr id="27" name="Picture 26">
            <a:extLst>
              <a:ext uri="{FF2B5EF4-FFF2-40B4-BE49-F238E27FC236}">
                <a16:creationId xmlns:a16="http://schemas.microsoft.com/office/drawing/2014/main" id="{3142ADE3-8325-4259-B9AB-02A155EEA76C}"/>
              </a:ext>
            </a:extLst>
          </p:cNvPr>
          <p:cNvPicPr>
            <a:picLocks noChangeAspect="1"/>
          </p:cNvPicPr>
          <p:nvPr/>
        </p:nvPicPr>
        <p:blipFill>
          <a:blip r:embed="rId4"/>
          <a:stretch>
            <a:fillRect/>
          </a:stretch>
        </p:blipFill>
        <p:spPr>
          <a:xfrm>
            <a:off x="1447800" y="2027244"/>
            <a:ext cx="15632301" cy="8259756"/>
          </a:xfrm>
          <a:prstGeom prst="rect">
            <a:avLst/>
          </a:prstGeom>
        </p:spPr>
      </p:pic>
    </p:spTree>
    <p:extLst>
      <p:ext uri="{BB962C8B-B14F-4D97-AF65-F5344CB8AC3E}">
        <p14:creationId xmlns:p14="http://schemas.microsoft.com/office/powerpoint/2010/main" val="6469359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
            <a:extLst>
              <a:ext uri="{FF2B5EF4-FFF2-40B4-BE49-F238E27FC236}">
                <a16:creationId xmlns:a16="http://schemas.microsoft.com/office/drawing/2014/main" id="{AC7412F9-6272-6AFC-0BBC-ED1440E100A1}"/>
              </a:ext>
            </a:extLst>
          </p:cNvPr>
          <p:cNvGrpSpPr/>
          <p:nvPr/>
        </p:nvGrpSpPr>
        <p:grpSpPr>
          <a:xfrm>
            <a:off x="1028700" y="395218"/>
            <a:ext cx="17259300" cy="1078533"/>
            <a:chOff x="0" y="0"/>
            <a:chExt cx="23012400" cy="1438044"/>
          </a:xfrm>
        </p:grpSpPr>
        <p:sp>
          <p:nvSpPr>
            <p:cNvPr id="23" name="Freeform 3">
              <a:extLst>
                <a:ext uri="{FF2B5EF4-FFF2-40B4-BE49-F238E27FC236}">
                  <a16:creationId xmlns:a16="http://schemas.microsoft.com/office/drawing/2014/main" id="{C02CD94E-919C-93F0-8A18-C7DA39B7379A}"/>
                </a:ext>
              </a:extLst>
            </p:cNvPr>
            <p:cNvSpPr/>
            <p:nvPr/>
          </p:nvSpPr>
          <p:spPr>
            <a:xfrm>
              <a:off x="0" y="0"/>
              <a:ext cx="2937194" cy="1274008"/>
            </a:xfrm>
            <a:custGeom>
              <a:avLst/>
              <a:gdLst/>
              <a:ahLst/>
              <a:cxnLst/>
              <a:rect l="l" t="t" r="r" b="b"/>
              <a:pathLst>
                <a:path w="2937194" h="1274008">
                  <a:moveTo>
                    <a:pt x="0" y="0"/>
                  </a:moveTo>
                  <a:lnTo>
                    <a:pt x="2937194" y="0"/>
                  </a:lnTo>
                  <a:lnTo>
                    <a:pt x="2937194" y="1274008"/>
                  </a:lnTo>
                  <a:lnTo>
                    <a:pt x="0" y="1274008"/>
                  </a:lnTo>
                  <a:lnTo>
                    <a:pt x="0" y="0"/>
                  </a:lnTo>
                  <a:close/>
                </a:path>
              </a:pathLst>
            </a:custGeom>
            <a:blipFill>
              <a:blip r:embed="rId2"/>
              <a:stretch>
                <a:fillRect/>
              </a:stretch>
            </a:blipFill>
          </p:spPr>
        </p:sp>
        <p:sp>
          <p:nvSpPr>
            <p:cNvPr id="24" name="Freeform 4">
              <a:extLst>
                <a:ext uri="{FF2B5EF4-FFF2-40B4-BE49-F238E27FC236}">
                  <a16:creationId xmlns:a16="http://schemas.microsoft.com/office/drawing/2014/main" id="{52FC1389-595A-7569-47CB-55FFBF5EB016}"/>
                </a:ext>
              </a:extLst>
            </p:cNvPr>
            <p:cNvSpPr/>
            <p:nvPr/>
          </p:nvSpPr>
          <p:spPr>
            <a:xfrm>
              <a:off x="3134311" y="224397"/>
              <a:ext cx="2339750" cy="1036911"/>
            </a:xfrm>
            <a:custGeom>
              <a:avLst/>
              <a:gdLst/>
              <a:ahLst/>
              <a:cxnLst/>
              <a:rect l="l" t="t" r="r" b="b"/>
              <a:pathLst>
                <a:path w="2339750" h="1036911">
                  <a:moveTo>
                    <a:pt x="0" y="0"/>
                  </a:moveTo>
                  <a:lnTo>
                    <a:pt x="2339749" y="0"/>
                  </a:lnTo>
                  <a:lnTo>
                    <a:pt x="2339749" y="1036911"/>
                  </a:lnTo>
                  <a:lnTo>
                    <a:pt x="0" y="1036911"/>
                  </a:lnTo>
                  <a:lnTo>
                    <a:pt x="0" y="0"/>
                  </a:lnTo>
                  <a:close/>
                </a:path>
              </a:pathLst>
            </a:custGeom>
            <a:blipFill>
              <a:blip r:embed="rId3"/>
              <a:stretch>
                <a:fillRect l="-8002" t="-69970" b="-73732"/>
              </a:stretch>
            </a:blipFill>
          </p:spPr>
        </p:sp>
        <p:sp>
          <p:nvSpPr>
            <p:cNvPr id="25" name="AutoShape 5">
              <a:extLst>
                <a:ext uri="{FF2B5EF4-FFF2-40B4-BE49-F238E27FC236}">
                  <a16:creationId xmlns:a16="http://schemas.microsoft.com/office/drawing/2014/main" id="{5DF5F00B-3A85-2BAB-906D-AF2E88B96AFD}"/>
                </a:ext>
              </a:extLst>
            </p:cNvPr>
            <p:cNvSpPr/>
            <p:nvPr/>
          </p:nvSpPr>
          <p:spPr>
            <a:xfrm flipV="1">
              <a:off x="16552532" y="1299408"/>
              <a:ext cx="6459868" cy="0"/>
            </a:xfrm>
            <a:prstGeom prst="line">
              <a:avLst/>
            </a:prstGeom>
            <a:ln w="25400" cap="flat">
              <a:solidFill>
                <a:srgbClr val="000000"/>
              </a:solidFill>
              <a:prstDash val="solid"/>
              <a:headEnd type="none" w="sm" len="sm"/>
              <a:tailEnd type="none" w="sm" len="sm"/>
            </a:ln>
          </p:spPr>
        </p:sp>
        <p:sp>
          <p:nvSpPr>
            <p:cNvPr id="26" name="TextBox 6">
              <a:extLst>
                <a:ext uri="{FF2B5EF4-FFF2-40B4-BE49-F238E27FC236}">
                  <a16:creationId xmlns:a16="http://schemas.microsoft.com/office/drawing/2014/main" id="{B772C2AB-1152-8086-7928-5ED86A01B5D3}"/>
                </a:ext>
              </a:extLst>
            </p:cNvPr>
            <p:cNvSpPr txBox="1"/>
            <p:nvPr/>
          </p:nvSpPr>
          <p:spPr>
            <a:xfrm>
              <a:off x="12954000" y="1088377"/>
              <a:ext cx="3934687" cy="349667"/>
            </a:xfrm>
            <a:prstGeom prst="rect">
              <a:avLst/>
            </a:prstGeom>
          </p:spPr>
          <p:txBody>
            <a:bodyPr wrap="square" lIns="0" tIns="0" rIns="0" bIns="0" rtlCol="0" anchor="t">
              <a:spAutoFit/>
            </a:bodyPr>
            <a:lstStyle/>
            <a:p>
              <a:pPr algn="ctr">
                <a:lnSpc>
                  <a:spcPts val="2239"/>
                </a:lnSpc>
                <a:spcBef>
                  <a:spcPct val="0"/>
                </a:spcBef>
              </a:pPr>
              <a:r>
                <a:rPr lang="en-US" sz="1599" b="1" i="1">
                  <a:solidFill>
                    <a:srgbClr val="000000"/>
                  </a:solidFill>
                  <a:latin typeface="Montserrat Semi-Bold" panose="020B0604020202020204" charset="0"/>
                  <a:ea typeface="Montserrat Medium Italics"/>
                  <a:cs typeface="Montserrat Medium Italics"/>
                  <a:sym typeface="Montserrat Medium Italics"/>
                </a:rPr>
                <a:t>THUẦN HOA GROUP</a:t>
              </a:r>
            </a:p>
          </p:txBody>
        </p:sp>
      </p:grpSp>
      <p:pic>
        <p:nvPicPr>
          <p:cNvPr id="2" name="Picture 1">
            <a:extLst>
              <a:ext uri="{FF2B5EF4-FFF2-40B4-BE49-F238E27FC236}">
                <a16:creationId xmlns:a16="http://schemas.microsoft.com/office/drawing/2014/main" id="{048B7756-E127-452C-BD42-0CE8361058F5}"/>
              </a:ext>
            </a:extLst>
          </p:cNvPr>
          <p:cNvPicPr>
            <a:picLocks noChangeAspect="1"/>
          </p:cNvPicPr>
          <p:nvPr/>
        </p:nvPicPr>
        <p:blipFill>
          <a:blip r:embed="rId4"/>
          <a:stretch>
            <a:fillRect/>
          </a:stretch>
        </p:blipFill>
        <p:spPr>
          <a:xfrm>
            <a:off x="1028700" y="2063439"/>
            <a:ext cx="16686198" cy="8187638"/>
          </a:xfrm>
          <a:prstGeom prst="rect">
            <a:avLst/>
          </a:prstGeom>
        </p:spPr>
      </p:pic>
    </p:spTree>
    <p:extLst>
      <p:ext uri="{BB962C8B-B14F-4D97-AF65-F5344CB8AC3E}">
        <p14:creationId xmlns:p14="http://schemas.microsoft.com/office/powerpoint/2010/main" val="40193529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7"/>
          <p:cNvSpPr txBox="1"/>
          <p:nvPr/>
        </p:nvSpPr>
        <p:spPr>
          <a:xfrm>
            <a:off x="1266236" y="2861998"/>
            <a:ext cx="8710757" cy="1102360"/>
          </a:xfrm>
          <a:prstGeom prst="rect">
            <a:avLst/>
          </a:prstGeom>
        </p:spPr>
        <p:txBody>
          <a:bodyPr lIns="0" tIns="0" rIns="0" bIns="0" rtlCol="0" anchor="t">
            <a:spAutoFit/>
          </a:bodyPr>
          <a:lstStyle/>
          <a:p>
            <a:pPr marL="367029" lvl="1" indent="-183514" algn="l">
              <a:lnSpc>
                <a:spcPts val="2209"/>
              </a:lnSpc>
              <a:buFont typeface="Arial"/>
              <a:buChar char="•"/>
            </a:pPr>
            <a:r>
              <a:rPr lang="en-US" sz="1699" b="1" spc="-61">
                <a:solidFill>
                  <a:srgbClr val="000000"/>
                </a:solidFill>
                <a:latin typeface="Montserrat Medium"/>
                <a:ea typeface="Montserrat Medium"/>
                <a:cs typeface="Montserrat Medium"/>
                <a:sym typeface="Montserrat Medium"/>
              </a:rPr>
              <a:t>Giàu chất chống oxy hoá mạnh, giúp kháng viêm, giảm kích ứng và làm dịu da hiệu quả. </a:t>
            </a:r>
          </a:p>
          <a:p>
            <a:pPr marL="367029" lvl="1" indent="-183514" algn="l">
              <a:lnSpc>
                <a:spcPts val="2209"/>
              </a:lnSpc>
              <a:buFont typeface="Arial"/>
              <a:buChar char="•"/>
            </a:pPr>
            <a:r>
              <a:rPr lang="en-US" sz="1699" b="1" spc="-61">
                <a:solidFill>
                  <a:srgbClr val="000000"/>
                </a:solidFill>
                <a:latin typeface="Montserrat Medium"/>
                <a:ea typeface="Montserrat Medium"/>
                <a:cs typeface="Montserrat Medium"/>
                <a:sym typeface="Montserrat Medium"/>
              </a:rPr>
              <a:t>Đặc biệt hỗ trợ phục hồi da sau peel, laser và các liệu trình treatment mạnh, giúp da nhanh ổn định và khỏe hơn.</a:t>
            </a:r>
          </a:p>
        </p:txBody>
      </p:sp>
      <p:sp>
        <p:nvSpPr>
          <p:cNvPr id="8" name="Freeform 8"/>
          <p:cNvSpPr/>
          <p:nvPr/>
        </p:nvSpPr>
        <p:spPr>
          <a:xfrm>
            <a:off x="1028700" y="1881451"/>
            <a:ext cx="2508617" cy="391612"/>
          </a:xfrm>
          <a:custGeom>
            <a:avLst/>
            <a:gdLst/>
            <a:ahLst/>
            <a:cxnLst/>
            <a:rect l="l" t="t" r="r" b="b"/>
            <a:pathLst>
              <a:path w="2508617" h="391612">
                <a:moveTo>
                  <a:pt x="0" y="0"/>
                </a:moveTo>
                <a:lnTo>
                  <a:pt x="2508617" y="0"/>
                </a:lnTo>
                <a:lnTo>
                  <a:pt x="2508617" y="391612"/>
                </a:lnTo>
                <a:lnTo>
                  <a:pt x="0" y="391612"/>
                </a:lnTo>
                <a:lnTo>
                  <a:pt x="0" y="0"/>
                </a:lnTo>
                <a:close/>
              </a:path>
            </a:pathLst>
          </a:custGeom>
          <a:blipFill>
            <a:blip r:embed="rId2"/>
            <a:stretch>
              <a:fillRect l="-44596" t="-943" r="-155901" b="-125237"/>
            </a:stretch>
          </a:blipFill>
        </p:spPr>
      </p:sp>
      <p:sp>
        <p:nvSpPr>
          <p:cNvPr id="9" name="TextBox 9"/>
          <p:cNvSpPr txBox="1"/>
          <p:nvPr/>
        </p:nvSpPr>
        <p:spPr>
          <a:xfrm>
            <a:off x="1266236" y="1884471"/>
            <a:ext cx="2131558" cy="318897"/>
          </a:xfrm>
          <a:prstGeom prst="rect">
            <a:avLst/>
          </a:prstGeom>
        </p:spPr>
        <p:txBody>
          <a:bodyPr lIns="0" tIns="0" rIns="0" bIns="0" rtlCol="0" anchor="t">
            <a:spAutoFit/>
          </a:bodyPr>
          <a:lstStyle/>
          <a:p>
            <a:pPr algn="l">
              <a:lnSpc>
                <a:spcPts val="2753"/>
              </a:lnSpc>
            </a:pPr>
            <a:r>
              <a:rPr lang="en-US" sz="1699" b="1" spc="-61">
                <a:solidFill>
                  <a:srgbClr val="FFFFFF"/>
                </a:solidFill>
                <a:latin typeface="Montserrat Ultra-Bold"/>
                <a:ea typeface="Montserrat Ultra-Bold"/>
                <a:cs typeface="Montserrat Ultra-Bold"/>
                <a:sym typeface="Montserrat Ultra-Bold"/>
              </a:rPr>
              <a:t>CƠ CHẾ TÁC DỤNG</a:t>
            </a:r>
          </a:p>
        </p:txBody>
      </p:sp>
      <p:sp>
        <p:nvSpPr>
          <p:cNvPr id="10" name="TextBox 10"/>
          <p:cNvSpPr txBox="1"/>
          <p:nvPr/>
        </p:nvSpPr>
        <p:spPr>
          <a:xfrm>
            <a:off x="1266236" y="2456161"/>
            <a:ext cx="3938882" cy="318897"/>
          </a:xfrm>
          <a:prstGeom prst="rect">
            <a:avLst/>
          </a:prstGeom>
        </p:spPr>
        <p:txBody>
          <a:bodyPr lIns="0" tIns="0" rIns="0" bIns="0" rtlCol="0" anchor="t">
            <a:spAutoFit/>
          </a:bodyPr>
          <a:lstStyle/>
          <a:p>
            <a:pPr algn="l">
              <a:lnSpc>
                <a:spcPts val="2753"/>
              </a:lnSpc>
            </a:pPr>
            <a:r>
              <a:rPr lang="en-US" sz="1699" b="1" i="1" spc="-61">
                <a:solidFill>
                  <a:srgbClr val="000000"/>
                </a:solidFill>
                <a:latin typeface="Montserrat Bold Italics"/>
                <a:ea typeface="Montserrat Bold Italics"/>
                <a:cs typeface="Montserrat Bold Italics"/>
                <a:sym typeface="Montserrat Bold Italics"/>
              </a:rPr>
              <a:t>HOA NHUNG TUYẾT (EDELWEISS)</a:t>
            </a:r>
          </a:p>
        </p:txBody>
      </p:sp>
      <p:sp>
        <p:nvSpPr>
          <p:cNvPr id="11" name="TextBox 11"/>
          <p:cNvSpPr txBox="1"/>
          <p:nvPr/>
        </p:nvSpPr>
        <p:spPr>
          <a:xfrm>
            <a:off x="1266235" y="4465948"/>
            <a:ext cx="9313073" cy="1111843"/>
          </a:xfrm>
          <a:prstGeom prst="rect">
            <a:avLst/>
          </a:prstGeom>
        </p:spPr>
        <p:txBody>
          <a:bodyPr wrap="square" lIns="0" tIns="0" rIns="0" bIns="0" rtlCol="0" anchor="t">
            <a:spAutoFit/>
          </a:bodyPr>
          <a:lstStyle/>
          <a:p>
            <a:pPr marL="367029" lvl="1" indent="-183514">
              <a:lnSpc>
                <a:spcPts val="2209"/>
              </a:lnSpc>
              <a:buFont typeface="Arial"/>
              <a:buChar char="•"/>
            </a:pPr>
            <a:r>
              <a:rPr lang="vi-VN" sz="1699" b="1" spc="-61">
                <a:solidFill>
                  <a:srgbClr val="000000"/>
                </a:solidFill>
                <a:latin typeface="Montserrat Medium"/>
                <a:ea typeface="Montserrat Medium"/>
                <a:cs typeface="Montserrat Medium"/>
                <a:sym typeface="Montserrat Medium"/>
              </a:rPr>
              <a:t>Duy trì độ đàn hồi và săn chắc: Việc bổ sung Hydrolyzed Elastin hỗ trợ cải thiện độ đàn hồi, giúp da có khả năng co giãn và phục hồi trạng thái ban đầu tốt hơn.</a:t>
            </a:r>
            <a:endParaRPr lang="en-US" sz="1699" b="1" spc="-61">
              <a:solidFill>
                <a:srgbClr val="000000"/>
              </a:solidFill>
              <a:latin typeface="Montserrat Medium"/>
              <a:ea typeface="Montserrat Medium"/>
              <a:cs typeface="Montserrat Medium"/>
              <a:sym typeface="Montserrat Medium"/>
            </a:endParaRPr>
          </a:p>
          <a:p>
            <a:pPr marL="367029" lvl="1" indent="-183514">
              <a:lnSpc>
                <a:spcPts val="2209"/>
              </a:lnSpc>
              <a:buFont typeface="Arial"/>
              <a:buChar char="•"/>
            </a:pPr>
            <a:r>
              <a:rPr lang="vi-VN" sz="1699" b="1" spc="-61">
                <a:solidFill>
                  <a:srgbClr val="000000"/>
                </a:solidFill>
                <a:latin typeface="Montserrat Medium"/>
                <a:ea typeface="Montserrat Medium"/>
                <a:cs typeface="Montserrat Medium"/>
                <a:sym typeface="Montserrat Medium"/>
              </a:rPr>
              <a:t>Hydrolyzed Collagen cung cấp dưỡng chất cần thiết để hỗ trợ cấu trúc, giúp da duy trì vẻ săn chắc và hỗ trợ quá trình làm đầy các nếp nhăn tĩnh.</a:t>
            </a:r>
            <a:endParaRPr lang="en-US" sz="1699" b="1" spc="-61">
              <a:solidFill>
                <a:srgbClr val="000000"/>
              </a:solidFill>
              <a:latin typeface="Montserrat Medium"/>
              <a:ea typeface="Montserrat Medium"/>
              <a:cs typeface="Montserrat Medium"/>
              <a:sym typeface="Montserrat Medium"/>
            </a:endParaRPr>
          </a:p>
        </p:txBody>
      </p:sp>
      <p:sp>
        <p:nvSpPr>
          <p:cNvPr id="12" name="TextBox 12"/>
          <p:cNvSpPr txBox="1"/>
          <p:nvPr/>
        </p:nvSpPr>
        <p:spPr>
          <a:xfrm>
            <a:off x="1321117" y="6112213"/>
            <a:ext cx="8582485" cy="547586"/>
          </a:xfrm>
          <a:prstGeom prst="rect">
            <a:avLst/>
          </a:prstGeom>
        </p:spPr>
        <p:txBody>
          <a:bodyPr wrap="square" lIns="0" tIns="0" rIns="0" bIns="0" rtlCol="0" anchor="t">
            <a:spAutoFit/>
          </a:bodyPr>
          <a:lstStyle/>
          <a:p>
            <a:pPr marL="367029" lvl="1" indent="-183514">
              <a:lnSpc>
                <a:spcPts val="2209"/>
              </a:lnSpc>
              <a:buFont typeface="Arial"/>
              <a:buChar char="•"/>
            </a:pPr>
            <a:r>
              <a:rPr lang="vi-VN" sz="1699" b="1" spc="-61">
                <a:solidFill>
                  <a:srgbClr val="000000"/>
                </a:solidFill>
                <a:latin typeface="Montserrat Medium"/>
                <a:ea typeface="Montserrat Medium"/>
                <a:cs typeface="Montserrat Medium"/>
                <a:sym typeface="Montserrat Medium"/>
              </a:rPr>
              <a:t>Đây là yếu tố tăng trưởng biểu bì. Nó thúc đẩy quá trình sản sinh tế bào mới, giúp vết thương mau lành và làm mờ nếp nhăn</a:t>
            </a:r>
            <a:r>
              <a:rPr lang="en-US" sz="1699" b="1" spc="-61">
                <a:solidFill>
                  <a:srgbClr val="000000"/>
                </a:solidFill>
                <a:latin typeface="Montserrat Medium"/>
                <a:ea typeface="Montserrat Medium"/>
                <a:cs typeface="Montserrat Medium"/>
                <a:sym typeface="Montserrat Medium"/>
              </a:rPr>
              <a:t>.</a:t>
            </a:r>
          </a:p>
        </p:txBody>
      </p:sp>
      <p:sp>
        <p:nvSpPr>
          <p:cNvPr id="13" name="TextBox 13"/>
          <p:cNvSpPr txBox="1"/>
          <p:nvPr/>
        </p:nvSpPr>
        <p:spPr>
          <a:xfrm>
            <a:off x="1266236" y="7284540"/>
            <a:ext cx="9173164" cy="826135"/>
          </a:xfrm>
          <a:prstGeom prst="rect">
            <a:avLst/>
          </a:prstGeom>
        </p:spPr>
        <p:txBody>
          <a:bodyPr wrap="square" lIns="0" tIns="0" rIns="0" bIns="0" rtlCol="0" anchor="t">
            <a:spAutoFit/>
          </a:bodyPr>
          <a:lstStyle/>
          <a:p>
            <a:pPr marL="367029" lvl="1" indent="-183514" algn="l">
              <a:lnSpc>
                <a:spcPts val="2209"/>
              </a:lnSpc>
              <a:buFont typeface="Arial"/>
              <a:buChar char="•"/>
            </a:pPr>
            <a:r>
              <a:rPr lang="en-US" sz="1699" b="1" spc="-61">
                <a:solidFill>
                  <a:srgbClr val="000000"/>
                </a:solidFill>
                <a:latin typeface="Montserrat Medium"/>
                <a:ea typeface="Montserrat Medium"/>
                <a:cs typeface="Montserrat Medium"/>
                <a:sym typeface="Montserrat Medium"/>
              </a:rPr>
              <a:t>Giúp làm dịu da, giảm đỏ rát, kích ứng và sưng viêm. </a:t>
            </a:r>
          </a:p>
          <a:p>
            <a:pPr marL="367029" lvl="1" indent="-183514" algn="l">
              <a:lnSpc>
                <a:spcPts val="2209"/>
              </a:lnSpc>
              <a:buFont typeface="Arial"/>
              <a:buChar char="•"/>
            </a:pPr>
            <a:r>
              <a:rPr lang="en-US" sz="1699" b="1" spc="-61">
                <a:solidFill>
                  <a:srgbClr val="000000"/>
                </a:solidFill>
                <a:latin typeface="Montserrat Medium"/>
                <a:ea typeface="Montserrat Medium"/>
                <a:cs typeface="Montserrat Medium"/>
                <a:sym typeface="Montserrat Medium"/>
              </a:rPr>
              <a:t>Hỗ trợ phục hồi tổn thương và củng cố hàng rào bảo vệ da, đặc biệt phù hợp cho da nhạy cảm hoặc da sau treatment. </a:t>
            </a:r>
          </a:p>
        </p:txBody>
      </p:sp>
      <p:sp>
        <p:nvSpPr>
          <p:cNvPr id="14" name="TextBox 14"/>
          <p:cNvSpPr txBox="1"/>
          <p:nvPr/>
        </p:nvSpPr>
        <p:spPr>
          <a:xfrm>
            <a:off x="1266235" y="4031032"/>
            <a:ext cx="8106363" cy="323165"/>
          </a:xfrm>
          <a:prstGeom prst="rect">
            <a:avLst/>
          </a:prstGeom>
        </p:spPr>
        <p:txBody>
          <a:bodyPr wrap="square" lIns="0" tIns="0" rIns="0" bIns="0" rtlCol="0" anchor="t">
            <a:spAutoFit/>
          </a:bodyPr>
          <a:lstStyle/>
          <a:p>
            <a:pPr>
              <a:lnSpc>
                <a:spcPts val="2753"/>
              </a:lnSpc>
            </a:pPr>
            <a:r>
              <a:rPr lang="en-US" sz="1699" b="1" i="1" spc="-61">
                <a:solidFill>
                  <a:srgbClr val="000000"/>
                </a:solidFill>
                <a:latin typeface="Montserrat Bold Italics"/>
                <a:ea typeface="Montserrat Bold Italics"/>
                <a:cs typeface="Montserrat Bold Italics"/>
                <a:sym typeface="Montserrat Bold Italics"/>
              </a:rPr>
              <a:t>HYDROLYZED COLLAGEN – HYDROLYZED ELASTIN </a:t>
            </a:r>
          </a:p>
        </p:txBody>
      </p:sp>
      <p:sp>
        <p:nvSpPr>
          <p:cNvPr id="15" name="TextBox 15"/>
          <p:cNvSpPr txBox="1"/>
          <p:nvPr/>
        </p:nvSpPr>
        <p:spPr>
          <a:xfrm>
            <a:off x="1365176" y="5692920"/>
            <a:ext cx="3374736" cy="323165"/>
          </a:xfrm>
          <a:prstGeom prst="rect">
            <a:avLst/>
          </a:prstGeom>
        </p:spPr>
        <p:txBody>
          <a:bodyPr lIns="0" tIns="0" rIns="0" bIns="0" rtlCol="0" anchor="t">
            <a:spAutoFit/>
          </a:bodyPr>
          <a:lstStyle/>
          <a:p>
            <a:pPr algn="l">
              <a:lnSpc>
                <a:spcPts val="2753"/>
              </a:lnSpc>
            </a:pPr>
            <a:r>
              <a:rPr lang="en-US" sz="1699" b="1" i="1" spc="-61">
                <a:solidFill>
                  <a:srgbClr val="000000"/>
                </a:solidFill>
                <a:latin typeface="Montserrat Bold Italics"/>
                <a:ea typeface="Montserrat Bold Italics"/>
                <a:cs typeface="Montserrat Bold Italics"/>
                <a:sym typeface="Montserrat Bold Italics"/>
              </a:rPr>
              <a:t>SH – OLIGOPEPTIDE – 1 (EGF)</a:t>
            </a:r>
          </a:p>
        </p:txBody>
      </p:sp>
      <p:sp>
        <p:nvSpPr>
          <p:cNvPr id="16" name="TextBox 16"/>
          <p:cNvSpPr txBox="1"/>
          <p:nvPr/>
        </p:nvSpPr>
        <p:spPr>
          <a:xfrm>
            <a:off x="1266235" y="6774928"/>
            <a:ext cx="4803835" cy="318897"/>
          </a:xfrm>
          <a:prstGeom prst="rect">
            <a:avLst/>
          </a:prstGeom>
        </p:spPr>
        <p:txBody>
          <a:bodyPr lIns="0" tIns="0" rIns="0" bIns="0" rtlCol="0" anchor="t">
            <a:spAutoFit/>
          </a:bodyPr>
          <a:lstStyle/>
          <a:p>
            <a:pPr algn="l">
              <a:lnSpc>
                <a:spcPts val="2753"/>
              </a:lnSpc>
            </a:pPr>
            <a:r>
              <a:rPr lang="en-US" sz="1699" b="1" i="1" spc="-61">
                <a:solidFill>
                  <a:srgbClr val="000000"/>
                </a:solidFill>
                <a:latin typeface="Montserrat Bold Italics"/>
                <a:ea typeface="Montserrat Bold Italics"/>
                <a:cs typeface="Montserrat Bold Italics"/>
                <a:sym typeface="Montserrat Bold Italics"/>
              </a:rPr>
              <a:t>CENTELLA ASIATICA EXTRACT (RAU MÁ)</a:t>
            </a:r>
          </a:p>
        </p:txBody>
      </p:sp>
      <p:sp>
        <p:nvSpPr>
          <p:cNvPr id="17" name="TextBox 17"/>
          <p:cNvSpPr txBox="1"/>
          <p:nvPr/>
        </p:nvSpPr>
        <p:spPr>
          <a:xfrm>
            <a:off x="11309902" y="2454038"/>
            <a:ext cx="5611024" cy="3588385"/>
          </a:xfrm>
          <a:prstGeom prst="rect">
            <a:avLst/>
          </a:prstGeom>
        </p:spPr>
        <p:txBody>
          <a:bodyPr lIns="0" tIns="0" rIns="0" bIns="0" rtlCol="0" anchor="t">
            <a:spAutoFit/>
          </a:bodyPr>
          <a:lstStyle/>
          <a:p>
            <a:pPr marL="367029" lvl="1" indent="-183514" algn="l">
              <a:lnSpc>
                <a:spcPts val="2209"/>
              </a:lnSpc>
              <a:buFont typeface="Arial"/>
              <a:buChar char="•"/>
            </a:pPr>
            <a:r>
              <a:rPr lang="en-US" sz="1699" b="1" spc="-61">
                <a:solidFill>
                  <a:srgbClr val="000000"/>
                </a:solidFill>
                <a:latin typeface="Montserrat Medium"/>
                <a:ea typeface="Montserrat Medium"/>
                <a:cs typeface="Montserrat Medium"/>
                <a:sym typeface="Montserrat Medium"/>
              </a:rPr>
              <a:t>CÔNG NGHỆ LIPOSOME TIÊN TIẾN Bao bọc &amp; vận chuyển hoạt chất tối ưu </a:t>
            </a:r>
          </a:p>
          <a:p>
            <a:pPr marL="367029" lvl="1" indent="-183514" algn="l">
              <a:lnSpc>
                <a:spcPts val="2209"/>
              </a:lnSpc>
              <a:buFont typeface="Arial"/>
              <a:buChar char="•"/>
            </a:pPr>
            <a:r>
              <a:rPr lang="en-US" sz="1699" b="1" spc="-61">
                <a:solidFill>
                  <a:srgbClr val="000000"/>
                </a:solidFill>
                <a:latin typeface="Montserrat Medium"/>
                <a:ea typeface="Montserrat Medium"/>
                <a:cs typeface="Montserrat Medium"/>
                <a:sym typeface="Montserrat Medium"/>
              </a:rPr>
              <a:t>– Liposome hoạt động như “vi nang sinh học”, bao bọc dưỡng chất, giúp hoạt chất thẩm thấu sâu hơn vào các lớp da. </a:t>
            </a:r>
          </a:p>
          <a:p>
            <a:pPr marL="367029" lvl="1" indent="-183514" algn="l">
              <a:lnSpc>
                <a:spcPts val="2209"/>
              </a:lnSpc>
              <a:buFont typeface="Arial"/>
              <a:buChar char="•"/>
            </a:pPr>
            <a:r>
              <a:rPr lang="en-US" sz="1699" b="1" spc="-61">
                <a:solidFill>
                  <a:srgbClr val="000000"/>
                </a:solidFill>
                <a:latin typeface="Montserrat Medium"/>
                <a:ea typeface="Montserrat Medium"/>
                <a:cs typeface="Montserrat Medium"/>
                <a:sym typeface="Montserrat Medium"/>
              </a:rPr>
              <a:t>Hiệu quả cao hơn gấp nhiều lần so với công nghệ thường </a:t>
            </a:r>
          </a:p>
          <a:p>
            <a:pPr marL="367029" lvl="1" indent="-183514" algn="l">
              <a:lnSpc>
                <a:spcPts val="2209"/>
              </a:lnSpc>
              <a:buFont typeface="Arial"/>
              <a:buChar char="•"/>
            </a:pPr>
            <a:r>
              <a:rPr lang="en-US" sz="1699" b="1" spc="-61">
                <a:solidFill>
                  <a:srgbClr val="000000"/>
                </a:solidFill>
                <a:latin typeface="Montserrat Medium"/>
                <a:ea typeface="Montserrat Medium"/>
                <a:cs typeface="Montserrat Medium"/>
                <a:sym typeface="Montserrat Medium"/>
              </a:rPr>
              <a:t>– Cùng một nồng độ nhưng Liposome giúp da hấp thu tốt hơn, phát huy trọn vẹn công dụng dưỡng </a:t>
            </a:r>
          </a:p>
          <a:p>
            <a:pPr marL="367029" lvl="1" indent="-183514" algn="l">
              <a:lnSpc>
                <a:spcPts val="2209"/>
              </a:lnSpc>
              <a:buFont typeface="Arial"/>
              <a:buChar char="•"/>
            </a:pPr>
            <a:r>
              <a:rPr lang="en-US" sz="1699" b="1" spc="-61">
                <a:solidFill>
                  <a:srgbClr val="000000"/>
                </a:solidFill>
                <a:latin typeface="Montserrat Medium"/>
                <a:ea typeface="Montserrat Medium"/>
                <a:cs typeface="Montserrat Medium"/>
                <a:sym typeface="Montserrat Medium"/>
              </a:rPr>
              <a:t>– phục hồi. Làm dịu &amp; phục hồi da nhanh </a:t>
            </a:r>
          </a:p>
          <a:p>
            <a:pPr marL="367029" lvl="1" indent="-183514" algn="l">
              <a:lnSpc>
                <a:spcPts val="2209"/>
              </a:lnSpc>
              <a:buFont typeface="Arial"/>
              <a:buChar char="•"/>
            </a:pPr>
            <a:r>
              <a:rPr lang="en-US" sz="1699" b="1" spc="-61">
                <a:solidFill>
                  <a:srgbClr val="000000"/>
                </a:solidFill>
                <a:latin typeface="Montserrat Medium"/>
                <a:ea typeface="Montserrat Medium"/>
                <a:cs typeface="Montserrat Medium"/>
                <a:sym typeface="Montserrat Medium"/>
              </a:rPr>
              <a:t>– Hoa nhung tuyết + Rau má giúp giảm đỏ rát, kích ứng, đặc biệt hiệu quả sau peel, laser, treatment mạnh.</a:t>
            </a:r>
          </a:p>
        </p:txBody>
      </p:sp>
      <p:sp>
        <p:nvSpPr>
          <p:cNvPr id="18" name="Freeform 18"/>
          <p:cNvSpPr/>
          <p:nvPr/>
        </p:nvSpPr>
        <p:spPr>
          <a:xfrm>
            <a:off x="11179386" y="1881451"/>
            <a:ext cx="2048712" cy="391612"/>
          </a:xfrm>
          <a:custGeom>
            <a:avLst/>
            <a:gdLst/>
            <a:ahLst/>
            <a:cxnLst/>
            <a:rect l="l" t="t" r="r" b="b"/>
            <a:pathLst>
              <a:path w="2048712" h="391612">
                <a:moveTo>
                  <a:pt x="0" y="0"/>
                </a:moveTo>
                <a:lnTo>
                  <a:pt x="2048712" y="0"/>
                </a:lnTo>
                <a:lnTo>
                  <a:pt x="2048712" y="391612"/>
                </a:lnTo>
                <a:lnTo>
                  <a:pt x="0" y="391612"/>
                </a:lnTo>
                <a:lnTo>
                  <a:pt x="0" y="0"/>
                </a:lnTo>
                <a:close/>
              </a:path>
            </a:pathLst>
          </a:custGeom>
          <a:blipFill>
            <a:blip r:embed="rId2"/>
            <a:stretch>
              <a:fillRect l="-54608" t="-943" r="-213347" b="-125237"/>
            </a:stretch>
          </a:blipFill>
        </p:spPr>
      </p:sp>
      <p:sp>
        <p:nvSpPr>
          <p:cNvPr id="19" name="TextBox 19"/>
          <p:cNvSpPr txBox="1"/>
          <p:nvPr/>
        </p:nvSpPr>
        <p:spPr>
          <a:xfrm>
            <a:off x="11416922" y="1884471"/>
            <a:ext cx="1811176" cy="318897"/>
          </a:xfrm>
          <a:prstGeom prst="rect">
            <a:avLst/>
          </a:prstGeom>
        </p:spPr>
        <p:txBody>
          <a:bodyPr lIns="0" tIns="0" rIns="0" bIns="0" rtlCol="0" anchor="t">
            <a:spAutoFit/>
          </a:bodyPr>
          <a:lstStyle/>
          <a:p>
            <a:pPr algn="l">
              <a:lnSpc>
                <a:spcPts val="2753"/>
              </a:lnSpc>
            </a:pPr>
            <a:r>
              <a:rPr lang="en-US" sz="1699" b="1" spc="-61">
                <a:solidFill>
                  <a:srgbClr val="FFFFFF"/>
                </a:solidFill>
                <a:latin typeface="Montserrat Ultra-Bold"/>
                <a:ea typeface="Montserrat Ultra-Bold"/>
                <a:cs typeface="Montserrat Ultra-Bold"/>
                <a:sym typeface="Montserrat Ultra-Bold"/>
              </a:rPr>
              <a:t>ĐIỂM MẠNH</a:t>
            </a:r>
          </a:p>
        </p:txBody>
      </p:sp>
      <p:sp>
        <p:nvSpPr>
          <p:cNvPr id="20" name="AutoShape 20"/>
          <p:cNvSpPr/>
          <p:nvPr/>
        </p:nvSpPr>
        <p:spPr>
          <a:xfrm>
            <a:off x="10579311" y="1881451"/>
            <a:ext cx="0" cy="7376849"/>
          </a:xfrm>
          <a:prstGeom prst="line">
            <a:avLst/>
          </a:prstGeom>
          <a:ln w="19050" cap="flat">
            <a:solidFill>
              <a:srgbClr val="000000"/>
            </a:solidFill>
            <a:prstDash val="solid"/>
            <a:headEnd type="none" w="sm" len="sm"/>
            <a:tailEnd type="none" w="sm" len="sm"/>
          </a:ln>
        </p:spPr>
      </p:sp>
      <p:grpSp>
        <p:nvGrpSpPr>
          <p:cNvPr id="21" name="Group 2">
            <a:extLst>
              <a:ext uri="{FF2B5EF4-FFF2-40B4-BE49-F238E27FC236}">
                <a16:creationId xmlns:a16="http://schemas.microsoft.com/office/drawing/2014/main" id="{8DA817EC-5D0E-1A43-DF39-FA9BBBA434E0}"/>
              </a:ext>
            </a:extLst>
          </p:cNvPr>
          <p:cNvGrpSpPr/>
          <p:nvPr/>
        </p:nvGrpSpPr>
        <p:grpSpPr>
          <a:xfrm>
            <a:off x="1028700" y="395218"/>
            <a:ext cx="17259300" cy="1078533"/>
            <a:chOff x="0" y="0"/>
            <a:chExt cx="23012400" cy="1438044"/>
          </a:xfrm>
        </p:grpSpPr>
        <p:sp>
          <p:nvSpPr>
            <p:cNvPr id="22" name="Freeform 3">
              <a:extLst>
                <a:ext uri="{FF2B5EF4-FFF2-40B4-BE49-F238E27FC236}">
                  <a16:creationId xmlns:a16="http://schemas.microsoft.com/office/drawing/2014/main" id="{02DAC16D-D5B2-23E2-6633-3A1629C9FD6C}"/>
                </a:ext>
              </a:extLst>
            </p:cNvPr>
            <p:cNvSpPr/>
            <p:nvPr/>
          </p:nvSpPr>
          <p:spPr>
            <a:xfrm>
              <a:off x="0" y="0"/>
              <a:ext cx="2937194" cy="1274008"/>
            </a:xfrm>
            <a:custGeom>
              <a:avLst/>
              <a:gdLst/>
              <a:ahLst/>
              <a:cxnLst/>
              <a:rect l="l" t="t" r="r" b="b"/>
              <a:pathLst>
                <a:path w="2937194" h="1274008">
                  <a:moveTo>
                    <a:pt x="0" y="0"/>
                  </a:moveTo>
                  <a:lnTo>
                    <a:pt x="2937194" y="0"/>
                  </a:lnTo>
                  <a:lnTo>
                    <a:pt x="2937194" y="1274008"/>
                  </a:lnTo>
                  <a:lnTo>
                    <a:pt x="0" y="1274008"/>
                  </a:lnTo>
                  <a:lnTo>
                    <a:pt x="0" y="0"/>
                  </a:lnTo>
                  <a:close/>
                </a:path>
              </a:pathLst>
            </a:custGeom>
            <a:blipFill>
              <a:blip r:embed="rId3"/>
              <a:stretch>
                <a:fillRect/>
              </a:stretch>
            </a:blipFill>
          </p:spPr>
        </p:sp>
        <p:sp>
          <p:nvSpPr>
            <p:cNvPr id="23" name="Freeform 4">
              <a:extLst>
                <a:ext uri="{FF2B5EF4-FFF2-40B4-BE49-F238E27FC236}">
                  <a16:creationId xmlns:a16="http://schemas.microsoft.com/office/drawing/2014/main" id="{D0B5878F-53A9-0796-A02A-AC3A66D9846D}"/>
                </a:ext>
              </a:extLst>
            </p:cNvPr>
            <p:cNvSpPr/>
            <p:nvPr/>
          </p:nvSpPr>
          <p:spPr>
            <a:xfrm>
              <a:off x="3134311" y="224397"/>
              <a:ext cx="2339750" cy="1036911"/>
            </a:xfrm>
            <a:custGeom>
              <a:avLst/>
              <a:gdLst/>
              <a:ahLst/>
              <a:cxnLst/>
              <a:rect l="l" t="t" r="r" b="b"/>
              <a:pathLst>
                <a:path w="2339750" h="1036911">
                  <a:moveTo>
                    <a:pt x="0" y="0"/>
                  </a:moveTo>
                  <a:lnTo>
                    <a:pt x="2339749" y="0"/>
                  </a:lnTo>
                  <a:lnTo>
                    <a:pt x="2339749" y="1036911"/>
                  </a:lnTo>
                  <a:lnTo>
                    <a:pt x="0" y="1036911"/>
                  </a:lnTo>
                  <a:lnTo>
                    <a:pt x="0" y="0"/>
                  </a:lnTo>
                  <a:close/>
                </a:path>
              </a:pathLst>
            </a:custGeom>
            <a:blipFill>
              <a:blip r:embed="rId4"/>
              <a:stretch>
                <a:fillRect l="-8002" t="-69970" b="-73732"/>
              </a:stretch>
            </a:blipFill>
          </p:spPr>
        </p:sp>
        <p:sp>
          <p:nvSpPr>
            <p:cNvPr id="24" name="AutoShape 5">
              <a:extLst>
                <a:ext uri="{FF2B5EF4-FFF2-40B4-BE49-F238E27FC236}">
                  <a16:creationId xmlns:a16="http://schemas.microsoft.com/office/drawing/2014/main" id="{BB121B94-3A16-4657-8384-8B8B235E4993}"/>
                </a:ext>
              </a:extLst>
            </p:cNvPr>
            <p:cNvSpPr/>
            <p:nvPr/>
          </p:nvSpPr>
          <p:spPr>
            <a:xfrm flipV="1">
              <a:off x="16552532" y="1299408"/>
              <a:ext cx="6459868" cy="0"/>
            </a:xfrm>
            <a:prstGeom prst="line">
              <a:avLst/>
            </a:prstGeom>
            <a:ln w="25400" cap="flat">
              <a:solidFill>
                <a:srgbClr val="000000"/>
              </a:solidFill>
              <a:prstDash val="solid"/>
              <a:headEnd type="none" w="sm" len="sm"/>
              <a:tailEnd type="none" w="sm" len="sm"/>
            </a:ln>
          </p:spPr>
        </p:sp>
        <p:sp>
          <p:nvSpPr>
            <p:cNvPr id="25" name="TextBox 6">
              <a:extLst>
                <a:ext uri="{FF2B5EF4-FFF2-40B4-BE49-F238E27FC236}">
                  <a16:creationId xmlns:a16="http://schemas.microsoft.com/office/drawing/2014/main" id="{D4FEC7D4-3A4F-482A-E23A-4B7E5DF6351F}"/>
                </a:ext>
              </a:extLst>
            </p:cNvPr>
            <p:cNvSpPr txBox="1"/>
            <p:nvPr/>
          </p:nvSpPr>
          <p:spPr>
            <a:xfrm>
              <a:off x="12954000" y="1088377"/>
              <a:ext cx="3934687" cy="349667"/>
            </a:xfrm>
            <a:prstGeom prst="rect">
              <a:avLst/>
            </a:prstGeom>
          </p:spPr>
          <p:txBody>
            <a:bodyPr wrap="square" lIns="0" tIns="0" rIns="0" bIns="0" rtlCol="0" anchor="t">
              <a:spAutoFit/>
            </a:bodyPr>
            <a:lstStyle/>
            <a:p>
              <a:pPr algn="ctr">
                <a:lnSpc>
                  <a:spcPts val="2239"/>
                </a:lnSpc>
                <a:spcBef>
                  <a:spcPct val="0"/>
                </a:spcBef>
              </a:pPr>
              <a:r>
                <a:rPr lang="en-US" sz="1599" b="1" i="1">
                  <a:solidFill>
                    <a:srgbClr val="000000"/>
                  </a:solidFill>
                  <a:latin typeface="Montserrat Semi-Bold" panose="020B0604020202020204" charset="0"/>
                  <a:ea typeface="Montserrat Medium Italics"/>
                  <a:cs typeface="Montserrat Medium Italics"/>
                  <a:sym typeface="Montserrat Medium Italics"/>
                </a:rPr>
                <a:t>THUẦN HOA GROUP</a:t>
              </a:r>
            </a:p>
          </p:txBody>
        </p:sp>
      </p:grpSp>
      <p:sp>
        <p:nvSpPr>
          <p:cNvPr id="26" name="TextBox 16">
            <a:extLst>
              <a:ext uri="{FF2B5EF4-FFF2-40B4-BE49-F238E27FC236}">
                <a16:creationId xmlns:a16="http://schemas.microsoft.com/office/drawing/2014/main" id="{A2472D16-F611-43E2-A533-E91270F1297B}"/>
              </a:ext>
            </a:extLst>
          </p:cNvPr>
          <p:cNvSpPr txBox="1"/>
          <p:nvPr/>
        </p:nvSpPr>
        <p:spPr>
          <a:xfrm>
            <a:off x="1221678" y="8247690"/>
            <a:ext cx="8710753" cy="323165"/>
          </a:xfrm>
          <a:prstGeom prst="rect">
            <a:avLst/>
          </a:prstGeom>
        </p:spPr>
        <p:txBody>
          <a:bodyPr wrap="square" lIns="0" tIns="0" rIns="0" bIns="0" rtlCol="0" anchor="t">
            <a:spAutoFit/>
          </a:bodyPr>
          <a:lstStyle/>
          <a:p>
            <a:pPr algn="l">
              <a:lnSpc>
                <a:spcPts val="2753"/>
              </a:lnSpc>
            </a:pPr>
            <a:r>
              <a:rPr lang="en-US" sz="1699" b="1" i="1" spc="-61">
                <a:solidFill>
                  <a:srgbClr val="000000"/>
                </a:solidFill>
                <a:latin typeface="Montserrat Bold Italics"/>
                <a:ea typeface="Montserrat Bold Italics"/>
                <a:cs typeface="Montserrat Bold Italics"/>
                <a:sym typeface="Montserrat Bold Italics"/>
              </a:rPr>
              <a:t>ALLIUM CEPA ROOT EXTRACTN (CHIẾT XUẤT RỄ HÀNH TÂY)</a:t>
            </a:r>
          </a:p>
        </p:txBody>
      </p:sp>
      <p:sp>
        <p:nvSpPr>
          <p:cNvPr id="27" name="TextBox 11">
            <a:extLst>
              <a:ext uri="{FF2B5EF4-FFF2-40B4-BE49-F238E27FC236}">
                <a16:creationId xmlns:a16="http://schemas.microsoft.com/office/drawing/2014/main" id="{48A4AEB5-235E-44B2-9295-B749F6F7BC55}"/>
              </a:ext>
            </a:extLst>
          </p:cNvPr>
          <p:cNvSpPr txBox="1"/>
          <p:nvPr/>
        </p:nvSpPr>
        <p:spPr>
          <a:xfrm>
            <a:off x="1186509" y="8707870"/>
            <a:ext cx="8939236" cy="826135"/>
          </a:xfrm>
          <a:prstGeom prst="rect">
            <a:avLst/>
          </a:prstGeom>
        </p:spPr>
        <p:txBody>
          <a:bodyPr wrap="square" lIns="0" tIns="0" rIns="0" bIns="0" rtlCol="0" anchor="t">
            <a:spAutoFit/>
          </a:bodyPr>
          <a:lstStyle/>
          <a:p>
            <a:pPr marL="367029" lvl="1" indent="-183514">
              <a:lnSpc>
                <a:spcPts val="2209"/>
              </a:lnSpc>
              <a:buFont typeface="Arial"/>
              <a:buChar char="•"/>
            </a:pPr>
            <a:r>
              <a:rPr lang="en-US" sz="1699" b="1" spc="-61">
                <a:solidFill>
                  <a:srgbClr val="000000"/>
                </a:solidFill>
                <a:latin typeface="Montserrat Medium"/>
                <a:ea typeface="Montserrat Medium"/>
                <a:cs typeface="Montserrat Medium"/>
                <a:sym typeface="Montserrat Medium"/>
              </a:rPr>
              <a:t>Nổi tiếng với khả năng ức chế sự tăng sinh quá mức của nguyên bào sợi, giúp ngăn chặn sự hình thành sẹo lồi và hỗ trợ làm mềm, kiểm soát làm phẳng các vùng sẹo rỗ hoặc sẹo mụn hiện có.</a:t>
            </a:r>
          </a:p>
        </p:txBody>
      </p:sp>
    </p:spTree>
    <p:extLst>
      <p:ext uri="{BB962C8B-B14F-4D97-AF65-F5344CB8AC3E}">
        <p14:creationId xmlns:p14="http://schemas.microsoft.com/office/powerpoint/2010/main" val="2549618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par>
                                <p:cTn id="8" presetID="22" presetClass="entr" presetSubtype="4"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down)">
                                      <p:cBhvr>
                                        <p:cTn id="10" dur="500"/>
                                        <p:tgtEl>
                                          <p:spTgt spid="8"/>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down)">
                                      <p:cBhvr>
                                        <p:cTn id="13" dur="500"/>
                                        <p:tgtEl>
                                          <p:spTgt spid="9"/>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down)">
                                      <p:cBhvr>
                                        <p:cTn id="16" dur="500"/>
                                        <p:tgtEl>
                                          <p:spTgt spid="10"/>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down)">
                                      <p:cBhvr>
                                        <p:cTn id="19" dur="500"/>
                                        <p:tgtEl>
                                          <p:spTgt spid="11"/>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down)">
                                      <p:cBhvr>
                                        <p:cTn id="22" dur="500"/>
                                        <p:tgtEl>
                                          <p:spTgt spid="12"/>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down)">
                                      <p:cBhvr>
                                        <p:cTn id="25" dur="500"/>
                                        <p:tgtEl>
                                          <p:spTgt spid="13"/>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down)">
                                      <p:cBhvr>
                                        <p:cTn id="28" dur="500"/>
                                        <p:tgtEl>
                                          <p:spTgt spid="14"/>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down)">
                                      <p:cBhvr>
                                        <p:cTn id="31" dur="500"/>
                                        <p:tgtEl>
                                          <p:spTgt spid="15"/>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wipe(down)">
                                      <p:cBhvr>
                                        <p:cTn id="34" dur="500"/>
                                        <p:tgtEl>
                                          <p:spTgt spid="16"/>
                                        </p:tgtEl>
                                      </p:cBhvr>
                                    </p:animEffect>
                                  </p:childTnLst>
                                </p:cTn>
                              </p:par>
                              <p:par>
                                <p:cTn id="35" presetID="22" presetClass="entr" presetSubtype="4"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wipe(down)">
                                      <p:cBhvr>
                                        <p:cTn id="37" dur="500"/>
                                        <p:tgtEl>
                                          <p:spTgt spid="2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wipe(down)">
                                      <p:cBhvr>
                                        <p:cTn id="42" dur="500"/>
                                        <p:tgtEl>
                                          <p:spTgt spid="17"/>
                                        </p:tgtEl>
                                      </p:cBhvr>
                                    </p:animEffect>
                                  </p:childTnLst>
                                </p:cTn>
                              </p:par>
                              <p:par>
                                <p:cTn id="43" presetID="22" presetClass="entr" presetSubtype="4" fill="hold"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wipe(down)">
                                      <p:cBhvr>
                                        <p:cTn id="45" dur="500"/>
                                        <p:tgtEl>
                                          <p:spTgt spid="18"/>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wipe(down)">
                                      <p:cBhvr>
                                        <p:cTn id="48" dur="500"/>
                                        <p:tgtEl>
                                          <p:spTgt spid="19"/>
                                        </p:tgtEl>
                                      </p:cBhvr>
                                    </p:animEffect>
                                  </p:childTnLst>
                                </p:cTn>
                              </p:par>
                              <p:par>
                                <p:cTn id="49" presetID="22" presetClass="entr" presetSubtype="4"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wipe(down)">
                                      <p:cBhvr>
                                        <p:cTn id="51" dur="500"/>
                                        <p:tgtEl>
                                          <p:spTgt spid="26"/>
                                        </p:tgtEl>
                                      </p:cBhvr>
                                    </p:animEffect>
                                  </p:childTnLst>
                                </p:cTn>
                              </p:par>
                              <p:par>
                                <p:cTn id="52" presetID="22" presetClass="entr" presetSubtype="4" fill="hold" grpId="0"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wipe(down)">
                                      <p:cBhvr>
                                        <p:cTn id="5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P spid="11" grpId="0"/>
      <p:bldP spid="12" grpId="0"/>
      <p:bldP spid="13" grpId="0"/>
      <p:bldP spid="14" grpId="0"/>
      <p:bldP spid="15" grpId="0"/>
      <p:bldP spid="16" grpId="0"/>
      <p:bldP spid="17" grpId="0"/>
      <p:bldP spid="19" grpId="0"/>
      <p:bldP spid="26" grpId="0"/>
      <p:bldP spid="2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2">
            <a:extLst>
              <a:ext uri="{FF2B5EF4-FFF2-40B4-BE49-F238E27FC236}">
                <a16:creationId xmlns:a16="http://schemas.microsoft.com/office/drawing/2014/main" id="{EB5A2B94-A1C9-AB8B-0FD5-546FD7FA9366}"/>
              </a:ext>
            </a:extLst>
          </p:cNvPr>
          <p:cNvGrpSpPr/>
          <p:nvPr/>
        </p:nvGrpSpPr>
        <p:grpSpPr>
          <a:xfrm>
            <a:off x="1028700" y="395218"/>
            <a:ext cx="17259300" cy="1078533"/>
            <a:chOff x="0" y="0"/>
            <a:chExt cx="23012400" cy="1438044"/>
          </a:xfrm>
        </p:grpSpPr>
        <p:sp>
          <p:nvSpPr>
            <p:cNvPr id="10" name="Freeform 3">
              <a:extLst>
                <a:ext uri="{FF2B5EF4-FFF2-40B4-BE49-F238E27FC236}">
                  <a16:creationId xmlns:a16="http://schemas.microsoft.com/office/drawing/2014/main" id="{E612FF24-9BFD-8A2C-0345-13A9C89B5348}"/>
                </a:ext>
              </a:extLst>
            </p:cNvPr>
            <p:cNvSpPr/>
            <p:nvPr/>
          </p:nvSpPr>
          <p:spPr>
            <a:xfrm>
              <a:off x="0" y="0"/>
              <a:ext cx="2937194" cy="1274008"/>
            </a:xfrm>
            <a:custGeom>
              <a:avLst/>
              <a:gdLst/>
              <a:ahLst/>
              <a:cxnLst/>
              <a:rect l="l" t="t" r="r" b="b"/>
              <a:pathLst>
                <a:path w="2937194" h="1274008">
                  <a:moveTo>
                    <a:pt x="0" y="0"/>
                  </a:moveTo>
                  <a:lnTo>
                    <a:pt x="2937194" y="0"/>
                  </a:lnTo>
                  <a:lnTo>
                    <a:pt x="2937194" y="1274008"/>
                  </a:lnTo>
                  <a:lnTo>
                    <a:pt x="0" y="1274008"/>
                  </a:lnTo>
                  <a:lnTo>
                    <a:pt x="0" y="0"/>
                  </a:lnTo>
                  <a:close/>
                </a:path>
              </a:pathLst>
            </a:custGeom>
            <a:blipFill>
              <a:blip r:embed="rId2"/>
              <a:stretch>
                <a:fillRect/>
              </a:stretch>
            </a:blipFill>
          </p:spPr>
        </p:sp>
        <p:sp>
          <p:nvSpPr>
            <p:cNvPr id="11" name="Freeform 4">
              <a:extLst>
                <a:ext uri="{FF2B5EF4-FFF2-40B4-BE49-F238E27FC236}">
                  <a16:creationId xmlns:a16="http://schemas.microsoft.com/office/drawing/2014/main" id="{CA24D280-2D7E-B62F-2AD2-02A356807416}"/>
                </a:ext>
              </a:extLst>
            </p:cNvPr>
            <p:cNvSpPr/>
            <p:nvPr/>
          </p:nvSpPr>
          <p:spPr>
            <a:xfrm>
              <a:off x="3134311" y="224397"/>
              <a:ext cx="2339750" cy="1036911"/>
            </a:xfrm>
            <a:custGeom>
              <a:avLst/>
              <a:gdLst/>
              <a:ahLst/>
              <a:cxnLst/>
              <a:rect l="l" t="t" r="r" b="b"/>
              <a:pathLst>
                <a:path w="2339750" h="1036911">
                  <a:moveTo>
                    <a:pt x="0" y="0"/>
                  </a:moveTo>
                  <a:lnTo>
                    <a:pt x="2339749" y="0"/>
                  </a:lnTo>
                  <a:lnTo>
                    <a:pt x="2339749" y="1036911"/>
                  </a:lnTo>
                  <a:lnTo>
                    <a:pt x="0" y="1036911"/>
                  </a:lnTo>
                  <a:lnTo>
                    <a:pt x="0" y="0"/>
                  </a:lnTo>
                  <a:close/>
                </a:path>
              </a:pathLst>
            </a:custGeom>
            <a:blipFill>
              <a:blip r:embed="rId3"/>
              <a:stretch>
                <a:fillRect l="-8002" t="-69970" b="-73732"/>
              </a:stretch>
            </a:blipFill>
          </p:spPr>
        </p:sp>
        <p:sp>
          <p:nvSpPr>
            <p:cNvPr id="12" name="AutoShape 5">
              <a:extLst>
                <a:ext uri="{FF2B5EF4-FFF2-40B4-BE49-F238E27FC236}">
                  <a16:creationId xmlns:a16="http://schemas.microsoft.com/office/drawing/2014/main" id="{6F6A6D42-3768-C206-DB68-A80AB138CC06}"/>
                </a:ext>
              </a:extLst>
            </p:cNvPr>
            <p:cNvSpPr/>
            <p:nvPr/>
          </p:nvSpPr>
          <p:spPr>
            <a:xfrm flipV="1">
              <a:off x="16552532" y="1299408"/>
              <a:ext cx="6459868" cy="0"/>
            </a:xfrm>
            <a:prstGeom prst="line">
              <a:avLst/>
            </a:prstGeom>
            <a:ln w="25400" cap="flat">
              <a:solidFill>
                <a:srgbClr val="000000"/>
              </a:solidFill>
              <a:prstDash val="solid"/>
              <a:headEnd type="none" w="sm" len="sm"/>
              <a:tailEnd type="none" w="sm" len="sm"/>
            </a:ln>
          </p:spPr>
        </p:sp>
        <p:sp>
          <p:nvSpPr>
            <p:cNvPr id="13" name="TextBox 6">
              <a:extLst>
                <a:ext uri="{FF2B5EF4-FFF2-40B4-BE49-F238E27FC236}">
                  <a16:creationId xmlns:a16="http://schemas.microsoft.com/office/drawing/2014/main" id="{61A2F533-1153-292C-3CC1-799C5DC853CD}"/>
                </a:ext>
              </a:extLst>
            </p:cNvPr>
            <p:cNvSpPr txBox="1"/>
            <p:nvPr/>
          </p:nvSpPr>
          <p:spPr>
            <a:xfrm>
              <a:off x="12954000" y="1088377"/>
              <a:ext cx="3934687" cy="349667"/>
            </a:xfrm>
            <a:prstGeom prst="rect">
              <a:avLst/>
            </a:prstGeom>
          </p:spPr>
          <p:txBody>
            <a:bodyPr wrap="square" lIns="0" tIns="0" rIns="0" bIns="0" rtlCol="0" anchor="t">
              <a:spAutoFit/>
            </a:bodyPr>
            <a:lstStyle/>
            <a:p>
              <a:pPr algn="ctr">
                <a:lnSpc>
                  <a:spcPts val="2239"/>
                </a:lnSpc>
                <a:spcBef>
                  <a:spcPct val="0"/>
                </a:spcBef>
              </a:pPr>
              <a:r>
                <a:rPr lang="en-US" sz="1599" b="1" i="1">
                  <a:solidFill>
                    <a:srgbClr val="000000"/>
                  </a:solidFill>
                  <a:latin typeface="Montserrat Semi-Bold" panose="020B0604020202020204" charset="0"/>
                  <a:ea typeface="Montserrat Medium Italics"/>
                  <a:cs typeface="Montserrat Medium Italics"/>
                  <a:sym typeface="Montserrat Medium Italics"/>
                </a:rPr>
                <a:t>THUẦN HOA GROUP</a:t>
              </a:r>
            </a:p>
          </p:txBody>
        </p:sp>
      </p:grpSp>
      <p:sp>
        <p:nvSpPr>
          <p:cNvPr id="14" name="직사각형 5">
            <a:extLst>
              <a:ext uri="{FF2B5EF4-FFF2-40B4-BE49-F238E27FC236}">
                <a16:creationId xmlns:a16="http://schemas.microsoft.com/office/drawing/2014/main" id="{F045EB38-C388-4FBD-86B2-FA75DAE6437D}"/>
              </a:ext>
            </a:extLst>
          </p:cNvPr>
          <p:cNvSpPr/>
          <p:nvPr/>
        </p:nvSpPr>
        <p:spPr>
          <a:xfrm rot="10800000" flipV="1">
            <a:off x="7971693" y="10051074"/>
            <a:ext cx="10286999" cy="197826"/>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ko-KR" altLang="en-US" sz="2700"/>
          </a:p>
        </p:txBody>
      </p:sp>
      <p:sp>
        <p:nvSpPr>
          <p:cNvPr id="15" name="TextBox 14">
            <a:extLst>
              <a:ext uri="{FF2B5EF4-FFF2-40B4-BE49-F238E27FC236}">
                <a16:creationId xmlns:a16="http://schemas.microsoft.com/office/drawing/2014/main" id="{DF722B8B-FAE5-46AA-B2BD-4AB8C5842DA7}"/>
              </a:ext>
            </a:extLst>
          </p:cNvPr>
          <p:cNvSpPr txBox="1"/>
          <p:nvPr/>
        </p:nvSpPr>
        <p:spPr>
          <a:xfrm>
            <a:off x="8000997" y="9543243"/>
            <a:ext cx="10287003" cy="507831"/>
          </a:xfrm>
          <a:prstGeom prst="rect">
            <a:avLst/>
          </a:prstGeom>
        </p:spPr>
        <p:style>
          <a:lnRef idx="1">
            <a:schemeClr val="accent1"/>
          </a:lnRef>
          <a:fillRef idx="3">
            <a:schemeClr val="accent1"/>
          </a:fillRef>
          <a:effectRef idx="2">
            <a:schemeClr val="accent1"/>
          </a:effectRef>
          <a:fontRef idx="minor">
            <a:schemeClr val="lt1"/>
          </a:fontRef>
        </p:style>
        <p:txBody>
          <a:bodyPr wrap="square">
            <a:spAutoFit/>
          </a:bodyPr>
          <a:lstStyle/>
          <a:p>
            <a:r>
              <a:rPr lang="en-US" altLang="ko-KR" sz="270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altLang="ko-KR" sz="240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DR.CGF     # Thuần Hoa Group     # Trao giá trị - Tạo niềm tin</a:t>
            </a:r>
            <a:endParaRPr lang="en-US" altLang="ko-KR" sz="2400"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16" name="TextBox 13">
            <a:extLst>
              <a:ext uri="{FF2B5EF4-FFF2-40B4-BE49-F238E27FC236}">
                <a16:creationId xmlns:a16="http://schemas.microsoft.com/office/drawing/2014/main" id="{FFA02BAA-E6BE-41D8-AA50-309658A5BD35}"/>
              </a:ext>
            </a:extLst>
          </p:cNvPr>
          <p:cNvSpPr txBox="1"/>
          <p:nvPr/>
        </p:nvSpPr>
        <p:spPr>
          <a:xfrm>
            <a:off x="13563600" y="1877606"/>
            <a:ext cx="4211785" cy="2522485"/>
          </a:xfrm>
          <a:prstGeom prst="rect">
            <a:avLst/>
          </a:prstGeom>
        </p:spPr>
        <p:txBody>
          <a:bodyPr wrap="square" lIns="0" tIns="0" rIns="0" bIns="0" rtlCol="0" anchor="t">
            <a:spAutoFit/>
          </a:bodyPr>
          <a:lstStyle/>
          <a:p>
            <a:pPr marL="367029" lvl="1" indent="-183514" algn="l">
              <a:lnSpc>
                <a:spcPts val="2209"/>
              </a:lnSpc>
              <a:buFont typeface="Arial"/>
              <a:buChar char="•"/>
            </a:pPr>
            <a:r>
              <a:rPr lang="en-US" sz="1699" b="1" spc="-61">
                <a:solidFill>
                  <a:srgbClr val="000000"/>
                </a:solidFill>
                <a:latin typeface="Montserrat Medium"/>
                <a:ea typeface="Montserrat Medium"/>
                <a:cs typeface="Montserrat Medium"/>
                <a:sym typeface="Montserrat Medium"/>
              </a:rPr>
              <a:t>Khách hàng sinh năm  1981</a:t>
            </a:r>
          </a:p>
          <a:p>
            <a:pPr marL="367029" lvl="1" indent="-183514" algn="l">
              <a:lnSpc>
                <a:spcPts val="2209"/>
              </a:lnSpc>
              <a:buFont typeface="Arial"/>
              <a:buChar char="•"/>
            </a:pPr>
            <a:r>
              <a:rPr lang="en-US" sz="1699" b="1" spc="-61">
                <a:solidFill>
                  <a:srgbClr val="000000"/>
                </a:solidFill>
                <a:latin typeface="Montserrat Medium"/>
                <a:ea typeface="Montserrat Medium"/>
                <a:cs typeface="Montserrat Medium"/>
                <a:sym typeface="Montserrat Medium"/>
              </a:rPr>
              <a:t>Đã sử dụng nhiều phương pháp lột tẩy, laser… da đang trong tình trạng mỏng yếu sắc tố dội ngược, mất sắc tố</a:t>
            </a:r>
          </a:p>
          <a:p>
            <a:pPr marL="367029" lvl="1" indent="-183514" algn="l">
              <a:lnSpc>
                <a:spcPts val="2209"/>
              </a:lnSpc>
              <a:buFont typeface="Arial"/>
              <a:buChar char="•"/>
            </a:pPr>
            <a:r>
              <a:rPr lang="en-US" sz="1699" b="1" spc="-61">
                <a:solidFill>
                  <a:srgbClr val="000000"/>
                </a:solidFill>
                <a:latin typeface="Montserrat Medium"/>
                <a:ea typeface="Montserrat Medium"/>
                <a:cs typeface="Montserrat Medium"/>
                <a:sym typeface="Montserrat Medium"/>
              </a:rPr>
              <a:t>Và kết quả sau 6 tháng sử dụng sản phẩm DR.CGF ( Retinal, Tranexamic, Serum B5, Viên uống, kem dưỡng phục hồi và meso Eclafin (P +S))</a:t>
            </a:r>
          </a:p>
        </p:txBody>
      </p:sp>
      <p:pic>
        <p:nvPicPr>
          <p:cNvPr id="6" name="Picture 5">
            <a:extLst>
              <a:ext uri="{FF2B5EF4-FFF2-40B4-BE49-F238E27FC236}">
                <a16:creationId xmlns:a16="http://schemas.microsoft.com/office/drawing/2014/main" id="{5AABB699-ED84-4E74-B642-A4FDE0B0C3E1}"/>
              </a:ext>
            </a:extLst>
          </p:cNvPr>
          <p:cNvPicPr>
            <a:picLocks noChangeAspect="1"/>
          </p:cNvPicPr>
          <p:nvPr/>
        </p:nvPicPr>
        <p:blipFill>
          <a:blip r:embed="rId4"/>
          <a:stretch>
            <a:fillRect/>
          </a:stretch>
        </p:blipFill>
        <p:spPr>
          <a:xfrm>
            <a:off x="1110344" y="1866721"/>
            <a:ext cx="12332756" cy="7592602"/>
          </a:xfrm>
          <a:prstGeom prst="rect">
            <a:avLst/>
          </a:prstGeom>
        </p:spPr>
      </p:pic>
    </p:spTree>
    <p:extLst>
      <p:ext uri="{BB962C8B-B14F-4D97-AF65-F5344CB8AC3E}">
        <p14:creationId xmlns:p14="http://schemas.microsoft.com/office/powerpoint/2010/main" val="1498047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2">
            <a:extLst>
              <a:ext uri="{FF2B5EF4-FFF2-40B4-BE49-F238E27FC236}">
                <a16:creationId xmlns:a16="http://schemas.microsoft.com/office/drawing/2014/main" id="{EB5A2B94-A1C9-AB8B-0FD5-546FD7FA9366}"/>
              </a:ext>
            </a:extLst>
          </p:cNvPr>
          <p:cNvGrpSpPr/>
          <p:nvPr/>
        </p:nvGrpSpPr>
        <p:grpSpPr>
          <a:xfrm>
            <a:off x="1028700" y="395218"/>
            <a:ext cx="17259300" cy="1078533"/>
            <a:chOff x="0" y="0"/>
            <a:chExt cx="23012400" cy="1438044"/>
          </a:xfrm>
        </p:grpSpPr>
        <p:sp>
          <p:nvSpPr>
            <p:cNvPr id="10" name="Freeform 3">
              <a:extLst>
                <a:ext uri="{FF2B5EF4-FFF2-40B4-BE49-F238E27FC236}">
                  <a16:creationId xmlns:a16="http://schemas.microsoft.com/office/drawing/2014/main" id="{E612FF24-9BFD-8A2C-0345-13A9C89B5348}"/>
                </a:ext>
              </a:extLst>
            </p:cNvPr>
            <p:cNvSpPr/>
            <p:nvPr/>
          </p:nvSpPr>
          <p:spPr>
            <a:xfrm>
              <a:off x="0" y="0"/>
              <a:ext cx="2937194" cy="1274008"/>
            </a:xfrm>
            <a:custGeom>
              <a:avLst/>
              <a:gdLst/>
              <a:ahLst/>
              <a:cxnLst/>
              <a:rect l="l" t="t" r="r" b="b"/>
              <a:pathLst>
                <a:path w="2937194" h="1274008">
                  <a:moveTo>
                    <a:pt x="0" y="0"/>
                  </a:moveTo>
                  <a:lnTo>
                    <a:pt x="2937194" y="0"/>
                  </a:lnTo>
                  <a:lnTo>
                    <a:pt x="2937194" y="1274008"/>
                  </a:lnTo>
                  <a:lnTo>
                    <a:pt x="0" y="1274008"/>
                  </a:lnTo>
                  <a:lnTo>
                    <a:pt x="0" y="0"/>
                  </a:lnTo>
                  <a:close/>
                </a:path>
              </a:pathLst>
            </a:custGeom>
            <a:blipFill>
              <a:blip r:embed="rId2"/>
              <a:stretch>
                <a:fillRect/>
              </a:stretch>
            </a:blipFill>
          </p:spPr>
        </p:sp>
        <p:sp>
          <p:nvSpPr>
            <p:cNvPr id="11" name="Freeform 4">
              <a:extLst>
                <a:ext uri="{FF2B5EF4-FFF2-40B4-BE49-F238E27FC236}">
                  <a16:creationId xmlns:a16="http://schemas.microsoft.com/office/drawing/2014/main" id="{CA24D280-2D7E-B62F-2AD2-02A356807416}"/>
                </a:ext>
              </a:extLst>
            </p:cNvPr>
            <p:cNvSpPr/>
            <p:nvPr/>
          </p:nvSpPr>
          <p:spPr>
            <a:xfrm>
              <a:off x="3134311" y="224397"/>
              <a:ext cx="2339750" cy="1036911"/>
            </a:xfrm>
            <a:custGeom>
              <a:avLst/>
              <a:gdLst/>
              <a:ahLst/>
              <a:cxnLst/>
              <a:rect l="l" t="t" r="r" b="b"/>
              <a:pathLst>
                <a:path w="2339750" h="1036911">
                  <a:moveTo>
                    <a:pt x="0" y="0"/>
                  </a:moveTo>
                  <a:lnTo>
                    <a:pt x="2339749" y="0"/>
                  </a:lnTo>
                  <a:lnTo>
                    <a:pt x="2339749" y="1036911"/>
                  </a:lnTo>
                  <a:lnTo>
                    <a:pt x="0" y="1036911"/>
                  </a:lnTo>
                  <a:lnTo>
                    <a:pt x="0" y="0"/>
                  </a:lnTo>
                  <a:close/>
                </a:path>
              </a:pathLst>
            </a:custGeom>
            <a:blipFill>
              <a:blip r:embed="rId3"/>
              <a:stretch>
                <a:fillRect l="-8002" t="-69970" b="-73732"/>
              </a:stretch>
            </a:blipFill>
          </p:spPr>
        </p:sp>
        <p:sp>
          <p:nvSpPr>
            <p:cNvPr id="12" name="AutoShape 5">
              <a:extLst>
                <a:ext uri="{FF2B5EF4-FFF2-40B4-BE49-F238E27FC236}">
                  <a16:creationId xmlns:a16="http://schemas.microsoft.com/office/drawing/2014/main" id="{6F6A6D42-3768-C206-DB68-A80AB138CC06}"/>
                </a:ext>
              </a:extLst>
            </p:cNvPr>
            <p:cNvSpPr/>
            <p:nvPr/>
          </p:nvSpPr>
          <p:spPr>
            <a:xfrm flipV="1">
              <a:off x="16552532" y="1299408"/>
              <a:ext cx="6459868" cy="0"/>
            </a:xfrm>
            <a:prstGeom prst="line">
              <a:avLst/>
            </a:prstGeom>
            <a:ln w="25400" cap="flat">
              <a:solidFill>
                <a:srgbClr val="000000"/>
              </a:solidFill>
              <a:prstDash val="solid"/>
              <a:headEnd type="none" w="sm" len="sm"/>
              <a:tailEnd type="none" w="sm" len="sm"/>
            </a:ln>
          </p:spPr>
        </p:sp>
        <p:sp>
          <p:nvSpPr>
            <p:cNvPr id="13" name="TextBox 6">
              <a:extLst>
                <a:ext uri="{FF2B5EF4-FFF2-40B4-BE49-F238E27FC236}">
                  <a16:creationId xmlns:a16="http://schemas.microsoft.com/office/drawing/2014/main" id="{61A2F533-1153-292C-3CC1-799C5DC853CD}"/>
                </a:ext>
              </a:extLst>
            </p:cNvPr>
            <p:cNvSpPr txBox="1"/>
            <p:nvPr/>
          </p:nvSpPr>
          <p:spPr>
            <a:xfrm>
              <a:off x="12954000" y="1088377"/>
              <a:ext cx="3934687" cy="349667"/>
            </a:xfrm>
            <a:prstGeom prst="rect">
              <a:avLst/>
            </a:prstGeom>
          </p:spPr>
          <p:txBody>
            <a:bodyPr wrap="square" lIns="0" tIns="0" rIns="0" bIns="0" rtlCol="0" anchor="t">
              <a:spAutoFit/>
            </a:bodyPr>
            <a:lstStyle/>
            <a:p>
              <a:pPr algn="ctr">
                <a:lnSpc>
                  <a:spcPts val="2239"/>
                </a:lnSpc>
                <a:spcBef>
                  <a:spcPct val="0"/>
                </a:spcBef>
              </a:pPr>
              <a:r>
                <a:rPr lang="en-US" sz="1599" b="1" i="1">
                  <a:solidFill>
                    <a:srgbClr val="000000"/>
                  </a:solidFill>
                  <a:latin typeface="Montserrat Semi-Bold" panose="020B0604020202020204" charset="0"/>
                  <a:ea typeface="Montserrat Medium Italics"/>
                  <a:cs typeface="Montserrat Medium Italics"/>
                  <a:sym typeface="Montserrat Medium Italics"/>
                </a:rPr>
                <a:t>THUẦN HOA GROUP</a:t>
              </a:r>
            </a:p>
          </p:txBody>
        </p:sp>
      </p:grpSp>
      <p:sp>
        <p:nvSpPr>
          <p:cNvPr id="14" name="직사각형 5">
            <a:extLst>
              <a:ext uri="{FF2B5EF4-FFF2-40B4-BE49-F238E27FC236}">
                <a16:creationId xmlns:a16="http://schemas.microsoft.com/office/drawing/2014/main" id="{F045EB38-C388-4FBD-86B2-FA75DAE6437D}"/>
              </a:ext>
            </a:extLst>
          </p:cNvPr>
          <p:cNvSpPr/>
          <p:nvPr/>
        </p:nvSpPr>
        <p:spPr>
          <a:xfrm rot="10800000" flipV="1">
            <a:off x="7971693" y="10051074"/>
            <a:ext cx="10286999" cy="197826"/>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ko-KR" altLang="en-US" sz="2700"/>
          </a:p>
        </p:txBody>
      </p:sp>
      <p:sp>
        <p:nvSpPr>
          <p:cNvPr id="15" name="TextBox 14">
            <a:extLst>
              <a:ext uri="{FF2B5EF4-FFF2-40B4-BE49-F238E27FC236}">
                <a16:creationId xmlns:a16="http://schemas.microsoft.com/office/drawing/2014/main" id="{DF722B8B-FAE5-46AA-B2BD-4AB8C5842DA7}"/>
              </a:ext>
            </a:extLst>
          </p:cNvPr>
          <p:cNvSpPr txBox="1"/>
          <p:nvPr/>
        </p:nvSpPr>
        <p:spPr>
          <a:xfrm>
            <a:off x="8000997" y="9543243"/>
            <a:ext cx="10287003" cy="507831"/>
          </a:xfrm>
          <a:prstGeom prst="rect">
            <a:avLst/>
          </a:prstGeom>
        </p:spPr>
        <p:style>
          <a:lnRef idx="1">
            <a:schemeClr val="accent1"/>
          </a:lnRef>
          <a:fillRef idx="3">
            <a:schemeClr val="accent1"/>
          </a:fillRef>
          <a:effectRef idx="2">
            <a:schemeClr val="accent1"/>
          </a:effectRef>
          <a:fontRef idx="minor">
            <a:schemeClr val="lt1"/>
          </a:fontRef>
        </p:style>
        <p:txBody>
          <a:bodyPr wrap="square">
            <a:spAutoFit/>
          </a:bodyPr>
          <a:lstStyle/>
          <a:p>
            <a:r>
              <a:rPr lang="en-US" altLang="ko-KR" sz="270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altLang="ko-KR" sz="240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DR.CGF     # Thuần Hoa Group     # Trao giá trị - Tạo niềm tin</a:t>
            </a:r>
            <a:endParaRPr lang="en-US" altLang="ko-KR" sz="2400"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CD9CA544-D777-42EC-B66B-9668085CE706}"/>
              </a:ext>
            </a:extLst>
          </p:cNvPr>
          <p:cNvPicPr>
            <a:picLocks noChangeAspect="1"/>
          </p:cNvPicPr>
          <p:nvPr/>
        </p:nvPicPr>
        <p:blipFill>
          <a:blip r:embed="rId4"/>
          <a:stretch>
            <a:fillRect/>
          </a:stretch>
        </p:blipFill>
        <p:spPr>
          <a:xfrm>
            <a:off x="304801" y="1801905"/>
            <a:ext cx="13030199" cy="7707269"/>
          </a:xfrm>
          <a:prstGeom prst="rect">
            <a:avLst/>
          </a:prstGeom>
        </p:spPr>
      </p:pic>
      <p:sp>
        <p:nvSpPr>
          <p:cNvPr id="16" name="TextBox 13">
            <a:extLst>
              <a:ext uri="{FF2B5EF4-FFF2-40B4-BE49-F238E27FC236}">
                <a16:creationId xmlns:a16="http://schemas.microsoft.com/office/drawing/2014/main" id="{0E3034B9-005E-4056-B841-2C9E68371B82}"/>
              </a:ext>
            </a:extLst>
          </p:cNvPr>
          <p:cNvSpPr txBox="1"/>
          <p:nvPr/>
        </p:nvSpPr>
        <p:spPr>
          <a:xfrm>
            <a:off x="13563600" y="1877606"/>
            <a:ext cx="4211785" cy="1393971"/>
          </a:xfrm>
          <a:prstGeom prst="rect">
            <a:avLst/>
          </a:prstGeom>
        </p:spPr>
        <p:txBody>
          <a:bodyPr wrap="square" lIns="0" tIns="0" rIns="0" bIns="0" rtlCol="0" anchor="t">
            <a:spAutoFit/>
          </a:bodyPr>
          <a:lstStyle/>
          <a:p>
            <a:pPr marL="367029" lvl="1" indent="-183514" algn="l">
              <a:lnSpc>
                <a:spcPts val="2209"/>
              </a:lnSpc>
              <a:buFont typeface="Arial"/>
              <a:buChar char="•"/>
            </a:pPr>
            <a:r>
              <a:rPr lang="en-US" sz="1699" b="1" spc="-61">
                <a:solidFill>
                  <a:srgbClr val="000000"/>
                </a:solidFill>
                <a:latin typeface="Montserrat Medium"/>
                <a:ea typeface="Montserrat Medium"/>
                <a:cs typeface="Montserrat Medium"/>
                <a:sym typeface="Montserrat Medium"/>
              </a:rPr>
              <a:t>Khách hàng sinh năm </a:t>
            </a:r>
          </a:p>
          <a:p>
            <a:pPr marL="367029" lvl="1" indent="-183514" algn="l">
              <a:lnSpc>
                <a:spcPts val="2209"/>
              </a:lnSpc>
              <a:buFont typeface="Arial"/>
              <a:buChar char="•"/>
            </a:pPr>
            <a:r>
              <a:rPr lang="en-US" sz="1699" b="1" spc="-61">
                <a:solidFill>
                  <a:srgbClr val="000000"/>
                </a:solidFill>
                <a:latin typeface="Montserrat Medium"/>
                <a:ea typeface="Montserrat Medium"/>
                <a:cs typeface="Montserrat Medium"/>
                <a:sym typeface="Montserrat Medium"/>
              </a:rPr>
              <a:t>Nám do sử dụng mỹ phẩm và làm việc môi trường ngoài trời</a:t>
            </a:r>
          </a:p>
          <a:p>
            <a:pPr marL="367029" lvl="1" indent="-183514" algn="l">
              <a:lnSpc>
                <a:spcPts val="2209"/>
              </a:lnSpc>
              <a:buFont typeface="Arial"/>
              <a:buChar char="•"/>
            </a:pPr>
            <a:r>
              <a:rPr lang="en-US" sz="1699" b="1" spc="-61">
                <a:solidFill>
                  <a:srgbClr val="000000"/>
                </a:solidFill>
                <a:latin typeface="Montserrat Medium"/>
                <a:ea typeface="Montserrat Medium"/>
                <a:cs typeface="Montserrat Medium"/>
                <a:sym typeface="Montserrat Medium"/>
              </a:rPr>
              <a:t>Và kết quả sau 2 tháng sử dụng sản phẩm DR.CGF ( Retinal, Serum B5)</a:t>
            </a:r>
          </a:p>
        </p:txBody>
      </p:sp>
    </p:spTree>
    <p:extLst>
      <p:ext uri="{BB962C8B-B14F-4D97-AF65-F5344CB8AC3E}">
        <p14:creationId xmlns:p14="http://schemas.microsoft.com/office/powerpoint/2010/main" val="173965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2">
            <a:extLst>
              <a:ext uri="{FF2B5EF4-FFF2-40B4-BE49-F238E27FC236}">
                <a16:creationId xmlns:a16="http://schemas.microsoft.com/office/drawing/2014/main" id="{EB5A2B94-A1C9-AB8B-0FD5-546FD7FA9366}"/>
              </a:ext>
            </a:extLst>
          </p:cNvPr>
          <p:cNvGrpSpPr/>
          <p:nvPr/>
        </p:nvGrpSpPr>
        <p:grpSpPr>
          <a:xfrm>
            <a:off x="1028700" y="395218"/>
            <a:ext cx="17259300" cy="1078533"/>
            <a:chOff x="0" y="0"/>
            <a:chExt cx="23012400" cy="1438044"/>
          </a:xfrm>
        </p:grpSpPr>
        <p:sp>
          <p:nvSpPr>
            <p:cNvPr id="10" name="Freeform 3">
              <a:extLst>
                <a:ext uri="{FF2B5EF4-FFF2-40B4-BE49-F238E27FC236}">
                  <a16:creationId xmlns:a16="http://schemas.microsoft.com/office/drawing/2014/main" id="{E612FF24-9BFD-8A2C-0345-13A9C89B5348}"/>
                </a:ext>
              </a:extLst>
            </p:cNvPr>
            <p:cNvSpPr/>
            <p:nvPr/>
          </p:nvSpPr>
          <p:spPr>
            <a:xfrm>
              <a:off x="0" y="0"/>
              <a:ext cx="2937194" cy="1274008"/>
            </a:xfrm>
            <a:custGeom>
              <a:avLst/>
              <a:gdLst/>
              <a:ahLst/>
              <a:cxnLst/>
              <a:rect l="l" t="t" r="r" b="b"/>
              <a:pathLst>
                <a:path w="2937194" h="1274008">
                  <a:moveTo>
                    <a:pt x="0" y="0"/>
                  </a:moveTo>
                  <a:lnTo>
                    <a:pt x="2937194" y="0"/>
                  </a:lnTo>
                  <a:lnTo>
                    <a:pt x="2937194" y="1274008"/>
                  </a:lnTo>
                  <a:lnTo>
                    <a:pt x="0" y="1274008"/>
                  </a:lnTo>
                  <a:lnTo>
                    <a:pt x="0" y="0"/>
                  </a:lnTo>
                  <a:close/>
                </a:path>
              </a:pathLst>
            </a:custGeom>
            <a:blipFill>
              <a:blip r:embed="rId2"/>
              <a:stretch>
                <a:fillRect/>
              </a:stretch>
            </a:blipFill>
          </p:spPr>
        </p:sp>
        <p:sp>
          <p:nvSpPr>
            <p:cNvPr id="11" name="Freeform 4">
              <a:extLst>
                <a:ext uri="{FF2B5EF4-FFF2-40B4-BE49-F238E27FC236}">
                  <a16:creationId xmlns:a16="http://schemas.microsoft.com/office/drawing/2014/main" id="{CA24D280-2D7E-B62F-2AD2-02A356807416}"/>
                </a:ext>
              </a:extLst>
            </p:cNvPr>
            <p:cNvSpPr/>
            <p:nvPr/>
          </p:nvSpPr>
          <p:spPr>
            <a:xfrm>
              <a:off x="3134311" y="224397"/>
              <a:ext cx="2339750" cy="1036911"/>
            </a:xfrm>
            <a:custGeom>
              <a:avLst/>
              <a:gdLst/>
              <a:ahLst/>
              <a:cxnLst/>
              <a:rect l="l" t="t" r="r" b="b"/>
              <a:pathLst>
                <a:path w="2339750" h="1036911">
                  <a:moveTo>
                    <a:pt x="0" y="0"/>
                  </a:moveTo>
                  <a:lnTo>
                    <a:pt x="2339749" y="0"/>
                  </a:lnTo>
                  <a:lnTo>
                    <a:pt x="2339749" y="1036911"/>
                  </a:lnTo>
                  <a:lnTo>
                    <a:pt x="0" y="1036911"/>
                  </a:lnTo>
                  <a:lnTo>
                    <a:pt x="0" y="0"/>
                  </a:lnTo>
                  <a:close/>
                </a:path>
              </a:pathLst>
            </a:custGeom>
            <a:blipFill>
              <a:blip r:embed="rId3"/>
              <a:stretch>
                <a:fillRect l="-8002" t="-69970" b="-73732"/>
              </a:stretch>
            </a:blipFill>
          </p:spPr>
        </p:sp>
        <p:sp>
          <p:nvSpPr>
            <p:cNvPr id="12" name="AutoShape 5">
              <a:extLst>
                <a:ext uri="{FF2B5EF4-FFF2-40B4-BE49-F238E27FC236}">
                  <a16:creationId xmlns:a16="http://schemas.microsoft.com/office/drawing/2014/main" id="{6F6A6D42-3768-C206-DB68-A80AB138CC06}"/>
                </a:ext>
              </a:extLst>
            </p:cNvPr>
            <p:cNvSpPr/>
            <p:nvPr/>
          </p:nvSpPr>
          <p:spPr>
            <a:xfrm flipV="1">
              <a:off x="16552532" y="1299408"/>
              <a:ext cx="6459868" cy="0"/>
            </a:xfrm>
            <a:prstGeom prst="line">
              <a:avLst/>
            </a:prstGeom>
            <a:ln w="25400" cap="flat">
              <a:solidFill>
                <a:srgbClr val="000000"/>
              </a:solidFill>
              <a:prstDash val="solid"/>
              <a:headEnd type="none" w="sm" len="sm"/>
              <a:tailEnd type="none" w="sm" len="sm"/>
            </a:ln>
          </p:spPr>
        </p:sp>
        <p:sp>
          <p:nvSpPr>
            <p:cNvPr id="13" name="TextBox 6">
              <a:extLst>
                <a:ext uri="{FF2B5EF4-FFF2-40B4-BE49-F238E27FC236}">
                  <a16:creationId xmlns:a16="http://schemas.microsoft.com/office/drawing/2014/main" id="{61A2F533-1153-292C-3CC1-799C5DC853CD}"/>
                </a:ext>
              </a:extLst>
            </p:cNvPr>
            <p:cNvSpPr txBox="1"/>
            <p:nvPr/>
          </p:nvSpPr>
          <p:spPr>
            <a:xfrm>
              <a:off x="12954000" y="1088377"/>
              <a:ext cx="3934687" cy="349667"/>
            </a:xfrm>
            <a:prstGeom prst="rect">
              <a:avLst/>
            </a:prstGeom>
          </p:spPr>
          <p:txBody>
            <a:bodyPr wrap="square" lIns="0" tIns="0" rIns="0" bIns="0" rtlCol="0" anchor="t">
              <a:spAutoFit/>
            </a:bodyPr>
            <a:lstStyle/>
            <a:p>
              <a:pPr algn="ctr">
                <a:lnSpc>
                  <a:spcPts val="2239"/>
                </a:lnSpc>
                <a:spcBef>
                  <a:spcPct val="0"/>
                </a:spcBef>
              </a:pPr>
              <a:r>
                <a:rPr lang="en-US" sz="1599" b="1" i="1">
                  <a:solidFill>
                    <a:srgbClr val="000000"/>
                  </a:solidFill>
                  <a:latin typeface="Montserrat Semi-Bold" panose="020B0604020202020204" charset="0"/>
                  <a:ea typeface="Montserrat Medium Italics"/>
                  <a:cs typeface="Montserrat Medium Italics"/>
                  <a:sym typeface="Montserrat Medium Italics"/>
                </a:rPr>
                <a:t>THUẦN HOA GROUP</a:t>
              </a:r>
            </a:p>
          </p:txBody>
        </p:sp>
      </p:grpSp>
      <p:sp>
        <p:nvSpPr>
          <p:cNvPr id="14" name="직사각형 5">
            <a:extLst>
              <a:ext uri="{FF2B5EF4-FFF2-40B4-BE49-F238E27FC236}">
                <a16:creationId xmlns:a16="http://schemas.microsoft.com/office/drawing/2014/main" id="{F045EB38-C388-4FBD-86B2-FA75DAE6437D}"/>
              </a:ext>
            </a:extLst>
          </p:cNvPr>
          <p:cNvSpPr/>
          <p:nvPr/>
        </p:nvSpPr>
        <p:spPr>
          <a:xfrm rot="10800000" flipV="1">
            <a:off x="7971693" y="10051074"/>
            <a:ext cx="10286999" cy="197826"/>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ko-KR" altLang="en-US" sz="2700"/>
          </a:p>
        </p:txBody>
      </p:sp>
      <p:sp>
        <p:nvSpPr>
          <p:cNvPr id="15" name="TextBox 14">
            <a:extLst>
              <a:ext uri="{FF2B5EF4-FFF2-40B4-BE49-F238E27FC236}">
                <a16:creationId xmlns:a16="http://schemas.microsoft.com/office/drawing/2014/main" id="{DF722B8B-FAE5-46AA-B2BD-4AB8C5842DA7}"/>
              </a:ext>
            </a:extLst>
          </p:cNvPr>
          <p:cNvSpPr txBox="1"/>
          <p:nvPr/>
        </p:nvSpPr>
        <p:spPr>
          <a:xfrm>
            <a:off x="8000997" y="9543243"/>
            <a:ext cx="10287003" cy="507831"/>
          </a:xfrm>
          <a:prstGeom prst="rect">
            <a:avLst/>
          </a:prstGeom>
        </p:spPr>
        <p:style>
          <a:lnRef idx="1">
            <a:schemeClr val="accent1"/>
          </a:lnRef>
          <a:fillRef idx="3">
            <a:schemeClr val="accent1"/>
          </a:fillRef>
          <a:effectRef idx="2">
            <a:schemeClr val="accent1"/>
          </a:effectRef>
          <a:fontRef idx="minor">
            <a:schemeClr val="lt1"/>
          </a:fontRef>
        </p:style>
        <p:txBody>
          <a:bodyPr wrap="square">
            <a:spAutoFit/>
          </a:bodyPr>
          <a:lstStyle/>
          <a:p>
            <a:r>
              <a:rPr lang="en-US" altLang="ko-KR" sz="270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altLang="ko-KR" sz="240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DR.CGF     # Thuần Hoa Group     # Trao giá trị - Tạo niềm tin</a:t>
            </a:r>
            <a:endParaRPr lang="en-US" altLang="ko-KR" sz="2400"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143ECA8B-A659-4240-B234-CAE38FE7F744}"/>
              </a:ext>
            </a:extLst>
          </p:cNvPr>
          <p:cNvPicPr>
            <a:picLocks noChangeAspect="1"/>
          </p:cNvPicPr>
          <p:nvPr/>
        </p:nvPicPr>
        <p:blipFill>
          <a:blip r:embed="rId4"/>
          <a:stretch>
            <a:fillRect/>
          </a:stretch>
        </p:blipFill>
        <p:spPr>
          <a:xfrm>
            <a:off x="1371600" y="1699792"/>
            <a:ext cx="6030082" cy="7879374"/>
          </a:xfrm>
          <a:prstGeom prst="rect">
            <a:avLst/>
          </a:prstGeom>
        </p:spPr>
      </p:pic>
      <p:sp>
        <p:nvSpPr>
          <p:cNvPr id="16" name="TextBox 13">
            <a:extLst>
              <a:ext uri="{FF2B5EF4-FFF2-40B4-BE49-F238E27FC236}">
                <a16:creationId xmlns:a16="http://schemas.microsoft.com/office/drawing/2014/main" id="{E5CE368F-D9AE-4AA5-A543-7BA74FBB6F1E}"/>
              </a:ext>
            </a:extLst>
          </p:cNvPr>
          <p:cNvSpPr txBox="1"/>
          <p:nvPr/>
        </p:nvSpPr>
        <p:spPr>
          <a:xfrm>
            <a:off x="7848600" y="1981582"/>
            <a:ext cx="4525871" cy="1393971"/>
          </a:xfrm>
          <a:prstGeom prst="rect">
            <a:avLst/>
          </a:prstGeom>
        </p:spPr>
        <p:txBody>
          <a:bodyPr wrap="square" lIns="0" tIns="0" rIns="0" bIns="0" rtlCol="0" anchor="t">
            <a:spAutoFit/>
          </a:bodyPr>
          <a:lstStyle/>
          <a:p>
            <a:pPr marL="367029" lvl="1" indent="-183514" algn="l">
              <a:lnSpc>
                <a:spcPts val="2209"/>
              </a:lnSpc>
              <a:buFont typeface="Arial"/>
              <a:buChar char="•"/>
            </a:pPr>
            <a:r>
              <a:rPr lang="en-US" sz="1699" b="1" spc="-61">
                <a:solidFill>
                  <a:srgbClr val="000000"/>
                </a:solidFill>
                <a:latin typeface="Montserrat Medium"/>
                <a:ea typeface="Montserrat Medium"/>
                <a:cs typeface="Montserrat Medium"/>
                <a:sym typeface="Montserrat Medium"/>
              </a:rPr>
              <a:t>Khách hàng sinh năm  1996</a:t>
            </a:r>
          </a:p>
          <a:p>
            <a:pPr marL="367029" lvl="1" indent="-183514" algn="l">
              <a:lnSpc>
                <a:spcPts val="2209"/>
              </a:lnSpc>
              <a:buFont typeface="Arial"/>
              <a:buChar char="•"/>
            </a:pPr>
            <a:r>
              <a:rPr lang="en-US" sz="1699" b="1" spc="-61">
                <a:solidFill>
                  <a:srgbClr val="000000"/>
                </a:solidFill>
                <a:latin typeface="Montserrat Medium"/>
                <a:ea typeface="Montserrat Medium"/>
                <a:cs typeface="Montserrat Medium"/>
                <a:sym typeface="Montserrat Medium"/>
              </a:rPr>
              <a:t>Tình trạng mụn nhẹ, da không đều màu</a:t>
            </a:r>
          </a:p>
          <a:p>
            <a:pPr marL="367029" lvl="1" indent="-183514" algn="l">
              <a:lnSpc>
                <a:spcPts val="2209"/>
              </a:lnSpc>
              <a:buFont typeface="Arial"/>
              <a:buChar char="•"/>
            </a:pPr>
            <a:r>
              <a:rPr lang="en-US" sz="1699" b="1" spc="-61">
                <a:solidFill>
                  <a:srgbClr val="000000"/>
                </a:solidFill>
                <a:latin typeface="Montserrat Medium"/>
                <a:ea typeface="Montserrat Medium"/>
                <a:cs typeface="Montserrat Medium"/>
                <a:sym typeface="Montserrat Medium"/>
              </a:rPr>
              <a:t>Và kết quả sau 2 tháng sử dụng sản phẩm DR.CGF ( Retinal, Serum B5, Kem dưỡng)</a:t>
            </a:r>
          </a:p>
        </p:txBody>
      </p:sp>
    </p:spTree>
    <p:extLst>
      <p:ext uri="{BB962C8B-B14F-4D97-AF65-F5344CB8AC3E}">
        <p14:creationId xmlns:p14="http://schemas.microsoft.com/office/powerpoint/2010/main" val="4071748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47707-8321-85F2-7792-02C719EC4DA2}"/>
            </a:ext>
          </a:extLst>
        </p:cNvPr>
        <p:cNvGrpSpPr/>
        <p:nvPr/>
      </p:nvGrpSpPr>
      <p:grpSpPr>
        <a:xfrm>
          <a:off x="0" y="0"/>
          <a:ext cx="0" cy="0"/>
          <a:chOff x="0" y="0"/>
          <a:chExt cx="0" cy="0"/>
        </a:xfrm>
      </p:grpSpPr>
      <p:grpSp>
        <p:nvGrpSpPr>
          <p:cNvPr id="9" name="Group 2">
            <a:extLst>
              <a:ext uri="{FF2B5EF4-FFF2-40B4-BE49-F238E27FC236}">
                <a16:creationId xmlns:a16="http://schemas.microsoft.com/office/drawing/2014/main" id="{D14499A0-2E79-CDFC-8AC6-D987A866A737}"/>
              </a:ext>
            </a:extLst>
          </p:cNvPr>
          <p:cNvGrpSpPr/>
          <p:nvPr/>
        </p:nvGrpSpPr>
        <p:grpSpPr>
          <a:xfrm>
            <a:off x="1028700" y="395218"/>
            <a:ext cx="17259300" cy="1078533"/>
            <a:chOff x="0" y="0"/>
            <a:chExt cx="23012400" cy="1438044"/>
          </a:xfrm>
        </p:grpSpPr>
        <p:sp>
          <p:nvSpPr>
            <p:cNvPr id="10" name="Freeform 3">
              <a:extLst>
                <a:ext uri="{FF2B5EF4-FFF2-40B4-BE49-F238E27FC236}">
                  <a16:creationId xmlns:a16="http://schemas.microsoft.com/office/drawing/2014/main" id="{98F5C061-4FDD-147B-78A5-696FAA659775}"/>
                </a:ext>
              </a:extLst>
            </p:cNvPr>
            <p:cNvSpPr/>
            <p:nvPr/>
          </p:nvSpPr>
          <p:spPr>
            <a:xfrm>
              <a:off x="0" y="0"/>
              <a:ext cx="2937194" cy="1274008"/>
            </a:xfrm>
            <a:custGeom>
              <a:avLst/>
              <a:gdLst/>
              <a:ahLst/>
              <a:cxnLst/>
              <a:rect l="l" t="t" r="r" b="b"/>
              <a:pathLst>
                <a:path w="2937194" h="1274008">
                  <a:moveTo>
                    <a:pt x="0" y="0"/>
                  </a:moveTo>
                  <a:lnTo>
                    <a:pt x="2937194" y="0"/>
                  </a:lnTo>
                  <a:lnTo>
                    <a:pt x="2937194" y="1274008"/>
                  </a:lnTo>
                  <a:lnTo>
                    <a:pt x="0" y="1274008"/>
                  </a:lnTo>
                  <a:lnTo>
                    <a:pt x="0" y="0"/>
                  </a:lnTo>
                  <a:close/>
                </a:path>
              </a:pathLst>
            </a:custGeom>
            <a:blipFill>
              <a:blip r:embed="rId2"/>
              <a:stretch>
                <a:fillRect/>
              </a:stretch>
            </a:blipFill>
          </p:spPr>
        </p:sp>
        <p:sp>
          <p:nvSpPr>
            <p:cNvPr id="11" name="Freeform 4">
              <a:extLst>
                <a:ext uri="{FF2B5EF4-FFF2-40B4-BE49-F238E27FC236}">
                  <a16:creationId xmlns:a16="http://schemas.microsoft.com/office/drawing/2014/main" id="{CFEAB240-DFD4-D042-F19D-06686C98E5FF}"/>
                </a:ext>
              </a:extLst>
            </p:cNvPr>
            <p:cNvSpPr/>
            <p:nvPr/>
          </p:nvSpPr>
          <p:spPr>
            <a:xfrm>
              <a:off x="3134311" y="224397"/>
              <a:ext cx="2339750" cy="1036911"/>
            </a:xfrm>
            <a:custGeom>
              <a:avLst/>
              <a:gdLst/>
              <a:ahLst/>
              <a:cxnLst/>
              <a:rect l="l" t="t" r="r" b="b"/>
              <a:pathLst>
                <a:path w="2339750" h="1036911">
                  <a:moveTo>
                    <a:pt x="0" y="0"/>
                  </a:moveTo>
                  <a:lnTo>
                    <a:pt x="2339749" y="0"/>
                  </a:lnTo>
                  <a:lnTo>
                    <a:pt x="2339749" y="1036911"/>
                  </a:lnTo>
                  <a:lnTo>
                    <a:pt x="0" y="1036911"/>
                  </a:lnTo>
                  <a:lnTo>
                    <a:pt x="0" y="0"/>
                  </a:lnTo>
                  <a:close/>
                </a:path>
              </a:pathLst>
            </a:custGeom>
            <a:blipFill>
              <a:blip r:embed="rId3"/>
              <a:stretch>
                <a:fillRect l="-8002" t="-69970" b="-73732"/>
              </a:stretch>
            </a:blipFill>
          </p:spPr>
        </p:sp>
        <p:sp>
          <p:nvSpPr>
            <p:cNvPr id="12" name="AutoShape 5">
              <a:extLst>
                <a:ext uri="{FF2B5EF4-FFF2-40B4-BE49-F238E27FC236}">
                  <a16:creationId xmlns:a16="http://schemas.microsoft.com/office/drawing/2014/main" id="{AF21E432-DB90-EC67-34FC-7FF202C02C3E}"/>
                </a:ext>
              </a:extLst>
            </p:cNvPr>
            <p:cNvSpPr/>
            <p:nvPr/>
          </p:nvSpPr>
          <p:spPr>
            <a:xfrm flipV="1">
              <a:off x="16552532" y="1299408"/>
              <a:ext cx="6459868" cy="0"/>
            </a:xfrm>
            <a:prstGeom prst="line">
              <a:avLst/>
            </a:prstGeom>
            <a:ln w="25400" cap="flat">
              <a:solidFill>
                <a:srgbClr val="000000"/>
              </a:solidFill>
              <a:prstDash val="solid"/>
              <a:headEnd type="none" w="sm" len="sm"/>
              <a:tailEnd type="none" w="sm" len="sm"/>
            </a:ln>
          </p:spPr>
        </p:sp>
        <p:sp>
          <p:nvSpPr>
            <p:cNvPr id="13" name="TextBox 6">
              <a:extLst>
                <a:ext uri="{FF2B5EF4-FFF2-40B4-BE49-F238E27FC236}">
                  <a16:creationId xmlns:a16="http://schemas.microsoft.com/office/drawing/2014/main" id="{EF242752-259F-E013-0E65-9B01D233FDFF}"/>
                </a:ext>
              </a:extLst>
            </p:cNvPr>
            <p:cNvSpPr txBox="1"/>
            <p:nvPr/>
          </p:nvSpPr>
          <p:spPr>
            <a:xfrm>
              <a:off x="12954000" y="1088377"/>
              <a:ext cx="3934687" cy="349667"/>
            </a:xfrm>
            <a:prstGeom prst="rect">
              <a:avLst/>
            </a:prstGeom>
          </p:spPr>
          <p:txBody>
            <a:bodyPr wrap="square" lIns="0" tIns="0" rIns="0" bIns="0" rtlCol="0" anchor="t">
              <a:spAutoFit/>
            </a:bodyPr>
            <a:lstStyle/>
            <a:p>
              <a:pPr algn="ctr">
                <a:lnSpc>
                  <a:spcPts val="2239"/>
                </a:lnSpc>
                <a:spcBef>
                  <a:spcPct val="0"/>
                </a:spcBef>
              </a:pPr>
              <a:r>
                <a:rPr lang="en-US" sz="1599" b="1" i="1">
                  <a:solidFill>
                    <a:srgbClr val="000000"/>
                  </a:solidFill>
                  <a:latin typeface="Montserrat Semi-Bold" panose="020B0604020202020204" charset="0"/>
                  <a:ea typeface="Montserrat Medium Italics"/>
                  <a:cs typeface="Montserrat Medium Italics"/>
                  <a:sym typeface="Montserrat Medium Italics"/>
                </a:rPr>
                <a:t>THUẦN HOA GROUP</a:t>
              </a:r>
            </a:p>
          </p:txBody>
        </p:sp>
      </p:grpSp>
      <p:sp>
        <p:nvSpPr>
          <p:cNvPr id="14" name="직사각형 5">
            <a:extLst>
              <a:ext uri="{FF2B5EF4-FFF2-40B4-BE49-F238E27FC236}">
                <a16:creationId xmlns:a16="http://schemas.microsoft.com/office/drawing/2014/main" id="{17A57462-6182-993A-E44A-DB4AEE50984D}"/>
              </a:ext>
            </a:extLst>
          </p:cNvPr>
          <p:cNvSpPr/>
          <p:nvPr/>
        </p:nvSpPr>
        <p:spPr>
          <a:xfrm rot="10800000" flipV="1">
            <a:off x="7971693" y="10051074"/>
            <a:ext cx="10286999" cy="197826"/>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ko-KR" altLang="en-US" sz="2700"/>
          </a:p>
        </p:txBody>
      </p:sp>
      <p:sp>
        <p:nvSpPr>
          <p:cNvPr id="15" name="TextBox 14">
            <a:extLst>
              <a:ext uri="{FF2B5EF4-FFF2-40B4-BE49-F238E27FC236}">
                <a16:creationId xmlns:a16="http://schemas.microsoft.com/office/drawing/2014/main" id="{6A275508-147B-7C3B-1B3F-BB694CFED65D}"/>
              </a:ext>
            </a:extLst>
          </p:cNvPr>
          <p:cNvSpPr txBox="1"/>
          <p:nvPr/>
        </p:nvSpPr>
        <p:spPr>
          <a:xfrm>
            <a:off x="8000997" y="9543243"/>
            <a:ext cx="10287003" cy="507831"/>
          </a:xfrm>
          <a:prstGeom prst="rect">
            <a:avLst/>
          </a:prstGeom>
        </p:spPr>
        <p:style>
          <a:lnRef idx="1">
            <a:schemeClr val="accent1"/>
          </a:lnRef>
          <a:fillRef idx="3">
            <a:schemeClr val="accent1"/>
          </a:fillRef>
          <a:effectRef idx="2">
            <a:schemeClr val="accent1"/>
          </a:effectRef>
          <a:fontRef idx="minor">
            <a:schemeClr val="lt1"/>
          </a:fontRef>
        </p:style>
        <p:txBody>
          <a:bodyPr wrap="square">
            <a:spAutoFit/>
          </a:bodyPr>
          <a:lstStyle/>
          <a:p>
            <a:r>
              <a:rPr lang="en-US" altLang="ko-KR" sz="270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altLang="ko-KR" sz="240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DR.CGF     # Thuần Hoa Group     # Trao giá trị - Tạo niềm tin</a:t>
            </a:r>
            <a:endParaRPr lang="en-US" altLang="ko-KR" sz="2400"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16" name="TextBox 13">
            <a:extLst>
              <a:ext uri="{FF2B5EF4-FFF2-40B4-BE49-F238E27FC236}">
                <a16:creationId xmlns:a16="http://schemas.microsoft.com/office/drawing/2014/main" id="{3FF0ABAB-0989-1FD0-3C9F-006B0205A4E6}"/>
              </a:ext>
            </a:extLst>
          </p:cNvPr>
          <p:cNvSpPr txBox="1"/>
          <p:nvPr/>
        </p:nvSpPr>
        <p:spPr>
          <a:xfrm>
            <a:off x="12954000" y="1981582"/>
            <a:ext cx="4525871" cy="1958228"/>
          </a:xfrm>
          <a:prstGeom prst="rect">
            <a:avLst/>
          </a:prstGeom>
        </p:spPr>
        <p:txBody>
          <a:bodyPr wrap="square" lIns="0" tIns="0" rIns="0" bIns="0" rtlCol="0" anchor="t">
            <a:spAutoFit/>
          </a:bodyPr>
          <a:lstStyle/>
          <a:p>
            <a:pPr marL="367029" lvl="1" indent="-183514" algn="l">
              <a:lnSpc>
                <a:spcPts val="2209"/>
              </a:lnSpc>
              <a:buFont typeface="Arial"/>
              <a:buChar char="•"/>
            </a:pPr>
            <a:r>
              <a:rPr lang="en-US" sz="1699" b="1" spc="-61" dirty="0" err="1">
                <a:solidFill>
                  <a:srgbClr val="000000"/>
                </a:solidFill>
                <a:latin typeface="Montserrat Medium"/>
                <a:ea typeface="Montserrat Medium"/>
                <a:cs typeface="Montserrat Medium"/>
                <a:sym typeface="Montserrat Medium"/>
              </a:rPr>
              <a:t>Khách</a:t>
            </a:r>
            <a:r>
              <a:rPr lang="en-US" sz="1699" b="1" spc="-61" dirty="0">
                <a:solidFill>
                  <a:srgbClr val="000000"/>
                </a:solidFill>
                <a:latin typeface="Montserrat Medium"/>
                <a:ea typeface="Montserrat Medium"/>
                <a:cs typeface="Montserrat Medium"/>
                <a:sym typeface="Montserrat Medium"/>
              </a:rPr>
              <a:t> </a:t>
            </a:r>
            <a:r>
              <a:rPr lang="en-US" sz="1699" b="1" spc="-61" dirty="0" err="1">
                <a:solidFill>
                  <a:srgbClr val="000000"/>
                </a:solidFill>
                <a:latin typeface="Montserrat Medium"/>
                <a:ea typeface="Montserrat Medium"/>
                <a:cs typeface="Montserrat Medium"/>
                <a:sym typeface="Montserrat Medium"/>
              </a:rPr>
              <a:t>hàng</a:t>
            </a:r>
            <a:r>
              <a:rPr lang="en-US" sz="1699" b="1" spc="-61" dirty="0">
                <a:solidFill>
                  <a:srgbClr val="000000"/>
                </a:solidFill>
                <a:latin typeface="Montserrat Medium"/>
                <a:ea typeface="Montserrat Medium"/>
                <a:cs typeface="Montserrat Medium"/>
                <a:sym typeface="Montserrat Medium"/>
              </a:rPr>
              <a:t> </a:t>
            </a:r>
            <a:r>
              <a:rPr lang="en-US" sz="1699" b="1" spc="-61" dirty="0" err="1">
                <a:solidFill>
                  <a:srgbClr val="000000"/>
                </a:solidFill>
                <a:latin typeface="Montserrat Medium"/>
                <a:ea typeface="Montserrat Medium"/>
                <a:cs typeface="Montserrat Medium"/>
                <a:sym typeface="Montserrat Medium"/>
              </a:rPr>
              <a:t>sinh</a:t>
            </a:r>
            <a:r>
              <a:rPr lang="en-US" sz="1699" b="1" spc="-61" dirty="0">
                <a:solidFill>
                  <a:srgbClr val="000000"/>
                </a:solidFill>
                <a:latin typeface="Montserrat Medium"/>
                <a:ea typeface="Montserrat Medium"/>
                <a:cs typeface="Montserrat Medium"/>
                <a:sym typeface="Montserrat Medium"/>
              </a:rPr>
              <a:t> </a:t>
            </a:r>
            <a:r>
              <a:rPr lang="en-US" sz="1699" b="1" spc="-61" dirty="0" err="1">
                <a:solidFill>
                  <a:srgbClr val="000000"/>
                </a:solidFill>
                <a:latin typeface="Montserrat Medium"/>
                <a:ea typeface="Montserrat Medium"/>
                <a:cs typeface="Montserrat Medium"/>
                <a:sym typeface="Montserrat Medium"/>
              </a:rPr>
              <a:t>năm</a:t>
            </a:r>
            <a:r>
              <a:rPr lang="en-US" sz="1699" b="1" spc="-61" dirty="0">
                <a:solidFill>
                  <a:srgbClr val="000000"/>
                </a:solidFill>
                <a:latin typeface="Montserrat Medium"/>
                <a:ea typeface="Montserrat Medium"/>
                <a:cs typeface="Montserrat Medium"/>
                <a:sym typeface="Montserrat Medium"/>
              </a:rPr>
              <a:t>  1990</a:t>
            </a:r>
          </a:p>
          <a:p>
            <a:pPr marL="367029" lvl="1" indent="-183514" algn="l">
              <a:lnSpc>
                <a:spcPts val="2209"/>
              </a:lnSpc>
              <a:buFont typeface="Arial"/>
              <a:buChar char="•"/>
            </a:pPr>
            <a:r>
              <a:rPr lang="en-US" sz="1699" b="1" spc="-61" dirty="0" err="1">
                <a:solidFill>
                  <a:srgbClr val="000000"/>
                </a:solidFill>
                <a:latin typeface="Montserrat Medium"/>
                <a:ea typeface="Montserrat Medium"/>
                <a:cs typeface="Montserrat Medium"/>
                <a:sym typeface="Montserrat Medium"/>
              </a:rPr>
              <a:t>Tình</a:t>
            </a:r>
            <a:r>
              <a:rPr lang="en-US" sz="1699" b="1" spc="-61" dirty="0">
                <a:solidFill>
                  <a:srgbClr val="000000"/>
                </a:solidFill>
                <a:latin typeface="Montserrat Medium"/>
                <a:ea typeface="Montserrat Medium"/>
                <a:cs typeface="Montserrat Medium"/>
                <a:sym typeface="Montserrat Medium"/>
              </a:rPr>
              <a:t> </a:t>
            </a:r>
            <a:r>
              <a:rPr lang="en-US" sz="1699" b="1" spc="-61" dirty="0" err="1">
                <a:solidFill>
                  <a:srgbClr val="000000"/>
                </a:solidFill>
                <a:latin typeface="Montserrat Medium"/>
                <a:ea typeface="Montserrat Medium"/>
                <a:cs typeface="Montserrat Medium"/>
                <a:sym typeface="Montserrat Medium"/>
              </a:rPr>
              <a:t>trạng</a:t>
            </a:r>
            <a:r>
              <a:rPr lang="en-US" sz="1699" b="1" spc="-61" dirty="0">
                <a:solidFill>
                  <a:srgbClr val="000000"/>
                </a:solidFill>
                <a:latin typeface="Montserrat Medium"/>
                <a:ea typeface="Montserrat Medium"/>
                <a:cs typeface="Montserrat Medium"/>
                <a:sym typeface="Montserrat Medium"/>
              </a:rPr>
              <a:t> </a:t>
            </a:r>
            <a:r>
              <a:rPr lang="en-US" sz="1699" b="1" spc="-61" dirty="0" err="1">
                <a:solidFill>
                  <a:srgbClr val="000000"/>
                </a:solidFill>
                <a:latin typeface="Montserrat Medium"/>
                <a:ea typeface="Montserrat Medium"/>
                <a:cs typeface="Montserrat Medium"/>
                <a:sym typeface="Montserrat Medium"/>
              </a:rPr>
              <a:t>mụn</a:t>
            </a:r>
            <a:r>
              <a:rPr lang="en-US" sz="1699" b="1" spc="-61" dirty="0">
                <a:solidFill>
                  <a:srgbClr val="000000"/>
                </a:solidFill>
                <a:latin typeface="Montserrat Medium"/>
                <a:ea typeface="Montserrat Medium"/>
                <a:cs typeface="Montserrat Medium"/>
                <a:sym typeface="Montserrat Medium"/>
              </a:rPr>
              <a:t> </a:t>
            </a:r>
            <a:r>
              <a:rPr lang="en-US" sz="1699" b="1" spc="-61" dirty="0" err="1">
                <a:solidFill>
                  <a:srgbClr val="000000"/>
                </a:solidFill>
                <a:latin typeface="Montserrat Medium"/>
                <a:ea typeface="Montserrat Medium"/>
                <a:cs typeface="Montserrat Medium"/>
                <a:sym typeface="Montserrat Medium"/>
              </a:rPr>
              <a:t>nội</a:t>
            </a:r>
            <a:r>
              <a:rPr lang="en-US" sz="1699" b="1" spc="-61" dirty="0">
                <a:solidFill>
                  <a:srgbClr val="000000"/>
                </a:solidFill>
                <a:latin typeface="Montserrat Medium"/>
                <a:ea typeface="Montserrat Medium"/>
                <a:cs typeface="Montserrat Medium"/>
                <a:sym typeface="Montserrat Medium"/>
              </a:rPr>
              <a:t> </a:t>
            </a:r>
            <a:r>
              <a:rPr lang="en-US" sz="1699" b="1" spc="-61" dirty="0" err="1">
                <a:solidFill>
                  <a:srgbClr val="000000"/>
                </a:solidFill>
                <a:latin typeface="Montserrat Medium"/>
                <a:ea typeface="Montserrat Medium"/>
                <a:cs typeface="Montserrat Medium"/>
                <a:sym typeface="Montserrat Medium"/>
              </a:rPr>
              <a:t>tiết</a:t>
            </a:r>
            <a:r>
              <a:rPr lang="en-US" sz="1699" b="1" spc="-61" dirty="0">
                <a:solidFill>
                  <a:srgbClr val="000000"/>
                </a:solidFill>
                <a:latin typeface="Montserrat Medium"/>
                <a:ea typeface="Montserrat Medium"/>
                <a:cs typeface="Montserrat Medium"/>
                <a:sym typeface="Montserrat Medium"/>
              </a:rPr>
              <a:t> </a:t>
            </a:r>
            <a:r>
              <a:rPr lang="en-US" sz="1699" b="1" spc="-61" dirty="0" err="1">
                <a:solidFill>
                  <a:srgbClr val="000000"/>
                </a:solidFill>
                <a:latin typeface="Montserrat Medium"/>
                <a:ea typeface="Montserrat Medium"/>
                <a:cs typeface="Montserrat Medium"/>
                <a:sym typeface="Montserrat Medium"/>
              </a:rPr>
              <a:t>lâu</a:t>
            </a:r>
            <a:r>
              <a:rPr lang="en-US" sz="1699" b="1" spc="-61" dirty="0">
                <a:solidFill>
                  <a:srgbClr val="000000"/>
                </a:solidFill>
                <a:latin typeface="Montserrat Medium"/>
                <a:ea typeface="Montserrat Medium"/>
                <a:cs typeface="Montserrat Medium"/>
                <a:sym typeface="Montserrat Medium"/>
              </a:rPr>
              <a:t> </a:t>
            </a:r>
            <a:r>
              <a:rPr lang="en-US" sz="1699" b="1" spc="-61" dirty="0" err="1">
                <a:solidFill>
                  <a:srgbClr val="000000"/>
                </a:solidFill>
                <a:latin typeface="Montserrat Medium"/>
                <a:ea typeface="Montserrat Medium"/>
                <a:cs typeface="Montserrat Medium"/>
                <a:sym typeface="Montserrat Medium"/>
              </a:rPr>
              <a:t>năm</a:t>
            </a:r>
            <a:r>
              <a:rPr lang="en-US" sz="1699" b="1" spc="-61" dirty="0">
                <a:solidFill>
                  <a:srgbClr val="000000"/>
                </a:solidFill>
                <a:latin typeface="Montserrat Medium"/>
                <a:ea typeface="Montserrat Medium"/>
                <a:cs typeface="Montserrat Medium"/>
                <a:sym typeface="Montserrat Medium"/>
              </a:rPr>
              <a:t>, da </a:t>
            </a:r>
            <a:r>
              <a:rPr lang="en-US" sz="1699" b="1" spc="-61" dirty="0" err="1">
                <a:solidFill>
                  <a:srgbClr val="000000"/>
                </a:solidFill>
                <a:latin typeface="Montserrat Medium"/>
                <a:ea typeface="Montserrat Medium"/>
                <a:cs typeface="Montserrat Medium"/>
                <a:sym typeface="Montserrat Medium"/>
              </a:rPr>
              <a:t>mỏng</a:t>
            </a:r>
            <a:r>
              <a:rPr lang="en-US" sz="1699" b="1" spc="-61" dirty="0">
                <a:solidFill>
                  <a:srgbClr val="000000"/>
                </a:solidFill>
                <a:latin typeface="Montserrat Medium"/>
                <a:ea typeface="Montserrat Medium"/>
                <a:cs typeface="Montserrat Medium"/>
                <a:sym typeface="Montserrat Medium"/>
              </a:rPr>
              <a:t> </a:t>
            </a:r>
            <a:r>
              <a:rPr lang="en-US" sz="1699" b="1" spc="-61" dirty="0" err="1">
                <a:solidFill>
                  <a:srgbClr val="000000"/>
                </a:solidFill>
                <a:latin typeface="Montserrat Medium"/>
                <a:ea typeface="Montserrat Medium"/>
                <a:cs typeface="Montserrat Medium"/>
                <a:sym typeface="Montserrat Medium"/>
              </a:rPr>
              <a:t>yếu</a:t>
            </a:r>
            <a:r>
              <a:rPr lang="en-US" sz="1699" b="1" spc="-61" dirty="0">
                <a:solidFill>
                  <a:srgbClr val="000000"/>
                </a:solidFill>
                <a:latin typeface="Montserrat Medium"/>
                <a:ea typeface="Montserrat Medium"/>
                <a:cs typeface="Montserrat Medium"/>
                <a:sym typeface="Montserrat Medium"/>
              </a:rPr>
              <a:t>, </a:t>
            </a:r>
            <a:r>
              <a:rPr lang="en-US" sz="1699" b="1" spc="-61" dirty="0" err="1">
                <a:solidFill>
                  <a:srgbClr val="000000"/>
                </a:solidFill>
                <a:latin typeface="Montserrat Medium"/>
                <a:ea typeface="Montserrat Medium"/>
                <a:cs typeface="Montserrat Medium"/>
                <a:sym typeface="Montserrat Medium"/>
              </a:rPr>
              <a:t>đã</a:t>
            </a:r>
            <a:r>
              <a:rPr lang="en-US" sz="1699" b="1" spc="-61" dirty="0">
                <a:solidFill>
                  <a:srgbClr val="000000"/>
                </a:solidFill>
                <a:latin typeface="Montserrat Medium"/>
                <a:ea typeface="Montserrat Medium"/>
                <a:cs typeface="Montserrat Medium"/>
                <a:sym typeface="Montserrat Medium"/>
              </a:rPr>
              <a:t> </a:t>
            </a:r>
            <a:r>
              <a:rPr lang="en-US" sz="1699" b="1" spc="-61" dirty="0" err="1">
                <a:solidFill>
                  <a:srgbClr val="000000"/>
                </a:solidFill>
                <a:latin typeface="Montserrat Medium"/>
                <a:ea typeface="Montserrat Medium"/>
                <a:cs typeface="Montserrat Medium"/>
                <a:sym typeface="Montserrat Medium"/>
              </a:rPr>
              <a:t>điều</a:t>
            </a:r>
            <a:r>
              <a:rPr lang="en-US" sz="1699" b="1" spc="-61" dirty="0">
                <a:solidFill>
                  <a:srgbClr val="000000"/>
                </a:solidFill>
                <a:latin typeface="Montserrat Medium"/>
                <a:ea typeface="Montserrat Medium"/>
                <a:cs typeface="Montserrat Medium"/>
                <a:sym typeface="Montserrat Medium"/>
              </a:rPr>
              <a:t> </a:t>
            </a:r>
            <a:r>
              <a:rPr lang="en-US" sz="1699" b="1" spc="-61" dirty="0" err="1">
                <a:solidFill>
                  <a:srgbClr val="000000"/>
                </a:solidFill>
                <a:latin typeface="Montserrat Medium"/>
                <a:ea typeface="Montserrat Medium"/>
                <a:cs typeface="Montserrat Medium"/>
                <a:sym typeface="Montserrat Medium"/>
              </a:rPr>
              <a:t>trị</a:t>
            </a:r>
            <a:r>
              <a:rPr lang="en-US" sz="1699" b="1" spc="-61" dirty="0">
                <a:solidFill>
                  <a:srgbClr val="000000"/>
                </a:solidFill>
                <a:latin typeface="Montserrat Medium"/>
                <a:ea typeface="Montserrat Medium"/>
                <a:cs typeface="Montserrat Medium"/>
                <a:sym typeface="Montserrat Medium"/>
              </a:rPr>
              <a:t> </a:t>
            </a:r>
            <a:r>
              <a:rPr lang="en-US" sz="1699" b="1" spc="-61" dirty="0" err="1">
                <a:solidFill>
                  <a:srgbClr val="000000"/>
                </a:solidFill>
                <a:latin typeface="Montserrat Medium"/>
                <a:ea typeface="Montserrat Medium"/>
                <a:cs typeface="Montserrat Medium"/>
                <a:sym typeface="Montserrat Medium"/>
              </a:rPr>
              <a:t>tại</a:t>
            </a:r>
            <a:r>
              <a:rPr lang="en-US" sz="1699" b="1" spc="-61" dirty="0">
                <a:solidFill>
                  <a:srgbClr val="000000"/>
                </a:solidFill>
                <a:latin typeface="Montserrat Medium"/>
                <a:ea typeface="Montserrat Medium"/>
                <a:cs typeface="Montserrat Medium"/>
                <a:sym typeface="Montserrat Medium"/>
              </a:rPr>
              <a:t> </a:t>
            </a:r>
            <a:r>
              <a:rPr lang="en-US" sz="1699" b="1" spc="-61" dirty="0" err="1">
                <a:solidFill>
                  <a:srgbClr val="000000"/>
                </a:solidFill>
                <a:latin typeface="Montserrat Medium"/>
                <a:ea typeface="Montserrat Medium"/>
                <a:cs typeface="Montserrat Medium"/>
                <a:sym typeface="Montserrat Medium"/>
              </a:rPr>
              <a:t>nhiều</a:t>
            </a:r>
            <a:r>
              <a:rPr lang="en-US" sz="1699" b="1" spc="-61" dirty="0">
                <a:solidFill>
                  <a:srgbClr val="000000"/>
                </a:solidFill>
                <a:latin typeface="Montserrat Medium"/>
                <a:ea typeface="Montserrat Medium"/>
                <a:cs typeface="Montserrat Medium"/>
                <a:sym typeface="Montserrat Medium"/>
              </a:rPr>
              <a:t> </a:t>
            </a:r>
            <a:r>
              <a:rPr lang="en-US" sz="1699" b="1" spc="-61" dirty="0" err="1">
                <a:solidFill>
                  <a:srgbClr val="000000"/>
                </a:solidFill>
                <a:latin typeface="Montserrat Medium"/>
                <a:ea typeface="Montserrat Medium"/>
                <a:cs typeface="Montserrat Medium"/>
                <a:sym typeface="Montserrat Medium"/>
              </a:rPr>
              <a:t>cơ</a:t>
            </a:r>
            <a:r>
              <a:rPr lang="en-US" sz="1699" b="1" spc="-61" dirty="0">
                <a:solidFill>
                  <a:srgbClr val="000000"/>
                </a:solidFill>
                <a:latin typeface="Montserrat Medium"/>
                <a:ea typeface="Montserrat Medium"/>
                <a:cs typeface="Montserrat Medium"/>
                <a:sym typeface="Montserrat Medium"/>
              </a:rPr>
              <a:t> </a:t>
            </a:r>
            <a:r>
              <a:rPr lang="en-US" sz="1699" b="1" spc="-61" dirty="0" err="1">
                <a:solidFill>
                  <a:srgbClr val="000000"/>
                </a:solidFill>
                <a:latin typeface="Montserrat Medium"/>
                <a:ea typeface="Montserrat Medium"/>
                <a:cs typeface="Montserrat Medium"/>
                <a:sym typeface="Montserrat Medium"/>
              </a:rPr>
              <a:t>sở</a:t>
            </a:r>
            <a:r>
              <a:rPr lang="en-US" sz="1699" b="1" spc="-61" dirty="0">
                <a:solidFill>
                  <a:srgbClr val="000000"/>
                </a:solidFill>
                <a:latin typeface="Montserrat Medium"/>
                <a:ea typeface="Montserrat Medium"/>
                <a:cs typeface="Montserrat Medium"/>
                <a:sym typeface="Montserrat Medium"/>
              </a:rPr>
              <a:t> </a:t>
            </a:r>
            <a:r>
              <a:rPr lang="en-US" sz="1699" b="1" spc="-61" dirty="0" err="1">
                <a:solidFill>
                  <a:srgbClr val="000000"/>
                </a:solidFill>
                <a:latin typeface="Montserrat Medium"/>
                <a:ea typeface="Montserrat Medium"/>
                <a:cs typeface="Montserrat Medium"/>
                <a:sym typeface="Montserrat Medium"/>
              </a:rPr>
              <a:t>dính</a:t>
            </a:r>
            <a:r>
              <a:rPr lang="en-US" sz="1699" b="1" spc="-61" dirty="0">
                <a:solidFill>
                  <a:srgbClr val="000000"/>
                </a:solidFill>
                <a:latin typeface="Montserrat Medium"/>
                <a:ea typeface="Montserrat Medium"/>
                <a:cs typeface="Montserrat Medium"/>
                <a:sym typeface="Montserrat Medium"/>
              </a:rPr>
              <a:t> </a:t>
            </a:r>
            <a:r>
              <a:rPr lang="en-US" sz="1699" b="1" spc="-61" dirty="0" err="1">
                <a:solidFill>
                  <a:srgbClr val="000000"/>
                </a:solidFill>
                <a:latin typeface="Montserrat Medium"/>
                <a:ea typeface="Montserrat Medium"/>
                <a:cs typeface="Montserrat Medium"/>
                <a:sym typeface="Montserrat Medium"/>
              </a:rPr>
              <a:t>kem</a:t>
            </a:r>
            <a:r>
              <a:rPr lang="en-US" sz="1699" b="1" spc="-61" dirty="0">
                <a:solidFill>
                  <a:srgbClr val="000000"/>
                </a:solidFill>
                <a:latin typeface="Montserrat Medium"/>
                <a:ea typeface="Montserrat Medium"/>
                <a:cs typeface="Montserrat Medium"/>
                <a:sym typeface="Montserrat Medium"/>
              </a:rPr>
              <a:t> </a:t>
            </a:r>
            <a:r>
              <a:rPr lang="en-US" sz="1699" b="1" spc="-61" dirty="0" err="1">
                <a:solidFill>
                  <a:srgbClr val="000000"/>
                </a:solidFill>
                <a:latin typeface="Montserrat Medium"/>
                <a:ea typeface="Montserrat Medium"/>
                <a:cs typeface="Montserrat Medium"/>
                <a:sym typeface="Montserrat Medium"/>
              </a:rPr>
              <a:t>trộn</a:t>
            </a:r>
            <a:r>
              <a:rPr lang="en-US" sz="1699" b="1" spc="-61" dirty="0">
                <a:solidFill>
                  <a:srgbClr val="000000"/>
                </a:solidFill>
                <a:latin typeface="Montserrat Medium"/>
                <a:ea typeface="Montserrat Medium"/>
                <a:cs typeface="Montserrat Medium"/>
                <a:sym typeface="Montserrat Medium"/>
              </a:rPr>
              <a:t>, </a:t>
            </a:r>
            <a:r>
              <a:rPr lang="en-US" sz="1699" b="1" spc="-61" dirty="0" err="1">
                <a:solidFill>
                  <a:srgbClr val="000000"/>
                </a:solidFill>
                <a:latin typeface="Montserrat Medium"/>
                <a:ea typeface="Montserrat Medium"/>
                <a:cs typeface="Montserrat Medium"/>
                <a:sym typeface="Montserrat Medium"/>
              </a:rPr>
              <a:t>rượu</a:t>
            </a:r>
            <a:r>
              <a:rPr lang="en-US" sz="1699" b="1" spc="-61" dirty="0">
                <a:solidFill>
                  <a:srgbClr val="000000"/>
                </a:solidFill>
                <a:latin typeface="Montserrat Medium"/>
                <a:ea typeface="Montserrat Medium"/>
                <a:cs typeface="Montserrat Medium"/>
                <a:sym typeface="Montserrat Medium"/>
              </a:rPr>
              <a:t> </a:t>
            </a:r>
            <a:r>
              <a:rPr lang="en-US" sz="1699" b="1" spc="-61" dirty="0" err="1">
                <a:solidFill>
                  <a:srgbClr val="000000"/>
                </a:solidFill>
                <a:latin typeface="Montserrat Medium"/>
                <a:ea typeface="Montserrat Medium"/>
                <a:cs typeface="Montserrat Medium"/>
                <a:sym typeface="Montserrat Medium"/>
              </a:rPr>
              <a:t>thuốc</a:t>
            </a:r>
            <a:r>
              <a:rPr lang="en-US" sz="1699" b="1" spc="-61" dirty="0">
                <a:solidFill>
                  <a:srgbClr val="000000"/>
                </a:solidFill>
                <a:latin typeface="Montserrat Medium"/>
                <a:ea typeface="Montserrat Medium"/>
                <a:cs typeface="Montserrat Medium"/>
                <a:sym typeface="Montserrat Medium"/>
              </a:rPr>
              <a:t>, </a:t>
            </a:r>
            <a:r>
              <a:rPr lang="en-US" sz="1699" b="1" spc="-61" dirty="0" err="1">
                <a:solidFill>
                  <a:srgbClr val="000000"/>
                </a:solidFill>
                <a:latin typeface="Montserrat Medium"/>
                <a:ea typeface="Montserrat Medium"/>
                <a:cs typeface="Montserrat Medium"/>
                <a:sym typeface="Montserrat Medium"/>
              </a:rPr>
              <a:t>mụn</a:t>
            </a:r>
            <a:r>
              <a:rPr lang="en-US" sz="1699" b="1" spc="-61" dirty="0">
                <a:solidFill>
                  <a:srgbClr val="000000"/>
                </a:solidFill>
                <a:latin typeface="Montserrat Medium"/>
                <a:ea typeface="Montserrat Medium"/>
                <a:cs typeface="Montserrat Medium"/>
                <a:sym typeface="Montserrat Medium"/>
              </a:rPr>
              <a:t> </a:t>
            </a:r>
            <a:r>
              <a:rPr lang="en-US" sz="1699" b="1" spc="-61" dirty="0" err="1">
                <a:solidFill>
                  <a:srgbClr val="000000"/>
                </a:solidFill>
                <a:latin typeface="Montserrat Medium"/>
                <a:ea typeface="Montserrat Medium"/>
                <a:cs typeface="Montserrat Medium"/>
                <a:sym typeface="Montserrat Medium"/>
              </a:rPr>
              <a:t>tái</a:t>
            </a:r>
            <a:r>
              <a:rPr lang="en-US" sz="1699" b="1" spc="-61" dirty="0">
                <a:solidFill>
                  <a:srgbClr val="000000"/>
                </a:solidFill>
                <a:latin typeface="Montserrat Medium"/>
                <a:ea typeface="Montserrat Medium"/>
                <a:cs typeface="Montserrat Medium"/>
                <a:sym typeface="Montserrat Medium"/>
              </a:rPr>
              <a:t> </a:t>
            </a:r>
            <a:r>
              <a:rPr lang="en-US" sz="1699" b="1" spc="-61" dirty="0" err="1">
                <a:solidFill>
                  <a:srgbClr val="000000"/>
                </a:solidFill>
                <a:latin typeface="Montserrat Medium"/>
                <a:ea typeface="Montserrat Medium"/>
                <a:cs typeface="Montserrat Medium"/>
                <a:sym typeface="Montserrat Medium"/>
              </a:rPr>
              <a:t>đi</a:t>
            </a:r>
            <a:r>
              <a:rPr lang="en-US" sz="1699" b="1" spc="-61" dirty="0">
                <a:solidFill>
                  <a:srgbClr val="000000"/>
                </a:solidFill>
                <a:latin typeface="Montserrat Medium"/>
                <a:ea typeface="Montserrat Medium"/>
                <a:cs typeface="Montserrat Medium"/>
                <a:sym typeface="Montserrat Medium"/>
              </a:rPr>
              <a:t> </a:t>
            </a:r>
            <a:r>
              <a:rPr lang="en-US" sz="1699" b="1" spc="-61" dirty="0" err="1">
                <a:solidFill>
                  <a:srgbClr val="000000"/>
                </a:solidFill>
                <a:latin typeface="Montserrat Medium"/>
                <a:ea typeface="Montserrat Medium"/>
                <a:cs typeface="Montserrat Medium"/>
                <a:sym typeface="Montserrat Medium"/>
              </a:rPr>
              <a:t>tái</a:t>
            </a:r>
            <a:r>
              <a:rPr lang="en-US" sz="1699" b="1" spc="-61" dirty="0">
                <a:solidFill>
                  <a:srgbClr val="000000"/>
                </a:solidFill>
                <a:latin typeface="Montserrat Medium"/>
                <a:ea typeface="Montserrat Medium"/>
                <a:cs typeface="Montserrat Medium"/>
                <a:sym typeface="Montserrat Medium"/>
              </a:rPr>
              <a:t> </a:t>
            </a:r>
            <a:r>
              <a:rPr lang="en-US" sz="1699" b="1" spc="-61" dirty="0" err="1">
                <a:solidFill>
                  <a:srgbClr val="000000"/>
                </a:solidFill>
                <a:latin typeface="Montserrat Medium"/>
                <a:ea typeface="Montserrat Medium"/>
                <a:cs typeface="Montserrat Medium"/>
                <a:sym typeface="Montserrat Medium"/>
              </a:rPr>
              <a:t>lại</a:t>
            </a:r>
            <a:r>
              <a:rPr lang="en-US" sz="1699" b="1" spc="-61" dirty="0">
                <a:solidFill>
                  <a:srgbClr val="000000"/>
                </a:solidFill>
                <a:latin typeface="Montserrat Medium"/>
                <a:ea typeface="Montserrat Medium"/>
                <a:cs typeface="Montserrat Medium"/>
                <a:sym typeface="Montserrat Medium"/>
              </a:rPr>
              <a:t> </a:t>
            </a:r>
          </a:p>
          <a:p>
            <a:pPr marL="367029" lvl="1" indent="-183514" algn="l">
              <a:lnSpc>
                <a:spcPts val="2209"/>
              </a:lnSpc>
              <a:buFont typeface="Arial"/>
              <a:buChar char="•"/>
            </a:pPr>
            <a:r>
              <a:rPr lang="en-US" sz="1699" b="1" spc="-61" dirty="0" err="1">
                <a:solidFill>
                  <a:srgbClr val="000000"/>
                </a:solidFill>
                <a:latin typeface="Montserrat Medium"/>
                <a:ea typeface="Montserrat Medium"/>
                <a:cs typeface="Montserrat Medium"/>
                <a:sym typeface="Montserrat Medium"/>
              </a:rPr>
              <a:t>Và</a:t>
            </a:r>
            <a:r>
              <a:rPr lang="en-US" sz="1699" b="1" spc="-61" dirty="0">
                <a:solidFill>
                  <a:srgbClr val="000000"/>
                </a:solidFill>
                <a:latin typeface="Montserrat Medium"/>
                <a:ea typeface="Montserrat Medium"/>
                <a:cs typeface="Montserrat Medium"/>
                <a:sym typeface="Montserrat Medium"/>
              </a:rPr>
              <a:t> </a:t>
            </a:r>
            <a:r>
              <a:rPr lang="en-US" sz="1699" b="1" spc="-61" dirty="0" err="1">
                <a:solidFill>
                  <a:srgbClr val="000000"/>
                </a:solidFill>
                <a:latin typeface="Montserrat Medium"/>
                <a:ea typeface="Montserrat Medium"/>
                <a:cs typeface="Montserrat Medium"/>
                <a:sym typeface="Montserrat Medium"/>
              </a:rPr>
              <a:t>kết</a:t>
            </a:r>
            <a:r>
              <a:rPr lang="en-US" sz="1699" b="1" spc="-61" dirty="0">
                <a:solidFill>
                  <a:srgbClr val="000000"/>
                </a:solidFill>
                <a:latin typeface="Montserrat Medium"/>
                <a:ea typeface="Montserrat Medium"/>
                <a:cs typeface="Montserrat Medium"/>
                <a:sym typeface="Montserrat Medium"/>
              </a:rPr>
              <a:t> </a:t>
            </a:r>
            <a:r>
              <a:rPr lang="en-US" sz="1699" b="1" spc="-61" dirty="0" err="1">
                <a:solidFill>
                  <a:srgbClr val="000000"/>
                </a:solidFill>
                <a:latin typeface="Montserrat Medium"/>
                <a:ea typeface="Montserrat Medium"/>
                <a:cs typeface="Montserrat Medium"/>
                <a:sym typeface="Montserrat Medium"/>
              </a:rPr>
              <a:t>quả</a:t>
            </a:r>
            <a:r>
              <a:rPr lang="en-US" sz="1699" b="1" spc="-61" dirty="0">
                <a:solidFill>
                  <a:srgbClr val="000000"/>
                </a:solidFill>
                <a:latin typeface="Montserrat Medium"/>
                <a:ea typeface="Montserrat Medium"/>
                <a:cs typeface="Montserrat Medium"/>
                <a:sym typeface="Montserrat Medium"/>
              </a:rPr>
              <a:t> </a:t>
            </a:r>
            <a:r>
              <a:rPr lang="en-US" sz="1699" b="1" spc="-61" dirty="0" err="1">
                <a:solidFill>
                  <a:srgbClr val="000000"/>
                </a:solidFill>
                <a:latin typeface="Montserrat Medium"/>
                <a:ea typeface="Montserrat Medium"/>
                <a:cs typeface="Montserrat Medium"/>
                <a:sym typeface="Montserrat Medium"/>
              </a:rPr>
              <a:t>sau</a:t>
            </a:r>
            <a:r>
              <a:rPr lang="en-US" sz="1699" b="1" spc="-61" dirty="0">
                <a:solidFill>
                  <a:srgbClr val="000000"/>
                </a:solidFill>
                <a:latin typeface="Montserrat Medium"/>
                <a:ea typeface="Montserrat Medium"/>
                <a:cs typeface="Montserrat Medium"/>
                <a:sym typeface="Montserrat Medium"/>
              </a:rPr>
              <a:t> 2 </a:t>
            </a:r>
            <a:r>
              <a:rPr lang="en-US" sz="1699" b="1" spc="-61" dirty="0" err="1">
                <a:solidFill>
                  <a:srgbClr val="000000"/>
                </a:solidFill>
                <a:latin typeface="Montserrat Medium"/>
                <a:ea typeface="Montserrat Medium"/>
                <a:cs typeface="Montserrat Medium"/>
                <a:sym typeface="Montserrat Medium"/>
              </a:rPr>
              <a:t>tháng</a:t>
            </a:r>
            <a:r>
              <a:rPr lang="en-US" sz="1699" b="1" spc="-61" dirty="0">
                <a:solidFill>
                  <a:srgbClr val="000000"/>
                </a:solidFill>
                <a:latin typeface="Montserrat Medium"/>
                <a:ea typeface="Montserrat Medium"/>
                <a:cs typeface="Montserrat Medium"/>
                <a:sym typeface="Montserrat Medium"/>
              </a:rPr>
              <a:t> </a:t>
            </a:r>
            <a:r>
              <a:rPr lang="en-US" sz="1699" b="1" spc="-61" dirty="0" err="1">
                <a:solidFill>
                  <a:srgbClr val="000000"/>
                </a:solidFill>
                <a:latin typeface="Montserrat Medium"/>
                <a:ea typeface="Montserrat Medium"/>
                <a:cs typeface="Montserrat Medium"/>
                <a:sym typeface="Montserrat Medium"/>
              </a:rPr>
              <a:t>sử</a:t>
            </a:r>
            <a:r>
              <a:rPr lang="en-US" sz="1699" b="1" spc="-61" dirty="0">
                <a:solidFill>
                  <a:srgbClr val="000000"/>
                </a:solidFill>
                <a:latin typeface="Montserrat Medium"/>
                <a:ea typeface="Montserrat Medium"/>
                <a:cs typeface="Montserrat Medium"/>
                <a:sym typeface="Montserrat Medium"/>
              </a:rPr>
              <a:t> </a:t>
            </a:r>
            <a:r>
              <a:rPr lang="en-US" sz="1699" b="1" spc="-61" dirty="0" err="1">
                <a:solidFill>
                  <a:srgbClr val="000000"/>
                </a:solidFill>
                <a:latin typeface="Montserrat Medium"/>
                <a:ea typeface="Montserrat Medium"/>
                <a:cs typeface="Montserrat Medium"/>
                <a:sym typeface="Montserrat Medium"/>
              </a:rPr>
              <a:t>dụng</a:t>
            </a:r>
            <a:r>
              <a:rPr lang="en-US" sz="1699" b="1" spc="-61" dirty="0">
                <a:solidFill>
                  <a:srgbClr val="000000"/>
                </a:solidFill>
                <a:latin typeface="Montserrat Medium"/>
                <a:ea typeface="Montserrat Medium"/>
                <a:cs typeface="Montserrat Medium"/>
                <a:sym typeface="Montserrat Medium"/>
              </a:rPr>
              <a:t> </a:t>
            </a:r>
            <a:r>
              <a:rPr lang="en-US" sz="1699" b="1" spc="-61" dirty="0" err="1">
                <a:solidFill>
                  <a:srgbClr val="000000"/>
                </a:solidFill>
                <a:latin typeface="Montserrat Medium"/>
                <a:ea typeface="Montserrat Medium"/>
                <a:cs typeface="Montserrat Medium"/>
                <a:sym typeface="Montserrat Medium"/>
              </a:rPr>
              <a:t>sản</a:t>
            </a:r>
            <a:r>
              <a:rPr lang="en-US" sz="1699" b="1" spc="-61" dirty="0">
                <a:solidFill>
                  <a:srgbClr val="000000"/>
                </a:solidFill>
                <a:latin typeface="Montserrat Medium"/>
                <a:ea typeface="Montserrat Medium"/>
                <a:cs typeface="Montserrat Medium"/>
                <a:sym typeface="Montserrat Medium"/>
              </a:rPr>
              <a:t> </a:t>
            </a:r>
            <a:r>
              <a:rPr lang="en-US" sz="1699" b="1" spc="-61" dirty="0" err="1">
                <a:solidFill>
                  <a:srgbClr val="000000"/>
                </a:solidFill>
                <a:latin typeface="Montserrat Medium"/>
                <a:ea typeface="Montserrat Medium"/>
                <a:cs typeface="Montserrat Medium"/>
                <a:sym typeface="Montserrat Medium"/>
              </a:rPr>
              <a:t>phẩm</a:t>
            </a:r>
            <a:r>
              <a:rPr lang="en-US" sz="1699" b="1" spc="-61" dirty="0">
                <a:solidFill>
                  <a:srgbClr val="000000"/>
                </a:solidFill>
                <a:latin typeface="Montserrat Medium"/>
                <a:ea typeface="Montserrat Medium"/>
                <a:cs typeface="Montserrat Medium"/>
                <a:sym typeface="Montserrat Medium"/>
              </a:rPr>
              <a:t> DR.CGF ( Retinal, Serum B5, Kem </a:t>
            </a:r>
            <a:r>
              <a:rPr lang="en-US" sz="1699" b="1" spc="-61" dirty="0" err="1">
                <a:solidFill>
                  <a:srgbClr val="000000"/>
                </a:solidFill>
                <a:latin typeface="Montserrat Medium"/>
                <a:ea typeface="Montserrat Medium"/>
                <a:cs typeface="Montserrat Medium"/>
                <a:sym typeface="Montserrat Medium"/>
              </a:rPr>
              <a:t>dưỡng</a:t>
            </a:r>
            <a:r>
              <a:rPr lang="en-US" sz="1699" b="1" spc="-61" dirty="0">
                <a:solidFill>
                  <a:srgbClr val="000000"/>
                </a:solidFill>
                <a:latin typeface="Montserrat Medium"/>
                <a:ea typeface="Montserrat Medium"/>
                <a:cs typeface="Montserrat Medium"/>
                <a:sym typeface="Montserrat Medium"/>
              </a:rPr>
              <a:t>)</a:t>
            </a:r>
          </a:p>
        </p:txBody>
      </p:sp>
      <p:pic>
        <p:nvPicPr>
          <p:cNvPr id="4" name="Picture 3">
            <a:extLst>
              <a:ext uri="{FF2B5EF4-FFF2-40B4-BE49-F238E27FC236}">
                <a16:creationId xmlns:a16="http://schemas.microsoft.com/office/drawing/2014/main" id="{021837B3-DAF6-52AC-3C03-A110528788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1371" y="1777926"/>
            <a:ext cx="11438336" cy="7625557"/>
          </a:xfrm>
          <a:prstGeom prst="rect">
            <a:avLst/>
          </a:prstGeom>
        </p:spPr>
      </p:pic>
    </p:spTree>
    <p:extLst>
      <p:ext uri="{BB962C8B-B14F-4D97-AF65-F5344CB8AC3E}">
        <p14:creationId xmlns:p14="http://schemas.microsoft.com/office/powerpoint/2010/main" val="2167296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7"/>
          <p:cNvSpPr/>
          <p:nvPr/>
        </p:nvSpPr>
        <p:spPr>
          <a:xfrm>
            <a:off x="-29308" y="3329361"/>
            <a:ext cx="18288000" cy="4197143"/>
          </a:xfrm>
          <a:custGeom>
            <a:avLst/>
            <a:gdLst/>
            <a:ahLst/>
            <a:cxnLst/>
            <a:rect l="l" t="t" r="r" b="b"/>
            <a:pathLst>
              <a:path w="18288000" h="4197143">
                <a:moveTo>
                  <a:pt x="0" y="0"/>
                </a:moveTo>
                <a:lnTo>
                  <a:pt x="18288000" y="0"/>
                </a:lnTo>
                <a:lnTo>
                  <a:pt x="18288000" y="4197144"/>
                </a:lnTo>
                <a:lnTo>
                  <a:pt x="0" y="4197144"/>
                </a:lnTo>
                <a:lnTo>
                  <a:pt x="0" y="0"/>
                </a:lnTo>
                <a:close/>
              </a:path>
            </a:pathLst>
          </a:custGeom>
          <a:blipFill>
            <a:blip r:embed="rId2"/>
            <a:stretch>
              <a:fillRect l="-147046" t="-25921" r="-82037" b="-42561"/>
            </a:stretch>
          </a:blipFill>
        </p:spPr>
      </p:sp>
      <p:sp>
        <p:nvSpPr>
          <p:cNvPr id="8" name="TextBox 8"/>
          <p:cNvSpPr txBox="1"/>
          <p:nvPr/>
        </p:nvSpPr>
        <p:spPr>
          <a:xfrm>
            <a:off x="2133600" y="3552792"/>
            <a:ext cx="14859000" cy="2779287"/>
          </a:xfrm>
          <a:prstGeom prst="rect">
            <a:avLst/>
          </a:prstGeom>
        </p:spPr>
        <p:txBody>
          <a:bodyPr wrap="square" lIns="0" tIns="0" rIns="0" bIns="0" rtlCol="0" anchor="t">
            <a:spAutoFit/>
          </a:bodyPr>
          <a:lstStyle/>
          <a:p>
            <a:pPr algn="l">
              <a:lnSpc>
                <a:spcPts val="23360"/>
              </a:lnSpc>
              <a:spcBef>
                <a:spcPct val="0"/>
              </a:spcBef>
            </a:pPr>
            <a:r>
              <a:rPr lang="en-US" sz="16686" b="1">
                <a:solidFill>
                  <a:srgbClr val="6C90FF"/>
                </a:solidFill>
                <a:latin typeface="Montserrat Bold"/>
                <a:ea typeface="Montserrat Bold"/>
                <a:cs typeface="Montserrat Bold"/>
                <a:sym typeface="Montserrat Bold"/>
              </a:rPr>
              <a:t>Thanks You!</a:t>
            </a:r>
          </a:p>
        </p:txBody>
      </p:sp>
      <p:grpSp>
        <p:nvGrpSpPr>
          <p:cNvPr id="9" name="Group 2">
            <a:extLst>
              <a:ext uri="{FF2B5EF4-FFF2-40B4-BE49-F238E27FC236}">
                <a16:creationId xmlns:a16="http://schemas.microsoft.com/office/drawing/2014/main" id="{EB5A2B94-A1C9-AB8B-0FD5-546FD7FA9366}"/>
              </a:ext>
            </a:extLst>
          </p:cNvPr>
          <p:cNvGrpSpPr/>
          <p:nvPr/>
        </p:nvGrpSpPr>
        <p:grpSpPr>
          <a:xfrm>
            <a:off x="1028700" y="395218"/>
            <a:ext cx="17259300" cy="1078533"/>
            <a:chOff x="0" y="0"/>
            <a:chExt cx="23012400" cy="1438044"/>
          </a:xfrm>
        </p:grpSpPr>
        <p:sp>
          <p:nvSpPr>
            <p:cNvPr id="10" name="Freeform 3">
              <a:extLst>
                <a:ext uri="{FF2B5EF4-FFF2-40B4-BE49-F238E27FC236}">
                  <a16:creationId xmlns:a16="http://schemas.microsoft.com/office/drawing/2014/main" id="{E612FF24-9BFD-8A2C-0345-13A9C89B5348}"/>
                </a:ext>
              </a:extLst>
            </p:cNvPr>
            <p:cNvSpPr/>
            <p:nvPr/>
          </p:nvSpPr>
          <p:spPr>
            <a:xfrm>
              <a:off x="0" y="0"/>
              <a:ext cx="2937194" cy="1274008"/>
            </a:xfrm>
            <a:custGeom>
              <a:avLst/>
              <a:gdLst/>
              <a:ahLst/>
              <a:cxnLst/>
              <a:rect l="l" t="t" r="r" b="b"/>
              <a:pathLst>
                <a:path w="2937194" h="1274008">
                  <a:moveTo>
                    <a:pt x="0" y="0"/>
                  </a:moveTo>
                  <a:lnTo>
                    <a:pt x="2937194" y="0"/>
                  </a:lnTo>
                  <a:lnTo>
                    <a:pt x="2937194" y="1274008"/>
                  </a:lnTo>
                  <a:lnTo>
                    <a:pt x="0" y="1274008"/>
                  </a:lnTo>
                  <a:lnTo>
                    <a:pt x="0" y="0"/>
                  </a:lnTo>
                  <a:close/>
                </a:path>
              </a:pathLst>
            </a:custGeom>
            <a:blipFill>
              <a:blip r:embed="rId3"/>
              <a:stretch>
                <a:fillRect/>
              </a:stretch>
            </a:blipFill>
          </p:spPr>
        </p:sp>
        <p:sp>
          <p:nvSpPr>
            <p:cNvPr id="11" name="Freeform 4">
              <a:extLst>
                <a:ext uri="{FF2B5EF4-FFF2-40B4-BE49-F238E27FC236}">
                  <a16:creationId xmlns:a16="http://schemas.microsoft.com/office/drawing/2014/main" id="{CA24D280-2D7E-B62F-2AD2-02A356807416}"/>
                </a:ext>
              </a:extLst>
            </p:cNvPr>
            <p:cNvSpPr/>
            <p:nvPr/>
          </p:nvSpPr>
          <p:spPr>
            <a:xfrm>
              <a:off x="3134311" y="224397"/>
              <a:ext cx="2339750" cy="1036911"/>
            </a:xfrm>
            <a:custGeom>
              <a:avLst/>
              <a:gdLst/>
              <a:ahLst/>
              <a:cxnLst/>
              <a:rect l="l" t="t" r="r" b="b"/>
              <a:pathLst>
                <a:path w="2339750" h="1036911">
                  <a:moveTo>
                    <a:pt x="0" y="0"/>
                  </a:moveTo>
                  <a:lnTo>
                    <a:pt x="2339749" y="0"/>
                  </a:lnTo>
                  <a:lnTo>
                    <a:pt x="2339749" y="1036911"/>
                  </a:lnTo>
                  <a:lnTo>
                    <a:pt x="0" y="1036911"/>
                  </a:lnTo>
                  <a:lnTo>
                    <a:pt x="0" y="0"/>
                  </a:lnTo>
                  <a:close/>
                </a:path>
              </a:pathLst>
            </a:custGeom>
            <a:blipFill>
              <a:blip r:embed="rId4"/>
              <a:stretch>
                <a:fillRect l="-8002" t="-69970" b="-73732"/>
              </a:stretch>
            </a:blipFill>
          </p:spPr>
        </p:sp>
        <p:sp>
          <p:nvSpPr>
            <p:cNvPr id="12" name="AutoShape 5">
              <a:extLst>
                <a:ext uri="{FF2B5EF4-FFF2-40B4-BE49-F238E27FC236}">
                  <a16:creationId xmlns:a16="http://schemas.microsoft.com/office/drawing/2014/main" id="{6F6A6D42-3768-C206-DB68-A80AB138CC06}"/>
                </a:ext>
              </a:extLst>
            </p:cNvPr>
            <p:cNvSpPr/>
            <p:nvPr/>
          </p:nvSpPr>
          <p:spPr>
            <a:xfrm flipV="1">
              <a:off x="16552532" y="1299408"/>
              <a:ext cx="6459868" cy="0"/>
            </a:xfrm>
            <a:prstGeom prst="line">
              <a:avLst/>
            </a:prstGeom>
            <a:ln w="25400" cap="flat">
              <a:solidFill>
                <a:srgbClr val="000000"/>
              </a:solidFill>
              <a:prstDash val="solid"/>
              <a:headEnd type="none" w="sm" len="sm"/>
              <a:tailEnd type="none" w="sm" len="sm"/>
            </a:ln>
          </p:spPr>
        </p:sp>
        <p:sp>
          <p:nvSpPr>
            <p:cNvPr id="13" name="TextBox 6">
              <a:extLst>
                <a:ext uri="{FF2B5EF4-FFF2-40B4-BE49-F238E27FC236}">
                  <a16:creationId xmlns:a16="http://schemas.microsoft.com/office/drawing/2014/main" id="{61A2F533-1153-292C-3CC1-799C5DC853CD}"/>
                </a:ext>
              </a:extLst>
            </p:cNvPr>
            <p:cNvSpPr txBox="1"/>
            <p:nvPr/>
          </p:nvSpPr>
          <p:spPr>
            <a:xfrm>
              <a:off x="12954000" y="1088377"/>
              <a:ext cx="3934687" cy="349667"/>
            </a:xfrm>
            <a:prstGeom prst="rect">
              <a:avLst/>
            </a:prstGeom>
          </p:spPr>
          <p:txBody>
            <a:bodyPr wrap="square" lIns="0" tIns="0" rIns="0" bIns="0" rtlCol="0" anchor="t">
              <a:spAutoFit/>
            </a:bodyPr>
            <a:lstStyle/>
            <a:p>
              <a:pPr algn="ctr">
                <a:lnSpc>
                  <a:spcPts val="2239"/>
                </a:lnSpc>
                <a:spcBef>
                  <a:spcPct val="0"/>
                </a:spcBef>
              </a:pPr>
              <a:r>
                <a:rPr lang="en-US" sz="1599" b="1" i="1">
                  <a:solidFill>
                    <a:srgbClr val="000000"/>
                  </a:solidFill>
                  <a:latin typeface="Montserrat Semi-Bold" panose="020B0604020202020204" charset="0"/>
                  <a:ea typeface="Montserrat Medium Italics"/>
                  <a:cs typeface="Montserrat Medium Italics"/>
                  <a:sym typeface="Montserrat Medium Italics"/>
                </a:rPr>
                <a:t>THUẦN HOA GROUP</a:t>
              </a:r>
            </a:p>
          </p:txBody>
        </p:sp>
      </p:grpSp>
      <p:sp>
        <p:nvSpPr>
          <p:cNvPr id="14" name="직사각형 5">
            <a:extLst>
              <a:ext uri="{FF2B5EF4-FFF2-40B4-BE49-F238E27FC236}">
                <a16:creationId xmlns:a16="http://schemas.microsoft.com/office/drawing/2014/main" id="{F045EB38-C388-4FBD-86B2-FA75DAE6437D}"/>
              </a:ext>
            </a:extLst>
          </p:cNvPr>
          <p:cNvSpPr/>
          <p:nvPr/>
        </p:nvSpPr>
        <p:spPr>
          <a:xfrm rot="10800000" flipV="1">
            <a:off x="7971693" y="10051074"/>
            <a:ext cx="10286999" cy="197826"/>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ko-KR" altLang="en-US" sz="2700"/>
          </a:p>
        </p:txBody>
      </p:sp>
      <p:sp>
        <p:nvSpPr>
          <p:cNvPr id="15" name="TextBox 14">
            <a:extLst>
              <a:ext uri="{FF2B5EF4-FFF2-40B4-BE49-F238E27FC236}">
                <a16:creationId xmlns:a16="http://schemas.microsoft.com/office/drawing/2014/main" id="{DF722B8B-FAE5-46AA-B2BD-4AB8C5842DA7}"/>
              </a:ext>
            </a:extLst>
          </p:cNvPr>
          <p:cNvSpPr txBox="1"/>
          <p:nvPr/>
        </p:nvSpPr>
        <p:spPr>
          <a:xfrm>
            <a:off x="8000997" y="9543243"/>
            <a:ext cx="10287003" cy="507831"/>
          </a:xfrm>
          <a:prstGeom prst="rect">
            <a:avLst/>
          </a:prstGeom>
        </p:spPr>
        <p:style>
          <a:lnRef idx="1">
            <a:schemeClr val="accent1"/>
          </a:lnRef>
          <a:fillRef idx="3">
            <a:schemeClr val="accent1"/>
          </a:fillRef>
          <a:effectRef idx="2">
            <a:schemeClr val="accent1"/>
          </a:effectRef>
          <a:fontRef idx="minor">
            <a:schemeClr val="lt1"/>
          </a:fontRef>
        </p:style>
        <p:txBody>
          <a:bodyPr wrap="square">
            <a:spAutoFit/>
          </a:bodyPr>
          <a:lstStyle/>
          <a:p>
            <a:r>
              <a:rPr lang="en-US" altLang="ko-KR" sz="270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altLang="ko-KR" sz="240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DR.CGF     # Thuần Hoa Group     # Trao giá trị - Tạo niềm tin</a:t>
            </a:r>
            <a:endParaRPr lang="en-US" altLang="ko-KR" sz="2400"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5520</TotalTime>
  <Words>3084</Words>
  <Application>Microsoft Office PowerPoint</Application>
  <PresentationFormat>Custom</PresentationFormat>
  <Paragraphs>208</Paragraphs>
  <Slides>23</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Montserrat Bold</vt:lpstr>
      <vt:lpstr>Arial</vt:lpstr>
      <vt:lpstr>Calibri</vt:lpstr>
      <vt:lpstr>Montserrat Bold Italics</vt:lpstr>
      <vt:lpstr>Montserrat Ultra-Bold</vt:lpstr>
      <vt:lpstr>Montserrat Italics</vt:lpstr>
      <vt:lpstr>Times New Roman</vt:lpstr>
      <vt:lpstr>Montserrat Semi-Bold</vt:lpstr>
      <vt:lpstr>Montserrat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DRCGF CHUYÊN SÂU</dc:title>
  <dc:creator>Minh</dc:creator>
  <cp:lastModifiedBy>Windows 11</cp:lastModifiedBy>
  <cp:revision>249</cp:revision>
  <dcterms:created xsi:type="dcterms:W3CDTF">2006-08-16T00:00:00Z</dcterms:created>
  <dcterms:modified xsi:type="dcterms:W3CDTF">2026-08-03T10:05:56Z</dcterms:modified>
  <dc:identifier>DAG_ecfYmGs</dc:identifier>
</cp:coreProperties>
</file>
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95" r:id="rId3"/>
    <p:sldId id="290" r:id="rId4"/>
    <p:sldId id="291" r:id="rId5"/>
    <p:sldId id="279" r:id="rId6"/>
    <p:sldId id="283" r:id="rId7"/>
    <p:sldId id="282" r:id="rId8"/>
    <p:sldId id="285" r:id="rId9"/>
    <p:sldId id="322" r:id="rId10"/>
    <p:sldId id="286" r:id="rId11"/>
    <p:sldId id="287" r:id="rId12"/>
    <p:sldId id="288" r:id="rId13"/>
    <p:sldId id="321" r:id="rId14"/>
    <p:sldId id="320" r:id="rId15"/>
    <p:sldId id="323" r:id="rId16"/>
    <p:sldId id="280" r:id="rId17"/>
    <p:sldId id="294" r:id="rId18"/>
    <p:sldId id="301" r:id="rId19"/>
    <p:sldId id="302" r:id="rId20"/>
    <p:sldId id="331" r:id="rId21"/>
    <p:sldId id="325" r:id="rId22"/>
    <p:sldId id="305" r:id="rId23"/>
    <p:sldId id="304" r:id="rId24"/>
    <p:sldId id="330" r:id="rId25"/>
    <p:sldId id="332" r:id="rId26"/>
    <p:sldId id="333" r:id="rId27"/>
    <p:sldId id="326" r:id="rId28"/>
    <p:sldId id="296" r:id="rId29"/>
    <p:sldId id="298" r:id="rId30"/>
    <p:sldId id="299" r:id="rId31"/>
    <p:sldId id="307" r:id="rId32"/>
    <p:sldId id="308" r:id="rId33"/>
    <p:sldId id="309" r:id="rId34"/>
    <p:sldId id="310" r:id="rId35"/>
    <p:sldId id="311" r:id="rId36"/>
    <p:sldId id="312" r:id="rId37"/>
    <p:sldId id="319" r:id="rId38"/>
    <p:sldId id="328" r:id="rId39"/>
    <p:sldId id="313" r:id="rId40"/>
    <p:sldId id="27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3" autoAdjust="0"/>
    <p:restoredTop sz="94674"/>
  </p:normalViewPr>
  <p:slideViewPr>
    <p:cSldViewPr snapToGrid="0" snapToObjects="1">
      <p:cViewPr>
        <p:scale>
          <a:sx n="55" d="100"/>
          <a:sy n="55" d="100"/>
        </p:scale>
        <p:origin x="2432" y="1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650C-7B49-75F9-2278-4A5587F61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3247B-4CB6-169B-80AB-8A8EFA56D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91481-D7A0-1EA5-B5BF-964091C0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9FF7D-95A8-1A85-D71C-C9864FA2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CA8F-1F64-CAC4-6BDA-FDB49CCD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7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837D-577B-85A0-B5A7-DCD2003C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39AE-9EA7-7D06-4126-47323EB33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3CD22-ADFE-7A06-9B4D-C54A52A0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61C7B-063F-81C5-FD68-3308B946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833B-8FA7-8FD1-2595-0B24CA4B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9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F98D-19BF-77D7-181E-16366212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1CA51-F5DF-8E0E-C49D-1183E7A89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1335C-FD8B-46F3-2564-B3836AE3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8D62A-2EF0-EC12-0518-D8C99EF5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71541-7608-4FBC-C5DD-02FAA663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6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F680-7C75-CAEC-C39D-37FB5C4F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6065-72AF-16B8-0FAB-7084B8464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EFA06-C467-3F5D-4FC0-33CB057EE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F8BC3-773D-35ED-E63D-B2A19175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BF0B-F0DA-B094-0998-CC892563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9CFA-5CD6-F8D8-D12D-AE1C371F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2F24-B900-2433-C763-30BD39BF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5C3F6-F18C-0BFB-3003-1F0AC6B8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D355F-3F9F-16AC-27CE-71D512605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10D54-DB64-3D36-E84D-76FACF238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6EE6D-18B2-2F43-49E8-41225321E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9C7E5-415F-364A-F176-13037511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8BA1A-AFE5-F638-D71E-1C8E11E8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DEDC3-27C1-1181-9BA5-D6FC3AA9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3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0BEF-6D5F-2BBF-B4CA-A98C1D27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C44F8-AC7F-CC3F-8A39-A9CF2C70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13892-3F08-7C99-0C1D-215409F7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671A0-0C7B-FD76-CB80-43CCC775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2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CEC2F-70BE-E51D-9786-A20637E9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FEAC9-B5B2-F0FD-F3DF-5CC52CA6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D7713-0FC6-63AF-5822-3092D8C7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7834-7EB7-DF1E-7166-DC7206FC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66511-2555-FA74-3153-AA27377A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1CE0B-FE8B-A4CE-10BE-7D9FAEBC8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0EF3C-4850-9105-E694-1EA634D2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EC3D-2CDC-E005-E536-EC669362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A1556-BE79-FDA5-D767-458F3978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4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0E0F-DC63-D6E5-915C-745D71E2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B12B61-C645-6021-040A-706AA2BC9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E6796-5478-395C-CCA7-5049DB483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76D73-A30B-B8CA-B247-CF1BE6A1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EFFCE-753C-5A3E-4B98-73097FE1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AE06E-156E-9DD0-15D3-3821805A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5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2BA9-6187-54B8-DBCF-2A61962D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14C42-E543-9E41-D4DF-CAB645BC1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65F03-B269-1054-7D17-B3A472F4E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53E2-45CF-5F2B-C31B-4F22FD3B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83A7-911C-373F-CACF-C27F5A2A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0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65D80C-EA7C-793C-D8BA-EDB26117B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876A0-F596-7BED-2106-DDDB3AF00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15A63-27B6-62B0-8897-190E22BA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0BAF1-6FFD-9A8C-3387-56A2C8EE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DE94E-8E87-0F66-2DC9-C71F5997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3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C0406-F56A-770D-199E-A7B055C0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E7EA6-EFE9-AC06-FD5B-5646DCED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C43B-03A1-D6FF-3AA4-3FFA9E0BD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C4E02-820D-33E4-CEA0-A0D520E93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C11ED-9187-3031-38A9-7400904A8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8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f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f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fi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20D7F-FDBF-E34C-B57B-4314DA6A0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0535" y="904140"/>
            <a:ext cx="9424535" cy="5301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70062-A61E-A9D4-DB3F-E91365A57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52"/>
            <a:ext cx="9144000" cy="499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5F85A5-0412-F642-B8A7-E53A1C668914}"/>
              </a:ext>
            </a:extLst>
          </p:cNvPr>
          <p:cNvSpPr txBox="1"/>
          <p:nvPr/>
        </p:nvSpPr>
        <p:spPr>
          <a:xfrm>
            <a:off x="312420" y="61849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02383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3AF859-BAB3-497D-6D0C-8FD0B928CC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1754326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b="1" dirty="0">
                <a:ln/>
                <a:solidFill>
                  <a:schemeClr val="accent4"/>
                </a:solidFill>
              </a:rPr>
              <a:t>Phần 1: Xu hướng </a:t>
            </a:r>
          </a:p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b="1" dirty="0">
                <a:ln/>
                <a:solidFill>
                  <a:schemeClr val="accent4"/>
                </a:solidFill>
              </a:rPr>
              <a:t>Hoạt chất hiện </a:t>
            </a:r>
            <a:r>
              <a:rPr lang="en-US" sz="5400" b="1" dirty="0" err="1">
                <a:ln/>
                <a:solidFill>
                  <a:schemeClr val="accent4"/>
                </a:solidFill>
              </a:rPr>
              <a:t>đại</a:t>
            </a:r>
            <a:endParaRPr lang="vi-VN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30A77-3B8C-2C4A-911E-80ABC8E6AC27}"/>
              </a:ext>
            </a:extLst>
          </p:cNvPr>
          <p:cNvSpPr txBox="1"/>
          <p:nvPr/>
        </p:nvSpPr>
        <p:spPr>
          <a:xfrm>
            <a:off x="5574519" y="43942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646F3-A8B0-1F45-AB80-069FDF2874CB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3771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47038-A8D6-9115-72D9-FF7B1E7E3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44"/>
          <a:stretch>
            <a:fillRect/>
          </a:stretch>
        </p:blipFill>
        <p:spPr>
          <a:xfrm>
            <a:off x="1079500" y="18000"/>
            <a:ext cx="7239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0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F140-9817-7C4A-C25A-37C48369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A8738-324B-7C27-9324-6557DDAFCB7D}"/>
              </a:ext>
            </a:extLst>
          </p:cNvPr>
          <p:cNvSpPr txBox="1"/>
          <p:nvPr/>
        </p:nvSpPr>
        <p:spPr>
          <a:xfrm>
            <a:off x="640080" y="365760"/>
            <a:ext cx="79912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Điều trị đa cơ chế (Multi-mechanism Therapy)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D3440-2DEF-7CB6-A776-6013F52BAA3B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1E3E33-F847-D158-1CBB-51259790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292"/>
            <a:ext cx="9144000" cy="4991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20CA2-41D3-D24C-90C9-EFD044F5BF5D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92CAD-23AF-0345-AE2F-D0FE3F98BAFC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3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A3EB-7F23-AED7-5C70-ABAE39CA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FC35DA-EB67-6220-FA68-18C2CBF0EC71}"/>
              </a:ext>
            </a:extLst>
          </p:cNvPr>
          <p:cNvSpPr txBox="1"/>
          <p:nvPr/>
        </p:nvSpPr>
        <p:spPr>
          <a:xfrm>
            <a:off x="640080" y="365760"/>
            <a:ext cx="30953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Skin Barrier First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0C32A-2554-8BAC-A0A2-613208E09D00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CF9A7-8206-BE2F-CA34-7B5B312F0CD5}"/>
              </a:ext>
            </a:extLst>
          </p:cNvPr>
          <p:cNvSpPr txBox="1"/>
          <p:nvPr/>
        </p:nvSpPr>
        <p:spPr>
          <a:xfrm>
            <a:off x="568960" y="1297433"/>
            <a:ext cx="9057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50A53-377D-D99C-1921-5FBBFB010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433"/>
            <a:ext cx="9144000" cy="4991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DEF929-6385-A540-AF8F-7E351D82B255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A542F-71B2-234C-8CC0-1BFE23AC8797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3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790A-1B3B-A400-F9B8-E9F98D89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E4B95-04C0-26CE-69B3-39288DE175C5}"/>
              </a:ext>
            </a:extLst>
          </p:cNvPr>
          <p:cNvSpPr txBox="1"/>
          <p:nvPr/>
        </p:nvSpPr>
        <p:spPr>
          <a:xfrm>
            <a:off x="640080" y="365760"/>
            <a:ext cx="35306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Gentle but Effective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15168E-95DD-6170-42A7-33EDDFE0D43D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ECBAB-5F01-47D5-46B4-F7007F166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292"/>
            <a:ext cx="9144000" cy="4991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E36969-8890-FA49-9CB2-551297522C48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3CF7E-0A30-5C4D-B4D4-288B46F41D07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6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4167-33F6-F0A7-EA4A-BDBCCDFA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FEE85-AD14-855E-5503-2E717101DCD1}"/>
              </a:ext>
            </a:extLst>
          </p:cNvPr>
          <p:cNvSpPr txBox="1"/>
          <p:nvPr/>
        </p:nvSpPr>
        <p:spPr>
          <a:xfrm>
            <a:off x="640080" y="365760"/>
            <a:ext cx="43581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Evidence-Based Skincare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9D4B9-C7BA-F703-1309-9BDA869C0CB6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86429-49F1-EA1C-5104-3B54FDA3B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292"/>
            <a:ext cx="9144000" cy="4991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F40235-A3E6-2842-ACDB-0135F65BA2EE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5BA0E-1A46-2746-9B4F-C0E6E37ED067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5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7927A-7F7F-93E4-C518-F36CB5E5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0106E1-7210-A729-46EA-8821535140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1754326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</a:rPr>
              <a:t>Phần 2 : Cơ chế </a:t>
            </a:r>
          </a:p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</a:rPr>
              <a:t>Lão hóa và Tăng sắc tố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C3425-1673-0D4A-819D-45DF3D6DE9B3}"/>
              </a:ext>
            </a:extLst>
          </p:cNvPr>
          <p:cNvSpPr txBox="1"/>
          <p:nvPr/>
        </p:nvSpPr>
        <p:spPr>
          <a:xfrm>
            <a:off x="5574519" y="43942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9D3C2-7C11-744F-937C-BF1ED28B47DD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307840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1865-DAB6-0A53-B1DD-6C435609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1AABAF-CE77-EB64-E182-A243761161B5}"/>
              </a:ext>
            </a:extLst>
          </p:cNvPr>
          <p:cNvSpPr txBox="1"/>
          <p:nvPr/>
        </p:nvSpPr>
        <p:spPr>
          <a:xfrm>
            <a:off x="640080" y="365760"/>
            <a:ext cx="31742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pt-BR" sz="2800" b="1" dirty="0"/>
              <a:t>Cơ chế lão hóa da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84E8F-3AC1-342B-5D58-BA6F7D32E81E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23176-7FA5-22DD-7798-1CC27B8126BD}"/>
              </a:ext>
            </a:extLst>
          </p:cNvPr>
          <p:cNvSpPr txBox="1"/>
          <p:nvPr/>
        </p:nvSpPr>
        <p:spPr>
          <a:xfrm>
            <a:off x="568960" y="1297432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defRPr sz="1800">
                <a:solidFill>
                  <a:srgbClr val="282828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0AC35A-C017-5DEF-9F63-C70278A9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7432"/>
            <a:ext cx="9144000" cy="49916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26C3F-EB89-A442-B5B6-92B5CF06218B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16AF8-EF71-F549-BD3C-1048478EF9B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73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09C7-86D8-64F0-DE5F-0EC318BB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D797CF-2E2A-BADE-1EB3-7FD254571042}"/>
              </a:ext>
            </a:extLst>
          </p:cNvPr>
          <p:cNvSpPr txBox="1"/>
          <p:nvPr/>
        </p:nvSpPr>
        <p:spPr>
          <a:xfrm>
            <a:off x="640080" y="365760"/>
            <a:ext cx="34179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Cơ chế tăng sắc tố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72CB8-AB19-63F8-93A2-5AD3D405AC2D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AE9400-FBD2-D0A9-6BA2-2C643245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292"/>
            <a:ext cx="9144000" cy="4991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34383-9294-F84D-9647-138612961502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4C04A-9065-5942-9FCB-B768FCAC5AD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74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ABDD-A6EA-AC57-C01A-00749222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0828D5-A95F-F5CC-6101-C93760D31217}"/>
              </a:ext>
            </a:extLst>
          </p:cNvPr>
          <p:cNvSpPr txBox="1"/>
          <p:nvPr/>
        </p:nvSpPr>
        <p:spPr>
          <a:xfrm>
            <a:off x="640080" y="365760"/>
            <a:ext cx="45601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Vai </a:t>
            </a:r>
            <a:r>
              <a:rPr lang="en-US" sz="2800" b="1" dirty="0" err="1"/>
              <a:t>trò</a:t>
            </a:r>
            <a:r>
              <a:rPr lang="en-US" sz="2800" b="1" dirty="0"/>
              <a:t> </a:t>
            </a:r>
            <a:r>
              <a:rPr lang="en-US" sz="2800" b="1" dirty="0" err="1"/>
              <a:t>hàng</a:t>
            </a:r>
            <a:r>
              <a:rPr lang="en-US" sz="2800" b="1" dirty="0"/>
              <a:t> </a:t>
            </a:r>
            <a:r>
              <a:rPr lang="en-US" sz="2800" b="1" dirty="0" err="1"/>
              <a:t>rào</a:t>
            </a:r>
            <a:r>
              <a:rPr lang="en-US" sz="2800" b="1" dirty="0"/>
              <a:t> </a:t>
            </a:r>
            <a:r>
              <a:rPr lang="en-US" sz="2800" b="1" dirty="0" err="1"/>
              <a:t>bảo</a:t>
            </a:r>
            <a:r>
              <a:rPr lang="en-US" sz="2800" b="1" dirty="0"/>
              <a:t> </a:t>
            </a:r>
            <a:r>
              <a:rPr lang="en-US" sz="2800" b="1" dirty="0" err="1"/>
              <a:t>vệ</a:t>
            </a:r>
            <a:r>
              <a:rPr lang="en-US" sz="2800" b="1" dirty="0"/>
              <a:t> da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1FF5B-3206-A5DF-776E-FB1FED993D5D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1D4C07-C8D4-5D4E-1B50-FBDA3ABC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9" y="1323492"/>
            <a:ext cx="9144000" cy="4991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8ED8C1-5E1C-8541-9BF0-49855AC622FC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BF1AF-DBA5-764F-8280-983B41783A0D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8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E65F6-20AE-16F5-CB4A-9A9C114D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237"/>
            <a:ext cx="9144000" cy="4987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41FAC9-1816-3345-B1E4-D8E722EDC6D7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E8E4E-470C-A844-9C96-4BDD3E35F06B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34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A29118-E896-5215-9FF1-8FB77E799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565" y="661671"/>
            <a:ext cx="10078278" cy="55017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B7FA8-8605-D34E-84F6-F2FF3BB734E2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09740-F7D3-6445-A7E6-68EFAF278908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11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438D-F3EB-F05D-5F67-773E9C0D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F8E351-C9C5-DAC2-EEBF-467FFBF721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1538883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</a:rPr>
              <a:t>Phần 3 Retinal</a:t>
            </a:r>
            <a:r>
              <a:rPr lang="en-US" sz="5400" dirty="0">
                <a:solidFill>
                  <a:schemeClr val="accent4"/>
                </a:solidFill>
              </a:rPr>
              <a:t> CGF</a:t>
            </a:r>
          </a:p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en-US" sz="4000" dirty="0" err="1">
                <a:solidFill>
                  <a:schemeClr val="accent4"/>
                </a:solidFill>
              </a:rPr>
              <a:t>Tiêu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chuẩn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vàng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trẻ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hóa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tái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sinh</a:t>
            </a:r>
            <a:r>
              <a:rPr lang="en-US" sz="4000" dirty="0">
                <a:solidFill>
                  <a:schemeClr val="accent4"/>
                </a:solidFill>
              </a:rPr>
              <a:t> da</a:t>
            </a:r>
            <a:endParaRPr lang="vi-VN" sz="40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4A0B0-F530-0F46-BF7B-F902A3EA212A}"/>
              </a:ext>
            </a:extLst>
          </p:cNvPr>
          <p:cNvSpPr txBox="1"/>
          <p:nvPr/>
        </p:nvSpPr>
        <p:spPr>
          <a:xfrm>
            <a:off x="5574519" y="43942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87B3F-CE6F-3F40-AFE0-61034A13DCE1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4057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72D8F-FF4A-6612-183A-221E6DD9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739"/>
            <a:ext cx="9144000" cy="5000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6362AD-CD28-2B46-A7AF-05D13032B1EF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42C54-8547-5941-8453-D05381FDB973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17E17-7168-5D47-B284-3C0F30AEC903}"/>
              </a:ext>
            </a:extLst>
          </p:cNvPr>
          <p:cNvSpPr txBox="1"/>
          <p:nvPr/>
        </p:nvSpPr>
        <p:spPr>
          <a:xfrm>
            <a:off x="640080" y="365760"/>
            <a:ext cx="34925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 err="1"/>
              <a:t>Tổng</a:t>
            </a:r>
            <a:r>
              <a:rPr lang="en-US" sz="2800" b="1" dirty="0"/>
              <a:t> </a:t>
            </a:r>
            <a:r>
              <a:rPr lang="en-US" sz="2800" b="1" dirty="0" err="1"/>
              <a:t>quan</a:t>
            </a:r>
            <a:r>
              <a:rPr lang="en-US" sz="2800" b="1" dirty="0"/>
              <a:t> </a:t>
            </a:r>
            <a:r>
              <a:rPr lang="en-US" sz="2800" b="1" dirty="0" err="1"/>
              <a:t>về</a:t>
            </a:r>
            <a:r>
              <a:rPr lang="en-US" sz="2800" b="1" dirty="0"/>
              <a:t> RETINAL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EE179-D5BE-8242-B33D-A9E8291FB3AA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75165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1F71D-8F80-56C6-5743-59018A68B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206"/>
            <a:ext cx="9144000" cy="499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50352-3F94-C045-A622-CD54E98503BC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591C0-86AB-5543-BF85-9CDD514C47A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3C1FB-7831-1C4A-A040-51401E386CDB}"/>
              </a:ext>
            </a:extLst>
          </p:cNvPr>
          <p:cNvSpPr txBox="1"/>
          <p:nvPr/>
        </p:nvSpPr>
        <p:spPr>
          <a:xfrm>
            <a:off x="640080" y="365760"/>
            <a:ext cx="28150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 err="1"/>
              <a:t>Cơ</a:t>
            </a:r>
            <a:r>
              <a:rPr lang="en-US" sz="2800" b="1" dirty="0"/>
              <a:t> </a:t>
            </a:r>
            <a:r>
              <a:rPr lang="en-US" sz="2800" b="1" dirty="0" err="1"/>
              <a:t>chế</a:t>
            </a:r>
            <a:r>
              <a:rPr lang="en-US" sz="2800" b="1" dirty="0"/>
              <a:t> </a:t>
            </a:r>
            <a:r>
              <a:rPr lang="en-US" sz="2800" b="1" dirty="0" err="1"/>
              <a:t>hoạt</a:t>
            </a:r>
            <a:r>
              <a:rPr lang="en-US" sz="2800" b="1" dirty="0"/>
              <a:t> </a:t>
            </a:r>
            <a:r>
              <a:rPr lang="en-US" sz="2800" b="1" dirty="0" err="1"/>
              <a:t>động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37AC44-AF71-4643-8559-CD1EF907BEB8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78117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2FEA6-B612-1CAB-AAE8-91042180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AE8405-2375-FD46-B04B-3E728FAAAA45}"/>
              </a:ext>
            </a:extLst>
          </p:cNvPr>
          <p:cNvSpPr txBox="1"/>
          <p:nvPr/>
        </p:nvSpPr>
        <p:spPr>
          <a:xfrm>
            <a:off x="5964409" y="6364280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92A3B-6E72-CC46-82C4-91F26E8E6834}"/>
              </a:ext>
            </a:extLst>
          </p:cNvPr>
          <p:cNvSpPr txBox="1"/>
          <p:nvPr/>
        </p:nvSpPr>
        <p:spPr>
          <a:xfrm>
            <a:off x="257786" y="6343833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52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28F0E-2053-C88A-D993-5533ECAF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861"/>
            <a:ext cx="9144000" cy="5000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60F92B-2D04-0040-8943-C395A717D9E9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C8970-CDD0-3B45-95DB-315B08CD3C61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8A6A3-95E6-6E49-AACE-23A0E8048DF1}"/>
              </a:ext>
            </a:extLst>
          </p:cNvPr>
          <p:cNvSpPr txBox="1"/>
          <p:nvPr/>
        </p:nvSpPr>
        <p:spPr>
          <a:xfrm>
            <a:off x="640080" y="365760"/>
            <a:ext cx="19350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BAKUCHIOL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18089-3A57-244D-9CBA-247044705074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1790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5F82E-9F68-906E-C478-447BF15D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317"/>
            <a:ext cx="9144000" cy="4982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9D0B38-02A8-CC43-B44A-B8EE00BD95CE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13D2D-0381-D640-8106-389277F6E1D6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3BE5C-2707-324D-8543-38F3F15D843F}"/>
              </a:ext>
            </a:extLst>
          </p:cNvPr>
          <p:cNvSpPr txBox="1"/>
          <p:nvPr/>
        </p:nvSpPr>
        <p:spPr>
          <a:xfrm>
            <a:off x="640080" y="365760"/>
            <a:ext cx="30685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 err="1"/>
              <a:t>Tác</a:t>
            </a:r>
            <a:r>
              <a:rPr lang="en-US" sz="2800" b="1" dirty="0"/>
              <a:t> dung </a:t>
            </a:r>
            <a:r>
              <a:rPr lang="en-US" sz="2800" b="1" dirty="0" err="1"/>
              <a:t>hiệp</a:t>
            </a:r>
            <a:r>
              <a:rPr lang="en-US" sz="2800" b="1" dirty="0"/>
              <a:t> </a:t>
            </a:r>
            <a:r>
              <a:rPr lang="en-US" sz="2800" b="1" dirty="0" err="1"/>
              <a:t>đồng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091A7-5BA8-5E44-843B-A84E4B5625F0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23049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0A969-1832-B230-A446-88AC676E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DD447D-C550-100F-8BBB-452EB37A24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1538883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</a:rPr>
              <a:t>Phần </a:t>
            </a:r>
            <a:r>
              <a:rPr lang="en-US" sz="5400" dirty="0">
                <a:solidFill>
                  <a:schemeClr val="accent4"/>
                </a:solidFill>
              </a:rPr>
              <a:t>4</a:t>
            </a:r>
            <a:r>
              <a:rPr lang="vi-VN" sz="5400" dirty="0">
                <a:solidFill>
                  <a:schemeClr val="accent4"/>
                </a:solidFill>
              </a:rPr>
              <a:t> Tranexamic </a:t>
            </a:r>
            <a:r>
              <a:rPr lang="en-US" sz="5400" dirty="0">
                <a:solidFill>
                  <a:schemeClr val="accent4"/>
                </a:solidFill>
              </a:rPr>
              <a:t>CGF</a:t>
            </a:r>
          </a:p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en-US" sz="4000" dirty="0" err="1">
                <a:solidFill>
                  <a:schemeClr val="accent4"/>
                </a:solidFill>
              </a:rPr>
              <a:t>Công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thức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đột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phá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ức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chế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sắc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tố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đa</a:t>
            </a:r>
            <a:r>
              <a:rPr lang="en-US" sz="4000" dirty="0">
                <a:solidFill>
                  <a:schemeClr val="accent4"/>
                </a:solidFill>
              </a:rPr>
              <a:t> </a:t>
            </a:r>
            <a:r>
              <a:rPr lang="en-US" sz="4000" dirty="0" err="1">
                <a:solidFill>
                  <a:schemeClr val="accent4"/>
                </a:solidFill>
              </a:rPr>
              <a:t>tầng</a:t>
            </a:r>
            <a:endParaRPr lang="vi-VN" sz="40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4833E-391B-0B4F-9951-742FB49D31E3}"/>
              </a:ext>
            </a:extLst>
          </p:cNvPr>
          <p:cNvSpPr txBox="1"/>
          <p:nvPr/>
        </p:nvSpPr>
        <p:spPr>
          <a:xfrm>
            <a:off x="5574519" y="43942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5E160-61E1-894E-92B0-25316A732B75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272030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DB82E-BDFE-F42D-AF07-46666728B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0"/>
            <a:ext cx="9144000" cy="6090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A104E6-549F-0A49-8187-84D3D796BDB5}"/>
              </a:ext>
            </a:extLst>
          </p:cNvPr>
          <p:cNvSpPr txBox="1"/>
          <p:nvPr/>
        </p:nvSpPr>
        <p:spPr>
          <a:xfrm>
            <a:off x="5964409" y="6364280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B4756-59F4-2E4C-8765-59450034F9FC}"/>
              </a:ext>
            </a:extLst>
          </p:cNvPr>
          <p:cNvSpPr txBox="1"/>
          <p:nvPr/>
        </p:nvSpPr>
        <p:spPr>
          <a:xfrm>
            <a:off x="257786" y="6343833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292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0F377-E7E4-BFA2-6E33-C1EEC8748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5"/>
            <a:ext cx="9144000" cy="609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22CE59-C0A1-8348-B850-4D3C77E5410F}"/>
              </a:ext>
            </a:extLst>
          </p:cNvPr>
          <p:cNvSpPr txBox="1"/>
          <p:nvPr/>
        </p:nvSpPr>
        <p:spPr>
          <a:xfrm>
            <a:off x="5964409" y="6364280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771BF-4EBA-3C45-AA18-B19D53F8666A}"/>
              </a:ext>
            </a:extLst>
          </p:cNvPr>
          <p:cNvSpPr txBox="1"/>
          <p:nvPr/>
        </p:nvSpPr>
        <p:spPr>
          <a:xfrm>
            <a:off x="257786" y="6343833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99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9D535-BE75-5826-4718-86C130B7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182"/>
            <a:ext cx="9144000" cy="499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CA65D4-96B8-C945-9103-46B9C8D99BD1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801BF-286C-1E4B-8620-3031485E5050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365C0-D792-9F4C-BACA-E80BDCEDF3F4}"/>
              </a:ext>
            </a:extLst>
          </p:cNvPr>
          <p:cNvSpPr txBox="1"/>
          <p:nvPr/>
        </p:nvSpPr>
        <p:spPr>
          <a:xfrm>
            <a:off x="640080" y="365760"/>
            <a:ext cx="30685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 err="1"/>
              <a:t>Tác</a:t>
            </a:r>
            <a:r>
              <a:rPr lang="en-US" sz="2800" b="1" dirty="0"/>
              <a:t> dung </a:t>
            </a:r>
            <a:r>
              <a:rPr lang="en-US" sz="2800" b="1" dirty="0" err="1"/>
              <a:t>hiệp</a:t>
            </a:r>
            <a:r>
              <a:rPr lang="en-US" sz="2800" b="1" dirty="0"/>
              <a:t> </a:t>
            </a:r>
            <a:r>
              <a:rPr lang="en-US" sz="2800" b="1" dirty="0" err="1"/>
              <a:t>đồng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B031B-A77D-F64A-9E8C-E061ABEA7CF0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95375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2C41C-E1FD-97D1-8E13-EAA44E451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332"/>
            <a:ext cx="9144000" cy="499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C4332D-42F5-E748-B120-FB1E54E572E8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AB5FB-A3F8-1242-8C26-180D35CBE8BD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4393A-BF36-C444-8302-1FCF1EB4AF7B}"/>
              </a:ext>
            </a:extLst>
          </p:cNvPr>
          <p:cNvSpPr txBox="1"/>
          <p:nvPr/>
        </p:nvSpPr>
        <p:spPr>
          <a:xfrm>
            <a:off x="640080" y="365760"/>
            <a:ext cx="17249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en-US" sz="2800" b="1" dirty="0"/>
              <a:t>Certificate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8E47F-ED70-3C4C-933C-B969C04D22B8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83528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0B4A9-51C6-46AD-847E-9FB8157E1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55" t="32518" r="18778" b="16050"/>
          <a:stretch>
            <a:fillRect/>
          </a:stretch>
        </p:blipFill>
        <p:spPr>
          <a:xfrm>
            <a:off x="568959" y="0"/>
            <a:ext cx="774364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14378B-91F3-5644-91E3-01D38622A0EC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3AE0-2920-C34F-BA63-20DFD2D14F94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36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3A06-E839-2731-D0B8-F1FD9B7B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4722D3-0250-E9EA-806A-8D0F66EC3B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1754326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  <a:latin typeface="Arial (Body)"/>
              </a:rPr>
              <a:t>Phần </a:t>
            </a:r>
            <a:r>
              <a:rPr lang="en-US" sz="5400" dirty="0">
                <a:solidFill>
                  <a:schemeClr val="accent4"/>
                </a:solidFill>
                <a:latin typeface="Arial (Body)"/>
              </a:rPr>
              <a:t>5</a:t>
            </a:r>
            <a:r>
              <a:rPr lang="vi-VN" sz="5400" dirty="0">
                <a:solidFill>
                  <a:schemeClr val="accent4"/>
                </a:solidFill>
                <a:latin typeface="Arial (Body)"/>
              </a:rPr>
              <a:t> : Báo cáo khoa học</a:t>
            </a:r>
            <a:r>
              <a:rPr lang="en-US" sz="5400" dirty="0">
                <a:solidFill>
                  <a:schemeClr val="accent4"/>
                </a:solidFill>
                <a:latin typeface="Arial (Body)"/>
              </a:rPr>
              <a:t> &amp; </a:t>
            </a:r>
            <a:r>
              <a:rPr lang="en-US" sz="5400" dirty="0" err="1">
                <a:solidFill>
                  <a:schemeClr val="accent4"/>
                </a:solidFill>
                <a:latin typeface="Arial (Body)"/>
              </a:rPr>
              <a:t>Phác</a:t>
            </a:r>
            <a:r>
              <a:rPr lang="en-US" sz="5400" dirty="0">
                <a:solidFill>
                  <a:schemeClr val="accent4"/>
                </a:solidFill>
                <a:latin typeface="Arial (Body)"/>
              </a:rPr>
              <a:t> </a:t>
            </a:r>
            <a:r>
              <a:rPr lang="en-US" sz="5400" dirty="0" err="1">
                <a:solidFill>
                  <a:schemeClr val="accent4"/>
                </a:solidFill>
                <a:latin typeface="Arial (Body)"/>
              </a:rPr>
              <a:t>đồ</a:t>
            </a:r>
            <a:r>
              <a:rPr lang="en-US" sz="5400" dirty="0">
                <a:solidFill>
                  <a:schemeClr val="accent4"/>
                </a:solidFill>
                <a:latin typeface="Arial (Body)"/>
              </a:rPr>
              <a:t> </a:t>
            </a:r>
            <a:r>
              <a:rPr lang="en-US" sz="5400" dirty="0" err="1">
                <a:solidFill>
                  <a:schemeClr val="accent4"/>
                </a:solidFill>
                <a:latin typeface="Arial (Body)"/>
              </a:rPr>
              <a:t>Kết</a:t>
            </a:r>
            <a:r>
              <a:rPr lang="en-US" sz="5400" dirty="0">
                <a:solidFill>
                  <a:schemeClr val="accent4"/>
                </a:solidFill>
                <a:latin typeface="Arial (Body)"/>
              </a:rPr>
              <a:t> </a:t>
            </a:r>
            <a:r>
              <a:rPr lang="en-US" sz="5400" dirty="0" err="1">
                <a:solidFill>
                  <a:schemeClr val="accent4"/>
                </a:solidFill>
                <a:latin typeface="Arial (Body)"/>
              </a:rPr>
              <a:t>hợp</a:t>
            </a:r>
            <a:endParaRPr lang="vi-VN" sz="5400" dirty="0">
              <a:solidFill>
                <a:schemeClr val="accent4"/>
              </a:solidFill>
              <a:latin typeface="Arial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99F52-9DFE-704C-B083-3DCB538631B1}"/>
              </a:ext>
            </a:extLst>
          </p:cNvPr>
          <p:cNvSpPr txBox="1"/>
          <p:nvPr/>
        </p:nvSpPr>
        <p:spPr>
          <a:xfrm>
            <a:off x="5574519" y="4394200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1AFCC-746A-4A41-A160-DF963B9D13CD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89699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6700" y="2106643"/>
            <a:ext cx="8653780" cy="321068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indent="-171450"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000" spc="-4" dirty="0">
                <a:latin typeface="Times" pitchFamily="2" charset="0"/>
                <a:cs typeface="Times New Roman"/>
              </a:rPr>
              <a:t>Khi </a:t>
            </a:r>
            <a:r>
              <a:rPr sz="2000" dirty="0">
                <a:latin typeface="Times" pitchFamily="2" charset="0"/>
                <a:cs typeface="Times New Roman"/>
              </a:rPr>
              <a:t>vào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tế bào</a:t>
            </a:r>
            <a:r>
              <a:rPr sz="2000" spc="-4" dirty="0">
                <a:latin typeface="Times" pitchFamily="2" charset="0"/>
                <a:cs typeface="Times New Roman"/>
              </a:rPr>
              <a:t> sừng </a:t>
            </a:r>
            <a:r>
              <a:rPr sz="2000" dirty="0">
                <a:latin typeface="Times" pitchFamily="2" charset="0"/>
                <a:cs typeface="Times New Roman"/>
              </a:rPr>
              <a:t>chuyển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hóa nhanh </a:t>
            </a:r>
            <a:r>
              <a:rPr sz="2000" dirty="0" err="1">
                <a:latin typeface="Times" pitchFamily="2" charset="0"/>
                <a:cs typeface="Times New Roman"/>
              </a:rPr>
              <a:t>thành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 err="1">
                <a:latin typeface="Times" pitchFamily="2" charset="0"/>
                <a:cs typeface="Times New Roman"/>
              </a:rPr>
              <a:t>tretino</a:t>
            </a:r>
            <a:r>
              <a:rPr lang="vi-VN" sz="2000" dirty="0">
                <a:latin typeface="Times" pitchFamily="2" charset="0"/>
                <a:cs typeface="Times New Roman"/>
              </a:rPr>
              <a:t>ic acid</a:t>
            </a:r>
            <a:endParaRPr sz="2000" dirty="0">
              <a:latin typeface="Times" pitchFamily="2" charset="0"/>
              <a:cs typeface="Times New Roman"/>
            </a:endParaRPr>
          </a:p>
          <a:p>
            <a:pPr>
              <a:spcBef>
                <a:spcPts val="38"/>
              </a:spcBef>
              <a:buFont typeface="Arial MT"/>
              <a:buChar char="•"/>
            </a:pPr>
            <a:endParaRPr sz="2000" dirty="0">
              <a:latin typeface="Times" pitchFamily="2" charset="0"/>
              <a:cs typeface="Times New Roman"/>
            </a:endParaRPr>
          </a:p>
          <a:p>
            <a:pPr marL="80963">
              <a:spcBef>
                <a:spcPts val="4"/>
              </a:spcBef>
            </a:pPr>
            <a:r>
              <a:rPr sz="2000" dirty="0">
                <a:latin typeface="Times" pitchFamily="2" charset="0"/>
                <a:cs typeface="Times New Roman"/>
              </a:rPr>
              <a:t>-&gt;</a:t>
            </a:r>
            <a:r>
              <a:rPr sz="2000" spc="-8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nđ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gần</a:t>
            </a:r>
            <a:r>
              <a:rPr sz="2000" spc="-4" dirty="0">
                <a:latin typeface="Times" pitchFamily="2" charset="0"/>
                <a:cs typeface="Times New Roman"/>
              </a:rPr>
              <a:t> tương</a:t>
            </a:r>
            <a:r>
              <a:rPr sz="2000" dirty="0">
                <a:latin typeface="Times" pitchFamily="2" charset="0"/>
                <a:cs typeface="Times New Roman"/>
              </a:rPr>
              <a:t> </a:t>
            </a:r>
            <a:r>
              <a:rPr sz="2000" spc="-4" dirty="0">
                <a:latin typeface="Times" pitchFamily="2" charset="0"/>
                <a:cs typeface="Times New Roman"/>
              </a:rPr>
              <a:t>đương </a:t>
            </a:r>
            <a:r>
              <a:rPr sz="2000" dirty="0">
                <a:latin typeface="Times" pitchFamily="2" charset="0"/>
                <a:cs typeface="Times New Roman"/>
              </a:rPr>
              <a:t>tretinoin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cho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hiệu quả.</a:t>
            </a:r>
          </a:p>
          <a:p>
            <a:pPr>
              <a:spcBef>
                <a:spcPts val="38"/>
              </a:spcBef>
            </a:pPr>
            <a:endParaRPr sz="2000" dirty="0">
              <a:latin typeface="Times" pitchFamily="2" charset="0"/>
              <a:cs typeface="Times New Roman"/>
            </a:endParaRPr>
          </a:p>
          <a:p>
            <a:pPr marL="180975" indent="-171450">
              <a:buFont typeface="Arial MT"/>
              <a:buChar char="•"/>
              <a:tabLst>
                <a:tab pos="180975" algn="l"/>
              </a:tabLst>
            </a:pPr>
            <a:r>
              <a:rPr sz="2000" dirty="0">
                <a:latin typeface="Times" pitchFamily="2" charset="0"/>
                <a:cs typeface="Times New Roman"/>
              </a:rPr>
              <a:t>Thường</a:t>
            </a:r>
            <a:r>
              <a:rPr sz="2000" spc="-15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dùng</a:t>
            </a:r>
            <a:r>
              <a:rPr sz="2000" spc="-15" dirty="0">
                <a:latin typeface="Times" pitchFamily="2" charset="0"/>
                <a:cs typeface="Times New Roman"/>
              </a:rPr>
              <a:t> </a:t>
            </a:r>
            <a:r>
              <a:rPr sz="2000" spc="-4" dirty="0">
                <a:latin typeface="Times" pitchFamily="2" charset="0"/>
                <a:cs typeface="Times New Roman"/>
              </a:rPr>
              <a:t>0.05-0.1%</a:t>
            </a:r>
            <a:endParaRPr sz="2000" dirty="0">
              <a:latin typeface="Times" pitchFamily="2" charset="0"/>
              <a:cs typeface="Times New Roman"/>
            </a:endParaRPr>
          </a:p>
          <a:p>
            <a:pPr marL="523875" marR="244316" lvl="1" indent="-171450">
              <a:lnSpc>
                <a:spcPct val="169300"/>
              </a:lnSpc>
              <a:spcBef>
                <a:spcPts val="454"/>
              </a:spcBef>
              <a:buSzPct val="96666"/>
              <a:buFont typeface="Wingdings"/>
              <a:buChar char=""/>
              <a:tabLst>
                <a:tab pos="580073" algn="l"/>
              </a:tabLst>
            </a:pPr>
            <a:r>
              <a:rPr sz="2000" dirty="0">
                <a:latin typeface="Times" pitchFamily="2" charset="0"/>
                <a:cs typeface="Times New Roman"/>
              </a:rPr>
              <a:t>Tác dụng tốt </a:t>
            </a:r>
            <a:r>
              <a:rPr sz="2000" spc="-4" dirty="0">
                <a:latin typeface="Times" pitchFamily="2" charset="0"/>
                <a:cs typeface="Times New Roman"/>
              </a:rPr>
              <a:t>trứng </a:t>
            </a:r>
            <a:r>
              <a:rPr sz="2000" dirty="0">
                <a:latin typeface="Times" pitchFamily="2" charset="0"/>
                <a:cs typeface="Times New Roman"/>
              </a:rPr>
              <a:t>cá, lão hoá da (bao gồm cả đỏ da), giảm </a:t>
            </a:r>
            <a:r>
              <a:rPr sz="2000" spc="-551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thâm,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nám má…</a:t>
            </a:r>
          </a:p>
          <a:p>
            <a:pPr marL="523875" marR="3810" lvl="1" indent="-171450">
              <a:lnSpc>
                <a:spcPct val="169300"/>
              </a:lnSpc>
              <a:spcBef>
                <a:spcPts val="379"/>
              </a:spcBef>
              <a:buSzPct val="96666"/>
              <a:buFont typeface="Wingdings"/>
              <a:buChar char=""/>
              <a:tabLst>
                <a:tab pos="580073" algn="l"/>
              </a:tabLst>
            </a:pPr>
            <a:r>
              <a:rPr sz="2000" spc="-4" dirty="0">
                <a:latin typeface="Times" pitchFamily="2" charset="0"/>
                <a:cs typeface="Times New Roman"/>
              </a:rPr>
              <a:t>Vì </a:t>
            </a:r>
            <a:r>
              <a:rPr sz="2000" dirty="0">
                <a:latin typeface="Times" pitchFamily="2" charset="0"/>
                <a:cs typeface="Times New Roman"/>
              </a:rPr>
              <a:t>ít kích </a:t>
            </a:r>
            <a:r>
              <a:rPr sz="2000" spc="-4" dirty="0">
                <a:latin typeface="Times" pitchFamily="2" charset="0"/>
                <a:cs typeface="Times New Roman"/>
              </a:rPr>
              <a:t>ứng </a:t>
            </a:r>
            <a:r>
              <a:rPr sz="2000" dirty="0">
                <a:latin typeface="Times" pitchFamily="2" charset="0"/>
                <a:cs typeface="Times New Roman"/>
              </a:rPr>
              <a:t>nên nó có thể dùng ngay sau </a:t>
            </a:r>
            <a:r>
              <a:rPr sz="2000" spc="-15" dirty="0">
                <a:latin typeface="Times" pitchFamily="2" charset="0"/>
                <a:cs typeface="Times New Roman"/>
              </a:rPr>
              <a:t>laser, </a:t>
            </a:r>
            <a:r>
              <a:rPr sz="2000" dirty="0">
                <a:latin typeface="Times" pitchFamily="2" charset="0"/>
                <a:cs typeface="Times New Roman"/>
              </a:rPr>
              <a:t>cho vào các </a:t>
            </a:r>
            <a:r>
              <a:rPr sz="2000" spc="-551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sản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phẩm bôi quanh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mắt, </a:t>
            </a:r>
            <a:r>
              <a:rPr sz="2000" spc="-4" dirty="0">
                <a:latin typeface="Times" pitchFamily="2" charset="0"/>
                <a:cs typeface="Times New Roman"/>
              </a:rPr>
              <a:t>dưỡng</a:t>
            </a:r>
            <a:r>
              <a:rPr sz="2000" dirty="0">
                <a:latin typeface="Times" pitchFamily="2" charset="0"/>
                <a:cs typeface="Times New Roman"/>
              </a:rPr>
              <a:t> ban</a:t>
            </a:r>
            <a:r>
              <a:rPr sz="2000" spc="-4" dirty="0">
                <a:latin typeface="Times" pitchFamily="2" charset="0"/>
                <a:cs typeface="Times New Roman"/>
              </a:rPr>
              <a:t> </a:t>
            </a:r>
            <a:r>
              <a:rPr sz="2000" dirty="0">
                <a:latin typeface="Times" pitchFamily="2" charset="0"/>
                <a:cs typeface="Times New Roman"/>
              </a:rPr>
              <a:t>đêm</a:t>
            </a:r>
            <a:r>
              <a:rPr sz="2250" dirty="0">
                <a:latin typeface="Times" pitchFamily="2" charset="0"/>
                <a:cs typeface="Times New Roman"/>
              </a:rPr>
              <a:t>…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57B333-2276-8D9A-C250-9DAAE19B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DB1EC-C5D7-0994-54A3-D0411DB7B6D7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7" name="object 3"/>
          <p:cNvSpPr txBox="1"/>
          <p:nvPr/>
        </p:nvSpPr>
        <p:spPr>
          <a:xfrm>
            <a:off x="790653" y="5317330"/>
            <a:ext cx="7224181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00" spc="-4" dirty="0">
                <a:latin typeface="Calibri"/>
                <a:cs typeface="Calibri"/>
              </a:rPr>
              <a:t>McDaniel,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D.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H.,</a:t>
            </a:r>
            <a:r>
              <a:rPr sz="1200" spc="11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Mazur,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C.,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Wortzman,</a:t>
            </a:r>
            <a:r>
              <a:rPr sz="1200" spc="11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M.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S.,</a:t>
            </a:r>
            <a:r>
              <a:rPr sz="1200" spc="11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11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Nelson,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D.</a:t>
            </a:r>
            <a:r>
              <a:rPr sz="1200" spc="11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B.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(2017).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Efficacy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tolerability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double-conjugated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retinoid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cream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vs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1.0%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retinol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cream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or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0.025%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tretinoin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cream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in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subjects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with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mild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to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severe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photoaging.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Journal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Cosmetic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Dermatology,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16(4),</a:t>
            </a:r>
            <a:r>
              <a:rPr sz="1200" i="1" spc="11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542–548.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doi:10.1111/jocd.12381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DBBB8-69B5-5751-3730-41F3A006DFA5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B4BCF-3C61-5742-A22D-7C4EC1951150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7DF2E-E324-4C46-B539-2EE6A6E143AA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168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0080" y="2034245"/>
            <a:ext cx="7329011" cy="262187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marR="3810" indent="-171450">
              <a:lnSpc>
                <a:spcPct val="148600"/>
              </a:lnSpc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latin typeface="Times New Roman"/>
                <a:cs typeface="Times New Roman"/>
              </a:rPr>
              <a:t>Trong </a:t>
            </a:r>
            <a:r>
              <a:rPr lang="vi-VN" sz="2100" spc="-15" dirty="0">
                <a:latin typeface="Times New Roman"/>
                <a:cs typeface="Times New Roman"/>
              </a:rPr>
              <a:t>nghiên cứu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năm </a:t>
            </a:r>
            <a:r>
              <a:rPr sz="2100" dirty="0">
                <a:latin typeface="Times New Roman"/>
                <a:cs typeface="Times New Roman"/>
              </a:rPr>
              <a:t>2016 </a:t>
            </a:r>
            <a:r>
              <a:rPr sz="2100" spc="-4" dirty="0">
                <a:latin typeface="Times New Roman"/>
                <a:cs typeface="Times New Roman"/>
              </a:rPr>
              <a:t>của </a:t>
            </a:r>
            <a:r>
              <a:rPr sz="2100" dirty="0">
                <a:latin typeface="Times New Roman"/>
                <a:cs typeface="Times New Roman"/>
              </a:rPr>
              <a:t>bs da </a:t>
            </a:r>
            <a:r>
              <a:rPr sz="2100" spc="-4" dirty="0">
                <a:latin typeface="Times New Roman"/>
                <a:cs typeface="Times New Roman"/>
              </a:rPr>
              <a:t>liễu Hàn </a:t>
            </a:r>
            <a:r>
              <a:rPr sz="2100" dirty="0">
                <a:latin typeface="Times New Roman"/>
                <a:cs typeface="Times New Roman"/>
              </a:rPr>
              <a:t>Quốc </a:t>
            </a:r>
            <a:r>
              <a:rPr sz="2100" spc="-4" dirty="0">
                <a:latin typeface="Times New Roman"/>
                <a:cs typeface="Times New Roman"/>
              </a:rPr>
              <a:t>so sánh retinaldehyde </a:t>
            </a:r>
            <a:r>
              <a:rPr sz="2100" spc="-5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0.1% vs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0.05%.</a:t>
            </a:r>
          </a:p>
          <a:p>
            <a:pPr marL="564356" lvl="1" indent="-212408">
              <a:spcBef>
                <a:spcPts val="1673"/>
              </a:spcBef>
              <a:buSzPct val="96428"/>
              <a:buFont typeface="Wingdings"/>
              <a:buChar char=""/>
              <a:tabLst>
                <a:tab pos="564833" algn="l"/>
              </a:tabLst>
            </a:pPr>
            <a:r>
              <a:rPr sz="2100" dirty="0">
                <a:latin typeface="Times New Roman"/>
                <a:cs typeface="Times New Roman"/>
              </a:rPr>
              <a:t>2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nồng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độ</a:t>
            </a:r>
            <a:r>
              <a:rPr sz="2100" spc="-4" dirty="0">
                <a:latin typeface="Times New Roman"/>
                <a:cs typeface="Times New Roman"/>
              </a:rPr>
              <a:t> có hiệu </a:t>
            </a:r>
            <a:r>
              <a:rPr sz="2100" dirty="0">
                <a:latin typeface="Times New Roman"/>
                <a:cs typeface="Times New Roman"/>
              </a:rPr>
              <a:t>quả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như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nhau </a:t>
            </a:r>
            <a:r>
              <a:rPr sz="2100" dirty="0">
                <a:latin typeface="Times New Roman"/>
                <a:cs typeface="Times New Roman"/>
              </a:rPr>
              <a:t>trong</a:t>
            </a:r>
            <a:r>
              <a:rPr sz="2100" spc="-4" dirty="0">
                <a:latin typeface="Times New Roman"/>
                <a:cs typeface="Times New Roman"/>
              </a:rPr>
              <a:t> việc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giảm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nhăn.</a:t>
            </a:r>
            <a:endParaRPr sz="2100" dirty="0">
              <a:latin typeface="Times New Roman"/>
              <a:cs typeface="Times New Roman"/>
            </a:endParaRPr>
          </a:p>
          <a:p>
            <a:pPr marL="564356" lvl="1" indent="-212408">
              <a:spcBef>
                <a:spcPts val="1620"/>
              </a:spcBef>
              <a:buSzPct val="96428"/>
              <a:buFont typeface="Wingdings"/>
              <a:buChar char=""/>
              <a:tabLst>
                <a:tab pos="564833" algn="l"/>
              </a:tabLst>
            </a:pPr>
            <a:r>
              <a:rPr sz="2100" dirty="0">
                <a:latin typeface="Times New Roman"/>
                <a:cs typeface="Times New Roman"/>
              </a:rPr>
              <a:t>Nồng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độ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0.1% </a:t>
            </a:r>
            <a:r>
              <a:rPr sz="2100" spc="-4" dirty="0">
                <a:latin typeface="Times New Roman"/>
                <a:cs typeface="Times New Roman"/>
              </a:rPr>
              <a:t>cho hiệu </a:t>
            </a:r>
            <a:r>
              <a:rPr sz="2100" dirty="0">
                <a:latin typeface="Times New Roman"/>
                <a:cs typeface="Times New Roman"/>
              </a:rPr>
              <a:t>quả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tốt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hơn </a:t>
            </a:r>
            <a:r>
              <a:rPr sz="2100" dirty="0">
                <a:latin typeface="Times New Roman"/>
                <a:cs typeface="Times New Roman"/>
              </a:rPr>
              <a:t>trong</a:t>
            </a:r>
            <a:r>
              <a:rPr sz="2100" spc="-4" dirty="0">
                <a:latin typeface="Times New Roman"/>
                <a:cs typeface="Times New Roman"/>
              </a:rPr>
              <a:t> việc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làm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sáng da.</a:t>
            </a:r>
            <a:endParaRPr sz="2100" dirty="0">
              <a:latin typeface="Times New Roman"/>
              <a:cs typeface="Times New Roman"/>
            </a:endParaRPr>
          </a:p>
          <a:p>
            <a:pPr marL="180975" indent="-171450">
              <a:spcBef>
                <a:spcPts val="1980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Times New Roman"/>
                <a:cs typeface="Times New Roman"/>
              </a:rPr>
              <a:t>Không</a:t>
            </a:r>
            <a:r>
              <a:rPr sz="2100" spc="-4" dirty="0">
                <a:latin typeface="Times New Roman"/>
                <a:cs typeface="Times New Roman"/>
              </a:rPr>
              <a:t> có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trường hợp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nào </a:t>
            </a:r>
            <a:r>
              <a:rPr sz="2100" dirty="0">
                <a:latin typeface="Times New Roman"/>
                <a:cs typeface="Times New Roman"/>
              </a:rPr>
              <a:t>ghi</a:t>
            </a:r>
            <a:r>
              <a:rPr sz="2100" spc="-4" dirty="0">
                <a:latin typeface="Times New Roman"/>
                <a:cs typeface="Times New Roman"/>
              </a:rPr>
              <a:t> nhận dừng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thuốc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vì</a:t>
            </a:r>
            <a:r>
              <a:rPr sz="2100" spc="-4" dirty="0">
                <a:latin typeface="Times New Roman"/>
                <a:cs typeface="Times New Roman"/>
              </a:rPr>
              <a:t> tác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dụng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phụ.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0636" y="5457826"/>
            <a:ext cx="5948363" cy="6559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400" b="1" spc="-4" dirty="0">
                <a:latin typeface="Calibri"/>
                <a:cs typeface="Calibri"/>
              </a:rPr>
              <a:t>Kwon HS.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Efficacy</a:t>
            </a:r>
            <a:r>
              <a:rPr sz="1400" b="1" dirty="0">
                <a:latin typeface="Calibri"/>
                <a:cs typeface="Calibri"/>
              </a:rPr>
              <a:t> and </a:t>
            </a:r>
            <a:r>
              <a:rPr sz="1400" b="1" spc="-4" dirty="0">
                <a:latin typeface="Calibri"/>
                <a:cs typeface="Calibri"/>
              </a:rPr>
              <a:t>safety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of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retinaldehyde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spc="-8" dirty="0">
                <a:latin typeface="Calibri"/>
                <a:cs typeface="Calibri"/>
              </a:rPr>
              <a:t>0.1%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4" dirty="0">
                <a:latin typeface="Calibri"/>
                <a:cs typeface="Calibri"/>
              </a:rPr>
              <a:t> </a:t>
            </a:r>
            <a:r>
              <a:rPr sz="1400" b="1" spc="-8" dirty="0">
                <a:latin typeface="Calibri"/>
                <a:cs typeface="Calibri"/>
              </a:rPr>
              <a:t>0.05%</a:t>
            </a:r>
            <a:r>
              <a:rPr sz="1400" b="1" spc="8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creams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used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to treat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photoaged</a:t>
            </a:r>
            <a:r>
              <a:rPr sz="1400" b="1" dirty="0">
                <a:latin typeface="Calibri"/>
                <a:cs typeface="Calibri"/>
              </a:rPr>
              <a:t> skin: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randomized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double-blind controlled trial.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J </a:t>
            </a:r>
            <a:r>
              <a:rPr sz="1400" b="1" spc="-4" dirty="0">
                <a:latin typeface="Calibri"/>
                <a:cs typeface="Calibri"/>
              </a:rPr>
              <a:t>Cosmet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4" dirty="0">
                <a:latin typeface="Calibri"/>
                <a:cs typeface="Calibri"/>
              </a:rPr>
              <a:t>Dermatol.</a:t>
            </a:r>
            <a:r>
              <a:rPr sz="1400" b="1" spc="4" dirty="0">
                <a:latin typeface="Calibri"/>
                <a:cs typeface="Calibri"/>
              </a:rPr>
              <a:t> </a:t>
            </a:r>
            <a:r>
              <a:rPr sz="1400" b="1" spc="-8" dirty="0">
                <a:latin typeface="Calibri"/>
                <a:cs typeface="Calibri"/>
              </a:rPr>
              <a:t>2018</a:t>
            </a:r>
            <a:r>
              <a:rPr sz="1400" b="1" spc="-4" dirty="0">
                <a:latin typeface="Calibri"/>
                <a:cs typeface="Calibri"/>
              </a:rPr>
              <a:t> </a:t>
            </a:r>
            <a:r>
              <a:rPr sz="1400" b="1" spc="-8" dirty="0">
                <a:latin typeface="Calibri"/>
                <a:cs typeface="Calibri"/>
              </a:rPr>
              <a:t>Jun;17(3):471-476.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1D7C07-4A3B-D6BE-C39C-8F5DF220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DDD21-2EE8-AA30-B01A-3AE0189648A1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88200-FD7D-A7A4-2C21-D3CF2AACDA9B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F7721-68C0-CD4B-AA45-8E38FE8C268A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18F8F-6900-3741-8A47-A2490B9B65FC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529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5819" y="1951008"/>
            <a:ext cx="7745254" cy="3050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marR="141446" indent="-171450">
              <a:lnSpc>
                <a:spcPct val="148600"/>
              </a:lnSpc>
              <a:spcBef>
                <a:spcPts val="75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latin typeface="Times New Roman"/>
                <a:cs typeface="Times New Roman"/>
              </a:rPr>
              <a:t>Với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</a:t>
            </a:r>
            <a:r>
              <a:rPr sz="2100" spc="-12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peel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nđ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20%-70% trong </a:t>
            </a:r>
            <a:r>
              <a:rPr sz="2100" spc="-4" dirty="0">
                <a:latin typeface="Times New Roman"/>
                <a:cs typeface="Times New Roman"/>
              </a:rPr>
              <a:t>lão </a:t>
            </a:r>
            <a:r>
              <a:rPr sz="2100" dirty="0">
                <a:latin typeface="Times New Roman"/>
                <a:cs typeface="Times New Roman"/>
              </a:rPr>
              <a:t>hoá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spc="-4" dirty="0" err="1">
                <a:latin typeface="Times New Roman"/>
                <a:cs typeface="Times New Roman"/>
              </a:rPr>
              <a:t>thì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retinal</a:t>
            </a:r>
            <a:r>
              <a:rPr lang="en-US" sz="2100" spc="-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0.1%</a:t>
            </a:r>
            <a:r>
              <a:rPr sz="2100" spc="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có </a:t>
            </a:r>
            <a:r>
              <a:rPr sz="2100" spc="-51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tác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dụng </a:t>
            </a:r>
            <a:r>
              <a:rPr sz="2100" spc="-4" dirty="0">
                <a:latin typeface="Times New Roman"/>
                <a:cs typeface="Times New Roman"/>
              </a:rPr>
              <a:t>tương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đương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mà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spc="-4" dirty="0" err="1">
                <a:latin typeface="Times New Roman"/>
                <a:cs typeface="Times New Roman"/>
              </a:rPr>
              <a:t>ít</a:t>
            </a:r>
            <a:r>
              <a:rPr sz="2100" spc="-41" dirty="0">
                <a:latin typeface="Times New Roman"/>
                <a:cs typeface="Times New Roman"/>
              </a:rPr>
              <a:t> </a:t>
            </a:r>
            <a:r>
              <a:rPr lang="en-US" sz="2100" spc="-41" dirty="0" err="1">
                <a:latin typeface="Times New Roman"/>
                <a:cs typeface="Times New Roman"/>
              </a:rPr>
              <a:t>tác</a:t>
            </a:r>
            <a:r>
              <a:rPr lang="en-US" sz="2100" spc="-41" dirty="0">
                <a:latin typeface="Times New Roman"/>
                <a:cs typeface="Times New Roman"/>
              </a:rPr>
              <a:t> </a:t>
            </a:r>
            <a:r>
              <a:rPr lang="en-US" sz="2100" spc="-41" dirty="0" err="1">
                <a:latin typeface="Times New Roman"/>
                <a:cs typeface="Times New Roman"/>
              </a:rPr>
              <a:t>dụng</a:t>
            </a:r>
            <a:r>
              <a:rPr lang="en-US" sz="2100" spc="-41" dirty="0">
                <a:latin typeface="Times New Roman"/>
                <a:cs typeface="Times New Roman"/>
              </a:rPr>
              <a:t> </a:t>
            </a:r>
            <a:r>
              <a:rPr lang="en-US" sz="2100" spc="-41" dirty="0" err="1">
                <a:latin typeface="Times New Roman"/>
                <a:cs typeface="Times New Roman"/>
              </a:rPr>
              <a:t>phụ</a:t>
            </a:r>
            <a:r>
              <a:rPr lang="en-US" sz="2100" spc="-41" dirty="0">
                <a:latin typeface="Times New Roman"/>
                <a:cs typeface="Times New Roman"/>
              </a:rPr>
              <a:t> </a:t>
            </a:r>
            <a:r>
              <a:rPr lang="en-US" sz="2100" spc="-41" dirty="0" err="1">
                <a:latin typeface="Times New Roman"/>
                <a:cs typeface="Times New Roman"/>
              </a:rPr>
              <a:t>hơn</a:t>
            </a:r>
            <a:r>
              <a:rPr sz="2100" spc="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hơn.</a:t>
            </a:r>
            <a:endParaRPr sz="2100" dirty="0">
              <a:latin typeface="Times New Roman"/>
              <a:cs typeface="Times New Roman"/>
            </a:endParaRPr>
          </a:p>
          <a:p>
            <a:pPr marL="180975" marR="3810" indent="-171450">
              <a:lnSpc>
                <a:spcPct val="148600"/>
              </a:lnSpc>
              <a:spcBef>
                <a:spcPts val="825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Times New Roman"/>
                <a:cs typeface="Times New Roman"/>
              </a:rPr>
              <a:t>TDF</a:t>
            </a:r>
            <a:r>
              <a:rPr sz="2100" spc="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so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với retinol; retinal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ít châm chích,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ngứa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hơn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nhưng</a:t>
            </a:r>
            <a:r>
              <a:rPr sz="2100" dirty="0">
                <a:latin typeface="Times New Roman"/>
                <a:cs typeface="Times New Roman"/>
              </a:rPr>
              <a:t> bong </a:t>
            </a:r>
            <a:r>
              <a:rPr sz="2100" spc="-51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vảy </a:t>
            </a:r>
            <a:r>
              <a:rPr sz="2100" dirty="0">
                <a:latin typeface="Times New Roman"/>
                <a:cs typeface="Times New Roman"/>
              </a:rPr>
              <a:t>da</a:t>
            </a:r>
            <a:r>
              <a:rPr sz="2100" spc="-8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nhiều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hơn.</a:t>
            </a:r>
            <a:endParaRPr sz="2100" dirty="0">
              <a:latin typeface="Times New Roman"/>
              <a:cs typeface="Times New Roman"/>
            </a:endParaRPr>
          </a:p>
          <a:p>
            <a:pPr marL="180975" marR="51435" indent="-171450">
              <a:lnSpc>
                <a:spcPct val="152100"/>
              </a:lnSpc>
              <a:spcBef>
                <a:spcPts val="668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latin typeface="Times New Roman"/>
                <a:cs typeface="Times New Roman"/>
              </a:rPr>
              <a:t>Xét </a:t>
            </a:r>
            <a:r>
              <a:rPr sz="2100" dirty="0">
                <a:latin typeface="Times New Roman"/>
                <a:cs typeface="Times New Roman"/>
              </a:rPr>
              <a:t>về </a:t>
            </a:r>
            <a:r>
              <a:rPr sz="2100" spc="-4" dirty="0">
                <a:latin typeface="Times New Roman"/>
                <a:cs typeface="Times New Roman"/>
              </a:rPr>
              <a:t>bằng chứng </a:t>
            </a:r>
            <a:r>
              <a:rPr sz="2100" dirty="0">
                <a:latin typeface="Times New Roman"/>
                <a:cs typeface="Times New Roman"/>
              </a:rPr>
              <a:t>khoa học </a:t>
            </a:r>
            <a:r>
              <a:rPr sz="2100" spc="-4" dirty="0">
                <a:latin typeface="Times New Roman"/>
                <a:cs typeface="Times New Roman"/>
              </a:rPr>
              <a:t>thì có </a:t>
            </a:r>
            <a:r>
              <a:rPr sz="2100" dirty="0" err="1">
                <a:latin typeface="Times New Roman"/>
                <a:cs typeface="Times New Roman"/>
              </a:rPr>
              <a:t>vẻ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retinal có hiệu </a:t>
            </a:r>
            <a:r>
              <a:rPr sz="2100" dirty="0">
                <a:latin typeface="Times New Roman"/>
                <a:cs typeface="Times New Roman"/>
              </a:rPr>
              <a:t>quả và </a:t>
            </a:r>
            <a:r>
              <a:rPr sz="2100" spc="-4" dirty="0">
                <a:latin typeface="Times New Roman"/>
                <a:cs typeface="Times New Roman"/>
              </a:rPr>
              <a:t>ưu </a:t>
            </a:r>
            <a:r>
              <a:rPr sz="2100" spc="-514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tiên sử </a:t>
            </a:r>
            <a:r>
              <a:rPr sz="2100" dirty="0">
                <a:latin typeface="Times New Roman"/>
                <a:cs typeface="Times New Roman"/>
              </a:rPr>
              <a:t>dụng trong</a:t>
            </a:r>
            <a:r>
              <a:rPr sz="2100" spc="-4" dirty="0">
                <a:latin typeface="Times New Roman"/>
                <a:cs typeface="Times New Roman"/>
              </a:rPr>
              <a:t> </a:t>
            </a:r>
            <a:r>
              <a:rPr sz="2100" spc="-8" dirty="0">
                <a:latin typeface="Times New Roman"/>
                <a:cs typeface="Times New Roman"/>
              </a:rPr>
              <a:t>các </a:t>
            </a:r>
            <a:r>
              <a:rPr sz="2100" spc="-4" dirty="0">
                <a:latin typeface="Times New Roman"/>
                <a:cs typeface="Times New Roman"/>
              </a:rPr>
              <a:t>sản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>
                <a:latin typeface="Times New Roman"/>
                <a:cs typeface="Times New Roman"/>
              </a:rPr>
              <a:t>phẩm dược</a:t>
            </a:r>
            <a:r>
              <a:rPr sz="2100" spc="-11" dirty="0">
                <a:latin typeface="Times New Roman"/>
                <a:cs typeface="Times New Roman"/>
              </a:rPr>
              <a:t> </a:t>
            </a:r>
            <a:r>
              <a:rPr sz="2100" spc="-4" dirty="0" err="1">
                <a:latin typeface="Times New Roman"/>
                <a:cs typeface="Times New Roman"/>
              </a:rPr>
              <a:t>mỹ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4" dirty="0" err="1">
                <a:latin typeface="Times New Roman"/>
                <a:cs typeface="Times New Roman"/>
              </a:rPr>
              <a:t>phẩm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873" y="5514976"/>
            <a:ext cx="769620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00" spc="-4" dirty="0">
                <a:latin typeface="Calibri"/>
                <a:cs typeface="Calibri"/>
              </a:rPr>
              <a:t>Fluhr,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J.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W.,</a:t>
            </a:r>
            <a:r>
              <a:rPr sz="1200" spc="8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Vienne,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M.-P.,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Lauze,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C.,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Dupuy,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P.,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Gehring,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W.,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4" dirty="0">
                <a:latin typeface="Calibri"/>
                <a:cs typeface="Calibri"/>
              </a:rPr>
              <a:t>Gloor,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M.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8" dirty="0">
                <a:latin typeface="Calibri"/>
                <a:cs typeface="Calibri"/>
              </a:rPr>
              <a:t>(1999).</a:t>
            </a:r>
            <a:r>
              <a:rPr sz="1200" spc="-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Tolerance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Profile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Retinol,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Retinaldehyde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Retinoic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Acid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under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Maximized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8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Long-Term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Clinical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Conditions.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4" dirty="0">
                <a:latin typeface="Calibri"/>
                <a:cs typeface="Calibri"/>
              </a:rPr>
              <a:t>Dermatology,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i="1" spc="-8" dirty="0">
                <a:latin typeface="Calibri"/>
                <a:cs typeface="Calibri"/>
              </a:rPr>
              <a:t>199(1),</a:t>
            </a:r>
            <a:r>
              <a:rPr sz="1200" i="1" dirty="0">
                <a:latin typeface="Calibri"/>
                <a:cs typeface="Calibri"/>
              </a:rPr>
              <a:t> </a:t>
            </a:r>
            <a:r>
              <a:rPr sz="1200" i="1" spc="-8" dirty="0">
                <a:latin typeface="Calibri"/>
                <a:cs typeface="Calibri"/>
              </a:rPr>
              <a:t>57–60.</a:t>
            </a:r>
            <a:r>
              <a:rPr sz="1200" i="1" spc="4" dirty="0">
                <a:latin typeface="Calibri"/>
                <a:cs typeface="Calibri"/>
              </a:rPr>
              <a:t> </a:t>
            </a:r>
            <a:r>
              <a:rPr sz="1200" spc="-8" dirty="0">
                <a:latin typeface="Calibri"/>
                <a:cs typeface="Calibri"/>
              </a:rPr>
              <a:t>doi:10.1159/000051381</a:t>
            </a:r>
            <a:r>
              <a:rPr sz="1200" spc="-8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58AFF4-7078-F695-775F-0EADB74A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C70C4-9048-1FB0-7AFE-64EC4F164A3D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9DA5C3-8D49-15D6-ADF1-D07AC87CA19B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48EC4-A7B5-4A4F-B790-37DE3E01FD82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CC972-43E0-8842-806C-4F8457C58CCE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27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7BC0-9D21-97FC-B23F-827923B83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0384EF-AD21-45BF-FD09-DF5DAFDCAACD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79D74-A7F1-B29C-49CA-90C42F0CE8EA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360EA-C74F-C842-1506-F0C5734D0A94}"/>
              </a:ext>
            </a:extLst>
          </p:cNvPr>
          <p:cNvSpPr txBox="1"/>
          <p:nvPr/>
        </p:nvSpPr>
        <p:spPr>
          <a:xfrm>
            <a:off x="423496" y="1594264"/>
            <a:ext cx="847152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Báo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trọng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British Journal of Dermatology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(Dhaliwal et al., 2018/2019):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Thiết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nghiệm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ngẫu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đôi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kéo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12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tuần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44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nguyện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Bakuchiol 0.5% (2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) so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Retinol 0.5% (1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Kết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đều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nếp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sắc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biệt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ý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nghĩa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Tuy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nhóm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bong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tróc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</a:t>
            </a:r>
            <a:endParaRPr kumimoji="0" lang="vi-V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vi-VN" altLang="en-US" sz="1600" i="1" dirty="0">
              <a:latin typeface="Times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latin typeface="Times" pitchFamily="2" charset="0"/>
              </a:rPr>
              <a:t>https://jintegrativederm.org/doi/10.64550/joid.9jag0x17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2CC36-61F2-B345-98BD-68E62FFB2D0A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31FC7-F905-7F4C-92E7-156446C1C230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273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4A52-1A61-8BBD-B3BF-8ABF001F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51A4D2-2D09-1184-636F-28183EC895D5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75A852-E389-FDA3-3F9F-495186253154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6F202-CF5E-FB26-289B-8102E0B6EF53}"/>
              </a:ext>
            </a:extLst>
          </p:cNvPr>
          <p:cNvSpPr txBox="1"/>
          <p:nvPr/>
        </p:nvSpPr>
        <p:spPr>
          <a:xfrm>
            <a:off x="339724" y="1287292"/>
            <a:ext cx="860107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" pitchFamily="2" charset="0"/>
              </a:rPr>
              <a:t>Journal of Cosmetic Dermatology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lang="en-US" altLang="en-US" sz="2400" dirty="0" err="1">
                <a:latin typeface="Times" pitchFamily="2" charset="0"/>
              </a:rPr>
              <a:t>và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lang="en-US" altLang="en-US" sz="2400" dirty="0" err="1">
                <a:latin typeface="Times" pitchFamily="2" charset="0"/>
              </a:rPr>
              <a:t>các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lang="en-US" altLang="en-US" sz="2400" dirty="0" err="1">
                <a:latin typeface="Times" pitchFamily="2" charset="0"/>
              </a:rPr>
              <a:t>tạp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lang="en-US" altLang="en-US" sz="2400" dirty="0" err="1">
                <a:latin typeface="Times" pitchFamily="2" charset="0"/>
              </a:rPr>
              <a:t>chí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lang="en-US" altLang="en-US" sz="2400" dirty="0" err="1">
                <a:latin typeface="Times" pitchFamily="2" charset="0"/>
              </a:rPr>
              <a:t>khác</a:t>
            </a:r>
            <a:r>
              <a:rPr lang="en-US" altLang="en-US" sz="2400" dirty="0"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mục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tiêu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Bakuchiol: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khuẩn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Bakuchiol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vi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khuẩn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C. acnes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cytokine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(IL-8, TNF-α).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mụn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chứa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0.5% Bakuchiol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26-28%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tổn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12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tuần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Sắc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Hiệu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mụn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(PIH)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nhận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đặc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biệt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toàn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(Fitzpatrick III-VI)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vốn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dễ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bởi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Retinoid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</a:t>
            </a:r>
            <a:endParaRPr kumimoji="0" lang="vi-V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vi-VN" altLang="en-US" sz="1600" i="1" dirty="0">
              <a:latin typeface="Times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196B38-B8B1-CFD5-C60D-25A7DF74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864" r="66528" b="18889"/>
          <a:stretch>
            <a:fillRect/>
          </a:stretch>
        </p:blipFill>
        <p:spPr>
          <a:xfrm>
            <a:off x="5603736" y="4333367"/>
            <a:ext cx="3060700" cy="207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104A48-113E-1C48-BBFD-EA5E77C85E21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7C265-1D81-6740-AFC8-0F845FD762A1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3614AA-2C49-1841-B62F-FFB79620CAA8}"/>
              </a:ext>
            </a:extLst>
          </p:cNvPr>
          <p:cNvSpPr/>
          <p:nvPr/>
        </p:nvSpPr>
        <p:spPr>
          <a:xfrm>
            <a:off x="393999" y="4787901"/>
            <a:ext cx="49333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i="1" dirty="0">
                <a:latin typeface="Times" pitchFamily="2" charset="0"/>
              </a:rPr>
              <a:t>https://</a:t>
            </a:r>
            <a:r>
              <a:rPr lang="en-US" altLang="en-US" sz="1000" i="1" dirty="0" err="1">
                <a:latin typeface="Times" pitchFamily="2" charset="0"/>
              </a:rPr>
              <a:t>www.researchgate.net</a:t>
            </a:r>
            <a:r>
              <a:rPr lang="en-US" altLang="en-US" sz="1000" i="1" dirty="0">
                <a:latin typeface="Times" pitchFamily="2" charset="0"/>
              </a:rPr>
              <a:t>/publication/379510399_Human_Clinical_Trials_Using_Topical_Bakuchiol_Formulations_for_the_Treatment_of_Skin_Disorders_A_Systematic_Review</a:t>
            </a:r>
          </a:p>
        </p:txBody>
      </p:sp>
    </p:spTree>
    <p:extLst>
      <p:ext uri="{BB962C8B-B14F-4D97-AF65-F5344CB8AC3E}">
        <p14:creationId xmlns:p14="http://schemas.microsoft.com/office/powerpoint/2010/main" val="313453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0690-3FDB-08BC-E90A-C2F5DC04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78D43-A5B8-54E7-58FD-1366F15113E2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B61B6-A6F3-47EF-605B-0F0D046596A2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52953-54A4-80E3-59C4-C14A1152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19" y="1354873"/>
            <a:ext cx="83185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Chaudhuri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Bojanowski (2014)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International Journal of Cosmetic Science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lý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do Bakuchiol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hoạt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Cơ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cấu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trúc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hóa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Retinoid, Bakuchiol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"Retinol functional analog"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gen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sinh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Collagen Type I, III, IV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MMP (enzyme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phá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hủy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collagen).</a:t>
            </a:r>
            <a:endParaRPr kumimoji="0" lang="vi-V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DE5D9-7B6E-1042-D88E-03690F4F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1" t="38750" r="33888" b="12301"/>
          <a:stretch>
            <a:fillRect/>
          </a:stretch>
        </p:blipFill>
        <p:spPr>
          <a:xfrm>
            <a:off x="576519" y="4401861"/>
            <a:ext cx="3984487" cy="1720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7AF75-E399-DF4A-896E-4EBD0BBDCA8C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34CBF-7AC5-A548-AFB2-4FA62BA62CF0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387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EFAF-19C0-BCA9-A10C-D0788356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9C057-D71B-F5A5-7FA0-1CF8569DFE66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5FF19D-D58C-5472-8373-9CF98F7E1A3D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AC26B2D-116D-99AF-7823-62F92586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1425791"/>
            <a:ext cx="85217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sánh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với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Hydroquinone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Ấn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100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bệnh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TXA 5%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bôi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MASI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HQ 3%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nhưng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lòng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bệnh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ít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phụ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Điều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trị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tăng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sắc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sau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(PIH)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TXA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minh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(Fitzpatrick III-VI),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mụn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loại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retinoid hay acid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Times" pitchFamily="2" charset="0"/>
              </a:rPr>
              <a:t>https://pmc.ncbi.nlm.nih.gov/articles/PMC12848551/</a:t>
            </a: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73AD07-5FA0-AEE4-9A40-144D8A387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5" t="35432" r="34166" b="35679"/>
          <a:stretch>
            <a:fillRect/>
          </a:stretch>
        </p:blipFill>
        <p:spPr>
          <a:xfrm>
            <a:off x="311150" y="4732807"/>
            <a:ext cx="5653259" cy="1494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F0C66-666C-F54D-B81C-AC6C59B75379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01BB9-6461-4E43-8E64-04413B23437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57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D0ED-EC58-F5FB-8707-FA4D907A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8D638-F48A-C9AC-02C3-FCC5358A5A51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CF5B5-9381-C0EB-D1F6-874E65555F39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725092-CFE4-A25C-0587-350EEB95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287292"/>
            <a:ext cx="905510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chế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Plasmin (Anti-plasmin)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TXA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plasminogen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gắn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lysine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phân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Trong da,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việc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chặn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hoạt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plasmin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phóng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axit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arachidonic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prostaglandin (PGE2)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những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trực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tiếp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hoạt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enzyme tyrosinase.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Phục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hồi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hàng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rào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bảo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vệ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2024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TXA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nồng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5%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khả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đẩy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nhanh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tổn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động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protein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kết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72A178-A7B8-64C7-AA6F-7D51C565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5" t="35679" r="17500" b="31235"/>
          <a:stretch>
            <a:fillRect/>
          </a:stretch>
        </p:blipFill>
        <p:spPr>
          <a:xfrm>
            <a:off x="543446" y="4470400"/>
            <a:ext cx="6433824" cy="1826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8DEFE4-9668-B44F-B4ED-0CC144CB311F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A2D79-A176-1B43-8C5F-118F20513D5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078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7BD4-3ED7-4B2D-7A35-543CFC3A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92CFF-391D-4E78-AE8A-1E1E751B595C}"/>
              </a:ext>
            </a:extLst>
          </p:cNvPr>
          <p:cNvSpPr txBox="1"/>
          <p:nvPr/>
        </p:nvSpPr>
        <p:spPr>
          <a:xfrm>
            <a:off x="640080" y="36576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rPr lang="vi-VN" sz="2800" b="1" dirty="0"/>
              <a:t>Báo cáo khoa học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0C27DB-2E91-A481-B50C-8DAE8BAF22D2}"/>
              </a:ext>
            </a:extLst>
          </p:cNvPr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17BDD-6106-6B5E-2168-94F5DFA22FB7}"/>
              </a:ext>
            </a:extLst>
          </p:cNvPr>
          <p:cNvSpPr txBox="1"/>
          <p:nvPr/>
        </p:nvSpPr>
        <p:spPr>
          <a:xfrm>
            <a:off x="522287" y="1287292"/>
            <a:ext cx="80994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Chống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viêm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máu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: Các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khoa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học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TXA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lượng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mast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biểu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yếu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tăng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trưởng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máu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(VEGF, ET-1).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Điều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này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thích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sao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TXA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việc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hỗ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điều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 rosacea.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A4609-9025-585F-FE4D-B48A694A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0" t="55184" r="29444" b="5556"/>
          <a:stretch>
            <a:fillRect/>
          </a:stretch>
        </p:blipFill>
        <p:spPr>
          <a:xfrm>
            <a:off x="522287" y="3624596"/>
            <a:ext cx="7401464" cy="257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C591F5-21CE-4244-8E78-80C4732342CD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5A748-BEB6-8649-B99B-EFA4DE9487A2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304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5C22A-ECEF-3A0D-8644-84F29F79F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056"/>
            <a:ext cx="9144000" cy="499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1DBDE9-63FA-6A43-960E-B702AF836C85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362F2-57CD-B249-B315-D05BC81BA22E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7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14794-7D48-6E51-1767-EE6BF70C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7D55E9-59AB-A531-3CA4-7B238FB4F6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040" y="2490430"/>
            <a:ext cx="8965919" cy="923330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 sz="2800" b="1">
                <a:solidFill>
                  <a:srgbClr val="282828"/>
                </a:solidFill>
              </a:defRPr>
            </a:pPr>
            <a:r>
              <a:rPr lang="vi-VN" sz="5400" dirty="0">
                <a:solidFill>
                  <a:schemeClr val="accent4"/>
                </a:solidFill>
              </a:rPr>
              <a:t>Phần </a:t>
            </a:r>
            <a:r>
              <a:rPr lang="en-US" sz="5400" dirty="0">
                <a:solidFill>
                  <a:schemeClr val="accent4"/>
                </a:solidFill>
              </a:rPr>
              <a:t>6:</a:t>
            </a:r>
            <a:r>
              <a:rPr lang="vi-VN" sz="5400" dirty="0">
                <a:solidFill>
                  <a:schemeClr val="accent4"/>
                </a:solidFill>
              </a:rPr>
              <a:t> Kết Luận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2B070-85BF-1541-BC2D-5113A154D146}"/>
              </a:ext>
            </a:extLst>
          </p:cNvPr>
          <p:cNvSpPr txBox="1"/>
          <p:nvPr/>
        </p:nvSpPr>
        <p:spPr>
          <a:xfrm>
            <a:off x="5574519" y="3488482"/>
            <a:ext cx="34804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SPEAKER : THS BS CỔ THẢO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045F6-D412-9F47-926A-930CEE85F937}"/>
              </a:ext>
            </a:extLst>
          </p:cNvPr>
          <p:cNvSpPr txBox="1"/>
          <p:nvPr/>
        </p:nvSpPr>
        <p:spPr>
          <a:xfrm>
            <a:off x="2000141" y="2046376"/>
            <a:ext cx="51437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dirty="0"/>
              <a:t>Hội Nghị Y Khoa Quốc Tế 2026 – ĐH Y Hà Nội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85109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1CB5D-CA6D-03F9-723F-404662B0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52"/>
            <a:ext cx="9144000" cy="4991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790415-2A49-3740-80CF-2FDEAE5A12E4}"/>
              </a:ext>
            </a:extLst>
          </p:cNvPr>
          <p:cNvSpPr txBox="1"/>
          <p:nvPr/>
        </p:nvSpPr>
        <p:spPr>
          <a:xfrm>
            <a:off x="5964409" y="6423914"/>
            <a:ext cx="293061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sz="1500" b="1" dirty="0"/>
              <a:t>SPEAKER : THS BS CỔ THẢO</a:t>
            </a:r>
            <a:endParaRPr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433D7-0B86-9948-B2A8-D129037CB4E9}"/>
              </a:ext>
            </a:extLst>
          </p:cNvPr>
          <p:cNvSpPr txBox="1"/>
          <p:nvPr/>
        </p:nvSpPr>
        <p:spPr>
          <a:xfrm>
            <a:off x="257786" y="6403467"/>
            <a:ext cx="47650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vi-VN" b="1" i="1" dirty="0">
                <a:latin typeface="Times" pitchFamily="2" charset="0"/>
              </a:rPr>
              <a:t>Hội Nghị Y Khoa Quốc Tế 2026 – ĐH Y Hà Nội</a:t>
            </a:r>
            <a:endParaRPr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56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73152"/>
          </a:xfrm>
          <a:prstGeom prst="rect">
            <a:avLst/>
          </a:prstGeom>
          <a:solidFill>
            <a:srgbClr val="786450"/>
          </a:solidFill>
          <a:ln>
            <a:solidFill>
              <a:srgbClr val="78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8C006-C8A7-D39D-D820-C0EA1D33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1689</TotalTime>
  <Words>1831</Words>
  <Application>Microsoft Macintosh PowerPoint</Application>
  <PresentationFormat>On-screen Show (4:3)</PresentationFormat>
  <Paragraphs>144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Arial (Body)</vt:lpstr>
      <vt:lpstr>Arial MT</vt:lpstr>
      <vt:lpstr>Calibri</vt:lpstr>
      <vt:lpstr>Calibri Light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Win10</dc:creator>
  <cp:keywords/>
  <dc:description>generated using python-pptx</dc:description>
  <cp:lastModifiedBy>Microsoft Office User</cp:lastModifiedBy>
  <cp:revision>13</cp:revision>
  <dcterms:created xsi:type="dcterms:W3CDTF">2013-01-27T09:14:16Z</dcterms:created>
  <dcterms:modified xsi:type="dcterms:W3CDTF">2026-05-23T10:16:57Z</dcterms:modified>
  <cp:category/>
</cp:coreProperties>
</file>